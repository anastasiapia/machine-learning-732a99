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8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8" r:id="rId1"/>
  </p:sldMasterIdLst>
  <p:notesMasterIdLst>
    <p:notesMasterId r:id="rId40"/>
  </p:notesMasterIdLst>
  <p:sldIdLst>
    <p:sldId id="256" r:id="rId2"/>
    <p:sldId id="377" r:id="rId3"/>
    <p:sldId id="378" r:id="rId4"/>
    <p:sldId id="379" r:id="rId5"/>
    <p:sldId id="380" r:id="rId6"/>
    <p:sldId id="381" r:id="rId7"/>
    <p:sldId id="382" r:id="rId8"/>
    <p:sldId id="383" r:id="rId9"/>
    <p:sldId id="384" r:id="rId10"/>
    <p:sldId id="385" r:id="rId11"/>
    <p:sldId id="387" r:id="rId12"/>
    <p:sldId id="388" r:id="rId13"/>
    <p:sldId id="389" r:id="rId14"/>
    <p:sldId id="281" r:id="rId15"/>
    <p:sldId id="282" r:id="rId16"/>
    <p:sldId id="284" r:id="rId17"/>
    <p:sldId id="286" r:id="rId18"/>
    <p:sldId id="287" r:id="rId19"/>
    <p:sldId id="288" r:id="rId20"/>
    <p:sldId id="291" r:id="rId21"/>
    <p:sldId id="293" r:id="rId22"/>
    <p:sldId id="318" r:id="rId23"/>
    <p:sldId id="294" r:id="rId24"/>
    <p:sldId id="295" r:id="rId25"/>
    <p:sldId id="390" r:id="rId26"/>
    <p:sldId id="392" r:id="rId27"/>
    <p:sldId id="393" r:id="rId28"/>
    <p:sldId id="394" r:id="rId29"/>
    <p:sldId id="395" r:id="rId30"/>
    <p:sldId id="396" r:id="rId31"/>
    <p:sldId id="397" r:id="rId32"/>
    <p:sldId id="400" r:id="rId33"/>
    <p:sldId id="401" r:id="rId34"/>
    <p:sldId id="398" r:id="rId35"/>
    <p:sldId id="399" r:id="rId36"/>
    <p:sldId id="391" r:id="rId37"/>
    <p:sldId id="402" r:id="rId38"/>
    <p:sldId id="403" r:id="rId39"/>
  </p:sldIdLst>
  <p:sldSz cx="9144000" cy="6858000" type="screen4x3"/>
  <p:notesSz cx="6858000" cy="9144000"/>
  <p:defaultTextStyle>
    <a:defPPr>
      <a:defRPr lang="sv-S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0" autoAdjust="0"/>
    <p:restoredTop sz="94667" autoAdjust="0"/>
  </p:normalViewPr>
  <p:slideViewPr>
    <p:cSldViewPr>
      <p:cViewPr varScale="1">
        <p:scale>
          <a:sx n="81" d="100"/>
          <a:sy n="81" d="100"/>
        </p:scale>
        <p:origin x="129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47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ustomXml" Target="../customXml/item2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4ADB048-B6AA-4D22-B925-1E07B42FCC2F}" type="datetimeFigureOut">
              <a:rPr lang="en-US"/>
              <a:pPr>
                <a:defRPr/>
              </a:pPr>
              <a:t>1/3/2023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1CBF2CB4-761B-4BF8-ADAE-309A87B15E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3715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972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8831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164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3977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2967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0945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8183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9100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5644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341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765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FFFF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530DB7A-D164-4388-97DC-BFC8771EEA7F}" type="datetime1">
              <a:rPr lang="sv-SE" smtClean="0"/>
              <a:t>2023-01-03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E41135-FE25-4BB9-845D-2A6C9DB4D648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02590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FCBB38-B45E-4F2F-A7F6-E4A4D45D1534}" type="datetime1">
              <a:rPr lang="sv-SE" smtClean="0"/>
              <a:t>2023-01-03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B2DAB0-3E44-4037-BFD8-EC40824E78A2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13052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BB51B2-15A0-4393-8D4A-741B554924B8}" type="datetime1">
              <a:rPr lang="sv-SE" smtClean="0"/>
              <a:t>2023-01-03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39442D-BF2B-4F0F-86BC-2E9B5D092FBD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34763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565642-37FC-4DF6-884E-180DE17ABCF3}" type="datetime1">
              <a:rPr lang="sv-SE" smtClean="0"/>
              <a:t>2023-01-03</a:t>
            </a:fld>
            <a:endParaRPr lang="sv-SE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143A0B-D25E-4CEE-9A8D-A89D71CA941C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07564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91759C-2E9E-4E1F-AF85-960E81372F34}" type="datetime1">
              <a:rPr lang="sv-SE" smtClean="0"/>
              <a:t>2023-01-03</a:t>
            </a:fld>
            <a:endParaRPr lang="sv-SE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EF4E0B-44E5-4E70-A00D-EAF82574E9B5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00689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8D01BA-826F-42EA-97A3-DC815622370C}" type="datetime1">
              <a:rPr lang="sv-SE" smtClean="0"/>
              <a:t>2023-01-03</a:t>
            </a:fld>
            <a:endParaRPr lang="sv-S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C2B8F3-1A8A-45D7-B8F3-C3176EA3727C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38903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196415-76FA-4E95-9954-685056720FB0}" type="datetime1">
              <a:rPr lang="sv-SE" smtClean="0"/>
              <a:t>2023-01-03</a:t>
            </a:fld>
            <a:endParaRPr lang="sv-SE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07C067-4760-4791-9AD9-243D3788801E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1656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847DF-6D55-445B-B0FB-E557FDF6DB0D}" type="datetime1">
              <a:rPr lang="sv-SE" smtClean="0"/>
              <a:t>2023-01-03</a:t>
            </a:fld>
            <a:endParaRPr lang="sv-SE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FCB188-BE35-4DCB-B587-5780F2D8A2E3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77572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1477DC-AA80-41D8-A3E2-63C87D0405DD}" type="datetime1">
              <a:rPr lang="sv-SE" smtClean="0"/>
              <a:t>2023-01-03</a:t>
            </a:fld>
            <a:endParaRPr lang="sv-SE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91C374-092E-49BD-9EFA-BFB4801F3599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51781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742880-8A30-44DC-8DD2-629C1C4B871D}" type="datetime1">
              <a:rPr lang="sv-SE" smtClean="0"/>
              <a:t>2023-01-03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D1788B-0916-4076-90CD-A11BF9C4C5F6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08143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7E27E2-CB3D-4357-B279-1CB2484356C9}" type="datetime1">
              <a:rPr lang="sv-SE" smtClean="0"/>
              <a:t>2023-01-03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2041AE-3DF6-4B42-A32B-B013DFED45FA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53700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sv-SE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sv-SE"/>
              <a:t>Click to edit Master text styles</a:t>
            </a:r>
          </a:p>
          <a:p>
            <a:pPr lvl="1"/>
            <a:r>
              <a:rPr lang="en-US" altLang="sv-SE"/>
              <a:t>Second level</a:t>
            </a:r>
          </a:p>
          <a:p>
            <a:pPr lvl="2"/>
            <a:r>
              <a:rPr lang="en-US" altLang="sv-SE"/>
              <a:t>Third level</a:t>
            </a:r>
          </a:p>
          <a:p>
            <a:pPr lvl="3"/>
            <a:r>
              <a:rPr lang="en-US" altLang="sv-SE"/>
              <a:t>Fourth level</a:t>
            </a:r>
          </a:p>
          <a:p>
            <a:pPr lvl="4"/>
            <a:r>
              <a:rPr lang="en-US" altLang="sv-SE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A47BAE3-4F6F-4289-872C-43EA6486B855}" type="datetime1">
              <a:rPr lang="sv-SE" smtClean="0"/>
              <a:t>2023-01-03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53457A1C-DCE8-4055-B631-8BF35863A1EB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3" r:id="rId1"/>
    <p:sldLayoutId id="2147483943" r:id="rId2"/>
    <p:sldLayoutId id="2147483944" r:id="rId3"/>
    <p:sldLayoutId id="2147483945" r:id="rId4"/>
    <p:sldLayoutId id="2147483946" r:id="rId5"/>
    <p:sldLayoutId id="2147483947" r:id="rId6"/>
    <p:sldLayoutId id="2147483948" r:id="rId7"/>
    <p:sldLayoutId id="2147483949" r:id="rId8"/>
    <p:sldLayoutId id="2147483950" r:id="rId9"/>
    <p:sldLayoutId id="2147483951" r:id="rId10"/>
    <p:sldLayoutId id="2147483952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e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sv-SE" altLang="sv-SE" dirty="0"/>
              <a:t>Parameter </a:t>
            </a:r>
            <a:r>
              <a:rPr lang="sv-SE" altLang="sv-SE" dirty="0" err="1"/>
              <a:t>estimation</a:t>
            </a:r>
            <a:br>
              <a:rPr lang="sv-SE" altLang="sv-SE" dirty="0"/>
            </a:br>
            <a:r>
              <a:rPr lang="sv-SE" altLang="sv-SE" dirty="0" err="1"/>
              <a:t>Optimization</a:t>
            </a:r>
            <a:endParaRPr lang="sv-SE" altLang="sv-SE" dirty="0"/>
          </a:p>
        </p:txBody>
      </p:sp>
      <p:sp>
        <p:nvSpPr>
          <p:cNvPr id="3075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sv-SE" altLang="sv-SE" dirty="0" err="1"/>
              <a:t>Lecture</a:t>
            </a:r>
            <a:r>
              <a:rPr lang="sv-SE" altLang="sv-SE"/>
              <a:t> 2d</a:t>
            </a:r>
            <a:endParaRPr lang="sv-SE" altLang="sv-S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E41135-FE25-4BB9-845D-2A6C9DB4D648}" type="slidenum">
              <a:rPr lang="sv-SE" smtClean="0"/>
              <a:pPr>
                <a:defRPr/>
              </a:pPr>
              <a:t>1</a:t>
            </a:fld>
            <a:endParaRPr lang="sv-S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2165547-3EEF-4A80-B1C3-E6A9FE615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Parametric</a:t>
            </a:r>
            <a:r>
              <a:rPr lang="sv-SE" dirty="0"/>
              <a:t> </a:t>
            </a:r>
            <a:r>
              <a:rPr lang="sv-SE" dirty="0" err="1"/>
              <a:t>functions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95030B81-CA99-427B-AB4F-9C726AE72B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sv-SE" sz="2400" dirty="0"/>
                  <a:t>General ML </a:t>
                </a:r>
                <a:r>
                  <a:rPr lang="sv-SE" sz="2400" dirty="0" err="1"/>
                  <a:t>model</a:t>
                </a:r>
                <a:r>
                  <a:rPr lang="sv-SE" sz="2400" dirty="0"/>
                  <a:t> </a:t>
                </a:r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𝐷𝑖𝑠𝑡𝑟𝑖𝑏𝑢𝑡𝑖𝑜𝑛</m:t>
                    </m:r>
                    <m:d>
                      <m:d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sv-SE" sz="2400" b="1" i="1" smtClean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sub>
                        </m:sSub>
                        <m:d>
                          <m:dPr>
                            <m:ctrlP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sv-SE" sz="2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,…</m:t>
                        </m:r>
                      </m:e>
                    </m:d>
                  </m:oMath>
                </a14:m>
                <a:endParaRPr lang="sv-SE" sz="2400" b="0" dirty="0"/>
              </a:p>
              <a:p>
                <a:pPr lvl="1"/>
                <a:r>
                  <a:rPr lang="sv-SE" sz="2400" dirty="0" err="1"/>
                  <a:t>Some</a:t>
                </a:r>
                <a:r>
                  <a:rPr lang="sv-SE" sz="2400" dirty="0"/>
                  <a:t> </a:t>
                </a:r>
                <a:r>
                  <a:rPr lang="sv-SE" sz="2400" dirty="0" err="1"/>
                  <a:t>of</a:t>
                </a:r>
                <a:r>
                  <a:rPr lang="sv-SE" sz="2400" dirty="0"/>
                  <a:t> </a:t>
                </a:r>
                <a:r>
                  <a:rPr lang="sv-SE" sz="2400" dirty="0" err="1"/>
                  <a:t>them</a:t>
                </a:r>
                <a:r>
                  <a:rPr lang="sv-SE" sz="2400" dirty="0"/>
                  <a:t>: </a:t>
                </a:r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~</m:t>
                    </m:r>
                    <m:sSub>
                      <m:sSub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sv-SE" sz="2400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𝐷𝑖𝑠𝑡𝑟𝑖𝑏𝑢𝑡𝑖𝑜𝑛</m:t>
                    </m:r>
                    <m:d>
                      <m:d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</m:oMath>
                </a14:m>
                <a:endParaRPr lang="sv-SE" sz="2400" b="0" dirty="0"/>
              </a:p>
              <a:p>
                <a:pPr lvl="1"/>
                <a:r>
                  <a:rPr lang="sv-SE" sz="2400" dirty="0" err="1"/>
                  <a:t>Generalization</a:t>
                </a:r>
                <a:r>
                  <a:rPr lang="sv-SE" sz="2400" dirty="0"/>
                  <a:t> </a:t>
                </a:r>
                <a:r>
                  <a:rPr lang="sv-SE" sz="2400" dirty="0" err="1"/>
                  <a:t>of</a:t>
                </a:r>
                <a:r>
                  <a:rPr lang="sv-SE" sz="2400" dirty="0"/>
                  <a:t> simple </a:t>
                </a:r>
                <a:r>
                  <a:rPr lang="sv-SE" sz="2400" dirty="0" err="1"/>
                  <a:t>models</a:t>
                </a:r>
                <a:r>
                  <a:rPr lang="sv-SE" sz="2400" dirty="0"/>
                  <a:t> </a:t>
                </a:r>
                <a:r>
                  <a:rPr lang="sv-SE" sz="2400" dirty="0" err="1"/>
                  <a:t>can</a:t>
                </a:r>
                <a:r>
                  <a:rPr lang="sv-SE" sz="2400" dirty="0"/>
                  <a:t> be </a:t>
                </a:r>
                <a:r>
                  <a:rPr lang="sv-SE" sz="2400" dirty="0" err="1"/>
                  <a:t>done</a:t>
                </a:r>
                <a:endParaRPr lang="sv-SE" sz="2400" b="0" dirty="0"/>
              </a:p>
              <a:p>
                <a:pPr lvl="1"/>
                <a:endParaRPr lang="sv-SE" sz="2400" dirty="0"/>
              </a:p>
              <a:p>
                <a:r>
                  <a:rPr lang="sv-SE" sz="2800" dirty="0" err="1">
                    <a:solidFill>
                      <a:srgbClr val="C00000"/>
                    </a:solidFill>
                  </a:rPr>
                  <a:t>Example</a:t>
                </a:r>
                <a:r>
                  <a:rPr lang="sv-SE" sz="2800" dirty="0"/>
                  <a:t>: </a:t>
                </a:r>
                <a:r>
                  <a:rPr lang="sv-SE" sz="2800" dirty="0" err="1"/>
                  <a:t>logistic</a:t>
                </a:r>
                <a:r>
                  <a:rPr lang="sv-SE" sz="2800" dirty="0"/>
                  <a:t> </a:t>
                </a:r>
                <a14:m>
                  <m:oMath xmlns:m="http://schemas.openxmlformats.org/officeDocument/2006/math">
                    <m:r>
                      <a:rPr lang="sv-SE" sz="2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sv-SE" sz="28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sv-SE" sz="2800" b="0" i="1" smtClean="0">
                        <a:latin typeface="Cambria Math" panose="02040503050406030204" pitchFamily="18" charset="0"/>
                      </a:rPr>
                      <m:t>𝐵𝑒𝑟𝑛𝑜𝑖𝑙𝑙𝑖</m:t>
                    </m:r>
                    <m:d>
                      <m:dPr>
                        <m:ctrlPr>
                          <a:rPr lang="sv-SE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sv-SE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sv-SE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sv-SE" sz="2800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sv-SE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sv-SE" sz="28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sv-SE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sv-SE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sv-SE" sz="2800" b="1" i="1" smtClean="0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p>
                                    <m:r>
                                      <a:rPr lang="sv-SE" sz="2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sv-SE" sz="28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lang="sv-SE" sz="2800" dirty="0"/>
              </a:p>
              <a:p>
                <a:pPr lvl="1"/>
                <a:r>
                  <a:rPr lang="sv-SE" sz="2400" dirty="0" err="1"/>
                  <a:t>Generalization</a:t>
                </a:r>
                <a:r>
                  <a:rPr lang="sv-SE" sz="2400" dirty="0"/>
                  <a:t> 1: (</a:t>
                </a:r>
                <a:r>
                  <a:rPr lang="sv-SE" sz="2400" dirty="0">
                    <a:solidFill>
                      <a:srgbClr val="0000FF"/>
                    </a:solidFill>
                  </a:rPr>
                  <a:t>basis </a:t>
                </a:r>
                <a:r>
                  <a:rPr lang="sv-SE" sz="2400" dirty="0" err="1">
                    <a:solidFill>
                      <a:srgbClr val="0000FF"/>
                    </a:solidFill>
                  </a:rPr>
                  <a:t>function</a:t>
                </a:r>
                <a:r>
                  <a:rPr lang="sv-SE" sz="2400" dirty="0">
                    <a:solidFill>
                      <a:srgbClr val="0000FF"/>
                    </a:solidFill>
                  </a:rPr>
                  <a:t> expansion</a:t>
                </a:r>
                <a:r>
                  <a:rPr lang="sv-SE" sz="2400" dirty="0"/>
                  <a:t>): </a:t>
                </a:r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𝐵𝑒𝑟𝑛𝑜𝑖𝑙𝑙𝑖</m:t>
                    </m:r>
                    <m:d>
                      <m:d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sv-SE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sv-SE" sz="24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sv-SE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sv-SE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sv-SE" sz="2400" b="1" i="1" smtClean="0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p>
                                    <m:r>
                                      <a:rPr lang="sv-SE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sv-SE" sz="2400" b="0" i="1" smtClean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  <m:r>
                                  <a:rPr lang="sv-SE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sv-SE" sz="24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sv-SE" sz="2400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lang="sv-SE" sz="2400" dirty="0"/>
              </a:p>
              <a:p>
                <a:pPr lvl="1"/>
                <a:r>
                  <a:rPr lang="sv-SE" sz="2400" dirty="0" err="1"/>
                  <a:t>Generalization</a:t>
                </a:r>
                <a:r>
                  <a:rPr lang="sv-SE" sz="2400" dirty="0"/>
                  <a:t> 2: </a:t>
                </a:r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𝐵𝑒𝑟𝑛𝑜𝑖𝑙𝑙𝑖</m:t>
                    </m:r>
                    <m:d>
                      <m:d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sv-SE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sv-SE" sz="24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sv-SE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sv-SE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sv-SE" sz="2400" b="1" i="1" smtClean="0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sub>
                                </m:sSub>
                                <m:r>
                                  <a:rPr lang="sv-SE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sv-SE" sz="24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sv-SE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lang="sv-SE" sz="240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sv-SE" sz="2000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sv-SE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sv-SE" sz="2000" b="1" i="0" smtClean="0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sv-SE" sz="2000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sv-SE" sz="2000" b="1" i="1" smtClean="0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sv-SE" sz="2000" dirty="0"/>
              </a:p>
              <a:p>
                <a:pPr lvl="1"/>
                <a:endParaRPr lang="sv-SE" sz="2400" dirty="0"/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95030B81-CA99-427B-AB4F-9C726AE72B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887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22A9099A-51AE-4DE8-9917-95458E8BC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8C1EAE25-6542-48B8-B4CA-E3C39C317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26490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6CBBAE6-147B-407C-8FFA-7AA6F6EC8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Cost</a:t>
            </a:r>
            <a:r>
              <a:rPr lang="sv-SE" dirty="0"/>
              <a:t> </a:t>
            </a:r>
            <a:r>
              <a:rPr lang="sv-SE" dirty="0" err="1"/>
              <a:t>minimization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7302F919-5B72-4090-93AA-673C3E4DDA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sv-SE" sz="2400" dirty="0"/>
                  <a:t>Given </a:t>
                </a:r>
                <a:r>
                  <a:rPr lang="sv-SE" sz="2400" dirty="0" err="1"/>
                  <a:t>training</a:t>
                </a:r>
                <a:r>
                  <a:rPr lang="sv-SE" sz="2400" dirty="0"/>
                  <a:t> set </a:t>
                </a:r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sv-SE" sz="2400" dirty="0"/>
                  <a:t>, </a:t>
                </a:r>
                <a:r>
                  <a:rPr lang="sv-SE" sz="2400" dirty="0" err="1"/>
                  <a:t>we</a:t>
                </a:r>
                <a:r>
                  <a:rPr lang="sv-SE" sz="2400" dirty="0"/>
                  <a:t> </a:t>
                </a:r>
                <a:r>
                  <a:rPr lang="sv-SE" sz="2400" b="1" dirty="0" err="1"/>
                  <a:t>want</a:t>
                </a:r>
                <a:r>
                  <a:rPr lang="sv-SE" sz="2400" dirty="0"/>
                  <a:t> to </a:t>
                </a:r>
                <a:r>
                  <a:rPr lang="sv-SE" sz="2400" dirty="0" err="1"/>
                  <a:t>minimize</a:t>
                </a:r>
                <a:r>
                  <a:rPr lang="sv-SE" sz="2400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lang="sv-SE" sz="2400" b="0" i="1" dirty="0" smtClean="0">
                        <a:latin typeface="Cambria Math"/>
                      </a:rPr>
                      <m:t>=</m:t>
                    </m:r>
                  </m:oMath>
                </a14:m>
                <a:r>
                  <a:rPr lang="sv-SE" sz="24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sv-SE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d>
                          <m:dPr>
                            <m:ctrlPr>
                              <a:rPr lang="sv-SE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sv-SE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v-SE" sz="24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sv-SE" sz="2400" b="1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b>
                            </m:sSub>
                            <m:r>
                              <a:rPr lang="sv-SE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sv-SE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v-SE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sv-SE" sz="24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b>
                            </m:sSub>
                          </m:e>
                        </m:d>
                      </m:sub>
                      <m:sup/>
                      <m:e>
                        <m:r>
                          <a:rPr lang="sv-SE" sz="2400" i="1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sv-SE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sv-SE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v-SE" sz="2400" i="1"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sv-SE" sz="24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b>
                            </m:sSub>
                            <m:r>
                              <a:rPr lang="sv-SE" sz="2400" i="1">
                                <a:latin typeface="Cambria Math"/>
                              </a:rPr>
                              <m:t>,</m:t>
                            </m:r>
                            <m:acc>
                              <m:accPr>
                                <m:chr m:val="̂"/>
                                <m:ctrlPr>
                                  <a:rPr lang="sv-SE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sv-SE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sv-SE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sv-SE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40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sv-SE" sz="2400" b="1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b>
                                </m:sSub>
                                <m:r>
                                  <a:rPr lang="sv-SE" sz="2400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m:rPr>
                                    <m:sty m:val="p"/>
                                  </m:rPr>
                                  <a:rPr lang="sv-SE" sz="2400">
                                    <a:latin typeface="Cambria Math" panose="02040503050406030204" pitchFamily="18" charset="0"/>
                                  </a:rPr>
                                  <m:t>Τ</m:t>
                                </m:r>
                                <m:r>
                                  <a:rPr lang="sv-SE" sz="240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sv-SE" sz="2400" b="1" i="1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</m:d>
                          </m:e>
                        </m:d>
                        <m:r>
                          <a:rPr lang="sv-SE" sz="2400" i="1" dirty="0">
                            <a:latin typeface="Cambria Math"/>
                          </a:rPr>
                          <m:t>𝑝</m:t>
                        </m:r>
                        <m:d>
                          <m:dPr>
                            <m:ctrlPr>
                              <a:rPr lang="sv-SE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sv-SE" sz="2400" b="1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v-SE" sz="2400" b="1" i="1" dirty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sv-SE" sz="2400" b="1" i="1" dirty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b>
                            </m:sSub>
                            <m:r>
                              <a:rPr lang="sv-SE" sz="24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sv-SE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v-SE" sz="24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sv-SE" sz="2400" i="1" dirty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b>
                            </m:sSub>
                          </m:e>
                        </m:d>
                        <m:r>
                          <a:rPr lang="sv-SE" sz="2400" i="1" dirty="0">
                            <a:latin typeface="Cambria Math"/>
                          </a:rPr>
                          <m:t>𝑑</m:t>
                        </m:r>
                        <m:sSub>
                          <m:sSubPr>
                            <m:ctrlPr>
                              <a:rPr lang="sv-SE" sz="24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400" b="1" i="1" dirty="0"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sv-SE" sz="2400" b="1" i="1" dirty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  <m:r>
                          <a:rPr lang="sv-SE" sz="2400" i="1" dirty="0">
                            <a:latin typeface="Cambria Math"/>
                          </a:rPr>
                          <m:t>𝑑</m:t>
                        </m:r>
                        <m:sSub>
                          <m:sSubPr>
                            <m:ctrlPr>
                              <a:rPr lang="sv-SE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400" i="1" dirty="0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sv-SE" sz="2400" i="1" dirty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</m:e>
                    </m:nary>
                  </m:oMath>
                </a14:m>
                <a:endParaRPr lang="sv-SE" sz="2400" dirty="0"/>
              </a:p>
              <a:p>
                <a:endParaRPr lang="sv-SE" sz="2400" dirty="0"/>
              </a:p>
              <a:p>
                <a:r>
                  <a:rPr lang="sv-SE" sz="2400" dirty="0" err="1"/>
                  <a:t>We</a:t>
                </a:r>
                <a:r>
                  <a:rPr lang="sv-SE" sz="2400" dirty="0"/>
                  <a:t> </a:t>
                </a:r>
                <a:r>
                  <a:rPr lang="sv-SE" sz="2400" b="1" dirty="0" err="1"/>
                  <a:t>can</a:t>
                </a:r>
                <a:r>
                  <a:rPr lang="sv-SE" sz="2400" dirty="0"/>
                  <a:t> </a:t>
                </a:r>
                <a:r>
                  <a:rPr lang="sv-SE" sz="2400" dirty="0" err="1"/>
                  <a:t>minimize</a:t>
                </a:r>
                <a:r>
                  <a:rPr lang="sv-SE" sz="2400" dirty="0"/>
                  <a:t> </a:t>
                </a:r>
                <a:r>
                  <a:rPr lang="sv-SE" sz="2400" dirty="0" err="1"/>
                  <a:t>cost</a:t>
                </a:r>
                <a:r>
                  <a:rPr lang="sv-SE" sz="2400" dirty="0"/>
                  <a:t> </a:t>
                </a:r>
                <a:r>
                  <a:rPr lang="sv-SE" sz="2400" dirty="0" err="1"/>
                  <a:t>function</a:t>
                </a:r>
                <a:endParaRPr lang="sv-SE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sz="2400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sv-S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sz="2400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sv-S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sv-SE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sv-SE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sv-S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sv-SE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acc>
                                <m:accPr>
                                  <m:chr m:val="̂"/>
                                  <m:ctrlPr>
                                    <a:rPr lang="sv-S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sv-SE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sv-S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sv-SE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sz="2400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sv-SE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sv-SE" sz="2400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sv-SE" sz="2400" b="1" i="1" smtClean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sv-SE" sz="2400" dirty="0"/>
              </a:p>
              <a:p>
                <a:pPr marL="0" indent="0">
                  <a:buNone/>
                </a:pPr>
                <a:endParaRPr lang="sv-SE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sv-SE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  <m:r>
                        <a:rPr lang="sv-SE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sv-SE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sv-SE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sv-SE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sv-SE" sz="2400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sv-SE" sz="2400" dirty="0"/>
              </a:p>
              <a:p>
                <a:r>
                  <a:rPr lang="sv-SE" sz="2400" dirty="0" err="1"/>
                  <a:t>Optimizing</a:t>
                </a:r>
                <a:r>
                  <a:rPr lang="sv-SE" sz="2400" dirty="0"/>
                  <a:t> </a:t>
                </a:r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sv-SE" sz="2400" b="1" i="1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sv-SE" sz="2400" dirty="0"/>
                  <a:t> </a:t>
                </a:r>
                <a:r>
                  <a:rPr lang="sv-SE" sz="2400" dirty="0" err="1"/>
                  <a:t>does</a:t>
                </a:r>
                <a:r>
                  <a:rPr lang="sv-SE" sz="2400" dirty="0"/>
                  <a:t> not </a:t>
                </a:r>
                <a:r>
                  <a:rPr lang="sv-SE" sz="2400" dirty="0" err="1"/>
                  <a:t>lead</a:t>
                </a:r>
                <a:r>
                  <a:rPr lang="sv-SE" sz="2400" dirty="0"/>
                  <a:t> to </a:t>
                </a:r>
                <a:r>
                  <a:rPr lang="sv-SE" sz="2400" dirty="0" err="1"/>
                  <a:t>optimizing</a:t>
                </a:r>
                <a:r>
                  <a:rPr lang="sv-SE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</m:oMath>
                </a14:m>
                <a:endParaRPr lang="sv-SE" sz="2400" b="0" dirty="0"/>
              </a:p>
              <a:p>
                <a:pPr lvl="1"/>
                <a:r>
                  <a:rPr lang="sv-SE" sz="2000" dirty="0" err="1"/>
                  <a:t>Overfitting</a:t>
                </a:r>
                <a:r>
                  <a:rPr lang="sv-SE" sz="2000" dirty="0"/>
                  <a:t> </a:t>
                </a:r>
              </a:p>
              <a:p>
                <a:pPr lvl="1"/>
                <a:endParaRPr lang="sv-SE" sz="2000" dirty="0"/>
              </a:p>
              <a:p>
                <a:endParaRPr lang="sv-SE" sz="2400" dirty="0"/>
              </a:p>
              <a:p>
                <a:endParaRPr lang="sv-SE" sz="2400" dirty="0"/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7302F919-5B72-4090-93AA-673C3E4DDA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5" t="-6334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53C11136-6138-4055-966C-C550CEA99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AF915C86-8E34-4CFE-8E53-81065EA34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5257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403933F-60A5-4F67-B3AE-948F058FD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Cost</a:t>
            </a:r>
            <a:r>
              <a:rPr lang="sv-SE" dirty="0"/>
              <a:t> </a:t>
            </a:r>
            <a:r>
              <a:rPr lang="sv-SE" dirty="0" err="1"/>
              <a:t>minimization</a:t>
            </a:r>
            <a:r>
              <a:rPr lang="sv-SE" dirty="0"/>
              <a:t>: </a:t>
            </a:r>
            <a:r>
              <a:rPr lang="sv-SE" dirty="0" err="1"/>
              <a:t>comments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E706E29A-EF5A-4104-9FC2-E873AEE791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v-SE" sz="2000" dirty="0"/>
                  <a:t>Training a </a:t>
                </a:r>
                <a:r>
                  <a:rPr lang="sv-SE" sz="2000" dirty="0" err="1"/>
                  <a:t>model</a:t>
                </a:r>
                <a:r>
                  <a:rPr lang="sv-SE" sz="2000" dirty="0"/>
                  <a:t> </a:t>
                </a:r>
                <a:r>
                  <a:rPr lang="sv-SE" sz="2000" dirty="0" err="1"/>
                  <a:t>with</a:t>
                </a:r>
                <a:r>
                  <a:rPr lang="sv-SE" sz="2000" dirty="0"/>
                  <a:t> </a:t>
                </a:r>
                <a:r>
                  <a:rPr lang="sv-SE" sz="2000" dirty="0" err="1"/>
                  <a:t>perfect</a:t>
                </a:r>
                <a:r>
                  <a:rPr lang="sv-SE" sz="2000" dirty="0"/>
                  <a:t> </a:t>
                </a:r>
                <a:r>
                  <a:rPr lang="sv-SE" sz="2000" dirty="0" err="1"/>
                  <a:t>accuracy</a:t>
                </a:r>
                <a:r>
                  <a:rPr lang="sv-SE" sz="2000" dirty="0"/>
                  <a:t> </a:t>
                </a:r>
                <a:r>
                  <a:rPr lang="sv-SE" sz="2000" dirty="0" err="1"/>
                  <a:t>unreasonable</a:t>
                </a:r>
                <a:endParaRPr lang="sv-SE" sz="2000" dirty="0"/>
              </a:p>
              <a:p>
                <a:pPr lvl="1"/>
                <a:r>
                  <a:rPr lang="sv-SE" sz="1800" dirty="0" err="1"/>
                  <a:t>Statistical</a:t>
                </a:r>
                <a:r>
                  <a:rPr lang="sv-SE" sz="1800" dirty="0"/>
                  <a:t> </a:t>
                </a:r>
                <a:r>
                  <a:rPr lang="sv-SE" sz="1800" dirty="0" err="1"/>
                  <a:t>noise</a:t>
                </a:r>
                <a:r>
                  <a:rPr lang="sv-SE" sz="1800" dirty="0"/>
                  <a:t> for </a:t>
                </a:r>
                <a:r>
                  <a:rPr lang="sv-SE" sz="1800" dirty="0" err="1"/>
                  <a:t>finite</a:t>
                </a:r>
                <a:r>
                  <a:rPr lang="sv-SE" sz="1800" dirty="0"/>
                  <a:t> </a:t>
                </a:r>
                <a14:m>
                  <m:oMath xmlns:m="http://schemas.openxmlformats.org/officeDocument/2006/math">
                    <m:r>
                      <a:rPr lang="sv-SE" sz="1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sv-SE" sz="1800" dirty="0"/>
              </a:p>
              <a:p>
                <a:endParaRPr lang="sv-SE" sz="2000" dirty="0"/>
              </a:p>
              <a:p>
                <a:r>
                  <a:rPr lang="sv-SE" sz="2000" dirty="0"/>
                  <a:t>Loss </a:t>
                </a:r>
                <a:r>
                  <a:rPr lang="sv-SE" sz="2000" dirty="0" err="1"/>
                  <a:t>function</a:t>
                </a:r>
                <a:r>
                  <a:rPr lang="sv-SE" sz="2000" dirty="0"/>
                  <a:t> </a:t>
                </a:r>
                <a:r>
                  <a:rPr lang="sv-SE" sz="2000" dirty="0" err="1"/>
                  <a:t>can</a:t>
                </a:r>
                <a:r>
                  <a:rPr lang="sv-SE" sz="2000" dirty="0"/>
                  <a:t> be different from </a:t>
                </a:r>
                <a:r>
                  <a:rPr lang="sv-SE" sz="2000" dirty="0" err="1"/>
                  <a:t>error</a:t>
                </a:r>
                <a:r>
                  <a:rPr lang="sv-SE" sz="2000" dirty="0"/>
                  <a:t> </a:t>
                </a:r>
                <a:r>
                  <a:rPr lang="sv-SE" sz="2000" dirty="0" err="1"/>
                  <a:t>function</a:t>
                </a:r>
                <a:endParaRPr lang="sv-SE" sz="2000" dirty="0"/>
              </a:p>
              <a:p>
                <a:endParaRPr lang="sv-SE" sz="2000" dirty="0"/>
              </a:p>
              <a:p>
                <a:r>
                  <a:rPr lang="sv-SE" sz="2000" dirty="0" err="1"/>
                  <a:t>Some</a:t>
                </a:r>
                <a:r>
                  <a:rPr lang="sv-SE" sz="2000" dirty="0"/>
                  <a:t> loss </a:t>
                </a:r>
                <a:r>
                  <a:rPr lang="sv-SE" sz="2000" dirty="0" err="1"/>
                  <a:t>functions</a:t>
                </a:r>
                <a:r>
                  <a:rPr lang="sv-SE" sz="2000" dirty="0"/>
                  <a:t> </a:t>
                </a:r>
                <a:r>
                  <a:rPr lang="sv-SE" sz="2000" dirty="0" err="1"/>
                  <a:t>are</a:t>
                </a:r>
                <a:r>
                  <a:rPr lang="sv-SE" sz="2000" dirty="0"/>
                  <a:t> not </a:t>
                </a:r>
                <a:r>
                  <a:rPr lang="sv-SE" sz="2000" dirty="0" err="1"/>
                  <a:t>good</a:t>
                </a:r>
                <a:r>
                  <a:rPr lang="sv-SE" sz="2000" dirty="0"/>
                  <a:t> for </a:t>
                </a:r>
                <a:r>
                  <a:rPr lang="sv-SE" sz="2000" dirty="0" err="1"/>
                  <a:t>training</a:t>
                </a:r>
                <a:r>
                  <a:rPr lang="sv-SE" sz="2000" dirty="0"/>
                  <a:t>, for ex. </a:t>
                </a:r>
                <a:r>
                  <a:rPr lang="sv-SE" sz="2000" dirty="0" err="1"/>
                  <a:t>misclassification</a:t>
                </a:r>
                <a:r>
                  <a:rPr lang="sv-SE" sz="2000" dirty="0"/>
                  <a:t> rate.</a:t>
                </a:r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E706E29A-EF5A-4104-9FC2-E873AEE791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809" r="-519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0AE373F8-1A21-472A-B0E4-2FBB8CF44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5B036248-4E94-4C07-95D1-F01249A89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4</a:t>
            </a:fld>
            <a:endParaRPr lang="sv-SE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60D6BB11-178C-412A-B4F6-F7C0E2194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7602" y="4077072"/>
            <a:ext cx="2269295" cy="2231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36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D916B84-9084-4639-95B6-1779EF55E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Loss </a:t>
            </a:r>
            <a:r>
              <a:rPr lang="sv-SE" dirty="0" err="1"/>
              <a:t>functions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B6050FC1-F20C-4450-9AEF-880F7DD243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v-SE" sz="2000" dirty="0"/>
                  <a:t>Assuming a distribution, </a:t>
                </a:r>
                <a:r>
                  <a:rPr lang="sv-SE" sz="2000" dirty="0" err="1">
                    <a:solidFill>
                      <a:srgbClr val="C00000"/>
                    </a:solidFill>
                  </a:rPr>
                  <a:t>derive</a:t>
                </a:r>
                <a:r>
                  <a:rPr lang="sv-SE" sz="2000" dirty="0">
                    <a:solidFill>
                      <a:srgbClr val="C00000"/>
                    </a:solidFill>
                  </a:rPr>
                  <a:t> as minus log-</a:t>
                </a:r>
                <a:r>
                  <a:rPr lang="sv-SE" sz="2000" dirty="0" err="1">
                    <a:solidFill>
                      <a:srgbClr val="C00000"/>
                    </a:solidFill>
                  </a:rPr>
                  <a:t>likelihood</a:t>
                </a:r>
                <a:r>
                  <a:rPr lang="sv-SE" sz="2000" dirty="0">
                    <a:solidFill>
                      <a:srgbClr val="C00000"/>
                    </a:solidFill>
                  </a:rPr>
                  <a:t>:</a:t>
                </a:r>
              </a:p>
              <a:p>
                <a:endParaRPr lang="sv-SE" sz="2000" dirty="0"/>
              </a:p>
              <a:p>
                <a14:m>
                  <m:oMath xmlns:m="http://schemas.openxmlformats.org/officeDocument/2006/math"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𝑁𝑜𝑟𝑚𝑎𝑙</m:t>
                    </m:r>
                    <m:d>
                      <m:d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 →</m:t>
                    </m:r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sv-SE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v-SE" sz="20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sv-SE" sz="20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sv-SE" sz="2000" b="0" dirty="0"/>
              </a:p>
              <a:p>
                <a:endParaRPr lang="sv-SE" sz="2000" b="0" dirty="0"/>
              </a:p>
              <a:p>
                <a:r>
                  <a:rPr lang="sv-SE" sz="2000" b="0" dirty="0"/>
                  <a:t>Heavy </a:t>
                </a:r>
                <a:r>
                  <a:rPr lang="sv-SE" sz="2000" b="0" dirty="0" err="1"/>
                  <a:t>outliers</a:t>
                </a:r>
                <a14:m>
                  <m:oMath xmlns:m="http://schemas.openxmlformats.org/officeDocument/2006/math"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𝐿𝑎𝑝𝑙𝑎𝑐𝑒</m:t>
                    </m:r>
                    <m:d>
                      <m:d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 →</m:t>
                    </m:r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sv-SE" sz="20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sv-SE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sv-SE" sz="20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sv-S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sv-SE" sz="20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sv-SE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sv-SE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sv-SE" sz="2000" i="1">
                        <a:latin typeface="Cambria Math" panose="02040503050406030204" pitchFamily="18" charset="0"/>
                      </a:rPr>
                      <m:t>)|</m:t>
                    </m:r>
                  </m:oMath>
                </a14:m>
                <a:endParaRPr lang="sv-SE" sz="2000" b="0" dirty="0"/>
              </a:p>
              <a:p>
                <a:endParaRPr lang="sv-SE" sz="2000" dirty="0"/>
              </a:p>
              <a:p>
                <a:endParaRPr lang="sv-SE" sz="2000" b="0" dirty="0"/>
              </a:p>
              <a:p>
                <a:endParaRPr lang="sv-SE" sz="2000" b="0" dirty="0"/>
              </a:p>
              <a:p>
                <a:endParaRPr lang="sv-SE" sz="2000" b="0" dirty="0"/>
              </a:p>
              <a:p>
                <a:pPr marL="0" indent="0">
                  <a:buNone/>
                </a:pPr>
                <a:endParaRPr lang="sv-SE" sz="2000" dirty="0"/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B6050FC1-F20C-4450-9AEF-880F7DD243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809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F37C6096-998E-4125-BEBC-D5AD1353E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6305D1CE-D8D2-445B-ADEB-F9BE7330D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5</a:t>
            </a:fld>
            <a:endParaRPr lang="sv-SE"/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D803E611-D6FE-44CB-9E65-1B5B3D53C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5679" y="3573016"/>
            <a:ext cx="3744416" cy="2874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89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EBA3E81-C19E-4C9F-928E-06262F5C2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Loss </a:t>
            </a:r>
            <a:r>
              <a:rPr lang="sv-SE" dirty="0" err="1"/>
              <a:t>functions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1FB46868-8A54-40DB-80EB-50E97CCD44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v-SE" sz="2400" dirty="0"/>
                  <a:t>Count data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sv-SE" sz="24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𝑃𝑜𝑖𝑠𝑠𝑜𝑛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sv-SE" sz="2400" dirty="0"/>
                  <a:t>  </a:t>
                </a:r>
              </a:p>
              <a:p>
                <a:endParaRPr lang="sv-SE" sz="2400" dirty="0"/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1FB46868-8A54-40DB-80EB-50E97CCD44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8C9195FD-A7F2-4550-A5FB-8BE72F36A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4F775DEC-7F9D-4ED8-B808-6BF0BCB24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6</a:t>
            </a:fld>
            <a:endParaRPr lang="sv-SE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E8F2F98-103F-443B-9CF6-2D0C47370F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4380" y="2169188"/>
            <a:ext cx="3042420" cy="2369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4BA6727E-7ECC-4E80-9879-111CA9131B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521" y="3863181"/>
            <a:ext cx="2884368" cy="2468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5">
            <a:extLst>
              <a:ext uri="{FF2B5EF4-FFF2-40B4-BE49-F238E27FC236}">
                <a16:creationId xmlns:a16="http://schemas.microsoft.com/office/drawing/2014/main" id="{7EE0D9A5-6FFB-47F7-90E1-382CFA04CAA9}"/>
              </a:ext>
            </a:extLst>
          </p:cNvPr>
          <p:cNvSpPr txBox="1"/>
          <p:nvPr/>
        </p:nvSpPr>
        <p:spPr>
          <a:xfrm>
            <a:off x="539552" y="2183077"/>
            <a:ext cx="44999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>
                <a:solidFill>
                  <a:srgbClr val="C00000"/>
                </a:solidFill>
              </a:rPr>
              <a:t>Example</a:t>
            </a:r>
            <a:r>
              <a:rPr lang="sv-SE" dirty="0"/>
              <a:t>: Daily Stock </a:t>
            </a:r>
            <a:r>
              <a:rPr lang="sv-SE" dirty="0" err="1"/>
              <a:t>prices</a:t>
            </a:r>
            <a:r>
              <a:rPr lang="sv-SE" dirty="0"/>
              <a:t> NASDAQ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v-SE" dirty="0" err="1"/>
              <a:t>Open</a:t>
            </a:r>
            <a:endParaRPr lang="sv-SE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v-SE" dirty="0" err="1"/>
              <a:t>High</a:t>
            </a:r>
            <a:r>
              <a:rPr lang="sv-SE" dirty="0"/>
              <a:t> (</a:t>
            </a:r>
            <a:r>
              <a:rPr lang="sv-SE" dirty="0" err="1"/>
              <a:t>within</a:t>
            </a:r>
            <a:r>
              <a:rPr lang="sv-SE" dirty="0"/>
              <a:t> </a:t>
            </a:r>
            <a:r>
              <a:rPr lang="sv-SE" dirty="0" err="1"/>
              <a:t>day</a:t>
            </a:r>
            <a:r>
              <a:rPr lang="sv-SE" dirty="0"/>
              <a:t>)</a:t>
            </a:r>
          </a:p>
          <a:p>
            <a:endParaRPr lang="sv-SE" dirty="0"/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Try </a:t>
            </a:r>
            <a:r>
              <a:rPr lang="sv-SE" dirty="0" err="1"/>
              <a:t>to</a:t>
            </a:r>
            <a:r>
              <a:rPr lang="sv-SE" dirty="0"/>
              <a:t> fit </a:t>
            </a:r>
            <a:r>
              <a:rPr lang="sv-SE" dirty="0" err="1"/>
              <a:t>usual</a:t>
            </a:r>
            <a:r>
              <a:rPr lang="sv-SE" dirty="0"/>
              <a:t> </a:t>
            </a:r>
            <a:r>
              <a:rPr lang="sv-SE" dirty="0" err="1"/>
              <a:t>linear</a:t>
            </a:r>
            <a:r>
              <a:rPr lang="sv-SE" dirty="0"/>
              <a:t> regression, </a:t>
            </a:r>
            <a:r>
              <a:rPr lang="sv-SE" dirty="0" err="1"/>
              <a:t>study</a:t>
            </a:r>
            <a:r>
              <a:rPr lang="sv-SE" dirty="0"/>
              <a:t> histogram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residuals</a:t>
            </a:r>
            <a:endParaRPr lang="sv-SE" dirty="0"/>
          </a:p>
        </p:txBody>
      </p:sp>
      <p:pic>
        <p:nvPicPr>
          <p:cNvPr id="12" name="Picture 4" descr="Probability density plots of gamma distributions">
            <a:extLst>
              <a:ext uri="{FF2B5EF4-FFF2-40B4-BE49-F238E27FC236}">
                <a16:creationId xmlns:a16="http://schemas.microsoft.com/office/drawing/2014/main" id="{5491F24D-BCD7-40C5-92B9-61472A0808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3603" y="4539165"/>
            <a:ext cx="2658892" cy="1994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1237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252EF9D-DFF8-4095-9311-F66EBDCB5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Loss </a:t>
            </a:r>
            <a:r>
              <a:rPr lang="sv-SE" dirty="0" err="1"/>
              <a:t>functions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C118A0D-D0E6-4850-B3F6-FC33A03A9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sz="2000" dirty="0"/>
              <a:t>If the distribution is </a:t>
            </a:r>
            <a:r>
              <a:rPr lang="sv-SE" sz="2000" dirty="0" err="1"/>
              <a:t>difficult</a:t>
            </a:r>
            <a:r>
              <a:rPr lang="sv-SE" sz="2000" dirty="0"/>
              <a:t> to </a:t>
            </a:r>
            <a:r>
              <a:rPr lang="sv-SE" sz="2000" dirty="0" err="1"/>
              <a:t>assume</a:t>
            </a:r>
            <a:r>
              <a:rPr lang="sv-SE" sz="2000" dirty="0"/>
              <a:t> / </a:t>
            </a:r>
            <a:r>
              <a:rPr lang="sv-SE" sz="2000" dirty="0" err="1"/>
              <a:t>only</a:t>
            </a:r>
            <a:r>
              <a:rPr lang="sv-SE" sz="2000" dirty="0"/>
              <a:t> </a:t>
            </a:r>
            <a:r>
              <a:rPr lang="sv-SE" sz="2000" dirty="0" err="1"/>
              <a:t>some</a:t>
            </a:r>
            <a:r>
              <a:rPr lang="sv-SE" sz="2000" dirty="0"/>
              <a:t> </a:t>
            </a:r>
            <a:r>
              <a:rPr lang="sv-SE" sz="2000" dirty="0" err="1"/>
              <a:t>properties</a:t>
            </a:r>
            <a:r>
              <a:rPr lang="sv-SE" sz="2000" dirty="0"/>
              <a:t> </a:t>
            </a:r>
            <a:r>
              <a:rPr lang="sv-SE" sz="2000" dirty="0" err="1"/>
              <a:t>known</a:t>
            </a:r>
            <a:r>
              <a:rPr lang="sv-SE" sz="2000" dirty="0">
                <a:sym typeface="Wingdings" panose="05000000000000000000" pitchFamily="2" charset="2"/>
              </a:rPr>
              <a:t> </a:t>
            </a:r>
            <a:r>
              <a:rPr lang="sv-SE" sz="2000" b="1" dirty="0">
                <a:solidFill>
                  <a:srgbClr val="0000FF"/>
                </a:solidFill>
                <a:sym typeface="Wingdings" panose="05000000000000000000" pitchFamily="2" charset="2"/>
              </a:rPr>
              <a:t>ad-hoc loss </a:t>
            </a:r>
            <a:r>
              <a:rPr lang="sv-SE" sz="2000" b="1" dirty="0" err="1">
                <a:solidFill>
                  <a:srgbClr val="0000FF"/>
                </a:solidFill>
                <a:sym typeface="Wingdings" panose="05000000000000000000" pitchFamily="2" charset="2"/>
              </a:rPr>
              <a:t>functions</a:t>
            </a:r>
            <a:endParaRPr lang="sv-SE" sz="2000" b="1" dirty="0">
              <a:solidFill>
                <a:srgbClr val="0000FF"/>
              </a:solidFill>
              <a:sym typeface="Wingdings" panose="05000000000000000000" pitchFamily="2" charset="2"/>
            </a:endParaRPr>
          </a:p>
          <a:p>
            <a:endParaRPr lang="sv-SE" sz="2000" b="1" dirty="0">
              <a:solidFill>
                <a:srgbClr val="0000FF"/>
              </a:solidFill>
              <a:sym typeface="Wingdings" panose="05000000000000000000" pitchFamily="2" charset="2"/>
            </a:endParaRPr>
          </a:p>
          <a:p>
            <a:r>
              <a:rPr lang="sv-SE" sz="2000" b="1" dirty="0">
                <a:sym typeface="Wingdings" panose="05000000000000000000" pitchFamily="2" charset="2"/>
              </a:rPr>
              <a:t>Huber loss</a:t>
            </a:r>
            <a:r>
              <a:rPr lang="sv-SE" sz="2000" dirty="0">
                <a:sym typeface="Wingdings" panose="05000000000000000000" pitchFamily="2" charset="2"/>
              </a:rPr>
              <a:t>: </a:t>
            </a:r>
            <a:r>
              <a:rPr lang="sv-SE" sz="2000" dirty="0" err="1">
                <a:sym typeface="Wingdings" panose="05000000000000000000" pitchFamily="2" charset="2"/>
              </a:rPr>
              <a:t>similar</a:t>
            </a:r>
            <a:r>
              <a:rPr lang="sv-SE" sz="2000" dirty="0">
                <a:sym typeface="Wingdings" panose="05000000000000000000" pitchFamily="2" charset="2"/>
              </a:rPr>
              <a:t> to </a:t>
            </a:r>
            <a:r>
              <a:rPr lang="sv-SE" sz="2000" dirty="0" err="1">
                <a:sym typeface="Wingdings" panose="05000000000000000000" pitchFamily="2" charset="2"/>
              </a:rPr>
              <a:t>quadratic</a:t>
            </a:r>
            <a:r>
              <a:rPr lang="sv-SE" sz="2000" dirty="0">
                <a:sym typeface="Wingdings" panose="05000000000000000000" pitchFamily="2" charset="2"/>
              </a:rPr>
              <a:t> </a:t>
            </a:r>
            <a:r>
              <a:rPr lang="sv-SE" sz="2000" dirty="0" err="1">
                <a:sym typeface="Wingdings" panose="05000000000000000000" pitchFamily="2" charset="2"/>
              </a:rPr>
              <a:t>but</a:t>
            </a:r>
            <a:r>
              <a:rPr lang="sv-SE" sz="2000" dirty="0">
                <a:sym typeface="Wingdings" panose="05000000000000000000" pitchFamily="2" charset="2"/>
              </a:rPr>
              <a:t> robust to </a:t>
            </a:r>
            <a:r>
              <a:rPr lang="sv-SE" sz="2000" dirty="0" err="1">
                <a:sym typeface="Wingdings" panose="05000000000000000000" pitchFamily="2" charset="2"/>
              </a:rPr>
              <a:t>outliers</a:t>
            </a:r>
            <a:endParaRPr lang="sv-SE" sz="2000" dirty="0">
              <a:sym typeface="Wingdings" panose="05000000000000000000" pitchFamily="2" charset="2"/>
            </a:endParaRPr>
          </a:p>
          <a:p>
            <a:endParaRPr lang="sv-SE" sz="2000" dirty="0">
              <a:sym typeface="Wingdings" panose="05000000000000000000" pitchFamily="2" charset="2"/>
            </a:endParaRPr>
          </a:p>
          <a:p>
            <a:endParaRPr lang="sv-SE" sz="2000" dirty="0">
              <a:sym typeface="Wingdings" panose="05000000000000000000" pitchFamily="2" charset="2"/>
            </a:endParaRPr>
          </a:p>
          <a:p>
            <a:endParaRPr lang="sv-SE" sz="2000" dirty="0">
              <a:sym typeface="Wingdings" panose="05000000000000000000" pitchFamily="2" charset="2"/>
            </a:endParaRPr>
          </a:p>
          <a:p>
            <a:endParaRPr lang="sv-SE" sz="2000" dirty="0">
              <a:sym typeface="Wingdings" panose="05000000000000000000" pitchFamily="2" charset="2"/>
            </a:endParaRPr>
          </a:p>
          <a:p>
            <a:r>
              <a:rPr lang="sv-SE" sz="2000" b="1" dirty="0">
                <a:sym typeface="Wingdings" panose="05000000000000000000" pitchFamily="2" charset="2"/>
              </a:rPr>
              <a:t>E-</a:t>
            </a:r>
            <a:r>
              <a:rPr lang="sv-SE" sz="2000" b="1" dirty="0" err="1">
                <a:sym typeface="Wingdings" panose="05000000000000000000" pitchFamily="2" charset="2"/>
              </a:rPr>
              <a:t>insensitive</a:t>
            </a:r>
            <a:r>
              <a:rPr lang="sv-SE" sz="2000" b="1" dirty="0">
                <a:sym typeface="Wingdings" panose="05000000000000000000" pitchFamily="2" charset="2"/>
              </a:rPr>
              <a:t> loss</a:t>
            </a:r>
            <a:endParaRPr lang="sv-SE" sz="2000" b="1" dirty="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DDDC5B53-61EE-4B1D-B3D7-5A8D5E004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4F50AEC2-23FA-41CA-A951-4BF655D58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7</a:t>
            </a:fld>
            <a:endParaRPr lang="sv-SE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28E5309C-04E8-4561-A0B4-068050B1F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136" y="3140968"/>
            <a:ext cx="4400128" cy="1143716"/>
          </a:xfrm>
          <a:prstGeom prst="rect">
            <a:avLst/>
          </a:prstGeom>
        </p:spPr>
      </p:pic>
      <p:pic>
        <p:nvPicPr>
          <p:cNvPr id="9" name="Bildobjekt 8">
            <a:extLst>
              <a:ext uri="{FF2B5EF4-FFF2-40B4-BE49-F238E27FC236}">
                <a16:creationId xmlns:a16="http://schemas.microsoft.com/office/drawing/2014/main" id="{25881EF2-042C-411A-9B94-3A0704E44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093" y="4913936"/>
            <a:ext cx="4400128" cy="1120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10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68A02D9-A229-4F00-9972-00C1F0D01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Loss </a:t>
            </a:r>
            <a:r>
              <a:rPr lang="sv-SE" dirty="0" err="1"/>
              <a:t>functions</a:t>
            </a:r>
            <a:endParaRPr lang="sv-SE" dirty="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36589B4F-F5ED-43AE-B685-7FFC45532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2822802D-CF75-4665-B860-9731D37D5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8</a:t>
            </a:fld>
            <a:endParaRPr lang="sv-SE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C2B944C2-115A-430C-ACB7-D7BE221DF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642" y="2204864"/>
            <a:ext cx="6046715" cy="3485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24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395D9B7-F82E-4A18-BB99-79AB4791F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Loss </a:t>
            </a:r>
            <a:r>
              <a:rPr lang="sv-SE" dirty="0" err="1"/>
              <a:t>functions</a:t>
            </a:r>
            <a:r>
              <a:rPr lang="sv-SE" dirty="0"/>
              <a:t>: </a:t>
            </a:r>
            <a:r>
              <a:rPr lang="sv-SE" dirty="0" err="1"/>
              <a:t>classification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60889374-A0F7-4035-841B-116FE97F69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v-SE" sz="2400" b="1" dirty="0">
                    <a:solidFill>
                      <a:srgbClr val="0000FF"/>
                    </a:solidFill>
                  </a:rPr>
                  <a:t>Cross-</a:t>
                </a:r>
                <a:r>
                  <a:rPr lang="sv-SE" sz="2400" b="1" dirty="0" err="1">
                    <a:solidFill>
                      <a:srgbClr val="0000FF"/>
                    </a:solidFill>
                  </a:rPr>
                  <a:t>entropy</a:t>
                </a:r>
                <a:r>
                  <a:rPr lang="sv-SE" sz="2400" dirty="0"/>
                  <a:t> </a:t>
                </a:r>
                <a:r>
                  <a:rPr lang="sv-SE" sz="2400" dirty="0" err="1"/>
                  <a:t>corresponds</a:t>
                </a:r>
                <a:r>
                  <a:rPr lang="sv-SE" sz="2400" dirty="0"/>
                  <a:t> to minus log-</a:t>
                </a:r>
                <a:r>
                  <a:rPr lang="sv-SE" sz="2400" dirty="0" err="1"/>
                  <a:t>likelihood</a:t>
                </a:r>
                <a:r>
                  <a:rPr lang="sv-SE" sz="24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sz="1800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sv-SE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sv-SE" sz="1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acc>
                            <m:accPr>
                              <m:chr m:val="̂"/>
                              <m:ctrlPr>
                                <a:rPr lang="sv-SE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v-SE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d>
                            <m:dPr>
                              <m:ctrlPr>
                                <a:rPr lang="sv-SE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v-SE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  <m:r>
                        <a:rPr lang="sv-SE" sz="18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sv-SE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sv-SE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sv-SE" sz="1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sv-SE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sv-SE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sv-SE" sz="1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sv-SE" sz="18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sv-SE" sz="18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r>
                                <a:rPr lang="sv-SE" sz="18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d>
                                <m:dPr>
                                  <m:ctrlPr>
                                    <a:rPr lang="sv-SE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sv-SE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sz="18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sv-SE" sz="18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sv-SE" sz="18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sv-SE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sz="1800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sv-SE" sz="1800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</m:d>
                              <m:func>
                                <m:funcPr>
                                  <m:ctrlPr>
                                    <a:rPr lang="sv-SE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sv-SE" sz="18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sv-SE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sv-SE" sz="18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  <m:r>
                                    <a:rPr lang="sv-SE" sz="18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sv-SE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sz="18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sv-SE" sz="1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sv-SE" sz="1800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sv-SE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sz="18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sv-SE" sz="18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  <m:r>
                                    <a:rPr lang="sv-SE" sz="18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e>
                          </m:nary>
                        </m:e>
                      </m:nary>
                    </m:oMath>
                  </m:oMathPara>
                </a14:m>
                <a:endParaRPr lang="sv-SE" sz="2400" dirty="0"/>
              </a:p>
              <a:p>
                <a:endParaRPr lang="sv-SE" sz="2400" dirty="0"/>
              </a:p>
              <a:p>
                <a:r>
                  <a:rPr lang="sv-SE" sz="2400" dirty="0"/>
                  <a:t>Ad-hoc loss </a:t>
                </a:r>
                <a:r>
                  <a:rPr lang="sv-SE" sz="2400" dirty="0" err="1"/>
                  <a:t>functions</a:t>
                </a:r>
                <a:r>
                  <a:rPr lang="sv-SE" sz="2400" dirty="0"/>
                  <a:t> </a:t>
                </a:r>
                <a:r>
                  <a:rPr lang="sv-SE" sz="2400" dirty="0" err="1"/>
                  <a:t>binary</a:t>
                </a:r>
                <a:r>
                  <a:rPr lang="sv-SE" sz="2400" dirty="0"/>
                  <a:t> </a:t>
                </a:r>
                <a:r>
                  <a:rPr lang="sv-SE" sz="2400" dirty="0" err="1"/>
                  <a:t>classification</a:t>
                </a:r>
                <a:r>
                  <a:rPr lang="sv-SE" sz="2400" dirty="0"/>
                  <a:t> </a:t>
                </a:r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={−1,1}</m:t>
                    </m:r>
                  </m:oMath>
                </a14:m>
                <a:endParaRPr lang="sv-SE" sz="2400" dirty="0"/>
              </a:p>
              <a:p>
                <a:pPr lvl="1"/>
                <a:r>
                  <a:rPr lang="sv-SE" sz="2000" dirty="0" err="1"/>
                  <a:t>Assume</a:t>
                </a:r>
                <a:r>
                  <a:rPr lang="sv-SE" sz="2000" dirty="0"/>
                  <a:t> </a:t>
                </a:r>
                <a:r>
                  <a:rPr lang="sv-SE" sz="2000" dirty="0" err="1"/>
                  <a:t>model</a:t>
                </a:r>
                <a:r>
                  <a:rPr lang="sv-SE" sz="2000" dirty="0"/>
                  <a:t> </a:t>
                </a:r>
                <a:r>
                  <a:rPr lang="sv-SE" sz="2000" dirty="0" err="1"/>
                  <a:t>returns</a:t>
                </a:r>
                <a:r>
                  <a:rPr lang="sv-SE" sz="2000" dirty="0"/>
                  <a:t> </a:t>
                </a:r>
                <a14:m>
                  <m:oMath xmlns:m="http://schemas.openxmlformats.org/officeDocument/2006/math"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sv-SE" sz="20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sv-SE" sz="2000" dirty="0"/>
                  <a:t>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sv-SE" sz="1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v-SE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sv-SE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sv-SE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𝑠𝑖𝑔𝑛</m:t>
                    </m:r>
                    <m:r>
                      <a:rPr lang="sv-SE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sv-SE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sv-SE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sv-SE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sv-SE" sz="2000" i="1" dirty="0"/>
              </a:p>
              <a:p>
                <a:pPr lvl="1"/>
                <a:r>
                  <a:rPr lang="sv-SE" sz="2000" b="1" i="1" dirty="0" err="1">
                    <a:solidFill>
                      <a:srgbClr val="C00000"/>
                    </a:solidFill>
                  </a:rPr>
                  <a:t>Example</a:t>
                </a:r>
                <a:r>
                  <a:rPr lang="sv-SE" sz="2000" i="1" dirty="0"/>
                  <a:t>: </a:t>
                </a:r>
                <a:r>
                  <a:rPr lang="sv-SE" sz="2000" i="1" dirty="0" err="1"/>
                  <a:t>logistic</a:t>
                </a:r>
                <a:r>
                  <a:rPr lang="sv-SE" sz="2000" i="1" dirty="0"/>
                  <a:t> </a:t>
                </a:r>
                <a14:m>
                  <m:oMath xmlns:m="http://schemas.openxmlformats.org/officeDocument/2006/math"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2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sv-SE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sv-SE" sz="2000" b="1" i="1" smtClean="0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  <m:sup>
                                <m:r>
                                  <a:rPr lang="sv-SE" sz="20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sv-SE" sz="20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p>
                        </m:sSup>
                      </m:den>
                    </m:f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−0.5</m:t>
                    </m:r>
                  </m:oMath>
                </a14:m>
                <a:endParaRPr lang="sv-SE" sz="2000" b="0" i="1" dirty="0"/>
              </a:p>
              <a:p>
                <a:pPr lvl="1"/>
                <a:endParaRPr lang="sv-SE" sz="2000" i="1" dirty="0"/>
              </a:p>
              <a:p>
                <a:r>
                  <a:rPr lang="sv-SE" sz="2400" b="1" dirty="0">
                    <a:solidFill>
                      <a:srgbClr val="C00000"/>
                    </a:solidFill>
                  </a:rPr>
                  <a:t>Note</a:t>
                </a:r>
                <a:r>
                  <a:rPr lang="sv-SE" sz="2400" dirty="0"/>
                  <a:t>: </a:t>
                </a:r>
                <a:r>
                  <a:rPr lang="sv-SE" sz="2400" dirty="0" err="1"/>
                  <a:t>mistake</a:t>
                </a:r>
                <a:r>
                  <a:rPr lang="sv-SE" sz="2400" dirty="0"/>
                  <a:t> </a:t>
                </a:r>
                <a:r>
                  <a:rPr lang="sv-SE" sz="2400" dirty="0" err="1"/>
                  <a:t>when</a:t>
                </a:r>
                <a:r>
                  <a:rPr lang="sv-SE" sz="2400" dirty="0"/>
                  <a:t> </a:t>
                </a:r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𝑦𝑓</m:t>
                    </m:r>
                    <m:d>
                      <m:d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endParaRPr lang="sv-SE" sz="2400" i="1" dirty="0"/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60889374-A0F7-4035-841B-116FE97F69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0115EFEE-7882-4146-9F1D-168D4DE78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08634E4C-3B47-42DB-97AE-8D80131A7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9</a:t>
            </a:fld>
            <a:endParaRPr lang="sv-SE"/>
          </a:p>
        </p:txBody>
      </p:sp>
      <p:pic>
        <p:nvPicPr>
          <p:cNvPr id="9" name="Bildobjekt 8">
            <a:extLst>
              <a:ext uri="{FF2B5EF4-FFF2-40B4-BE49-F238E27FC236}">
                <a16:creationId xmlns:a16="http://schemas.microsoft.com/office/drawing/2014/main" id="{4616024A-7F1E-47D5-B3EE-53BA99E36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581" y="4293096"/>
            <a:ext cx="2696837" cy="2140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521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C72C2EA-9C0D-4B3E-8015-26B0EEA6B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Loss </a:t>
            </a:r>
            <a:r>
              <a:rPr lang="sv-SE" dirty="0" err="1"/>
              <a:t>functions</a:t>
            </a:r>
            <a:r>
              <a:rPr lang="sv-SE" dirty="0"/>
              <a:t>: </a:t>
            </a:r>
            <a:r>
              <a:rPr lang="sv-SE" dirty="0" err="1"/>
              <a:t>classification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216B08D0-E026-4960-B994-62FE3062E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v-SE" sz="2400" dirty="0"/>
              <a:t>Ad-hoc loss </a:t>
            </a:r>
            <a:r>
              <a:rPr lang="sv-SE" sz="2400" dirty="0" err="1"/>
              <a:t>functions</a:t>
            </a:r>
            <a:r>
              <a:rPr lang="sv-SE" sz="2400" dirty="0"/>
              <a:t> </a:t>
            </a:r>
            <a:r>
              <a:rPr lang="sv-SE" sz="2400" dirty="0" err="1"/>
              <a:t>binary</a:t>
            </a:r>
            <a:r>
              <a:rPr lang="sv-SE" sz="2400" dirty="0"/>
              <a:t> </a:t>
            </a:r>
            <a:r>
              <a:rPr lang="sv-SE" sz="2400" dirty="0" err="1"/>
              <a:t>classification</a:t>
            </a:r>
            <a:endParaRPr lang="sv-SE" sz="2400" dirty="0"/>
          </a:p>
          <a:p>
            <a:pPr marL="0" indent="0">
              <a:buNone/>
            </a:pPr>
            <a:endParaRPr lang="sv-SE" sz="2400" dirty="0"/>
          </a:p>
          <a:p>
            <a:r>
              <a:rPr lang="sv-SE" sz="2400" b="1" dirty="0" err="1">
                <a:solidFill>
                  <a:srgbClr val="0000FF"/>
                </a:solidFill>
              </a:rPr>
              <a:t>Exponential</a:t>
            </a:r>
            <a:r>
              <a:rPr lang="sv-SE" sz="2400" b="1" dirty="0">
                <a:solidFill>
                  <a:srgbClr val="0000FF"/>
                </a:solidFill>
              </a:rPr>
              <a:t> loss</a:t>
            </a:r>
          </a:p>
          <a:p>
            <a:endParaRPr lang="sv-SE" sz="2400" dirty="0"/>
          </a:p>
          <a:p>
            <a:endParaRPr lang="sv-SE" sz="2400" dirty="0"/>
          </a:p>
          <a:p>
            <a:endParaRPr lang="sv-SE" sz="2400" dirty="0"/>
          </a:p>
          <a:p>
            <a:r>
              <a:rPr lang="sv-SE" sz="2400" b="1" dirty="0" err="1">
                <a:solidFill>
                  <a:srgbClr val="0000FF"/>
                </a:solidFill>
              </a:rPr>
              <a:t>Hinge</a:t>
            </a:r>
            <a:r>
              <a:rPr lang="sv-SE" sz="2400" b="1" dirty="0">
                <a:solidFill>
                  <a:srgbClr val="0000FF"/>
                </a:solidFill>
              </a:rPr>
              <a:t> loss</a:t>
            </a:r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4E1A150A-C1E6-4ECD-B007-D79D394C6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42567D4E-495F-429F-A70C-5DFCEC411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10</a:t>
            </a:fld>
            <a:endParaRPr lang="sv-SE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DE24EBF1-717C-4DF1-86E5-55628B7AA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7" y="5083565"/>
            <a:ext cx="4392488" cy="874833"/>
          </a:xfrm>
          <a:prstGeom prst="rect">
            <a:avLst/>
          </a:prstGeom>
        </p:spPr>
      </p:pic>
      <p:pic>
        <p:nvPicPr>
          <p:cNvPr id="9" name="Bildobjekt 8">
            <a:extLst>
              <a:ext uri="{FF2B5EF4-FFF2-40B4-BE49-F238E27FC236}">
                <a16:creationId xmlns:a16="http://schemas.microsoft.com/office/drawing/2014/main" id="{A11C8B19-FF65-4628-B1C6-E3EBA868B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3246598"/>
            <a:ext cx="3233704" cy="680359"/>
          </a:xfrm>
          <a:prstGeom prst="rect">
            <a:avLst/>
          </a:prstGeom>
        </p:spPr>
      </p:pic>
      <p:pic>
        <p:nvPicPr>
          <p:cNvPr id="11" name="Bildobjekt 10">
            <a:extLst>
              <a:ext uri="{FF2B5EF4-FFF2-40B4-BE49-F238E27FC236}">
                <a16:creationId xmlns:a16="http://schemas.microsoft.com/office/drawing/2014/main" id="{E49D3D8C-4A34-43E5-91B8-7ED6B28D10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8737" y="2924944"/>
            <a:ext cx="3597431" cy="2392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010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364F1D3-5985-4AF8-919F-5E16CA80F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Loss </a:t>
            </a:r>
            <a:r>
              <a:rPr lang="sv-SE" dirty="0" err="1"/>
              <a:t>functions</a:t>
            </a:r>
            <a:r>
              <a:rPr lang="sv-SE" dirty="0"/>
              <a:t>: </a:t>
            </a:r>
            <a:r>
              <a:rPr lang="sv-SE" dirty="0" err="1"/>
              <a:t>classification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6283B3B4-EBA4-4600-875C-FC2CC06DFE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sv-SE" dirty="0"/>
                  <a:t>Binary to multiclass</a:t>
                </a:r>
              </a:p>
              <a:p>
                <a:pPr marL="0" indent="0">
                  <a:buNone/>
                </a:pPr>
                <a:endParaRPr lang="sv-SE" dirty="0"/>
              </a:p>
              <a:p>
                <a:r>
                  <a:rPr lang="sv-SE" sz="2400" b="1" dirty="0" err="1">
                    <a:solidFill>
                      <a:srgbClr val="0000FF"/>
                    </a:solidFill>
                  </a:rPr>
                  <a:t>One</a:t>
                </a:r>
                <a:r>
                  <a:rPr lang="sv-SE" sz="2400" b="1" dirty="0">
                    <a:solidFill>
                      <a:srgbClr val="0000FF"/>
                    </a:solidFill>
                  </a:rPr>
                  <a:t> </a:t>
                </a:r>
                <a:r>
                  <a:rPr lang="sv-SE" sz="2400" b="1" dirty="0" err="1">
                    <a:solidFill>
                      <a:srgbClr val="0000FF"/>
                    </a:solidFill>
                  </a:rPr>
                  <a:t>versus</a:t>
                </a:r>
                <a:r>
                  <a:rPr lang="sv-SE" sz="2400" b="1" dirty="0">
                    <a:solidFill>
                      <a:srgbClr val="0000FF"/>
                    </a:solidFill>
                  </a:rPr>
                  <a:t> </a:t>
                </a:r>
                <a:r>
                  <a:rPr lang="sv-SE" sz="2400" b="1" dirty="0" err="1">
                    <a:solidFill>
                      <a:srgbClr val="0000FF"/>
                    </a:solidFill>
                  </a:rPr>
                  <a:t>one</a:t>
                </a:r>
                <a:r>
                  <a:rPr lang="sv-SE" sz="2400" dirty="0"/>
                  <a:t>: </a:t>
                </a:r>
                <a:r>
                  <a:rPr lang="sv-SE" sz="2400" dirty="0" err="1"/>
                  <a:t>class</a:t>
                </a:r>
                <a:r>
                  <a:rPr lang="sv-SE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sv-SE" sz="2400" dirty="0"/>
                  <a:t> vs </a:t>
                </a:r>
                <a:r>
                  <a:rPr lang="sv-SE" sz="2400" dirty="0" err="1"/>
                  <a:t>class</a:t>
                </a:r>
                <a:r>
                  <a:rPr lang="sv-SE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sv-SE" sz="2400" dirty="0"/>
                  <a:t>+ </a:t>
                </a:r>
                <a:r>
                  <a:rPr lang="sv-SE" sz="2400" dirty="0" err="1"/>
                  <a:t>majority</a:t>
                </a:r>
                <a:r>
                  <a:rPr lang="sv-SE" sz="2400" dirty="0"/>
                  <a:t> </a:t>
                </a:r>
                <a:r>
                  <a:rPr lang="sv-SE" sz="2400" dirty="0" err="1"/>
                  <a:t>voting</a:t>
                </a:r>
                <a:r>
                  <a:rPr lang="sv-SE" sz="2400" dirty="0"/>
                  <a:t> from all </a:t>
                </a:r>
                <a:r>
                  <a:rPr lang="sv-SE" sz="2400" dirty="0" err="1"/>
                  <a:t>classifiers</a:t>
                </a:r>
                <a:endParaRPr lang="sv-SE" sz="2400" dirty="0"/>
              </a:p>
              <a:p>
                <a:endParaRPr lang="sv-SE" dirty="0"/>
              </a:p>
              <a:p>
                <a:r>
                  <a:rPr lang="sv-SE" sz="2400" b="1" dirty="0" err="1">
                    <a:solidFill>
                      <a:srgbClr val="0000FF"/>
                    </a:solidFill>
                  </a:rPr>
                  <a:t>One</a:t>
                </a:r>
                <a:r>
                  <a:rPr lang="sv-SE" sz="2400" b="1" dirty="0">
                    <a:solidFill>
                      <a:srgbClr val="0000FF"/>
                    </a:solidFill>
                  </a:rPr>
                  <a:t> </a:t>
                </a:r>
                <a:r>
                  <a:rPr lang="sv-SE" sz="2400" b="1" dirty="0" err="1">
                    <a:solidFill>
                      <a:srgbClr val="0000FF"/>
                    </a:solidFill>
                  </a:rPr>
                  <a:t>versus</a:t>
                </a:r>
                <a:r>
                  <a:rPr lang="sv-SE" sz="2400" b="1" dirty="0">
                    <a:solidFill>
                      <a:srgbClr val="0000FF"/>
                    </a:solidFill>
                  </a:rPr>
                  <a:t> rest</a:t>
                </a:r>
                <a:r>
                  <a:rPr lang="sv-SE" sz="2400" dirty="0"/>
                  <a:t>: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sv-SE" sz="2400" dirty="0"/>
                  <a:t> vs not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sv-SE" sz="2400" dirty="0"/>
                  <a:t>+ </a:t>
                </a:r>
                <a:r>
                  <a:rPr lang="sv-SE" sz="2400" dirty="0" err="1"/>
                  <a:t>highest</a:t>
                </a:r>
                <a:r>
                  <a:rPr lang="sv-SE" sz="2400" dirty="0"/>
                  <a:t> </a:t>
                </a:r>
                <a:r>
                  <a:rPr lang="sv-SE" sz="2400" dirty="0" err="1"/>
                  <a:t>probability</a:t>
                </a:r>
                <a:r>
                  <a:rPr lang="sv-SE" sz="2400" dirty="0"/>
                  <a:t> </a:t>
                </a:r>
                <a:r>
                  <a:rPr lang="sv-SE" sz="2400" dirty="0" err="1"/>
                  <a:t>class</a:t>
                </a:r>
                <a:endParaRPr lang="sv-SE" sz="2400" dirty="0"/>
              </a:p>
              <a:p>
                <a:endParaRPr lang="sv-SE" sz="2400" dirty="0"/>
              </a:p>
              <a:p>
                <a:r>
                  <a:rPr lang="sv-SE" sz="2400" b="1" dirty="0" err="1"/>
                  <a:t>Comparison</a:t>
                </a:r>
                <a:r>
                  <a:rPr lang="sv-SE" sz="2400" dirty="0"/>
                  <a:t>: OVO </a:t>
                </a:r>
                <a:r>
                  <a:rPr lang="sv-SE" sz="2400" dirty="0" err="1"/>
                  <a:t>needs</a:t>
                </a:r>
                <a:r>
                  <a:rPr lang="sv-SE" sz="2400" dirty="0"/>
                  <a:t> less data to </a:t>
                </a:r>
                <a:r>
                  <a:rPr lang="sv-SE" sz="2400" dirty="0" err="1"/>
                  <a:t>train</a:t>
                </a:r>
                <a:r>
                  <a:rPr lang="sv-SE" sz="2400" dirty="0"/>
                  <a:t> </a:t>
                </a:r>
                <a:r>
                  <a:rPr lang="sv-SE" sz="2400" dirty="0" err="1"/>
                  <a:t>one</a:t>
                </a:r>
                <a:r>
                  <a:rPr lang="sv-SE" sz="2400" dirty="0"/>
                  <a:t> </a:t>
                </a:r>
                <a:r>
                  <a:rPr lang="sv-SE" sz="2400" dirty="0" err="1"/>
                  <a:t>model</a:t>
                </a:r>
                <a:r>
                  <a:rPr lang="sv-SE" sz="2400" dirty="0"/>
                  <a:t> </a:t>
                </a:r>
                <a:r>
                  <a:rPr lang="sv-SE" sz="2400" dirty="0" err="1"/>
                  <a:t>but</a:t>
                </a:r>
                <a:r>
                  <a:rPr lang="sv-SE" sz="2400" dirty="0"/>
                  <a:t> </a:t>
                </a:r>
                <a:r>
                  <a:rPr lang="sv-SE" sz="2400" dirty="0" err="1"/>
                  <a:t>more</a:t>
                </a:r>
                <a:r>
                  <a:rPr lang="sv-SE" sz="2400" dirty="0"/>
                  <a:t> </a:t>
                </a:r>
                <a:r>
                  <a:rPr lang="sv-SE" sz="2400" dirty="0" err="1"/>
                  <a:t>models</a:t>
                </a:r>
                <a:r>
                  <a:rPr lang="sv-SE" sz="2400" dirty="0"/>
                  <a:t>.</a:t>
                </a:r>
              </a:p>
              <a:p>
                <a:endParaRPr lang="sv-SE" dirty="0"/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6283B3B4-EBA4-4600-875C-FC2CC06DFE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752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70156AC0-575A-4536-BD67-FDEF85CDD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E4D357FF-2B09-41D0-BD46-0B1C38CD0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11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13295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B338ECE-D881-4FA1-84B0-3DA013203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Regularization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424A20D3-0B44-40DB-9181-219FF880FA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sv-SE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sv-SE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lang="sv-SE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sv-SE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sv-SE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sv-SE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r>
                  <a:rPr lang="sv-SE" sz="2400" dirty="0">
                    <a:solidFill>
                      <a:srgbClr val="C00000"/>
                    </a:solidFill>
                  </a:rPr>
                  <a:t> </a:t>
                </a:r>
                <a:r>
                  <a:rPr lang="sv-SE" sz="2400" dirty="0"/>
                  <a:t>– no</a:t>
                </a:r>
              </a:p>
              <a:p>
                <a:endParaRPr lang="sv-SE" sz="2400" dirty="0"/>
              </a:p>
              <a:p>
                <a:r>
                  <a:rPr lang="sv-SE" sz="2400" dirty="0" err="1"/>
                  <a:t>Similar</a:t>
                </a:r>
                <a:r>
                  <a:rPr lang="sv-SE" sz="2400" dirty="0"/>
                  <a:t> for (</a:t>
                </a:r>
                <a:r>
                  <a:rPr lang="sv-SE" sz="2400" dirty="0" err="1"/>
                  <a:t>moderately</a:t>
                </a:r>
                <a:r>
                  <a:rPr lang="sv-SE" sz="2400" dirty="0"/>
                  <a:t>) simple </a:t>
                </a:r>
                <a:r>
                  <a:rPr lang="sv-SE" sz="2400" dirty="0" err="1"/>
                  <a:t>models</a:t>
                </a:r>
                <a:r>
                  <a:rPr lang="sv-SE" sz="2400" dirty="0"/>
                  <a:t>, not </a:t>
                </a:r>
                <a:r>
                  <a:rPr lang="sv-SE" sz="2400" dirty="0" err="1"/>
                  <a:t>similar</a:t>
                </a:r>
                <a:r>
                  <a:rPr lang="sv-SE" sz="2400" dirty="0"/>
                  <a:t> for </a:t>
                </a:r>
                <a:r>
                  <a:rPr lang="sv-SE" sz="2400" dirty="0" err="1"/>
                  <a:t>too</a:t>
                </a:r>
                <a:r>
                  <a:rPr lang="sv-SE" sz="2400" dirty="0"/>
                  <a:t> </a:t>
                </a:r>
                <a:r>
                  <a:rPr lang="sv-SE" sz="2400" dirty="0" err="1"/>
                  <a:t>complex</a:t>
                </a:r>
                <a:r>
                  <a:rPr lang="sv-SE" sz="2400" dirty="0"/>
                  <a:t> </a:t>
                </a:r>
                <a:r>
                  <a:rPr lang="sv-SE" sz="2400" dirty="0" err="1"/>
                  <a:t>model</a:t>
                </a:r>
                <a:r>
                  <a:rPr lang="sv-SE" sz="2400" dirty="0"/>
                  <a:t> (</a:t>
                </a:r>
                <a:r>
                  <a:rPr lang="sv-SE" sz="2400" dirty="0" err="1"/>
                  <a:t>overfitting</a:t>
                </a:r>
                <a:r>
                  <a:rPr lang="sv-SE" sz="2400" dirty="0"/>
                  <a:t>).</a:t>
                </a:r>
              </a:p>
              <a:p>
                <a:endParaRPr lang="sv-SE" sz="2400" dirty="0"/>
              </a:p>
              <a:p>
                <a:r>
                  <a:rPr lang="sv-SE" sz="2400" b="1" dirty="0">
                    <a:solidFill>
                      <a:srgbClr val="0000FF"/>
                    </a:solidFill>
                  </a:rPr>
                  <a:t>Explicit </a:t>
                </a:r>
                <a:r>
                  <a:rPr lang="sv-SE" sz="2400" b="1" dirty="0" err="1">
                    <a:solidFill>
                      <a:srgbClr val="0000FF"/>
                    </a:solidFill>
                  </a:rPr>
                  <a:t>regularization</a:t>
                </a:r>
                <a:r>
                  <a:rPr lang="sv-SE" sz="2400" dirty="0"/>
                  <a:t>: </a:t>
                </a:r>
                <a:r>
                  <a:rPr lang="sv-SE" sz="2400" dirty="0" err="1"/>
                  <a:t>penalize</a:t>
                </a:r>
                <a:r>
                  <a:rPr lang="sv-SE" sz="2400" dirty="0"/>
                  <a:t> </a:t>
                </a:r>
                <a:r>
                  <a:rPr lang="sv-SE" sz="2400" dirty="0" err="1"/>
                  <a:t>complexity</a:t>
                </a:r>
                <a:r>
                  <a:rPr lang="sv-SE" sz="2400" dirty="0"/>
                  <a:t> by </a:t>
                </a:r>
                <a:r>
                  <a:rPr lang="sv-SE" sz="2400" dirty="0" err="1"/>
                  <a:t>changing</a:t>
                </a:r>
                <a:r>
                  <a:rPr lang="sv-SE" sz="2400" dirty="0"/>
                  <a:t> </a:t>
                </a:r>
                <a:r>
                  <a:rPr lang="sv-SE" sz="2400" dirty="0" err="1"/>
                  <a:t>cost</a:t>
                </a:r>
                <a:r>
                  <a:rPr lang="sv-SE" sz="2400" dirty="0"/>
                  <a:t> </a:t>
                </a:r>
                <a:r>
                  <a:rPr lang="sv-SE" sz="2400" dirty="0" err="1"/>
                  <a:t>function</a:t>
                </a:r>
                <a:endParaRPr lang="sv-SE" sz="2400" dirty="0"/>
              </a:p>
              <a:p>
                <a:endParaRPr lang="sv-SE" sz="2400" dirty="0"/>
              </a:p>
              <a:p>
                <a:r>
                  <a:rPr lang="sv-SE" sz="2400" b="1" dirty="0">
                    <a:solidFill>
                      <a:srgbClr val="0000FF"/>
                    </a:solidFill>
                  </a:rPr>
                  <a:t>Implicit </a:t>
                </a:r>
                <a:r>
                  <a:rPr lang="sv-SE" sz="2400" b="1" dirty="0" err="1">
                    <a:solidFill>
                      <a:srgbClr val="0000FF"/>
                    </a:solidFill>
                  </a:rPr>
                  <a:t>regularization</a:t>
                </a:r>
                <a:r>
                  <a:rPr lang="sv-SE" sz="2400" dirty="0"/>
                  <a:t>: </a:t>
                </a:r>
                <a:r>
                  <a:rPr lang="sv-SE" sz="2400" b="1" dirty="0" err="1"/>
                  <a:t>early</a:t>
                </a:r>
                <a:r>
                  <a:rPr lang="sv-SE" sz="2400" b="1" dirty="0"/>
                  <a:t> </a:t>
                </a:r>
                <a:r>
                  <a:rPr lang="sv-SE" sz="2400" b="1" dirty="0" err="1"/>
                  <a:t>stopping</a:t>
                </a:r>
                <a:endParaRPr lang="sv-SE" sz="2400" b="1" dirty="0"/>
              </a:p>
              <a:p>
                <a:pPr lvl="1"/>
                <a:r>
                  <a:rPr lang="sv-SE" sz="2000" dirty="0"/>
                  <a:t>If </a:t>
                </a:r>
                <a:r>
                  <a:rPr lang="sv-SE" sz="2000" dirty="0" err="1"/>
                  <a:t>cost</a:t>
                </a:r>
                <a:r>
                  <a:rPr lang="sv-SE" sz="2000" dirty="0"/>
                  <a:t> </a:t>
                </a:r>
                <a:r>
                  <a:rPr lang="sv-SE" sz="2000" dirty="0" err="1"/>
                  <a:t>function</a:t>
                </a:r>
                <a:r>
                  <a:rPr lang="sv-SE" sz="2000" dirty="0"/>
                  <a:t> </a:t>
                </a:r>
                <a:r>
                  <a:rPr lang="sv-SE" sz="2000" dirty="0" err="1"/>
                  <a:t>optimized</a:t>
                </a:r>
                <a:r>
                  <a:rPr lang="sv-SE" sz="2000" dirty="0"/>
                  <a:t> </a:t>
                </a:r>
                <a:r>
                  <a:rPr lang="sv-SE" sz="2000" dirty="0" err="1"/>
                  <a:t>iteratively</a:t>
                </a:r>
                <a:r>
                  <a:rPr lang="sv-SE" sz="2000" dirty="0"/>
                  <a:t>, </a:t>
                </a:r>
                <a:r>
                  <a:rPr lang="sv-SE" sz="2000" dirty="0" err="1"/>
                  <a:t>don’t</a:t>
                </a:r>
                <a:r>
                  <a:rPr lang="sv-SE" sz="2000" dirty="0"/>
                  <a:t> </a:t>
                </a:r>
                <a:r>
                  <a:rPr lang="sv-SE" sz="2000" dirty="0" err="1"/>
                  <a:t>let</a:t>
                </a:r>
                <a:r>
                  <a:rPr lang="sv-SE" sz="2000" dirty="0"/>
                  <a:t> it </a:t>
                </a:r>
                <a:r>
                  <a:rPr lang="sv-SE" sz="2000" dirty="0" err="1"/>
                  <a:t>decrease</a:t>
                </a:r>
                <a:r>
                  <a:rPr lang="sv-SE" sz="2000" dirty="0"/>
                  <a:t> </a:t>
                </a:r>
                <a:r>
                  <a:rPr lang="sv-SE" sz="2000" dirty="0" err="1"/>
                  <a:t>too</a:t>
                </a:r>
                <a:r>
                  <a:rPr lang="sv-SE" sz="2000" dirty="0"/>
                  <a:t> </a:t>
                </a:r>
                <a:r>
                  <a:rPr lang="sv-SE" sz="2000" dirty="0" err="1"/>
                  <a:t>much</a:t>
                </a:r>
                <a:endParaRPr lang="sv-SE" sz="2000" dirty="0"/>
              </a:p>
              <a:p>
                <a:pPr marL="0" indent="0">
                  <a:buNone/>
                </a:pPr>
                <a:endParaRPr lang="sv-SE" sz="2400" dirty="0"/>
              </a:p>
              <a:p>
                <a:endParaRPr lang="sv-SE" sz="2400" dirty="0"/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424A20D3-0B44-40DB-9181-219FF880FA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95705FB6-BBFE-4AEE-8D04-DB3576ED6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2B9EF22F-A201-4B05-90DE-68BF26217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12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93701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8F96754-4043-4024-A0DD-22C2F21C0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Explicit </a:t>
            </a:r>
            <a:r>
              <a:rPr lang="sv-SE" dirty="0" err="1"/>
              <a:t>regularization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120CE55F-1C69-4687-8F22-3D3AC7ED56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ln>
                <a:noFill/>
              </a:ln>
            </p:spPr>
            <p:txBody>
              <a:bodyPr/>
              <a:lstStyle/>
              <a:p>
                <a:r>
                  <a:rPr lang="sv-SE" sz="2000" dirty="0"/>
                  <a:t>Penalize </a:t>
                </a:r>
                <a:r>
                  <a:rPr lang="sv-SE" sz="2000" dirty="0" err="1"/>
                  <a:t>cost</a:t>
                </a:r>
                <a:r>
                  <a:rPr lang="sv-SE" sz="2000" dirty="0"/>
                  <a:t> </a:t>
                </a:r>
                <a:r>
                  <a:rPr lang="sv-SE" sz="2000" dirty="0" err="1"/>
                  <a:t>function</a:t>
                </a:r>
                <a:endParaRPr lang="sv-SE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sv-SE" sz="2000" b="0" i="1" smtClean="0">
                              <a:ln>
                                <a:solidFill>
                                  <a:srgbClr val="0000FF"/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sv-SE" sz="2000" b="0" i="1" smtClean="0">
                                  <a:ln>
                                    <a:solidFill>
                                      <a:srgbClr val="0000FF"/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sv-SE" sz="2000" b="0" i="0" smtClean="0">
                                  <a:ln>
                                    <a:solidFill>
                                      <a:srgbClr val="0000FF"/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sv-SE" sz="2000" b="0" i="1" smtClean="0">
                                  <a:ln>
                                    <a:solidFill>
                                      <a:srgbClr val="0000FF"/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r>
                            <a:rPr lang="sv-SE" sz="2000" b="0" i="1" smtClean="0">
                              <a:ln>
                                <a:solidFill>
                                  <a:srgbClr val="0000FF"/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sv-SE" sz="2000" b="0" i="1" smtClean="0">
                                  <a:ln>
                                    <a:solidFill>
                                      <a:srgbClr val="0000FF"/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v-SE" sz="2000" b="0" i="1" smtClean="0">
                                  <a:ln>
                                    <a:solidFill>
                                      <a:srgbClr val="0000FF"/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sv-SE" sz="2000" b="0" i="1" smtClean="0">
                              <a:ln>
                                <a:solidFill>
                                  <a:srgbClr val="0000FF"/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sv-SE" sz="2000" b="0" i="1" smtClean="0">
                              <a:ln>
                                <a:solidFill>
                                  <a:srgbClr val="0000FF"/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sv-SE" sz="2000" b="0" i="1" smtClean="0">
                              <a:ln>
                                <a:solidFill>
                                  <a:srgbClr val="0000FF"/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sv-SE" sz="2000" b="0" i="1" smtClean="0">
                              <a:ln>
                                <a:solidFill>
                                  <a:srgbClr val="0000FF"/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sv-SE" sz="2000" b="0" i="1" smtClean="0">
                              <a:ln>
                                <a:solidFill>
                                  <a:srgbClr val="0000FF"/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sv-SE" sz="2000" b="0" i="1" smtClean="0">
                              <a:ln>
                                <a:solidFill>
                                  <a:srgbClr val="0000FF"/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sv-SE" sz="2000" dirty="0"/>
              </a:p>
              <a:p>
                <a14:m>
                  <m:oMath xmlns:m="http://schemas.openxmlformats.org/officeDocument/2006/math"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sv-SE" sz="2000" b="0" dirty="0"/>
              </a:p>
              <a:p>
                <a:endParaRPr lang="sv-SE" sz="2000" b="0" dirty="0"/>
              </a:p>
              <a:p>
                <a:r>
                  <a:rPr lang="sv-SE" sz="2000" b="1" dirty="0"/>
                  <a:t>L1 </a:t>
                </a:r>
                <a:r>
                  <a:rPr lang="sv-SE" sz="2000" b="1" dirty="0" err="1"/>
                  <a:t>regularization</a:t>
                </a:r>
                <a:r>
                  <a:rPr lang="sv-SE" sz="2000" dirty="0"/>
                  <a:t>: </a:t>
                </a:r>
                <a14:m>
                  <m:oMath xmlns:m="http://schemas.openxmlformats.org/officeDocument/2006/math"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sv-SE" sz="2000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sv-SE" sz="2000" b="1" i="1" smtClean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</m:d>
                      </m:e>
                      <m:sub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sv-SE" sz="2000" dirty="0"/>
              </a:p>
              <a:p>
                <a:r>
                  <a:rPr lang="sv-SE" sz="2000" b="1" dirty="0"/>
                  <a:t>L2 </a:t>
                </a:r>
                <a:r>
                  <a:rPr lang="sv-SE" sz="2000" b="1" dirty="0" err="1"/>
                  <a:t>regularization</a:t>
                </a:r>
                <a:r>
                  <a:rPr lang="sv-SE" sz="2000" b="1" dirty="0"/>
                  <a:t>: </a:t>
                </a:r>
                <a14:m>
                  <m:oMath xmlns:m="http://schemas.openxmlformats.org/officeDocument/2006/math"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sv-SE" sz="2000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sv-SE" sz="2000" b="1" i="1" smtClean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</m:d>
                      </m:e>
                      <m:sub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sv-SE" sz="2000" dirty="0"/>
              </a:p>
              <a:p>
                <a:endParaRPr lang="sv-SE" sz="2000" b="0" dirty="0"/>
              </a:p>
              <a:p>
                <a:endParaRPr lang="sv-SE" sz="2000" b="1" dirty="0">
                  <a:solidFill>
                    <a:srgbClr val="0000FF"/>
                  </a:solidFill>
                  <a:sym typeface="Wingdings" panose="05000000000000000000" pitchFamily="2" charset="2"/>
                </a:endParaRPr>
              </a:p>
              <a:p>
                <a:r>
                  <a:rPr lang="sv-SE" sz="2000" b="1" dirty="0" err="1">
                    <a:solidFill>
                      <a:srgbClr val="C00000"/>
                    </a:solidFill>
                    <a:sym typeface="Wingdings" panose="05000000000000000000" pitchFamily="2" charset="2"/>
                  </a:rPr>
                  <a:t>Example</a:t>
                </a:r>
                <a:r>
                  <a:rPr lang="sv-SE" sz="2000" b="1" dirty="0">
                    <a:sym typeface="Wingdings" panose="05000000000000000000" pitchFamily="2" charset="2"/>
                  </a:rPr>
                  <a:t>: Ridge regression</a:t>
                </a:r>
              </a:p>
              <a:p>
                <a:endParaRPr lang="sv-SE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sv-SE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sv-SE" sz="20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sv-SE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sv-SE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sv-SE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sv-SE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  <m:sub>
                                          <m:r>
                                            <a:rPr lang="sv-SE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sv-SE" sz="20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sv-SE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sv-SE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e>
                                        <m:sup>
                                          <m:r>
                                            <a:rPr lang="sv-SE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sSub>
                                        <m:sSubPr>
                                          <m:ctrlPr>
                                            <a:rPr lang="sv-SE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sv-SE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sv-SE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sv-SE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nary>
                                <m:naryPr>
                                  <m:chr m:val="∑"/>
                                  <m:ctrlPr>
                                    <a:rPr lang="sv-SE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sv-SE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sv-SE" sz="200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sv-SE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sv-SE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sv-SE" sz="2000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sv-SE" sz="20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sv-SE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nary>
                        </m:e>
                      </m:func>
                      <m:r>
                        <a:rPr lang="sv-SE" sz="2000" b="0" i="1" smtClean="0">
                          <a:latin typeface="Cambria Math" panose="02040503050406030204" pitchFamily="18" charset="0"/>
                        </a:rPr>
                        <m:t>,     </m:t>
                      </m:r>
                      <m:r>
                        <a:rPr lang="sv-SE" sz="20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sv-SE" sz="2000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sv-SE" sz="2000" b="0" dirty="0"/>
              </a:p>
              <a:p>
                <a:endParaRPr lang="sv-SE" sz="2000" b="0" dirty="0"/>
              </a:p>
              <a:p>
                <a:endParaRPr lang="sv-SE" sz="2000" dirty="0"/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120CE55F-1C69-4687-8F22-3D3AC7ED56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809" b="-27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C73D018E-7122-43C5-A9F4-CBFF1F558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BB41737F-3E4E-46CC-B90C-D9E9736DF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13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422556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z="3600" dirty="0"/>
              <a:t>Explicit </a:t>
            </a:r>
            <a:r>
              <a:rPr lang="sv-SE" sz="3600" dirty="0" err="1"/>
              <a:t>regularization</a:t>
            </a:r>
            <a:r>
              <a:rPr lang="sv-SE" sz="3600" dirty="0"/>
              <a:t>: </a:t>
            </a:r>
            <a:r>
              <a:rPr lang="sv-SE" sz="3600" dirty="0" err="1"/>
              <a:t>ridge</a:t>
            </a:r>
            <a:r>
              <a:rPr lang="sv-SE" sz="3600" dirty="0"/>
              <a:t>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ln>
                <a:noFill/>
              </a:ln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dirty="0"/>
                  <a:t>Equivalent form</a:t>
                </a:r>
              </a:p>
              <a:p>
                <a:pPr marL="0" indent="0">
                  <a:buNone/>
                </a:pPr>
                <a:endParaRPr lang="sv-SE" sz="2400" b="1" i="1" dirty="0">
                  <a:latin typeface="Cambria Math"/>
                </a:endParaRPr>
              </a:p>
              <a:p>
                <a:pPr marL="0" indent="0">
                  <a:buNone/>
                </a:pPr>
                <a:endParaRPr lang="sv-SE" sz="2400" b="1" i="1" dirty="0">
                  <a:solidFill>
                    <a:schemeClr val="tx1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endParaRPr lang="sv-SE" sz="2400" b="1" i="1" dirty="0">
                  <a:latin typeface="Cambria Math"/>
                </a:endParaRPr>
              </a:p>
              <a:p>
                <a:pPr marL="0" indent="0">
                  <a:buNone/>
                </a:pPr>
                <a:endParaRPr lang="sv-SE" sz="2400" b="1" i="1" dirty="0">
                  <a:solidFill>
                    <a:schemeClr val="tx1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sv-SE" sz="2400" b="1" i="1" dirty="0">
                    <a:latin typeface="Cambria Math"/>
                  </a:rPr>
                  <a:t>Solution</a:t>
                </a:r>
                <a:endParaRPr lang="sv-SE" sz="2400" b="1" i="1" dirty="0">
                  <a:solidFill>
                    <a:schemeClr val="tx1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sv-SE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sv-SE" sz="2400" b="1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𝒓𝒊𝒅𝒈𝒆</m:t>
                          </m:r>
                        </m:sup>
                      </m:sSup>
                      <m:r>
                        <a:rPr lang="sv-SE" sz="2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sv-SE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sv-SE" sz="24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sv-SE" sz="2400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1" i="1" dirty="0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sv-SE" sz="2400" b="1" i="1" dirty="0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sv-SE" sz="2400" b="1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𝑿</m:t>
                              </m:r>
                              <m:r>
                                <a:rPr lang="sv-SE" sz="2400" b="1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a:rPr lang="sv-SE" sz="2400" b="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𝜆</m:t>
                              </m:r>
                              <m:r>
                                <a:rPr lang="sv-SE" sz="2400" b="1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𝑰</m:t>
                              </m:r>
                            </m:e>
                          </m:d>
                        </m:e>
                        <m:sup>
                          <m:r>
                            <a:rPr lang="sv-SE" sz="2400" b="1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sv-SE" sz="2400" b="1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sv-SE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sz="2400" b="1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𝑿</m:t>
                          </m:r>
                        </m:e>
                        <m:sup>
                          <m:r>
                            <a:rPr lang="sv-SE" sz="2400" b="1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𝑻</m:t>
                          </m:r>
                        </m:sup>
                      </m:sSup>
                      <m:r>
                        <a:rPr lang="sv-SE" sz="2400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𝒚</m:t>
                      </m:r>
                    </m:oMath>
                  </m:oMathPara>
                </a14:m>
                <a:endParaRPr lang="sv-SE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11" t="-10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  <a:endParaRPr lang="sv-SE" dirty="0"/>
          </a:p>
        </p:txBody>
      </p:sp>
      <p:sp>
        <p:nvSpPr>
          <p:cNvPr id="5" name="Rectangle 4"/>
          <p:cNvSpPr/>
          <p:nvPr/>
        </p:nvSpPr>
        <p:spPr>
          <a:xfrm>
            <a:off x="2627784" y="4221088"/>
            <a:ext cx="3816424" cy="50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14</a:t>
            </a:fld>
            <a:endParaRPr lang="sv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6"/>
              <p:cNvSpPr txBox="1"/>
              <p:nvPr/>
            </p:nvSpPr>
            <p:spPr bwMode="auto">
              <a:xfrm>
                <a:off x="2627313" y="2060575"/>
                <a:ext cx="4746625" cy="15128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sv-SE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sv-SE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v-SE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p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𝑟𝑖𝑑𝑔𝑒</m:t>
                          </m:r>
                        </m:sup>
                      </m:sSup>
                      <m:r>
                        <a:rPr lang="sv-SE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sv-SE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argmin</m:t>
                      </m:r>
                      <m:nary>
                        <m:naryPr>
                          <m:chr m:val="∑"/>
                          <m:ctrlP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sv-SE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sv-SE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−...−</m:t>
                          </m:r>
                          <m:sSub>
                            <m:sSubPr>
                              <m:ctrlP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sSub>
                            <m:sSubPr>
                              <m:ctrlP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𝑝𝑗</m:t>
                              </m:r>
                            </m:sub>
                          </m:sSub>
                          <m:sSup>
                            <m:sSupPr>
                              <m:ctrlP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sv-SE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subject</m:t>
                      </m:r>
                      <m:r>
                        <a:rPr lang="sv-SE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sv-SE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to</m:t>
                      </m:r>
                      <m:r>
                        <a:rPr lang="sv-SE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Sup>
                            <m:sSubSupPr>
                              <m:ctrlP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sv-SE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nary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7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7313" y="2060575"/>
                <a:ext cx="4746625" cy="15128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29380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Ridge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sv-SE" sz="2800" b="1" dirty="0">
                    <a:solidFill>
                      <a:srgbClr val="0070C0"/>
                    </a:solidFill>
                  </a:rPr>
                  <a:t>Properties</a:t>
                </a:r>
              </a:p>
              <a:p>
                <a:r>
                  <a:rPr lang="sv-SE" sz="2400" dirty="0"/>
                  <a:t>Extreme </a:t>
                </a:r>
                <a:r>
                  <a:rPr lang="sv-SE" sz="2400" dirty="0" err="1"/>
                  <a:t>cases</a:t>
                </a:r>
                <a:r>
                  <a:rPr lang="sv-SE" sz="2400" dirty="0"/>
                  <a:t>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/>
                      </a:rPr>
                      <m:t>𝜆</m:t>
                    </m:r>
                    <m:r>
                      <a:rPr lang="sv-SE" sz="2400" b="0" i="1" smtClean="0">
                        <a:latin typeface="Cambria Math"/>
                      </a:rPr>
                      <m:t>=0</m:t>
                    </m:r>
                  </m:oMath>
                </a14:m>
                <a:r>
                  <a:rPr lang="sv-SE" sz="2400" dirty="0"/>
                  <a:t> </a:t>
                </a:r>
                <a:r>
                  <a:rPr lang="sv-SE" sz="2400" dirty="0" err="1"/>
                  <a:t>usual</a:t>
                </a:r>
                <a:r>
                  <a:rPr lang="sv-SE" sz="2400" dirty="0"/>
                  <a:t> </a:t>
                </a:r>
                <a:r>
                  <a:rPr lang="sv-SE" sz="2400" dirty="0" err="1"/>
                  <a:t>linear</a:t>
                </a:r>
                <a:r>
                  <a:rPr lang="sv-SE" sz="2400" dirty="0"/>
                  <a:t> regression (no </a:t>
                </a:r>
                <a:r>
                  <a:rPr lang="sv-SE" sz="2400" dirty="0" err="1"/>
                  <a:t>shrinkage</a:t>
                </a:r>
                <a:r>
                  <a:rPr lang="sv-SE" sz="2400" dirty="0"/>
                  <a:t>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sv-SE" sz="2400" i="1">
                        <a:latin typeface="Cambria Math"/>
                      </a:rPr>
                      <m:t>𝜆</m:t>
                    </m:r>
                    <m:r>
                      <a:rPr lang="sv-SE" sz="2400" i="1">
                        <a:latin typeface="Cambria Math"/>
                      </a:rPr>
                      <m:t>=+∞</m:t>
                    </m:r>
                  </m:oMath>
                </a14:m>
                <a:r>
                  <a:rPr lang="sv-SE" sz="2400" dirty="0"/>
                  <a:t> </a:t>
                </a:r>
                <a:r>
                  <a:rPr lang="sv-SE" sz="2400" dirty="0" err="1"/>
                  <a:t>fitting</a:t>
                </a:r>
                <a:r>
                  <a:rPr lang="sv-SE" sz="2400" dirty="0"/>
                  <a:t> a </a:t>
                </a:r>
                <a:r>
                  <a:rPr lang="sv-SE" sz="2400" dirty="0" err="1"/>
                  <a:t>constant</a:t>
                </a:r>
                <a:r>
                  <a:rPr lang="sv-SE" sz="2400" dirty="0"/>
                  <a:t> (</a:t>
                </a:r>
                <a14:m>
                  <m:oMath xmlns:m="http://schemas.openxmlformats.org/officeDocument/2006/math">
                    <m:r>
                      <a:rPr lang="sv-SE" sz="2400" b="1" i="1" dirty="0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sv-SE" sz="2400" i="1" dirty="0" smtClean="0">
                        <a:latin typeface="Cambria Math"/>
                      </a:rPr>
                      <m:t>=0</m:t>
                    </m:r>
                  </m:oMath>
                </a14:m>
                <a:r>
                  <a:rPr lang="sv-SE" sz="2400" dirty="0"/>
                  <a:t> </a:t>
                </a:r>
                <a:r>
                  <a:rPr lang="sv-SE" sz="2400" dirty="0" err="1"/>
                  <a:t>except</a:t>
                </a:r>
                <a:r>
                  <a:rPr lang="sv-SE" sz="2400" dirty="0"/>
                  <a:t> </a:t>
                </a:r>
                <a:r>
                  <a:rPr lang="sv-SE" sz="2400" dirty="0" err="1"/>
                  <a:t>of</a:t>
                </a:r>
                <a:r>
                  <a:rPr lang="sv-SE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0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sv-SE" sz="2400" i="1" dirty="0" smtClean="0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sv-SE" sz="2400" dirty="0"/>
                  <a:t>)</a:t>
                </a:r>
              </a:p>
              <a:p>
                <a:pPr lvl="1"/>
                <a:endParaRPr lang="sv-SE" sz="2400" dirty="0"/>
              </a:p>
              <a:p>
                <a:r>
                  <a:rPr lang="en-US" sz="2400" dirty="0">
                    <a:sym typeface="Wingdings" panose="05000000000000000000" pitchFamily="2" charset="2"/>
                  </a:rPr>
                  <a:t>Degrees of freedom decrease when </a:t>
                </a:r>
                <a14:m>
                  <m:oMath xmlns:m="http://schemas.openxmlformats.org/officeDocument/2006/math">
                    <m:r>
                      <a:rPr lang="sv-SE" sz="2400" i="1">
                        <a:latin typeface="Cambria Math"/>
                        <a:sym typeface="Wingdings" panose="05000000000000000000" pitchFamily="2" charset="2"/>
                      </a:rPr>
                      <m:t>𝜆</m:t>
                    </m:r>
                    <m:r>
                      <a:rPr lang="sv-SE" sz="2400">
                        <a:latin typeface="Cambria Math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r>
                  <a:rPr lang="en-US" sz="2400" dirty="0">
                    <a:sym typeface="Wingdings" panose="05000000000000000000" pitchFamily="2" charset="2"/>
                  </a:rPr>
                  <a:t> increases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sv-SE" sz="2000" i="1" smtClean="0">
                        <a:latin typeface="Cambria Math"/>
                        <a:sym typeface="Wingdings" panose="05000000000000000000" pitchFamily="2" charset="2"/>
                      </a:rPr>
                      <m:t>𝜆</m:t>
                    </m:r>
                    <m:r>
                      <a:rPr lang="sv-SE" sz="2000" i="1" smtClean="0">
                        <a:latin typeface="Cambria Math"/>
                        <a:sym typeface="Wingdings" panose="05000000000000000000" pitchFamily="2" charset="2"/>
                      </a:rPr>
                      <m:t>=0→</m:t>
                    </m:r>
                    <m:r>
                      <a:rPr lang="sv-SE" sz="2000" i="1" smtClean="0">
                        <a:latin typeface="Cambria Math"/>
                        <a:sym typeface="Wingdings" panose="05000000000000000000" pitchFamily="2" charset="2"/>
                      </a:rPr>
                      <m:t>𝑑</m:t>
                    </m:r>
                    <m:r>
                      <a:rPr lang="sv-SE" sz="2000" i="1" smtClean="0">
                        <a:latin typeface="Cambria Math"/>
                        <a:sym typeface="Wingdings" panose="05000000000000000000" pitchFamily="2" charset="2"/>
                      </a:rPr>
                      <m:t>.</m:t>
                    </m:r>
                    <m:r>
                      <a:rPr lang="sv-SE" sz="2000" i="1" smtClean="0">
                        <a:latin typeface="Cambria Math"/>
                        <a:sym typeface="Wingdings" panose="05000000000000000000" pitchFamily="2" charset="2"/>
                      </a:rPr>
                      <m:t>𝑓</m:t>
                    </m:r>
                    <m:r>
                      <a:rPr lang="sv-SE" sz="2000" i="1" smtClean="0">
                        <a:latin typeface="Cambria Math"/>
                        <a:sym typeface="Wingdings" panose="05000000000000000000" pitchFamily="2" charset="2"/>
                      </a:rPr>
                      <m:t>.=</m:t>
                    </m:r>
                    <m:r>
                      <a:rPr lang="sv-SE" sz="2000" i="1" smtClean="0">
                        <a:latin typeface="Cambria Math"/>
                        <a:sym typeface="Wingdings" panose="05000000000000000000" pitchFamily="2" charset="2"/>
                      </a:rPr>
                      <m:t>𝑝</m:t>
                    </m:r>
                  </m:oMath>
                </a14:m>
                <a:endParaRPr lang="en-US" sz="2000" dirty="0">
                  <a:sym typeface="Wingdings" panose="05000000000000000000" pitchFamily="2" charset="2"/>
                </a:endParaRPr>
              </a:p>
              <a:p>
                <a:pPr lvl="1"/>
                <a:endParaRPr lang="en-US" sz="2000" dirty="0">
                  <a:sym typeface="Wingdings" panose="05000000000000000000" pitchFamily="2" charset="2"/>
                </a:endParaRPr>
              </a:p>
              <a:p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is doable</a:t>
                </a:r>
              </a:p>
              <a:p>
                <a:pPr lvl="1"/>
                <a:r>
                  <a:rPr lang="en-US" sz="2000" dirty="0"/>
                  <a:t>Compare with linear regression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How to estimate </a:t>
                </a:r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/>
                      </a:rPr>
                      <m:t>𝜆</m:t>
                    </m:r>
                  </m:oMath>
                </a14:m>
                <a:r>
                  <a:rPr lang="en-US" sz="2400" dirty="0"/>
                  <a:t>?</a:t>
                </a:r>
              </a:p>
              <a:p>
                <a:pPr lvl="1"/>
                <a:r>
                  <a:rPr lang="en-US" sz="2000" dirty="0"/>
                  <a:t>cross-validation 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sv-SE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33" t="-283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  <a:endParaRPr lang="sv-S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15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828536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Ridge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v-SE" sz="2800" b="1" dirty="0" err="1">
                <a:solidFill>
                  <a:srgbClr val="C00000"/>
                </a:solidFill>
              </a:rPr>
              <a:t>Example</a:t>
            </a:r>
            <a:r>
              <a:rPr lang="sv-SE" sz="2800" dirty="0"/>
              <a:t> </a:t>
            </a:r>
            <a:r>
              <a:rPr lang="sv-SE" sz="2800" b="1" dirty="0"/>
              <a:t>Computer Hardware Data Set</a:t>
            </a:r>
            <a:r>
              <a:rPr lang="sv-SE" sz="2800" dirty="0"/>
              <a:t> : </a:t>
            </a:r>
            <a:r>
              <a:rPr lang="sv-SE" sz="2800" dirty="0" err="1"/>
              <a:t>performance</a:t>
            </a:r>
            <a:r>
              <a:rPr lang="sv-SE" sz="2800" dirty="0"/>
              <a:t> </a:t>
            </a:r>
            <a:r>
              <a:rPr lang="sv-SE" sz="2800" dirty="0" err="1"/>
              <a:t>measured</a:t>
            </a:r>
            <a:r>
              <a:rPr lang="sv-SE" sz="2800" dirty="0"/>
              <a:t> for </a:t>
            </a:r>
            <a:r>
              <a:rPr lang="sv-SE" sz="2800" dirty="0" err="1"/>
              <a:t>various</a:t>
            </a:r>
            <a:r>
              <a:rPr lang="sv-SE" sz="2800" dirty="0"/>
              <a:t> processors and </a:t>
            </a:r>
            <a:r>
              <a:rPr lang="sv-SE" sz="2800" dirty="0" err="1"/>
              <a:t>also</a:t>
            </a:r>
            <a:endParaRPr lang="sv-SE" sz="2800" dirty="0"/>
          </a:p>
          <a:p>
            <a:r>
              <a:rPr lang="sv-SE" sz="2800" dirty="0" err="1"/>
              <a:t>Cycle</a:t>
            </a:r>
            <a:r>
              <a:rPr lang="sv-SE" sz="2800" dirty="0"/>
              <a:t> </a:t>
            </a:r>
            <a:r>
              <a:rPr lang="sv-SE" sz="2800" dirty="0" err="1"/>
              <a:t>time</a:t>
            </a:r>
            <a:endParaRPr lang="sv-SE" sz="2800" dirty="0"/>
          </a:p>
          <a:p>
            <a:r>
              <a:rPr lang="sv-SE" sz="2800" dirty="0" err="1"/>
              <a:t>Memory</a:t>
            </a:r>
            <a:endParaRPr lang="sv-SE" sz="2800" dirty="0"/>
          </a:p>
          <a:p>
            <a:r>
              <a:rPr lang="sv-SE" sz="2800" dirty="0"/>
              <a:t>Channels</a:t>
            </a:r>
          </a:p>
          <a:p>
            <a:r>
              <a:rPr lang="sv-SE" sz="2800" dirty="0"/>
              <a:t>…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16</a:t>
            </a:fld>
            <a:endParaRPr lang="sv-SE"/>
          </a:p>
        </p:txBody>
      </p:sp>
      <p:sp>
        <p:nvSpPr>
          <p:cNvPr id="6" name="Rectangle 5"/>
          <p:cNvSpPr/>
          <p:nvPr/>
        </p:nvSpPr>
        <p:spPr>
          <a:xfrm>
            <a:off x="237272" y="5157192"/>
            <a:ext cx="34563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 err="1"/>
              <a:t>Build</a:t>
            </a:r>
            <a:r>
              <a:rPr lang="sv-SE" dirty="0"/>
              <a:t> </a:t>
            </a:r>
            <a:r>
              <a:rPr lang="sv-SE" dirty="0" err="1"/>
              <a:t>model</a:t>
            </a:r>
            <a:r>
              <a:rPr lang="sv-SE" dirty="0"/>
              <a:t> </a:t>
            </a:r>
            <a:r>
              <a:rPr lang="sv-SE" dirty="0" err="1"/>
              <a:t>predicting</a:t>
            </a:r>
            <a:r>
              <a:rPr lang="sv-SE" dirty="0"/>
              <a:t> </a:t>
            </a:r>
            <a:r>
              <a:rPr lang="sv-SE" dirty="0" err="1"/>
              <a:t>performance</a:t>
            </a:r>
            <a:endParaRPr lang="sv-SE" dirty="0"/>
          </a:p>
        </p:txBody>
      </p:sp>
      <p:sp>
        <p:nvSpPr>
          <p:cNvPr id="7" name="AutoShape 2" descr="http://www.google.se/url?sa=i&amp;source=imgres&amp;cd=&amp;ved=0CAYQjBwwAGoVChMI-bqnvqT5xwIVgw4sCh3GRwQ6&amp;url=http%3A%2F%2Fwww.spam.com%2Fupload%2Fvarieties-images%2Fspam_classic.png&amp;psig=AFQjCNFLZex7XEykFuswq9S31MyclIafGQ&amp;ust=1442414931929328"/>
          <p:cNvSpPr>
            <a:spLocks noChangeAspect="1" noChangeArrowheads="1"/>
          </p:cNvSpPr>
          <p:nvPr/>
        </p:nvSpPr>
        <p:spPr bwMode="auto">
          <a:xfrm>
            <a:off x="63500" y="-136525"/>
            <a:ext cx="4362450" cy="362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v-SE"/>
          </a:p>
        </p:txBody>
      </p:sp>
      <p:sp>
        <p:nvSpPr>
          <p:cNvPr id="8" name="AutoShape 4" descr="http://www.google.se/url?sa=i&amp;source=imgres&amp;cd=&amp;ved=0CAYQjBwwAGoVChMI4PPC2qT5xwIVBAwsCh0kVAc0&amp;url=http%3A%2F%2Fwww.spam.com%2Fupload%2Fvarieties-images%2Fspam_classic.png&amp;psig=AFQjCNHDLNt4lJLFXd81bhwXsrdDfzCPxg&amp;ust=1442414991049794"/>
          <p:cNvSpPr>
            <a:spLocks noChangeAspect="1" noChangeArrowheads="1"/>
          </p:cNvSpPr>
          <p:nvPr/>
        </p:nvSpPr>
        <p:spPr bwMode="auto">
          <a:xfrm>
            <a:off x="215900" y="15875"/>
            <a:ext cx="4362450" cy="362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v-SE"/>
          </a:p>
        </p:txBody>
      </p:sp>
      <p:pic>
        <p:nvPicPr>
          <p:cNvPr id="29703" name="Picture 7" descr="http://archive.ics.uci.edu/ml/assets/MLimages/Large2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3789040"/>
            <a:ext cx="3041303" cy="2027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19158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Ridge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sz="2800" dirty="0"/>
              <a:t>R </a:t>
            </a:r>
            <a:r>
              <a:rPr lang="sv-SE" sz="2800" dirty="0" err="1"/>
              <a:t>code</a:t>
            </a:r>
            <a:r>
              <a:rPr lang="sv-SE" sz="2800" dirty="0"/>
              <a:t>: </a:t>
            </a:r>
            <a:r>
              <a:rPr lang="sv-SE" sz="2800" dirty="0" err="1"/>
              <a:t>use</a:t>
            </a:r>
            <a:r>
              <a:rPr lang="sv-SE" sz="2800" dirty="0"/>
              <a:t> </a:t>
            </a:r>
            <a:r>
              <a:rPr lang="sv-SE" sz="2800" dirty="0" err="1"/>
              <a:t>package</a:t>
            </a:r>
            <a:r>
              <a:rPr lang="sv-SE" sz="2800" dirty="0"/>
              <a:t> </a:t>
            </a:r>
            <a:r>
              <a:rPr lang="sv-SE" sz="2800" b="1" dirty="0" err="1"/>
              <a:t>glmnet</a:t>
            </a:r>
            <a:r>
              <a:rPr lang="sv-SE" sz="2800" dirty="0"/>
              <a:t> </a:t>
            </a:r>
            <a:r>
              <a:rPr lang="sv-SE" sz="2800" dirty="0" err="1"/>
              <a:t>with</a:t>
            </a:r>
            <a:r>
              <a:rPr lang="sv-SE" sz="2800" dirty="0"/>
              <a:t> </a:t>
            </a:r>
            <a:r>
              <a:rPr lang="sv-SE" sz="2800" dirty="0" err="1"/>
              <a:t>alpha</a:t>
            </a:r>
            <a:r>
              <a:rPr lang="sv-SE" sz="2800" dirty="0"/>
              <a:t>=0 (Ridge regression)</a:t>
            </a:r>
          </a:p>
          <a:p>
            <a:r>
              <a:rPr lang="sv-SE" sz="2800" dirty="0" err="1"/>
              <a:t>Seeing</a:t>
            </a:r>
            <a:r>
              <a:rPr lang="sv-SE" sz="2800" dirty="0"/>
              <a:t> </a:t>
            </a:r>
            <a:r>
              <a:rPr lang="sv-SE" sz="2800" dirty="0" err="1"/>
              <a:t>how</a:t>
            </a:r>
            <a:r>
              <a:rPr lang="sv-SE" sz="2800" dirty="0"/>
              <a:t> Ridge </a:t>
            </a:r>
            <a:r>
              <a:rPr lang="sv-SE" sz="2800" dirty="0" err="1"/>
              <a:t>converges</a:t>
            </a:r>
            <a:endParaRPr lang="sv-SE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17</a:t>
            </a:fld>
            <a:endParaRPr lang="sv-SE"/>
          </a:p>
        </p:txBody>
      </p:sp>
      <p:sp>
        <p:nvSpPr>
          <p:cNvPr id="6" name="Rectangle 5"/>
          <p:cNvSpPr/>
          <p:nvPr/>
        </p:nvSpPr>
        <p:spPr>
          <a:xfrm>
            <a:off x="251520" y="3284984"/>
            <a:ext cx="403244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data=read.csv("machine.csv", header=F)</a:t>
            </a:r>
          </a:p>
          <a:p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library(caret)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library(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glmnet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scaler=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preProcess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(data)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data1=predict(scaler, data)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covariates=data1[,3:8]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response=data1[, 9]</a:t>
            </a:r>
          </a:p>
          <a:p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model0=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glmnet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as.matrix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(covariates), response, alpha=0,family="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gaussian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")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plot(model0,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xvar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="lambda", label=TRUE)</a:t>
            </a:r>
          </a:p>
        </p:txBody>
      </p:sp>
      <p:pic>
        <p:nvPicPr>
          <p:cNvPr id="307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2560639"/>
            <a:ext cx="3310136" cy="323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17352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Ridge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Choosing</a:t>
            </a:r>
            <a:r>
              <a:rPr lang="sv-SE" dirty="0"/>
              <a:t> the best </a:t>
            </a:r>
            <a:r>
              <a:rPr lang="sv-SE" dirty="0" err="1"/>
              <a:t>model</a:t>
            </a:r>
            <a:r>
              <a:rPr lang="sv-SE" dirty="0"/>
              <a:t> by cross-</a:t>
            </a:r>
            <a:r>
              <a:rPr lang="sv-SE" dirty="0" err="1"/>
              <a:t>validation</a:t>
            </a:r>
            <a:r>
              <a:rPr lang="sv-SE" dirty="0"/>
              <a:t>:</a:t>
            </a:r>
          </a:p>
          <a:p>
            <a:endParaRPr lang="sv-S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  <a:endParaRPr lang="sv-S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18</a:t>
            </a:fld>
            <a:endParaRPr lang="sv-SE" dirty="0"/>
          </a:p>
        </p:txBody>
      </p:sp>
      <p:sp>
        <p:nvSpPr>
          <p:cNvPr id="6" name="Rectangle 5"/>
          <p:cNvSpPr/>
          <p:nvPr/>
        </p:nvSpPr>
        <p:spPr>
          <a:xfrm>
            <a:off x="395536" y="2276872"/>
            <a:ext cx="4572000" cy="116955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model=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cv.glmnet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as.matrix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(covariates), response, alpha=0,family="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gaussian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")</a:t>
            </a:r>
          </a:p>
          <a:p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model$lambda.min</a:t>
            </a:r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plot(model)</a:t>
            </a:r>
          </a:p>
          <a:p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coef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(model, s="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lambda.min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")</a:t>
            </a:r>
            <a:endParaRPr lang="sv-SE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88024" y="5755139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sv-SE" sz="1400" dirty="0"/>
              <a:t>&gt; </a:t>
            </a:r>
            <a:r>
              <a:rPr lang="sv-SE" sz="1400" dirty="0" err="1"/>
              <a:t>model$lambda.min</a:t>
            </a:r>
            <a:endParaRPr lang="sv-SE" sz="1400" dirty="0"/>
          </a:p>
          <a:p>
            <a:r>
              <a:rPr lang="sv-SE" sz="1400" dirty="0"/>
              <a:t> [1] 0.046</a:t>
            </a:r>
          </a:p>
        </p:txBody>
      </p:sp>
      <p:pic>
        <p:nvPicPr>
          <p:cNvPr id="31753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843006"/>
            <a:ext cx="3228975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4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2276872"/>
            <a:ext cx="3457972" cy="309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9075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Ridge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sz="2400" dirty="0" err="1"/>
              <a:t>How</a:t>
            </a:r>
            <a:r>
              <a:rPr lang="sv-SE" sz="2400" dirty="0"/>
              <a:t> </a:t>
            </a:r>
            <a:r>
              <a:rPr lang="sv-SE" sz="2400" dirty="0" err="1"/>
              <a:t>good</a:t>
            </a:r>
            <a:r>
              <a:rPr lang="sv-SE" sz="2400" dirty="0"/>
              <a:t> is </a:t>
            </a:r>
            <a:r>
              <a:rPr lang="sv-SE" sz="2400" dirty="0" err="1"/>
              <a:t>this</a:t>
            </a:r>
            <a:r>
              <a:rPr lang="sv-SE" sz="2400" dirty="0"/>
              <a:t> </a:t>
            </a:r>
            <a:r>
              <a:rPr lang="sv-SE" sz="2400" dirty="0" err="1"/>
              <a:t>model</a:t>
            </a:r>
            <a:r>
              <a:rPr lang="sv-SE" sz="2400" dirty="0"/>
              <a:t> in </a:t>
            </a:r>
            <a:r>
              <a:rPr lang="sv-SE" sz="2400" dirty="0" err="1"/>
              <a:t>prediction</a:t>
            </a:r>
            <a:r>
              <a:rPr lang="sv-SE" sz="2400" dirty="0"/>
              <a:t>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19</a:t>
            </a:fld>
            <a:endParaRPr lang="sv-SE"/>
          </a:p>
        </p:txBody>
      </p:sp>
      <p:sp>
        <p:nvSpPr>
          <p:cNvPr id="7" name="Rectangle 6"/>
          <p:cNvSpPr/>
          <p:nvPr/>
        </p:nvSpPr>
        <p:spPr>
          <a:xfrm>
            <a:off x="179512" y="2099211"/>
            <a:ext cx="7632848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covariates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train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[,1:6]</a:t>
            </a:r>
          </a:p>
          <a:p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response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train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[, 7]</a:t>
            </a:r>
          </a:p>
          <a:p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model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cv.glmnet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as.matrix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covariates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), 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response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alpha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=0,family="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gaussian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", lambda=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seq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(0,1,0.001))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y=test[,7]</a:t>
            </a:r>
          </a:p>
          <a:p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ynew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predict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model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newx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as.matrix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(test[, 1:6]), 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type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response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")</a:t>
            </a:r>
          </a:p>
          <a:p>
            <a:endParaRPr lang="sv-SE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Coefficient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of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determination</a:t>
            </a:r>
          </a:p>
          <a:p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sum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((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ynew-mean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(y))^2)/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sum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((y-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mean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(y))^2)</a:t>
            </a:r>
          </a:p>
          <a:p>
            <a:endParaRPr lang="sv-SE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sum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((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ynew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-y)^2)</a:t>
            </a:r>
          </a:p>
        </p:txBody>
      </p:sp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5229200"/>
            <a:ext cx="4343400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4932040" y="4289762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200" dirty="0">
                <a:solidFill>
                  <a:srgbClr val="FF0000"/>
                </a:solidFill>
              </a:rPr>
              <a:t>Note </a:t>
            </a:r>
            <a:r>
              <a:rPr lang="sv-SE" sz="1200" dirty="0" err="1">
                <a:solidFill>
                  <a:srgbClr val="FF0000"/>
                </a:solidFill>
              </a:rPr>
              <a:t>that</a:t>
            </a:r>
            <a:r>
              <a:rPr lang="sv-SE" sz="1200" dirty="0">
                <a:solidFill>
                  <a:srgbClr val="FF0000"/>
                </a:solidFill>
              </a:rPr>
              <a:t> data </a:t>
            </a:r>
            <a:r>
              <a:rPr lang="sv-SE" sz="1200" dirty="0" err="1">
                <a:solidFill>
                  <a:srgbClr val="FF0000"/>
                </a:solidFill>
              </a:rPr>
              <a:t>are</a:t>
            </a:r>
            <a:r>
              <a:rPr lang="sv-SE" sz="1200" dirty="0">
                <a:solidFill>
                  <a:srgbClr val="FF0000"/>
                </a:solidFill>
              </a:rPr>
              <a:t> so small so </a:t>
            </a:r>
            <a:r>
              <a:rPr lang="sv-SE" sz="1200" dirty="0" err="1">
                <a:solidFill>
                  <a:srgbClr val="FF0000"/>
                </a:solidFill>
              </a:rPr>
              <a:t>numbers</a:t>
            </a:r>
            <a:r>
              <a:rPr lang="sv-SE" sz="1200" dirty="0">
                <a:solidFill>
                  <a:srgbClr val="FF0000"/>
                </a:solidFill>
              </a:rPr>
              <a:t> </a:t>
            </a:r>
            <a:r>
              <a:rPr lang="sv-SE" sz="1200" dirty="0" err="1">
                <a:solidFill>
                  <a:srgbClr val="FF0000"/>
                </a:solidFill>
              </a:rPr>
              <a:t>change</a:t>
            </a:r>
            <a:r>
              <a:rPr lang="sv-SE" sz="1200" dirty="0">
                <a:solidFill>
                  <a:srgbClr val="FF0000"/>
                </a:solidFill>
              </a:rPr>
              <a:t> </a:t>
            </a:r>
            <a:r>
              <a:rPr lang="sv-SE" sz="1200" dirty="0" err="1">
                <a:solidFill>
                  <a:srgbClr val="FF0000"/>
                </a:solidFill>
              </a:rPr>
              <a:t>much</a:t>
            </a:r>
            <a:r>
              <a:rPr lang="sv-SE" sz="1200" dirty="0">
                <a:solidFill>
                  <a:srgbClr val="FF0000"/>
                </a:solidFill>
              </a:rPr>
              <a:t> for </a:t>
            </a:r>
            <a:r>
              <a:rPr lang="sv-SE" sz="1200" dirty="0" err="1">
                <a:solidFill>
                  <a:srgbClr val="FF0000"/>
                </a:solidFill>
              </a:rPr>
              <a:t>other</a:t>
            </a:r>
            <a:r>
              <a:rPr lang="sv-SE" sz="1200" dirty="0">
                <a:solidFill>
                  <a:srgbClr val="FF0000"/>
                </a:solidFill>
              </a:rPr>
              <a:t> </a:t>
            </a:r>
            <a:r>
              <a:rPr lang="sv-SE" sz="1200" dirty="0" err="1">
                <a:solidFill>
                  <a:srgbClr val="FF0000"/>
                </a:solidFill>
              </a:rPr>
              <a:t>train</a:t>
            </a:r>
            <a:r>
              <a:rPr lang="sv-SE" sz="1200" dirty="0">
                <a:solidFill>
                  <a:srgbClr val="FF0000"/>
                </a:solidFill>
              </a:rPr>
              <a:t>/test</a:t>
            </a:r>
          </a:p>
        </p:txBody>
      </p:sp>
    </p:spTree>
    <p:extLst>
      <p:ext uri="{BB962C8B-B14F-4D97-AF65-F5344CB8AC3E}">
        <p14:creationId xmlns:p14="http://schemas.microsoft.com/office/powerpoint/2010/main" val="36040571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LASSO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4330824" cy="4525963"/>
              </a:xfrm>
            </p:spPr>
            <p:txBody>
              <a:bodyPr/>
              <a:lstStyle/>
              <a:p>
                <a:endParaRPr lang="en-US" sz="2400" dirty="0">
                  <a:sym typeface="Wingdings" panose="05000000000000000000" pitchFamily="2" charset="2"/>
                </a:endParaRPr>
              </a:p>
              <a:p>
                <a:r>
                  <a:rPr lang="en-US" sz="2400" dirty="0">
                    <a:sym typeface="Wingdings" panose="05000000000000000000" pitchFamily="2" charset="2"/>
                  </a:rPr>
                  <a:t>Add</a:t>
                </a:r>
                <a:r>
                  <a:rPr lang="en-US" sz="2400" b="1" dirty="0">
                    <a:sym typeface="Wingdings" panose="05000000000000000000" pitchFamily="2" charset="2"/>
                  </a:rPr>
                  <a:t> l</a:t>
                </a:r>
                <a:r>
                  <a:rPr lang="en-US" sz="2400" b="1" baseline="-25000" dirty="0">
                    <a:sym typeface="Wingdings" panose="05000000000000000000" pitchFamily="2" charset="2"/>
                  </a:rPr>
                  <a:t>1</a:t>
                </a:r>
                <a:r>
                  <a:rPr lang="en-US" sz="2400" b="1" dirty="0">
                    <a:sym typeface="Wingdings" panose="05000000000000000000" pitchFamily="2" charset="2"/>
                  </a:rPr>
                  <a:t> regularization term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14:m>
                  <m:oMath xmlns:m="http://schemas.openxmlformats.org/officeDocument/2006/math">
                    <m:r>
                      <a:rPr lang="sv-SE" sz="2400" i="1">
                        <a:latin typeface="Cambria Math"/>
                      </a:rPr>
                      <m:t>𝜆</m:t>
                    </m:r>
                    <m:r>
                      <a:rPr lang="sv-SE" sz="2400" i="1">
                        <a:latin typeface="Cambria Math"/>
                      </a:rPr>
                      <m:t>&gt;0</m:t>
                    </m:r>
                  </m:oMath>
                </a14:m>
                <a:r>
                  <a:rPr lang="en-US" sz="2400" dirty="0"/>
                  <a:t> is </a:t>
                </a:r>
                <a:r>
                  <a:rPr lang="en-US" sz="2400" b="1" dirty="0"/>
                  <a:t>penalty factor</a:t>
                </a:r>
              </a:p>
              <a:p>
                <a:endParaRPr lang="en-US" sz="2400" b="1" dirty="0"/>
              </a:p>
              <a:p>
                <a:r>
                  <a:rPr lang="en-US" sz="2400" dirty="0"/>
                  <a:t>Equivalent formulation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4330824" cy="4525963"/>
              </a:xfrm>
              <a:blipFill>
                <a:blip r:embed="rId3"/>
                <a:stretch>
                  <a:fillRect l="-1831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4"/>
              <p:cNvSpPr txBox="1"/>
              <p:nvPr/>
            </p:nvSpPr>
            <p:spPr bwMode="auto">
              <a:xfrm>
                <a:off x="540544" y="2855488"/>
                <a:ext cx="5167312" cy="684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sv-SE" sz="1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sv-SE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v-SE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p>
                          <m:r>
                            <a:rPr lang="sv-SE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𝑙𝑎𝑠𝑠𝑜</m:t>
                          </m:r>
                        </m:sup>
                      </m:sSup>
                      <m:r>
                        <a:rPr lang="sv-SE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sv-SE" sz="1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argmin</m:t>
                      </m:r>
                      <m:d>
                        <m:dPr>
                          <m:begChr m:val="{"/>
                          <m:endChr m:val="}"/>
                          <m:ctrlPr>
                            <a:rPr lang="sv-SE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sv-SE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sv-SE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sv-SE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sv-SE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sv-SE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sv-SE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sv-SE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sv-SE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sv-SE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sv-SE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sv-SE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sv-SE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sv-SE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sv-SE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sv-SE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sv-SE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sv-SE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sv-SE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sv-SE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sv-SE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−...−</m:t>
                              </m:r>
                              <m:sSub>
                                <m:sSubPr>
                                  <m:ctrlPr>
                                    <a:rPr lang="sv-SE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sv-SE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sv-SE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sv-SE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sv-SE" sz="1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sv-SE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sv-SE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sv-SE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sv-SE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nary>
                                <m:naryPr>
                                  <m:chr m:val="∑"/>
                                  <m:ctrlPr>
                                    <a:rPr lang="sv-SE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sv-SE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sv-SE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sv-SE" sz="1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sv-SE" sz="1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sv-SE" sz="1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sv-SE" sz="14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sv-SE" sz="14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d>
                    </m:oMath>
                  </m:oMathPara>
                </a14:m>
                <a:endParaRPr lang="sv-SE" sz="1400" dirty="0"/>
              </a:p>
            </p:txBody>
          </p:sp>
        </mc:Choice>
        <mc:Fallback>
          <p:sp>
            <p:nvSpPr>
              <p:cNvPr id="5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0544" y="2855488"/>
                <a:ext cx="5167312" cy="684212"/>
              </a:xfrm>
              <a:prstGeom prst="rect">
                <a:avLst/>
              </a:prstGeom>
              <a:blipFill>
                <a:blip r:embed="rId4"/>
                <a:stretch>
                  <a:fillRect b="-708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20</a:t>
            </a:fld>
            <a:endParaRPr lang="sv-SE"/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BFC3756F-2A0E-44E6-ACAD-384C7B81EF74}"/>
              </a:ext>
            </a:extLst>
          </p:cNvPr>
          <p:cNvSpPr/>
          <p:nvPr/>
        </p:nvSpPr>
        <p:spPr>
          <a:xfrm>
            <a:off x="7283945" y="6332150"/>
            <a:ext cx="1162498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sz="600" dirty="0">
                <a:solidFill>
                  <a:schemeClr val="bg1">
                    <a:lumMod val="85000"/>
                  </a:schemeClr>
                </a:solidFill>
              </a:rPr>
              <a:t>http://img-aws.ehowcdn.com</a:t>
            </a:r>
          </a:p>
        </p:txBody>
      </p:sp>
      <p:pic>
        <p:nvPicPr>
          <p:cNvPr id="8" name="Bildobjekt 7">
            <a:extLst>
              <a:ext uri="{FF2B5EF4-FFF2-40B4-BE49-F238E27FC236}">
                <a16:creationId xmlns:a16="http://schemas.microsoft.com/office/drawing/2014/main" id="{95CD362F-0A34-4089-A351-B9260EFAFA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6176" y="1567687"/>
            <a:ext cx="2895600" cy="341835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bject 5">
                <a:extLst>
                  <a:ext uri="{FF2B5EF4-FFF2-40B4-BE49-F238E27FC236}">
                    <a16:creationId xmlns:a16="http://schemas.microsoft.com/office/drawing/2014/main" id="{42D4C1DB-3BC1-4BFC-871B-8BCDC7EE5A05}"/>
                  </a:ext>
                </a:extLst>
              </p:cNvPr>
              <p:cNvSpPr txBox="1"/>
              <p:nvPr/>
            </p:nvSpPr>
            <p:spPr bwMode="auto">
              <a:xfrm>
                <a:off x="1487612" y="5143660"/>
                <a:ext cx="3833812" cy="12160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sv-SE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v-SE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p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𝑙𝑎𝑠𝑠𝑜</m:t>
                          </m:r>
                        </m:sup>
                      </m:sSup>
                      <m:r>
                        <a:rPr lang="sv-SE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sv-SE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argmin</m:t>
                      </m:r>
                      <m:nary>
                        <m:naryPr>
                          <m:chr m:val="∑"/>
                          <m:ctrlP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sv-SE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sv-SE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sv-SE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sv-SE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−...−</m:t>
                          </m:r>
                          <m:sSub>
                            <m:sSubPr>
                              <m:ctrlP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sSub>
                            <m:sSubPr>
                              <m:ctrlP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sv-SE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sv-SE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subject</m:t>
                      </m:r>
                      <m:r>
                        <a:rPr lang="sv-SE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sv-SE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to</m:t>
                      </m:r>
                      <m:r>
                        <a:rPr lang="sv-SE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sv-SE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sv-SE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nary>
                    </m:oMath>
                  </m:oMathPara>
                </a14:m>
                <a:endParaRPr lang="sv-SE" dirty="0"/>
              </a:p>
            </p:txBody>
          </p:sp>
        </mc:Choice>
        <mc:Fallback>
          <p:sp>
            <p:nvSpPr>
              <p:cNvPr id="11" name="Object 5">
                <a:extLst>
                  <a:ext uri="{FF2B5EF4-FFF2-40B4-BE49-F238E27FC236}">
                    <a16:creationId xmlns:a16="http://schemas.microsoft.com/office/drawing/2014/main" id="{42D4C1DB-3BC1-4BFC-871B-8BCDC7EE5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87612" y="5143660"/>
                <a:ext cx="3833812" cy="12160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70933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LASSO vs Ridge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sz="2000" b="1" dirty="0">
                <a:solidFill>
                  <a:srgbClr val="0070C0"/>
                </a:solidFill>
              </a:rPr>
              <a:t>LASSO </a:t>
            </a:r>
            <a:r>
              <a:rPr lang="sv-SE" sz="2000" b="1" dirty="0" err="1">
                <a:solidFill>
                  <a:srgbClr val="0070C0"/>
                </a:solidFill>
              </a:rPr>
              <a:t>yields</a:t>
            </a:r>
            <a:r>
              <a:rPr lang="sv-SE" sz="2000" b="1" dirty="0">
                <a:solidFill>
                  <a:srgbClr val="0070C0"/>
                </a:solidFill>
              </a:rPr>
              <a:t> </a:t>
            </a:r>
            <a:r>
              <a:rPr lang="sv-SE" sz="2000" b="1" dirty="0" err="1">
                <a:solidFill>
                  <a:srgbClr val="0070C0"/>
                </a:solidFill>
              </a:rPr>
              <a:t>sparse</a:t>
            </a:r>
            <a:r>
              <a:rPr lang="sv-SE" sz="2000" b="1" dirty="0">
                <a:solidFill>
                  <a:srgbClr val="0070C0"/>
                </a:solidFill>
              </a:rPr>
              <a:t> solutions!</a:t>
            </a:r>
          </a:p>
          <a:p>
            <a:pPr marL="0" indent="0">
              <a:buNone/>
            </a:pPr>
            <a:r>
              <a:rPr lang="sv-SE" sz="2000" b="1" dirty="0" err="1">
                <a:solidFill>
                  <a:srgbClr val="C00000"/>
                </a:solidFill>
              </a:rPr>
              <a:t>Example</a:t>
            </a:r>
            <a:r>
              <a:rPr lang="sv-SE" sz="2000" dirty="0"/>
              <a:t> Computer hardware data</a:t>
            </a:r>
            <a:endParaRPr lang="sv-SE" sz="1600" dirty="0"/>
          </a:p>
          <a:p>
            <a:pPr marL="914400" lvl="2" indent="0">
              <a:buNone/>
            </a:pPr>
            <a:endParaRPr lang="sv-SE" sz="1600" dirty="0"/>
          </a:p>
          <a:p>
            <a:endParaRPr lang="sv-SE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21</a:t>
            </a:fld>
            <a:endParaRPr lang="sv-SE"/>
          </a:p>
        </p:txBody>
      </p:sp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492896"/>
            <a:ext cx="3886200" cy="3795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2492896"/>
            <a:ext cx="3886200" cy="3795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15188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LASSO vs Ridge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In R, </a:t>
            </a:r>
            <a:r>
              <a:rPr lang="sv-SE" dirty="0" err="1"/>
              <a:t>use</a:t>
            </a:r>
            <a:r>
              <a:rPr lang="sv-SE" dirty="0"/>
              <a:t> </a:t>
            </a:r>
            <a:r>
              <a:rPr lang="sv-SE" dirty="0" err="1"/>
              <a:t>glmnet</a:t>
            </a:r>
            <a:r>
              <a:rPr lang="sv-SE" dirty="0"/>
              <a:t> </a:t>
            </a:r>
            <a:r>
              <a:rPr lang="sv-SE" dirty="0" err="1"/>
              <a:t>with</a:t>
            </a:r>
            <a:r>
              <a:rPr lang="sv-SE" dirty="0"/>
              <a:t> </a:t>
            </a:r>
            <a:r>
              <a:rPr lang="sv-SE" sz="3200" b="1" dirty="0" err="1"/>
              <a:t>alpha</a:t>
            </a:r>
            <a:r>
              <a:rPr lang="sv-SE" sz="3200" b="1" dirty="0"/>
              <a:t>=1</a:t>
            </a:r>
            <a:endParaRPr lang="sv-SE" b="1" dirty="0"/>
          </a:p>
          <a:p>
            <a:r>
              <a:rPr lang="sv-SE" dirty="0" err="1"/>
              <a:t>Only</a:t>
            </a:r>
            <a:r>
              <a:rPr lang="sv-SE" dirty="0"/>
              <a:t> 5 </a:t>
            </a:r>
            <a:r>
              <a:rPr lang="sv-SE" dirty="0" err="1"/>
              <a:t>variables</a:t>
            </a:r>
            <a:r>
              <a:rPr lang="sv-SE" dirty="0"/>
              <a:t> </a:t>
            </a:r>
            <a:r>
              <a:rPr lang="sv-SE" dirty="0" err="1"/>
              <a:t>selected</a:t>
            </a:r>
            <a:r>
              <a:rPr lang="sv-SE" dirty="0"/>
              <a:t> by LASSO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22</a:t>
            </a:fld>
            <a:endParaRPr lang="sv-SE"/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429000"/>
            <a:ext cx="4305300" cy="195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4725144"/>
            <a:ext cx="4276725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1131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LASSO vs Ridge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Why</a:t>
            </a:r>
            <a:r>
              <a:rPr lang="sv-SE" dirty="0"/>
              <a:t> Lasso </a:t>
            </a:r>
            <a:r>
              <a:rPr lang="sv-SE" dirty="0" err="1"/>
              <a:t>leads</a:t>
            </a:r>
            <a:r>
              <a:rPr lang="sv-SE" dirty="0"/>
              <a:t> </a:t>
            </a:r>
            <a:r>
              <a:rPr lang="sv-SE" dirty="0" err="1"/>
              <a:t>to</a:t>
            </a:r>
            <a:r>
              <a:rPr lang="sv-SE" dirty="0"/>
              <a:t> </a:t>
            </a:r>
            <a:r>
              <a:rPr lang="sv-SE" dirty="0" err="1"/>
              <a:t>sparse</a:t>
            </a:r>
            <a:r>
              <a:rPr lang="sv-SE" dirty="0"/>
              <a:t> solutions?</a:t>
            </a:r>
          </a:p>
          <a:p>
            <a:pPr lvl="1"/>
            <a:r>
              <a:rPr lang="sv-SE" dirty="0" err="1"/>
              <a:t>Feasible</a:t>
            </a:r>
            <a:r>
              <a:rPr lang="sv-SE" dirty="0"/>
              <a:t> area for Ridge is a </a:t>
            </a:r>
            <a:r>
              <a:rPr lang="sv-SE" dirty="0" err="1"/>
              <a:t>circle</a:t>
            </a:r>
            <a:r>
              <a:rPr lang="sv-SE" dirty="0"/>
              <a:t> (2D)</a:t>
            </a:r>
          </a:p>
          <a:p>
            <a:pPr lvl="1"/>
            <a:r>
              <a:rPr lang="sv-SE" dirty="0" err="1"/>
              <a:t>Feasible</a:t>
            </a:r>
            <a:r>
              <a:rPr lang="sv-SE" dirty="0"/>
              <a:t> area for LASSO is </a:t>
            </a:r>
            <a:r>
              <a:rPr lang="sv-SE"/>
              <a:t>a polygon (2D</a:t>
            </a:r>
            <a:r>
              <a:rPr lang="sv-SE" dirty="0"/>
              <a:t>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23</a:t>
            </a:fld>
            <a:endParaRPr lang="sv-SE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3429000"/>
            <a:ext cx="6146856" cy="2779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ruta 5">
                <a:extLst>
                  <a:ext uri="{FF2B5EF4-FFF2-40B4-BE49-F238E27FC236}">
                    <a16:creationId xmlns:a16="http://schemas.microsoft.com/office/drawing/2014/main" id="{E6A6652F-F5DB-46DC-A24F-3D13A7980240}"/>
                  </a:ext>
                </a:extLst>
              </p:cNvPr>
              <p:cNvSpPr txBox="1"/>
              <p:nvPr/>
            </p:nvSpPr>
            <p:spPr>
              <a:xfrm>
                <a:off x="2896120" y="4221088"/>
                <a:ext cx="144016" cy="19248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sv-SE" sz="12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v-SE" sz="1200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acc>
                    </m:oMath>
                  </m:oMathPara>
                </a14:m>
                <a:endParaRPr lang="sv-SE" sz="1400" b="1" dirty="0"/>
              </a:p>
            </p:txBody>
          </p:sp>
        </mc:Choice>
        <mc:Fallback xmlns="">
          <p:sp>
            <p:nvSpPr>
              <p:cNvPr id="6" name="textruta 5">
                <a:extLst>
                  <a:ext uri="{FF2B5EF4-FFF2-40B4-BE49-F238E27FC236}">
                    <a16:creationId xmlns:a16="http://schemas.microsoft.com/office/drawing/2014/main" id="{E6A6652F-F5DB-46DC-A24F-3D13A79802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6120" y="4221088"/>
                <a:ext cx="144016" cy="192489"/>
              </a:xfrm>
              <a:prstGeom prst="rect">
                <a:avLst/>
              </a:prstGeom>
              <a:blipFill>
                <a:blip r:embed="rId4"/>
                <a:stretch>
                  <a:fillRect l="-20833" t="-18750" r="-54167" b="-937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ruta 8">
                <a:extLst>
                  <a:ext uri="{FF2B5EF4-FFF2-40B4-BE49-F238E27FC236}">
                    <a16:creationId xmlns:a16="http://schemas.microsoft.com/office/drawing/2014/main" id="{F780F183-B132-4BE7-A0B0-3FF7A7D312F7}"/>
                  </a:ext>
                </a:extLst>
              </p:cNvPr>
              <p:cNvSpPr txBox="1"/>
              <p:nvPr/>
            </p:nvSpPr>
            <p:spPr>
              <a:xfrm>
                <a:off x="6103865" y="4293096"/>
                <a:ext cx="144016" cy="19248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sv-SE" sz="1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v-SE" sz="1200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acc>
                    </m:oMath>
                  </m:oMathPara>
                </a14:m>
                <a:endParaRPr lang="sv-SE" sz="1400" dirty="0"/>
              </a:p>
            </p:txBody>
          </p:sp>
        </mc:Choice>
        <mc:Fallback xmlns="">
          <p:sp>
            <p:nvSpPr>
              <p:cNvPr id="9" name="textruta 8">
                <a:extLst>
                  <a:ext uri="{FF2B5EF4-FFF2-40B4-BE49-F238E27FC236}">
                    <a16:creationId xmlns:a16="http://schemas.microsoft.com/office/drawing/2014/main" id="{F780F183-B132-4BE7-A0B0-3FF7A7D312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3865" y="4293096"/>
                <a:ext cx="144016" cy="192489"/>
              </a:xfrm>
              <a:prstGeom prst="rect">
                <a:avLst/>
              </a:prstGeom>
              <a:blipFill>
                <a:blip r:embed="rId4"/>
                <a:stretch>
                  <a:fillRect l="-20833" t="-18750" r="-54167" b="-937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28471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LASSO </a:t>
            </a:r>
            <a:r>
              <a:rPr lang="sv-SE" dirty="0" err="1"/>
              <a:t>properies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sv-SE" sz="2400" b="1" dirty="0"/>
                  <a:t>Lasso is </a:t>
                </a:r>
                <a:r>
                  <a:rPr lang="sv-SE" sz="2400" b="1" dirty="0" err="1"/>
                  <a:t>widely</a:t>
                </a:r>
                <a:r>
                  <a:rPr lang="sv-SE" sz="2400" b="1" dirty="0"/>
                  <a:t> </a:t>
                </a:r>
                <a:r>
                  <a:rPr lang="sv-SE" sz="2400" b="1" dirty="0" err="1"/>
                  <a:t>used</a:t>
                </a:r>
                <a:r>
                  <a:rPr lang="sv-SE" sz="2400" b="1" dirty="0"/>
                  <a:t> </a:t>
                </a:r>
                <a:r>
                  <a:rPr lang="sv-SE" sz="2400" b="1" dirty="0" err="1"/>
                  <a:t>when</a:t>
                </a:r>
                <a:r>
                  <a:rPr lang="sv-SE" sz="2400" b="1" dirty="0"/>
                  <a:t> </a:t>
                </a:r>
                <a14:m>
                  <m:oMath xmlns:m="http://schemas.openxmlformats.org/officeDocument/2006/math">
                    <m:r>
                      <a:rPr lang="sv-SE" sz="2400" b="1" i="1" smtClean="0">
                        <a:latin typeface="Cambria Math"/>
                      </a:rPr>
                      <m:t>𝒑</m:t>
                    </m:r>
                    <m:r>
                      <a:rPr lang="sv-SE" sz="2400" b="1" i="1" smtClean="0">
                        <a:latin typeface="Cambria Math"/>
                      </a:rPr>
                      <m:t>≫</m:t>
                    </m:r>
                    <m:r>
                      <a:rPr lang="sv-SE" sz="2400" b="1" i="1" smtClean="0">
                        <a:latin typeface="Cambria Math"/>
                      </a:rPr>
                      <m:t>𝒏</m:t>
                    </m:r>
                  </m:oMath>
                </a14:m>
                <a:r>
                  <a:rPr lang="sv-SE" sz="2400" b="1" dirty="0"/>
                  <a:t> </a:t>
                </a:r>
              </a:p>
              <a:p>
                <a:pPr lvl="1"/>
                <a:r>
                  <a:rPr lang="sv-SE" sz="2000" dirty="0" err="1"/>
                  <a:t>Linear</a:t>
                </a:r>
                <a:r>
                  <a:rPr lang="sv-SE" sz="2000" dirty="0"/>
                  <a:t> regression breaks down </a:t>
                </a:r>
                <a:r>
                  <a:rPr lang="sv-SE" sz="2000" dirty="0" err="1"/>
                  <a:t>when</a:t>
                </a:r>
                <a:r>
                  <a:rPr lang="sv-SE" sz="2000" dirty="0"/>
                  <a:t> </a:t>
                </a:r>
                <a14:m>
                  <m:oMath xmlns:m="http://schemas.openxmlformats.org/officeDocument/2006/math">
                    <m:r>
                      <a:rPr lang="sv-SE" sz="2000" b="0" i="1">
                        <a:latin typeface="Cambria Math"/>
                      </a:rPr>
                      <m:t>𝑝</m:t>
                    </m:r>
                    <m:r>
                      <a:rPr lang="sv-SE" sz="2000" b="0" i="1" smtClean="0">
                        <a:latin typeface="Cambria Math"/>
                      </a:rPr>
                      <m:t>&gt;</m:t>
                    </m:r>
                    <m:r>
                      <a:rPr lang="sv-SE" sz="2000" b="0" i="1">
                        <a:latin typeface="Cambria Math"/>
                      </a:rPr>
                      <m:t>𝑛</m:t>
                    </m:r>
                  </m:oMath>
                </a14:m>
                <a:endParaRPr lang="sv-SE" sz="2000" dirty="0"/>
              </a:p>
              <a:p>
                <a:pPr lvl="1"/>
                <a:r>
                  <a:rPr lang="sv-SE" sz="2000" dirty="0" err="1"/>
                  <a:t>Application</a:t>
                </a:r>
                <a:r>
                  <a:rPr lang="sv-SE" sz="2000" dirty="0"/>
                  <a:t>: DNA </a:t>
                </a:r>
                <a:r>
                  <a:rPr lang="sv-SE" sz="2000" dirty="0" err="1"/>
                  <a:t>sequence</a:t>
                </a:r>
                <a:r>
                  <a:rPr lang="sv-SE" sz="2000" dirty="0"/>
                  <a:t> </a:t>
                </a:r>
                <a:r>
                  <a:rPr lang="sv-SE" sz="2000" dirty="0" err="1"/>
                  <a:t>analysis</a:t>
                </a:r>
                <a:r>
                  <a:rPr lang="sv-SE" sz="2000" dirty="0"/>
                  <a:t>, Text </a:t>
                </a:r>
                <a:r>
                  <a:rPr lang="sv-SE" sz="2000" dirty="0" err="1"/>
                  <a:t>Prediction</a:t>
                </a:r>
                <a:endParaRPr lang="sv-SE" sz="2000" dirty="0"/>
              </a:p>
              <a:p>
                <a:endParaRPr lang="sv-SE" sz="2400" dirty="0"/>
              </a:p>
              <a:p>
                <a:endParaRPr lang="sv-SE" sz="2400" dirty="0"/>
              </a:p>
              <a:p>
                <a:r>
                  <a:rPr lang="sv-SE" sz="2400" dirty="0"/>
                  <a:t>No explicit </a:t>
                </a:r>
                <a:r>
                  <a:rPr lang="sv-SE" sz="2400" dirty="0" err="1"/>
                  <a:t>formula</a:t>
                </a:r>
                <a:r>
                  <a:rPr lang="sv-SE" sz="2400" dirty="0"/>
                  <a:t>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v-SE" sz="24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sv-SE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sv-SE" sz="2000" b="0" i="1" dirty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p>
                        <m:r>
                          <a:rPr lang="sv-SE" sz="2400" b="1" i="1" dirty="0" smtClean="0">
                            <a:latin typeface="Cambria Math"/>
                          </a:rPr>
                          <m:t>𝒍𝒂𝒔𝒔𝒐</m:t>
                        </m:r>
                      </m:sup>
                    </m:sSup>
                  </m:oMath>
                </a14:m>
                <a:endParaRPr lang="sv-SE" sz="2000" dirty="0"/>
              </a:p>
              <a:p>
                <a:pPr lvl="1"/>
                <a:r>
                  <a:rPr lang="sv-SE" sz="1600" dirty="0" err="1"/>
                  <a:t>Optimization</a:t>
                </a:r>
                <a:r>
                  <a:rPr lang="sv-SE" sz="1600" dirty="0"/>
                  <a:t> </a:t>
                </a:r>
                <a:r>
                  <a:rPr lang="sv-SE" sz="1600" dirty="0" err="1"/>
                  <a:t>algorithms</a:t>
                </a:r>
                <a:r>
                  <a:rPr lang="sv-SE" sz="1600" dirty="0"/>
                  <a:t> </a:t>
                </a:r>
                <a:r>
                  <a:rPr lang="sv-SE" sz="1600" dirty="0" err="1"/>
                  <a:t>used</a:t>
                </a:r>
                <a:endParaRPr lang="sv-SE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24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0223940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4E7AA2E-99EF-4970-B625-621F45272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Optimization</a:t>
            </a:r>
            <a:r>
              <a:rPr lang="sv-SE" dirty="0"/>
              <a:t> </a:t>
            </a:r>
            <a:r>
              <a:rPr lang="sv-SE" dirty="0" err="1"/>
              <a:t>methods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FB44858F-B875-4816-B6E7-AC265F5987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v-SE" sz="2400" dirty="0"/>
                  <a:t>Numerical </a:t>
                </a:r>
                <a:r>
                  <a:rPr lang="sv-SE" sz="2400" dirty="0" err="1"/>
                  <a:t>optimization</a:t>
                </a:r>
                <a:r>
                  <a:rPr lang="sv-SE" sz="2400" dirty="0"/>
                  <a:t> </a:t>
                </a:r>
                <a:r>
                  <a:rPr lang="sv-SE" sz="2400" dirty="0" err="1"/>
                  <a:t>often</a:t>
                </a:r>
                <a:r>
                  <a:rPr lang="sv-SE" sz="2400" dirty="0"/>
                  <a:t> </a:t>
                </a:r>
                <a:r>
                  <a:rPr lang="sv-SE" sz="2400" dirty="0" err="1"/>
                  <a:t>needed</a:t>
                </a:r>
                <a:endParaRPr lang="sv-SE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sv-SE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sv-SE" sz="24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sv-SE" sz="2400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sv-SE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sv-SE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sv-SE" sz="24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h𝑜𝑙𝑑</m:t>
                              </m:r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e>
                      </m:func>
                      <m:r>
                        <a:rPr lang="sv-SE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sv-SE" sz="24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sv-SE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sv-SE" sz="2400" dirty="0"/>
              </a:p>
              <a:p>
                <a:r>
                  <a:rPr lang="sv-SE" sz="2400" dirty="0"/>
                  <a:t>If not </a:t>
                </a:r>
                <a:r>
                  <a:rPr lang="sv-SE" sz="2400" dirty="0" err="1"/>
                  <a:t>convex</a:t>
                </a:r>
                <a:r>
                  <a:rPr lang="sv-SE" sz="2400" dirty="0"/>
                  <a:t> </a:t>
                </a:r>
                <a:r>
                  <a:rPr lang="sv-SE" sz="2400" dirty="0" err="1"/>
                  <a:t>objective</a:t>
                </a:r>
                <a:r>
                  <a:rPr lang="sv-SE" sz="2400" dirty="0"/>
                  <a:t>, </a:t>
                </a:r>
                <a:r>
                  <a:rPr lang="sv-SE" sz="2400" dirty="0" err="1"/>
                  <a:t>more</a:t>
                </a:r>
                <a:r>
                  <a:rPr lang="sv-SE" sz="2400" dirty="0"/>
                  <a:t> </a:t>
                </a:r>
                <a:r>
                  <a:rPr lang="sv-SE" sz="2400" dirty="0" err="1"/>
                  <a:t>than</a:t>
                </a:r>
                <a:r>
                  <a:rPr lang="sv-SE" sz="2400" dirty="0"/>
                  <a:t> </a:t>
                </a:r>
                <a:r>
                  <a:rPr lang="sv-SE" sz="2400" dirty="0" err="1"/>
                  <a:t>one</a:t>
                </a:r>
                <a:r>
                  <a:rPr lang="sv-SE" sz="2400" dirty="0"/>
                  <a:t> </a:t>
                </a:r>
                <a:r>
                  <a:rPr lang="sv-SE" sz="2400" dirty="0" err="1"/>
                  <a:t>local</a:t>
                </a:r>
                <a:r>
                  <a:rPr lang="sv-SE" sz="2400" dirty="0"/>
                  <a:t> optimum</a:t>
                </a:r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FB44858F-B875-4816-B6E7-AC265F5987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9E364F32-C120-4CB3-92F2-7E9904677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019B9D7F-3E6B-4F5E-B547-731782280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25</a:t>
            </a:fld>
            <a:endParaRPr lang="sv-SE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F7D103D4-40EA-4C6C-9664-1A6A41E0D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3740732"/>
            <a:ext cx="6804248" cy="2415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5494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E09CE55-C123-4B85-A558-78B6A0BF9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Optimization</a:t>
            </a:r>
            <a:r>
              <a:rPr lang="sv-SE" dirty="0"/>
              <a:t> </a:t>
            </a:r>
            <a:r>
              <a:rPr lang="sv-SE" dirty="0" err="1"/>
              <a:t>methods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834B0890-398B-449E-9F6B-2CD2E215AD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v-SE" sz="2400" b="1" dirty="0">
                    <a:solidFill>
                      <a:srgbClr val="0000FF"/>
                    </a:solidFill>
                  </a:rPr>
                  <a:t>Gradient </a:t>
                </a:r>
                <a:r>
                  <a:rPr lang="sv-SE" sz="2400" b="1" dirty="0" err="1">
                    <a:solidFill>
                      <a:srgbClr val="0000FF"/>
                    </a:solidFill>
                  </a:rPr>
                  <a:t>descent</a:t>
                </a:r>
                <a:r>
                  <a:rPr lang="sv-SE" sz="2400" b="1" dirty="0">
                    <a:solidFill>
                      <a:srgbClr val="0000FF"/>
                    </a:solidFill>
                  </a:rPr>
                  <a:t> </a:t>
                </a:r>
                <a:r>
                  <a:rPr lang="sv-SE" sz="2400" b="1" dirty="0" err="1">
                    <a:solidFill>
                      <a:srgbClr val="0000FF"/>
                    </a:solidFill>
                  </a:rPr>
                  <a:t>method</a:t>
                </a:r>
                <a:endParaRPr lang="sv-SE" sz="2400" b="1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sv-SE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v-SE" sz="2400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acc>
                      <m:r>
                        <a:rPr lang="sv-SE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sv-SE" sz="24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sv-SE" sz="2400" b="0" i="0" dirty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sv-SE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sv-SE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sv-SE" sz="2400" b="0" i="0" dirty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sv-SE" sz="2400" b="1" i="1" dirty="0" smtClean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sv-SE" sz="2400" b="0" i="1" dirty="0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r>
                                <a:rPr lang="sv-SE" sz="2400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sv-SE" sz="2400" b="1" i="1" dirty="0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sv-SE" sz="2400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sv-SE" sz="2400" dirty="0"/>
              </a:p>
              <a:p>
                <a:r>
                  <a:rPr lang="sv-SE" sz="2400" dirty="0"/>
                  <a:t>Basic </a:t>
                </a:r>
                <a:r>
                  <a:rPr lang="sv-SE" sz="2400" dirty="0" err="1"/>
                  <a:t>idea</a:t>
                </a:r>
                <a:r>
                  <a:rPr lang="sv-SE" sz="2400" dirty="0"/>
                  <a:t>:</a:t>
                </a:r>
              </a:p>
              <a:p>
                <a:pPr lvl="1"/>
                <a:r>
                  <a:rPr lang="sv-SE" sz="2000" dirty="0"/>
                  <a:t>Start from </a:t>
                </a:r>
                <a:r>
                  <a:rPr lang="sv-SE" sz="2000" dirty="0" err="1"/>
                  <a:t>some</a:t>
                </a:r>
                <a:r>
                  <a:rPr lang="sv-SE" sz="2000" dirty="0"/>
                  <a:t> </a:t>
                </a:r>
                <a:r>
                  <a:rPr lang="sv-SE" sz="2000" dirty="0" err="1"/>
                  <a:t>point</a:t>
                </a:r>
                <a:r>
                  <a:rPr lang="sv-SE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000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sv-SE" sz="2000" dirty="0"/>
              </a:p>
              <a:p>
                <a:pPr lvl="1"/>
                <a:r>
                  <a:rPr lang="sv-SE" sz="2000" dirty="0" err="1"/>
                  <a:t>Move</a:t>
                </a:r>
                <a:r>
                  <a:rPr lang="sv-SE" sz="2000" dirty="0"/>
                  <a:t> to the </a:t>
                </a:r>
                <a:r>
                  <a:rPr lang="sv-SE" sz="2000" dirty="0" err="1"/>
                  <a:t>next</a:t>
                </a:r>
                <a:r>
                  <a:rPr lang="sv-SE" sz="2000" dirty="0"/>
                  <a:t> </a:t>
                </a:r>
                <a:r>
                  <a:rPr lang="sv-SE" sz="2000" dirty="0" err="1"/>
                  <a:t>point</a:t>
                </a:r>
                <a:r>
                  <a:rPr lang="sv-SE" sz="2000" dirty="0"/>
                  <a:t> </a:t>
                </a:r>
                <a:r>
                  <a:rPr lang="sv-SE" sz="2000" dirty="0" err="1"/>
                  <a:t>along</a:t>
                </a:r>
                <a:r>
                  <a:rPr lang="sv-SE" sz="2000" dirty="0"/>
                  <a:t> </a:t>
                </a:r>
                <a:r>
                  <a:rPr lang="sv-SE" sz="2000" b="1" dirty="0" err="1"/>
                  <a:t>descent</a:t>
                </a:r>
                <a:r>
                  <a:rPr lang="sv-SE" sz="2000" b="1" dirty="0"/>
                  <a:t> </a:t>
                </a:r>
                <a:r>
                  <a:rPr lang="sv-SE" sz="2000" b="1" dirty="0" err="1"/>
                  <a:t>direction</a:t>
                </a:r>
                <a:r>
                  <a:rPr lang="sv-SE" sz="2000" b="1" dirty="0"/>
                  <a:t> </a:t>
                </a:r>
                <a14:m>
                  <m:oMath xmlns:m="http://schemas.openxmlformats.org/officeDocument/2006/math">
                    <m:r>
                      <a:rPr lang="sv-SE" sz="2000" b="1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sv-SE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000" b="1" i="1" smtClean="0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sv-SE" sz="2000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sv-SE" sz="2000" b="1" i="1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sv-SE" sz="2000" dirty="0"/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834B0890-398B-449E-9F6B-2CD2E215AD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A622F3B9-1A0B-4088-A20B-014D658A1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5FC5C51B-FE8F-4720-AB9B-2FA6150E8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26</a:t>
            </a:fld>
            <a:endParaRPr lang="sv-SE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70BDDE3E-7DEB-4C81-8F5D-E47C96279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3863181"/>
            <a:ext cx="2964357" cy="2639318"/>
          </a:xfrm>
          <a:prstGeom prst="rect">
            <a:avLst/>
          </a:prstGeom>
        </p:spPr>
      </p:pic>
      <p:pic>
        <p:nvPicPr>
          <p:cNvPr id="9" name="Bildobjekt 8">
            <a:extLst>
              <a:ext uri="{FF2B5EF4-FFF2-40B4-BE49-F238E27FC236}">
                <a16:creationId xmlns:a16="http://schemas.microsoft.com/office/drawing/2014/main" id="{6EDAF569-7435-47BC-AB72-D71409957F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1061" y="3771209"/>
            <a:ext cx="2979458" cy="2639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5390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E1ED2D4-0E7D-4D8C-B6CD-98BA61A88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Gradient </a:t>
            </a:r>
            <a:r>
              <a:rPr lang="sv-SE" dirty="0" err="1"/>
              <a:t>descent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99A406A5-6737-496B-BA42-0FF76C375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v-SE" dirty="0"/>
          </a:p>
          <a:p>
            <a:endParaRPr lang="sv-SE" dirty="0"/>
          </a:p>
          <a:p>
            <a:endParaRPr lang="sv-SE" dirty="0"/>
          </a:p>
          <a:p>
            <a:endParaRPr lang="sv-SE" dirty="0"/>
          </a:p>
          <a:p>
            <a:endParaRPr lang="sv-SE" dirty="0"/>
          </a:p>
          <a:p>
            <a:endParaRPr lang="sv-SE" dirty="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6CCAEA36-3F19-4AC3-80E5-DD19E9CB7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C4A78C56-E400-4803-BBB7-E41C95C6E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27</a:t>
            </a:fld>
            <a:endParaRPr lang="sv-SE"/>
          </a:p>
        </p:txBody>
      </p:sp>
      <p:pic>
        <p:nvPicPr>
          <p:cNvPr id="9" name="Bildobjekt 8">
            <a:extLst>
              <a:ext uri="{FF2B5EF4-FFF2-40B4-BE49-F238E27FC236}">
                <a16:creationId xmlns:a16="http://schemas.microsoft.com/office/drawing/2014/main" id="{1B0F335D-433C-48F9-9CB4-C9A933397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28" y="1988840"/>
            <a:ext cx="6247960" cy="302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8019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4B4BEF5-CE47-4AFD-8B3B-B9FAC7BA9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Gradient </a:t>
            </a:r>
            <a:r>
              <a:rPr lang="sv-SE" dirty="0" err="1"/>
              <a:t>descent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AA3C75E8-1376-4E21-9AAC-472824936B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sv-SE" sz="2800" dirty="0"/>
                  <a:t>Influence </a:t>
                </a:r>
                <a:r>
                  <a:rPr lang="sv-SE" sz="2800" dirty="0" err="1"/>
                  <a:t>of</a:t>
                </a:r>
                <a:r>
                  <a:rPr lang="sv-SE" sz="28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sv-SE" sz="2800" b="0" i="1" smtClean="0"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endParaRPr lang="sv-SE" sz="2800" b="0" dirty="0"/>
              </a:p>
              <a:p>
                <a:endParaRPr lang="sv-SE" sz="2800" dirty="0"/>
              </a:p>
              <a:p>
                <a:endParaRPr lang="sv-SE" sz="2800" b="0" dirty="0"/>
              </a:p>
              <a:p>
                <a:endParaRPr lang="sv-SE" sz="2800" dirty="0"/>
              </a:p>
              <a:p>
                <a:endParaRPr lang="sv-SE" sz="2800" b="0" dirty="0"/>
              </a:p>
              <a:p>
                <a:endParaRPr lang="sv-SE" sz="2800" dirty="0"/>
              </a:p>
              <a:p>
                <a:r>
                  <a:rPr lang="sv-SE" sz="2800" b="0" dirty="0" err="1"/>
                  <a:t>Trace</a:t>
                </a:r>
                <a:r>
                  <a:rPr lang="sv-SE" sz="2800" b="0" dirty="0"/>
                  <a:t> </a:t>
                </a:r>
                <a14:m>
                  <m:oMath xmlns:m="http://schemas.openxmlformats.org/officeDocument/2006/math">
                    <m:r>
                      <a:rPr lang="sv-SE" sz="2800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sv-SE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sv-SE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sv-SE" sz="28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sv-SE" sz="28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sv-SE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sv-SE" sz="28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</m:oMath>
                </a14:m>
                <a:r>
                  <a:rPr lang="sv-SE" sz="2800" b="0" dirty="0"/>
                  <a:t> vs </a:t>
                </a:r>
                <a14:m>
                  <m:oMath xmlns:m="http://schemas.openxmlformats.org/officeDocument/2006/math">
                    <m:r>
                      <a:rPr lang="sv-SE" sz="2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sv-SE" sz="2800" b="0" dirty="0"/>
              </a:p>
              <a:p>
                <a:pPr lvl="1"/>
                <a:r>
                  <a:rPr lang="sv-SE" sz="2400" dirty="0" err="1"/>
                  <a:t>High</a:t>
                </a:r>
                <a:r>
                  <a:rPr lang="sv-SE" sz="2400" dirty="0"/>
                  <a:t> </a:t>
                </a:r>
                <a:r>
                  <a:rPr lang="sv-SE" sz="2400" dirty="0" err="1"/>
                  <a:t>oscillation</a:t>
                </a:r>
                <a:r>
                  <a:rPr lang="sv-SE" sz="2400" dirty="0" err="1">
                    <a:sym typeface="Wingdings" panose="05000000000000000000" pitchFamily="2" charset="2"/>
                  </a:rPr>
                  <a:t>decrease</a:t>
                </a:r>
                <a:r>
                  <a:rPr lang="sv-SE" sz="2400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sv-SE" sz="2400" b="0" i="1" smtClean="0"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endParaRPr lang="sv-SE" sz="2400" b="0" dirty="0"/>
              </a:p>
              <a:p>
                <a:pPr lvl="1"/>
                <a:r>
                  <a:rPr lang="sv-SE" sz="2400" dirty="0" err="1"/>
                  <a:t>Slow</a:t>
                </a:r>
                <a:r>
                  <a:rPr lang="sv-SE" sz="2400" dirty="0"/>
                  <a:t> </a:t>
                </a:r>
                <a:r>
                  <a:rPr lang="sv-SE" sz="2400" dirty="0" err="1"/>
                  <a:t>changes</a:t>
                </a:r>
                <a:r>
                  <a:rPr lang="sv-SE" sz="2400" dirty="0"/>
                  <a:t> </a:t>
                </a:r>
                <a:r>
                  <a:rPr lang="sv-SE" sz="2400" dirty="0">
                    <a:sym typeface="Wingdings" panose="05000000000000000000" pitchFamily="2" charset="2"/>
                  </a:rPr>
                  <a:t> </a:t>
                </a:r>
                <a:r>
                  <a:rPr lang="sv-SE" sz="2400" dirty="0" err="1">
                    <a:sym typeface="Wingdings" panose="05000000000000000000" pitchFamily="2" charset="2"/>
                  </a:rPr>
                  <a:t>increase</a:t>
                </a:r>
                <a:r>
                  <a:rPr lang="sv-SE" sz="2400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sv-SE" sz="2400" b="0" i="1" smtClean="0"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endParaRPr lang="sv-SE" sz="2400" dirty="0"/>
              </a:p>
              <a:p>
                <a:pPr lvl="1"/>
                <a:endParaRPr lang="sv-SE" sz="2400" dirty="0"/>
              </a:p>
              <a:p>
                <a:r>
                  <a:rPr lang="sv-SE" sz="2800" dirty="0"/>
                  <a:t>Try </a:t>
                </a:r>
                <a:r>
                  <a:rPr lang="sv-SE" sz="2800" dirty="0" err="1"/>
                  <a:t>with</a:t>
                </a:r>
                <a:r>
                  <a:rPr lang="sv-SE" sz="2800" dirty="0"/>
                  <a:t> different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v-SE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2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sv-SE" sz="2800" b="0" i="1" smtClean="0"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</m:oMath>
                </a14:m>
                <a:r>
                  <a:rPr lang="sv-SE" sz="2800" dirty="0"/>
                  <a:t> </a:t>
                </a:r>
                <a:r>
                  <a:rPr lang="sv-SE" sz="2800" dirty="0" err="1"/>
                  <a:t>if</a:t>
                </a:r>
                <a:r>
                  <a:rPr lang="sv-SE" sz="2800" dirty="0"/>
                  <a:t> </a:t>
                </a:r>
                <a:r>
                  <a:rPr lang="sv-SE" sz="2800" dirty="0" err="1"/>
                  <a:t>possible</a:t>
                </a:r>
                <a:endParaRPr lang="sv-SE" sz="2800" dirty="0"/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AA3C75E8-1376-4E21-9AAC-472824936B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283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989EA90D-C17A-43F9-B114-FCCDBCC20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3CCD04F2-4D93-4F01-9C08-5B3E6380F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28</a:t>
            </a:fld>
            <a:endParaRPr lang="sv-SE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28E682E9-AB5C-43A7-B7A9-46E3497F3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1916832"/>
            <a:ext cx="6264696" cy="196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2203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C270A07-BE21-4BDE-A6B1-CAA99569D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Newton’s</a:t>
            </a:r>
            <a:r>
              <a:rPr lang="sv-SE" dirty="0"/>
              <a:t> </a:t>
            </a:r>
            <a:r>
              <a:rPr lang="sv-SE" dirty="0" err="1"/>
              <a:t>method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D689AC49-74C3-42D8-874F-8E438123BF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v-SE" sz="2400" dirty="0"/>
                  <a:t>Assume </a:t>
                </a:r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2400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sv-SE" sz="2400" dirty="0"/>
                  <a:t> is ”</a:t>
                </a:r>
                <a:r>
                  <a:rPr lang="sv-SE" sz="2400" dirty="0" err="1"/>
                  <a:t>locally</a:t>
                </a:r>
                <a:r>
                  <a:rPr lang="sv-SE" sz="2400" dirty="0"/>
                  <a:t>” </a:t>
                </a:r>
                <a:r>
                  <a:rPr lang="sv-SE" sz="2400" dirty="0" err="1"/>
                  <a:t>quadratic</a:t>
                </a:r>
                <a:endParaRPr lang="sv-SE" sz="2400" dirty="0">
                  <a:sym typeface="Wingdings" panose="05000000000000000000" pitchFamily="2" charset="2"/>
                </a:endParaRPr>
              </a:p>
              <a:p>
                <a:r>
                  <a:rPr lang="sv-SE" sz="2400" dirty="0" err="1"/>
                  <a:t>Newton’s</a:t>
                </a:r>
                <a:r>
                  <a:rPr lang="sv-SE" sz="2400" dirty="0"/>
                  <a:t> </a:t>
                </a:r>
                <a:r>
                  <a:rPr lang="sv-SE" sz="2400" dirty="0" err="1"/>
                  <a:t>method</a:t>
                </a:r>
                <a:r>
                  <a:rPr lang="sv-SE" sz="2400" dirty="0"/>
                  <a:t>: </a:t>
                </a:r>
                <a:r>
                  <a:rPr lang="sv-SE" sz="2400" dirty="0" err="1"/>
                  <a:t>move</a:t>
                </a:r>
                <a:r>
                  <a:rPr lang="sv-SE" sz="2400" dirty="0"/>
                  <a:t> </a:t>
                </a:r>
                <a:r>
                  <a:rPr lang="sv-SE" sz="2400" dirty="0" err="1"/>
                  <a:t>along</a:t>
                </a:r>
                <a:r>
                  <a:rPr lang="sv-SE" sz="2400" dirty="0"/>
                  <a:t> the best </a:t>
                </a:r>
                <a:r>
                  <a:rPr lang="sv-SE" sz="2400" dirty="0" err="1"/>
                  <a:t>direction</a:t>
                </a:r>
                <a:endParaRPr lang="sv-SE" sz="2400" dirty="0"/>
              </a:p>
              <a:p>
                <a:endParaRPr lang="sv-SE" sz="2400" dirty="0"/>
              </a:p>
              <a:p>
                <a:endParaRPr lang="sv-SE" sz="2400" dirty="0"/>
              </a:p>
              <a:p>
                <a:endParaRPr lang="sv-SE" sz="2400" dirty="0"/>
              </a:p>
              <a:p>
                <a:endParaRPr lang="sv-SE" sz="2400" dirty="0"/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D689AC49-74C3-42D8-874F-8E438123BF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640B33DF-03AC-425B-AE45-0E87E543B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5EBCA6C5-A6E2-4FB4-813A-5329F44CB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29</a:t>
            </a:fld>
            <a:endParaRPr lang="sv-SE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CB5D75F5-4613-4700-AA8B-7A446FF13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56" y="2636912"/>
            <a:ext cx="5292080" cy="508150"/>
          </a:xfrm>
          <a:prstGeom prst="rect">
            <a:avLst/>
          </a:prstGeom>
        </p:spPr>
      </p:pic>
      <p:pic>
        <p:nvPicPr>
          <p:cNvPr id="9" name="Bildobjekt 8">
            <a:extLst>
              <a:ext uri="{FF2B5EF4-FFF2-40B4-BE49-F238E27FC236}">
                <a16:creationId xmlns:a16="http://schemas.microsoft.com/office/drawing/2014/main" id="{5F81D4AC-4460-4B17-9A0A-6A4BE2E926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60" y="3384377"/>
            <a:ext cx="7416824" cy="2660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8711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3237DC9-B132-4399-A55A-11E336616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Newton’s</a:t>
            </a:r>
            <a:r>
              <a:rPr lang="sv-SE" dirty="0"/>
              <a:t> </a:t>
            </a:r>
            <a:r>
              <a:rPr lang="sv-SE" dirty="0" err="1"/>
              <a:t>method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EDBD4B0F-C141-4F62-9477-6F374BFF97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sv-SE" sz="2400" dirty="0"/>
                  <a:t>Properties</a:t>
                </a:r>
              </a:p>
              <a:p>
                <a:pPr lvl="1"/>
                <a:r>
                  <a:rPr lang="sv-SE" sz="2000" dirty="0"/>
                  <a:t>No </a:t>
                </a:r>
                <a:r>
                  <a:rPr lang="sv-SE" sz="2000" dirty="0" err="1"/>
                  <a:t>convergence</a:t>
                </a:r>
                <a:r>
                  <a:rPr lang="sv-SE" sz="2000" dirty="0"/>
                  <a:t> </a:t>
                </a:r>
                <a:r>
                  <a:rPr lang="sv-SE" sz="2000" dirty="0" err="1"/>
                  <a:t>guarantees</a:t>
                </a:r>
                <a:endParaRPr lang="sv-SE" sz="2000" dirty="0"/>
              </a:p>
              <a:p>
                <a:pPr lvl="1"/>
                <a:r>
                  <a:rPr lang="sv-SE" sz="2000" dirty="0" err="1">
                    <a:solidFill>
                      <a:schemeClr val="accent3">
                        <a:lumMod val="75000"/>
                      </a:schemeClr>
                    </a:solidFill>
                  </a:rPr>
                  <a:t>Advantage</a:t>
                </a:r>
                <a:r>
                  <a:rPr lang="sv-SE" sz="2000" dirty="0"/>
                  <a:t>: </a:t>
                </a:r>
                <a:r>
                  <a:rPr lang="sv-SE" sz="2000" dirty="0" err="1"/>
                  <a:t>if</a:t>
                </a:r>
                <a:r>
                  <a:rPr lang="sv-SE" sz="2000" dirty="0"/>
                  <a:t> </a:t>
                </a:r>
                <a14:m>
                  <m:oMath xmlns:m="http://schemas.openxmlformats.org/officeDocument/2006/math"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2000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sv-SE" sz="2000" dirty="0"/>
                  <a:t> is </a:t>
                </a:r>
                <a:r>
                  <a:rPr lang="sv-SE" sz="2000" dirty="0" err="1"/>
                  <a:t>quadratic</a:t>
                </a:r>
                <a:r>
                  <a:rPr lang="sv-SE" sz="2000" dirty="0"/>
                  <a:t> and </a:t>
                </a:r>
                <a14:m>
                  <m:oMath xmlns:m="http://schemas.openxmlformats.org/officeDocument/2006/math"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sv-SE" sz="2000" dirty="0"/>
                  <a:t> </a:t>
                </a:r>
                <a:r>
                  <a:rPr lang="sv-SE" sz="2000" dirty="0">
                    <a:sym typeface="Wingdings" panose="05000000000000000000" pitchFamily="2" charset="2"/>
                  </a:rPr>
                  <a:t> </a:t>
                </a:r>
                <a:r>
                  <a:rPr lang="sv-SE" sz="2000" dirty="0" err="1">
                    <a:sym typeface="Wingdings" panose="05000000000000000000" pitchFamily="2" charset="2"/>
                  </a:rPr>
                  <a:t>convergence</a:t>
                </a:r>
                <a:r>
                  <a:rPr lang="sv-SE" sz="2000" dirty="0">
                    <a:sym typeface="Wingdings" panose="05000000000000000000" pitchFamily="2" charset="2"/>
                  </a:rPr>
                  <a:t> in </a:t>
                </a:r>
                <a:r>
                  <a:rPr lang="sv-SE" sz="2000" dirty="0" err="1">
                    <a:sym typeface="Wingdings" panose="05000000000000000000" pitchFamily="2" charset="2"/>
                  </a:rPr>
                  <a:t>one</a:t>
                </a:r>
                <a:r>
                  <a:rPr lang="sv-SE" sz="2000" dirty="0">
                    <a:sym typeface="Wingdings" panose="05000000000000000000" pitchFamily="2" charset="2"/>
                  </a:rPr>
                  <a:t> iteration</a:t>
                </a:r>
              </a:p>
              <a:p>
                <a:pPr lvl="1"/>
                <a:r>
                  <a:rPr lang="sv-SE" sz="2000" dirty="0" err="1">
                    <a:solidFill>
                      <a:srgbClr val="C00000"/>
                    </a:solidFill>
                  </a:rPr>
                  <a:t>Disadvantage</a:t>
                </a:r>
                <a:r>
                  <a:rPr lang="sv-SE" sz="2000" dirty="0">
                    <a:solidFill>
                      <a:srgbClr val="C00000"/>
                    </a:solidFill>
                  </a:rPr>
                  <a:t> 1</a:t>
                </a:r>
                <a:r>
                  <a:rPr lang="sv-SE" sz="2000" dirty="0"/>
                  <a:t>: </a:t>
                </a:r>
                <a:r>
                  <a:rPr lang="sv-SE" sz="2000" dirty="0" err="1"/>
                  <a:t>Hessian</a:t>
                </a:r>
                <a:r>
                  <a:rPr lang="sv-SE" sz="2000" dirty="0"/>
                  <a:t> must be </a:t>
                </a:r>
                <a:r>
                  <a:rPr lang="sv-SE" sz="2000" dirty="0" err="1"/>
                  <a:t>invertable</a:t>
                </a:r>
                <a:endParaRPr lang="sv-SE" sz="2000" dirty="0"/>
              </a:p>
              <a:p>
                <a:pPr lvl="1"/>
                <a:r>
                  <a:rPr lang="sv-SE" sz="2000" dirty="0" err="1">
                    <a:solidFill>
                      <a:srgbClr val="C00000"/>
                    </a:solidFill>
                  </a:rPr>
                  <a:t>Disadvantage</a:t>
                </a:r>
                <a:r>
                  <a:rPr lang="sv-SE" sz="2000" dirty="0">
                    <a:solidFill>
                      <a:srgbClr val="C00000"/>
                    </a:solidFill>
                  </a:rPr>
                  <a:t> 2</a:t>
                </a:r>
                <a:r>
                  <a:rPr lang="sv-SE" sz="2000" dirty="0"/>
                  <a:t>: </a:t>
                </a:r>
                <a:r>
                  <a:rPr lang="sv-SE" sz="2000" dirty="0" err="1"/>
                  <a:t>Hessian</a:t>
                </a:r>
                <a:r>
                  <a:rPr lang="sv-SE" sz="2000" dirty="0"/>
                  <a:t> is </a:t>
                </a:r>
                <a:r>
                  <a:rPr lang="sv-SE" sz="2000" dirty="0" err="1"/>
                  <a:t>computationally</a:t>
                </a:r>
                <a:r>
                  <a:rPr lang="sv-SE" sz="2000" dirty="0"/>
                  <a:t> </a:t>
                </a:r>
                <a:r>
                  <a:rPr lang="sv-SE" sz="2000" dirty="0" err="1"/>
                  <a:t>heavy</a:t>
                </a:r>
                <a:endParaRPr lang="sv-SE" sz="2000" dirty="0"/>
              </a:p>
              <a:p>
                <a:endParaRPr lang="sv-SE" sz="2400" dirty="0"/>
              </a:p>
              <a:p>
                <a:r>
                  <a:rPr lang="sv-SE" sz="2400" dirty="0"/>
                  <a:t>Solution: </a:t>
                </a:r>
                <a:r>
                  <a:rPr lang="sv-SE" sz="2400" dirty="0" err="1"/>
                  <a:t>quasi</a:t>
                </a:r>
                <a:r>
                  <a:rPr lang="sv-SE" sz="2400" dirty="0"/>
                  <a:t>-Newton </a:t>
                </a:r>
                <a:r>
                  <a:rPr lang="sv-SE" sz="2400" dirty="0" err="1"/>
                  <a:t>methods</a:t>
                </a:r>
                <a:r>
                  <a:rPr lang="sv-SE" sz="2400" dirty="0"/>
                  <a:t> (ex. </a:t>
                </a:r>
                <a:r>
                  <a:rPr lang="sv-SE" sz="2400" b="1" dirty="0">
                    <a:solidFill>
                      <a:srgbClr val="0000FF"/>
                    </a:solidFill>
                  </a:rPr>
                  <a:t>BFGS</a:t>
                </a:r>
                <a:r>
                  <a:rPr lang="sv-SE" sz="2400" dirty="0"/>
                  <a:t>)</a:t>
                </a:r>
              </a:p>
              <a:p>
                <a:pPr lvl="1"/>
                <a:r>
                  <a:rPr lang="sv-SE" sz="2000" dirty="0" err="1"/>
                  <a:t>Approximate</a:t>
                </a:r>
                <a:r>
                  <a:rPr lang="sv-SE" sz="2000" dirty="0"/>
                  <a:t> </a:t>
                </a:r>
                <a:r>
                  <a:rPr lang="sv-SE" sz="2000" dirty="0" err="1"/>
                  <a:t>inverse</a:t>
                </a:r>
                <a:r>
                  <a:rPr lang="sv-SE" sz="2000" dirty="0"/>
                  <a:t> </a:t>
                </a:r>
                <a:r>
                  <a:rPr lang="sv-SE" sz="2000" dirty="0" err="1"/>
                  <a:t>Hessian</a:t>
                </a:r>
                <a:r>
                  <a:rPr lang="sv-SE" sz="2000" dirty="0"/>
                  <a:t> at </a:t>
                </a:r>
                <a:r>
                  <a:rPr lang="sv-SE" sz="2000" dirty="0" err="1"/>
                  <a:t>each</a:t>
                </a:r>
                <a:r>
                  <a:rPr lang="sv-SE" sz="2000" dirty="0"/>
                  <a:t> step </a:t>
                </a:r>
                <a:r>
                  <a:rPr lang="sv-SE" sz="2000" dirty="0" err="1"/>
                  <a:t>numerically</a:t>
                </a:r>
                <a:endParaRPr lang="sv-SE" sz="2000" dirty="0"/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EDBD4B0F-C141-4F62-9477-6F374BFF97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C8C27EA7-CAF0-44BF-ABA6-94DE9D27B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 dirty="0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34742D99-5E2F-44FB-A188-7D927E3D4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30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723808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3CD08EF-8DC8-4956-A9A1-BD097BBD4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Newton’s</a:t>
            </a:r>
            <a:r>
              <a:rPr lang="sv-SE" dirty="0"/>
              <a:t> </a:t>
            </a:r>
            <a:r>
              <a:rPr lang="sv-SE" dirty="0" err="1"/>
              <a:t>method</a:t>
            </a:r>
            <a:endParaRPr lang="sv-SE" dirty="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E3E3964E-29ED-4B98-A820-746CF7EA1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E36FCA19-C7D7-49F0-A586-D819FD02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31</a:t>
            </a:fld>
            <a:endParaRPr lang="sv-SE"/>
          </a:p>
        </p:txBody>
      </p:sp>
      <p:pic>
        <p:nvPicPr>
          <p:cNvPr id="9" name="Bildobjekt 8">
            <a:extLst>
              <a:ext uri="{FF2B5EF4-FFF2-40B4-BE49-F238E27FC236}">
                <a16:creationId xmlns:a16="http://schemas.microsoft.com/office/drawing/2014/main" id="{A5536739-2B9D-4FBF-BA00-BAF65D031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2204864"/>
            <a:ext cx="6216884" cy="3695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7070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0A5274F-322A-4999-86FB-A6CD6A5E1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Optimization</a:t>
            </a:r>
            <a:r>
              <a:rPr lang="sv-SE" dirty="0"/>
              <a:t> </a:t>
            </a:r>
            <a:r>
              <a:rPr lang="sv-SE" dirty="0" err="1"/>
              <a:t>methods</a:t>
            </a:r>
            <a:r>
              <a:rPr lang="sv-SE" dirty="0"/>
              <a:t> in 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D8CEFECD-557D-477D-BA0E-D631273E22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v-SE" sz="2000" dirty="0"/>
                  <a:t>In R, </a:t>
                </a:r>
                <a:r>
                  <a:rPr lang="sv-SE" sz="2000" dirty="0" err="1"/>
                  <a:t>use</a:t>
                </a:r>
                <a:r>
                  <a:rPr lang="sv-SE" sz="2000" dirty="0"/>
                  <a:t> </a:t>
                </a:r>
                <a:r>
                  <a:rPr lang="sv-SE" sz="2000" dirty="0" err="1"/>
                  <a:t>optim</a:t>
                </a:r>
                <a:r>
                  <a:rPr lang="sv-SE" sz="2000" dirty="0"/>
                  <a:t>(par, </a:t>
                </a:r>
                <a:r>
                  <a:rPr lang="sv-SE" sz="2000" dirty="0" err="1"/>
                  <a:t>fn</a:t>
                </a:r>
                <a:r>
                  <a:rPr lang="sv-SE" sz="2000" dirty="0"/>
                  <a:t>, gr, </a:t>
                </a:r>
                <a:r>
                  <a:rPr lang="sv-SE" sz="2000" dirty="0" err="1"/>
                  <a:t>method</a:t>
                </a:r>
                <a:r>
                  <a:rPr lang="sv-SE" sz="2000" dirty="0"/>
                  <a:t>,…)</a:t>
                </a:r>
              </a:p>
              <a:p>
                <a:pPr lvl="1"/>
                <a:r>
                  <a:rPr lang="sv-SE" sz="1800" dirty="0"/>
                  <a:t>par: initial parameter </a:t>
                </a:r>
                <a:r>
                  <a:rPr lang="sv-SE" sz="1800" dirty="0" err="1"/>
                  <a:t>vector</a:t>
                </a:r>
                <a:endParaRPr lang="sv-SE" sz="1800" dirty="0"/>
              </a:p>
              <a:p>
                <a:pPr lvl="1"/>
                <a:r>
                  <a:rPr lang="sv-SE" sz="1800" dirty="0" err="1"/>
                  <a:t>fn</a:t>
                </a:r>
                <a:r>
                  <a:rPr lang="sv-SE" sz="1800" dirty="0"/>
                  <a:t>: </a:t>
                </a:r>
                <a:r>
                  <a:rPr lang="sv-SE" sz="1800" dirty="0" err="1"/>
                  <a:t>function</a:t>
                </a:r>
                <a:r>
                  <a:rPr lang="sv-SE" sz="1800" dirty="0"/>
                  <a:t> to </a:t>
                </a:r>
                <a:r>
                  <a:rPr lang="sv-SE" sz="1800" dirty="0" err="1"/>
                  <a:t>optimize</a:t>
                </a:r>
                <a:endParaRPr lang="sv-SE" sz="1800" dirty="0"/>
              </a:p>
              <a:p>
                <a:pPr lvl="1"/>
                <a:r>
                  <a:rPr lang="sv-SE" sz="1800" dirty="0"/>
                  <a:t>gr: gradient </a:t>
                </a:r>
                <a:r>
                  <a:rPr lang="sv-SE" sz="1800" dirty="0" err="1"/>
                  <a:t>function</a:t>
                </a:r>
                <a:endParaRPr lang="sv-SE" sz="1800" dirty="0"/>
              </a:p>
              <a:p>
                <a:pPr lvl="1"/>
                <a:r>
                  <a:rPr lang="sv-SE" sz="1800" dirty="0" err="1"/>
                  <a:t>method</a:t>
                </a:r>
                <a:r>
                  <a:rPr lang="sv-SE" sz="1800" dirty="0"/>
                  <a:t> </a:t>
                </a:r>
              </a:p>
              <a:p>
                <a:pPr lvl="1"/>
                <a:endParaRPr lang="sv-SE" sz="1800" dirty="0"/>
              </a:p>
              <a:p>
                <a:pPr lvl="1"/>
                <a:endParaRPr lang="sv-SE" sz="1800" dirty="0"/>
              </a:p>
              <a:p>
                <a:pPr marL="0" indent="0">
                  <a:buNone/>
                </a:pPr>
                <a:r>
                  <a:rPr lang="sv-SE" sz="2200" b="1" dirty="0" err="1">
                    <a:solidFill>
                      <a:srgbClr val="C00000"/>
                    </a:solidFill>
                  </a:rPr>
                  <a:t>Example</a:t>
                </a:r>
                <a:r>
                  <a:rPr lang="sv-SE" sz="2200" dirty="0"/>
                  <a:t>: </a:t>
                </a:r>
                <a:r>
                  <a:rPr lang="sv-SE" sz="2200" dirty="0" err="1"/>
                  <a:t>trace</a:t>
                </a:r>
                <a:r>
                  <a:rPr lang="sv-SE" sz="2200" dirty="0"/>
                  <a:t> </a:t>
                </a:r>
                <a:r>
                  <a:rPr lang="sv-SE" sz="2200" dirty="0" err="1"/>
                  <a:t>plot</a:t>
                </a:r>
                <a:r>
                  <a:rPr lang="sv-SE" sz="2200" dirty="0"/>
                  <a:t> for </a:t>
                </a:r>
                <a14:m>
                  <m:oMath xmlns:m="http://schemas.openxmlformats.org/officeDocument/2006/math">
                    <m:r>
                      <a:rPr lang="sv-SE" sz="2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sv-SE" sz="2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sv-SE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sv-SE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sv-SE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v-SE" sz="2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sv-SE" sz="2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sv-SE" sz="22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e>
                        </m:d>
                      </m:e>
                      <m:sup>
                        <m:r>
                          <a:rPr lang="sv-SE" sz="2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sv-SE" sz="22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sv-SE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sv-SE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sv-SE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v-SE" sz="2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sv-SE" sz="2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sv-SE" sz="2200" b="0" i="1" smtClean="0">
                                <a:latin typeface="Cambria Math" panose="02040503050406030204" pitchFamily="18" charset="0"/>
                              </a:rPr>
                              <m:t>−4</m:t>
                            </m:r>
                          </m:e>
                        </m:d>
                      </m:e>
                      <m:sup>
                        <m:r>
                          <a:rPr lang="sv-SE" sz="2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sv-SE" sz="2200" dirty="0"/>
              </a:p>
              <a:p>
                <a:endParaRPr lang="sv-SE" sz="2000" dirty="0"/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D8CEFECD-557D-477D-BA0E-D631273E22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809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B4521AAD-DBF6-4EDD-AA50-B40273BDB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43874249-6CD2-42FF-8AD3-BCF916487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32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437093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4134524-4F9B-437B-8B3B-31F67F9BD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Optimization</a:t>
            </a:r>
            <a:r>
              <a:rPr lang="sv-SE" dirty="0"/>
              <a:t> </a:t>
            </a:r>
            <a:r>
              <a:rPr lang="sv-SE" dirty="0" err="1"/>
              <a:t>methods</a:t>
            </a:r>
            <a:r>
              <a:rPr lang="sv-SE" dirty="0"/>
              <a:t> in R</a:t>
            </a:r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FEEF22CC-2514-448F-B60F-FDB0BDD58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827A6E00-84B7-4B35-9FE0-9B8CED605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33</a:t>
            </a:fld>
            <a:endParaRPr lang="sv-SE"/>
          </a:p>
        </p:txBody>
      </p:sp>
      <p:sp>
        <p:nvSpPr>
          <p:cNvPr id="7" name="textruta 6">
            <a:extLst>
              <a:ext uri="{FF2B5EF4-FFF2-40B4-BE49-F238E27FC236}">
                <a16:creationId xmlns:a16="http://schemas.microsoft.com/office/drawing/2014/main" id="{3028E06B-DCB6-4BCF-A460-FA4AE4558891}"/>
              </a:ext>
            </a:extLst>
          </p:cNvPr>
          <p:cNvSpPr txBox="1"/>
          <p:nvPr/>
        </p:nvSpPr>
        <p:spPr>
          <a:xfrm>
            <a:off x="423478" y="2132856"/>
            <a:ext cx="4572000" cy="3308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100" dirty="0">
                <a:latin typeface="Consolas" panose="020B0609020204030204" pitchFamily="49" charset="0"/>
              </a:rPr>
              <a:t>#Workaround: </a:t>
            </a:r>
            <a:r>
              <a:rPr lang="sv-SE" sz="1100" dirty="0" err="1">
                <a:latin typeface="Consolas" panose="020B0609020204030204" pitchFamily="49" charset="0"/>
              </a:rPr>
              <a:t>optim</a:t>
            </a:r>
            <a:r>
              <a:rPr lang="sv-SE" sz="1100" dirty="0">
                <a:latin typeface="Consolas" panose="020B0609020204030204" pitchFamily="49" charset="0"/>
              </a:rPr>
              <a:t> </a:t>
            </a:r>
            <a:r>
              <a:rPr lang="sv-SE" sz="1100" dirty="0" err="1">
                <a:latin typeface="Consolas" panose="020B0609020204030204" pitchFamily="49" charset="0"/>
              </a:rPr>
              <a:t>does</a:t>
            </a:r>
            <a:r>
              <a:rPr lang="sv-SE" sz="1100" dirty="0">
                <a:latin typeface="Consolas" panose="020B0609020204030204" pitchFamily="49" charset="0"/>
              </a:rPr>
              <a:t> not </a:t>
            </a:r>
            <a:r>
              <a:rPr lang="sv-SE" sz="1100" dirty="0" err="1">
                <a:latin typeface="Consolas" panose="020B0609020204030204" pitchFamily="49" charset="0"/>
              </a:rPr>
              <a:t>return</a:t>
            </a:r>
            <a:r>
              <a:rPr lang="sv-SE" sz="1100" dirty="0">
                <a:latin typeface="Consolas" panose="020B0609020204030204" pitchFamily="49" charset="0"/>
              </a:rPr>
              <a:t> iterations</a:t>
            </a:r>
          </a:p>
          <a:p>
            <a:endParaRPr lang="sv-SE" sz="1100" dirty="0">
              <a:latin typeface="Consolas" panose="020B0609020204030204" pitchFamily="49" charset="0"/>
            </a:endParaRPr>
          </a:p>
          <a:p>
            <a:r>
              <a:rPr lang="sv-SE" sz="1100" dirty="0">
                <a:latin typeface="Consolas" panose="020B0609020204030204" pitchFamily="49" charset="0"/>
              </a:rPr>
              <a:t>Fs=list()</a:t>
            </a:r>
          </a:p>
          <a:p>
            <a:r>
              <a:rPr lang="sv-SE" sz="1100" dirty="0" err="1">
                <a:latin typeface="Consolas" panose="020B0609020204030204" pitchFamily="49" charset="0"/>
              </a:rPr>
              <a:t>Params</a:t>
            </a:r>
            <a:r>
              <a:rPr lang="sv-SE" sz="1100" dirty="0">
                <a:latin typeface="Consolas" panose="020B0609020204030204" pitchFamily="49" charset="0"/>
              </a:rPr>
              <a:t>=list()</a:t>
            </a:r>
          </a:p>
          <a:p>
            <a:r>
              <a:rPr lang="sv-SE" sz="1100" dirty="0">
                <a:latin typeface="Consolas" panose="020B0609020204030204" pitchFamily="49" charset="0"/>
              </a:rPr>
              <a:t>k=0</a:t>
            </a:r>
          </a:p>
          <a:p>
            <a:endParaRPr lang="sv-SE" sz="1100" dirty="0">
              <a:latin typeface="Consolas" panose="020B0609020204030204" pitchFamily="49" charset="0"/>
            </a:endParaRPr>
          </a:p>
          <a:p>
            <a:r>
              <a:rPr lang="sv-SE" sz="1100" dirty="0" err="1">
                <a:latin typeface="Consolas" panose="020B0609020204030204" pitchFamily="49" charset="0"/>
              </a:rPr>
              <a:t>myf</a:t>
            </a:r>
            <a:r>
              <a:rPr lang="sv-SE" sz="1100" dirty="0">
                <a:latin typeface="Consolas" panose="020B0609020204030204" pitchFamily="49" charset="0"/>
              </a:rPr>
              <a:t>&lt;- </a:t>
            </a:r>
            <a:r>
              <a:rPr lang="sv-SE" sz="1100" dirty="0" err="1">
                <a:latin typeface="Consolas" panose="020B0609020204030204" pitchFamily="49" charset="0"/>
              </a:rPr>
              <a:t>function</a:t>
            </a:r>
            <a:r>
              <a:rPr lang="sv-SE" sz="1100" dirty="0">
                <a:latin typeface="Consolas" panose="020B0609020204030204" pitchFamily="49" charset="0"/>
              </a:rPr>
              <a:t>(x){ </a:t>
            </a:r>
          </a:p>
          <a:p>
            <a:r>
              <a:rPr lang="sv-SE" sz="1100" dirty="0">
                <a:latin typeface="Consolas" panose="020B0609020204030204" pitchFamily="49" charset="0"/>
              </a:rPr>
              <a:t>  f=(x[1]-2)^4+(x[2]-4)^4</a:t>
            </a:r>
          </a:p>
          <a:p>
            <a:r>
              <a:rPr lang="sv-SE" sz="1100" dirty="0">
                <a:latin typeface="Consolas" panose="020B0609020204030204" pitchFamily="49" charset="0"/>
              </a:rPr>
              <a:t>  .</a:t>
            </a:r>
            <a:r>
              <a:rPr lang="sv-SE" sz="1100" dirty="0" err="1">
                <a:latin typeface="Consolas" panose="020B0609020204030204" pitchFamily="49" charset="0"/>
              </a:rPr>
              <a:t>GlobalEnv$k</a:t>
            </a:r>
            <a:r>
              <a:rPr lang="sv-SE" sz="1100" dirty="0">
                <a:latin typeface="Consolas" panose="020B0609020204030204" pitchFamily="49" charset="0"/>
              </a:rPr>
              <a:t>= .GlobalEnv$k+1</a:t>
            </a:r>
          </a:p>
          <a:p>
            <a:r>
              <a:rPr lang="sv-SE" sz="1100" dirty="0">
                <a:latin typeface="Consolas" panose="020B0609020204030204" pitchFamily="49" charset="0"/>
              </a:rPr>
              <a:t>  .</a:t>
            </a:r>
            <a:r>
              <a:rPr lang="sv-SE" sz="1100" dirty="0" err="1">
                <a:latin typeface="Consolas" panose="020B0609020204030204" pitchFamily="49" charset="0"/>
              </a:rPr>
              <a:t>GlobalEnv$Fs</a:t>
            </a:r>
            <a:r>
              <a:rPr lang="sv-SE" sz="1100" dirty="0">
                <a:latin typeface="Consolas" panose="020B0609020204030204" pitchFamily="49" charset="0"/>
              </a:rPr>
              <a:t>[[k]]=f</a:t>
            </a:r>
          </a:p>
          <a:p>
            <a:r>
              <a:rPr lang="sv-SE" sz="1100" dirty="0">
                <a:latin typeface="Consolas" panose="020B0609020204030204" pitchFamily="49" charset="0"/>
              </a:rPr>
              <a:t>  .</a:t>
            </a:r>
            <a:r>
              <a:rPr lang="sv-SE" sz="1100" dirty="0" err="1">
                <a:latin typeface="Consolas" panose="020B0609020204030204" pitchFamily="49" charset="0"/>
              </a:rPr>
              <a:t>GlobalEnv$Params</a:t>
            </a:r>
            <a:r>
              <a:rPr lang="sv-SE" sz="1100" dirty="0">
                <a:latin typeface="Consolas" panose="020B0609020204030204" pitchFamily="49" charset="0"/>
              </a:rPr>
              <a:t>[[k]]=x</a:t>
            </a:r>
          </a:p>
          <a:p>
            <a:r>
              <a:rPr lang="sv-SE" sz="1100" dirty="0">
                <a:latin typeface="Consolas" panose="020B0609020204030204" pitchFamily="49" charset="0"/>
              </a:rPr>
              <a:t>  </a:t>
            </a:r>
            <a:r>
              <a:rPr lang="sv-SE" sz="1100" dirty="0" err="1">
                <a:latin typeface="Consolas" panose="020B0609020204030204" pitchFamily="49" charset="0"/>
              </a:rPr>
              <a:t>return</a:t>
            </a:r>
            <a:r>
              <a:rPr lang="sv-SE" sz="1100" dirty="0">
                <a:latin typeface="Consolas" panose="020B0609020204030204" pitchFamily="49" charset="0"/>
              </a:rPr>
              <a:t>(f)</a:t>
            </a:r>
          </a:p>
          <a:p>
            <a:r>
              <a:rPr lang="sv-SE" sz="1100" dirty="0">
                <a:latin typeface="Consolas" panose="020B0609020204030204" pitchFamily="49" charset="0"/>
              </a:rPr>
              <a:t>}</a:t>
            </a:r>
          </a:p>
          <a:p>
            <a:r>
              <a:rPr lang="sv-SE" sz="1100" dirty="0" err="1">
                <a:latin typeface="Consolas" panose="020B0609020204030204" pitchFamily="49" charset="0"/>
              </a:rPr>
              <a:t>myGrad</a:t>
            </a:r>
            <a:r>
              <a:rPr lang="sv-SE" sz="1100" dirty="0">
                <a:latin typeface="Consolas" panose="020B0609020204030204" pitchFamily="49" charset="0"/>
              </a:rPr>
              <a:t> &lt;-</a:t>
            </a:r>
            <a:r>
              <a:rPr lang="sv-SE" sz="1100" dirty="0" err="1">
                <a:latin typeface="Consolas" panose="020B0609020204030204" pitchFamily="49" charset="0"/>
              </a:rPr>
              <a:t>function</a:t>
            </a:r>
            <a:r>
              <a:rPr lang="sv-SE" sz="1100" dirty="0">
                <a:latin typeface="Consolas" panose="020B0609020204030204" pitchFamily="49" charset="0"/>
              </a:rPr>
              <a:t>(x) c(4*(x[1]-2)^3, 4*(x[2]-4)^3)</a:t>
            </a:r>
          </a:p>
          <a:p>
            <a:endParaRPr lang="sv-SE" sz="1100" dirty="0">
              <a:latin typeface="Consolas" panose="020B0609020204030204" pitchFamily="49" charset="0"/>
            </a:endParaRPr>
          </a:p>
          <a:p>
            <a:r>
              <a:rPr lang="sv-SE" sz="1100" dirty="0">
                <a:latin typeface="Consolas" panose="020B0609020204030204" pitchFamily="49" charset="0"/>
              </a:rPr>
              <a:t>res&lt;-</a:t>
            </a:r>
            <a:r>
              <a:rPr lang="sv-SE" sz="1100" dirty="0" err="1">
                <a:latin typeface="Consolas" panose="020B0609020204030204" pitchFamily="49" charset="0"/>
              </a:rPr>
              <a:t>optim</a:t>
            </a:r>
            <a:r>
              <a:rPr lang="sv-SE" sz="1100" dirty="0">
                <a:latin typeface="Consolas" panose="020B0609020204030204" pitchFamily="49" charset="0"/>
              </a:rPr>
              <a:t>(c(0,0), </a:t>
            </a:r>
            <a:r>
              <a:rPr lang="sv-SE" sz="1100" dirty="0" err="1">
                <a:latin typeface="Consolas" panose="020B0609020204030204" pitchFamily="49" charset="0"/>
              </a:rPr>
              <a:t>fn</a:t>
            </a:r>
            <a:r>
              <a:rPr lang="sv-SE" sz="1100" dirty="0">
                <a:latin typeface="Consolas" panose="020B0609020204030204" pitchFamily="49" charset="0"/>
              </a:rPr>
              <a:t>=</a:t>
            </a:r>
            <a:r>
              <a:rPr lang="sv-SE" sz="1100" dirty="0" err="1">
                <a:latin typeface="Consolas" panose="020B0609020204030204" pitchFamily="49" charset="0"/>
              </a:rPr>
              <a:t>myf</a:t>
            </a:r>
            <a:r>
              <a:rPr lang="sv-SE" sz="1100" dirty="0">
                <a:latin typeface="Consolas" panose="020B0609020204030204" pitchFamily="49" charset="0"/>
              </a:rPr>
              <a:t>, gr=</a:t>
            </a:r>
            <a:r>
              <a:rPr lang="sv-SE" sz="1100" dirty="0" err="1">
                <a:latin typeface="Consolas" panose="020B0609020204030204" pitchFamily="49" charset="0"/>
              </a:rPr>
              <a:t>myGrad</a:t>
            </a:r>
            <a:r>
              <a:rPr lang="sv-SE" sz="1100" dirty="0">
                <a:latin typeface="Consolas" panose="020B0609020204030204" pitchFamily="49" charset="0"/>
              </a:rPr>
              <a:t>, </a:t>
            </a:r>
            <a:r>
              <a:rPr lang="sv-SE" sz="1100" dirty="0" err="1">
                <a:latin typeface="Consolas" panose="020B0609020204030204" pitchFamily="49" charset="0"/>
              </a:rPr>
              <a:t>method</a:t>
            </a:r>
            <a:r>
              <a:rPr lang="sv-SE" sz="1100" dirty="0">
                <a:latin typeface="Consolas" panose="020B0609020204030204" pitchFamily="49" charset="0"/>
              </a:rPr>
              <a:t>="BFGS")</a:t>
            </a:r>
          </a:p>
          <a:p>
            <a:endParaRPr lang="sv-SE" sz="1100" dirty="0">
              <a:latin typeface="Consolas" panose="020B0609020204030204" pitchFamily="49" charset="0"/>
            </a:endParaRPr>
          </a:p>
          <a:p>
            <a:r>
              <a:rPr lang="sv-SE" sz="1100" dirty="0" err="1">
                <a:latin typeface="Consolas" panose="020B0609020204030204" pitchFamily="49" charset="0"/>
              </a:rPr>
              <a:t>plot</a:t>
            </a:r>
            <a:r>
              <a:rPr lang="sv-SE" sz="1100" dirty="0">
                <a:latin typeface="Consolas" panose="020B0609020204030204" pitchFamily="49" charset="0"/>
              </a:rPr>
              <a:t>(log(</a:t>
            </a:r>
            <a:r>
              <a:rPr lang="sv-SE" sz="1100" dirty="0" err="1">
                <a:latin typeface="Consolas" panose="020B0609020204030204" pitchFamily="49" charset="0"/>
              </a:rPr>
              <a:t>as.numeric</a:t>
            </a:r>
            <a:r>
              <a:rPr lang="sv-SE" sz="1100" dirty="0">
                <a:latin typeface="Consolas" panose="020B0609020204030204" pitchFamily="49" charset="0"/>
              </a:rPr>
              <a:t>(Fs)), </a:t>
            </a:r>
            <a:r>
              <a:rPr lang="sv-SE" sz="1100" dirty="0" err="1">
                <a:latin typeface="Consolas" panose="020B0609020204030204" pitchFamily="49" charset="0"/>
              </a:rPr>
              <a:t>type</a:t>
            </a:r>
            <a:r>
              <a:rPr lang="sv-SE" sz="1100" dirty="0">
                <a:latin typeface="Consolas" panose="020B0609020204030204" pitchFamily="49" charset="0"/>
              </a:rPr>
              <a:t>="l", </a:t>
            </a:r>
            <a:r>
              <a:rPr lang="sv-SE" sz="1100" dirty="0" err="1">
                <a:latin typeface="Consolas" panose="020B0609020204030204" pitchFamily="49" charset="0"/>
              </a:rPr>
              <a:t>main</a:t>
            </a:r>
            <a:r>
              <a:rPr lang="sv-SE" sz="1100" dirty="0">
                <a:latin typeface="Consolas" panose="020B0609020204030204" pitchFamily="49" charset="0"/>
              </a:rPr>
              <a:t>="</a:t>
            </a:r>
            <a:r>
              <a:rPr lang="sv-SE" sz="1100" dirty="0" err="1">
                <a:latin typeface="Consolas" panose="020B0609020204030204" pitchFamily="49" charset="0"/>
              </a:rPr>
              <a:t>Function</a:t>
            </a:r>
            <a:r>
              <a:rPr lang="sv-SE" sz="1100" dirty="0">
                <a:latin typeface="Consolas" panose="020B0609020204030204" pitchFamily="49" charset="0"/>
              </a:rPr>
              <a:t> iterations")</a:t>
            </a:r>
          </a:p>
        </p:txBody>
      </p:sp>
      <p:pic>
        <p:nvPicPr>
          <p:cNvPr id="8" name="Bildobjekt 7">
            <a:extLst>
              <a:ext uri="{FF2B5EF4-FFF2-40B4-BE49-F238E27FC236}">
                <a16:creationId xmlns:a16="http://schemas.microsoft.com/office/drawing/2014/main" id="{51973675-5594-49B7-A143-067F8BF51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101" y="2484897"/>
            <a:ext cx="3870507" cy="226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0863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F817209-7CA6-4096-96C6-DC8C7FD17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Implicit </a:t>
            </a:r>
            <a:r>
              <a:rPr lang="sv-SE" dirty="0" err="1"/>
              <a:t>regularization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4372E29D-D533-453F-BD87-7D30493360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v-SE" sz="2000" b="1" dirty="0" err="1">
                    <a:solidFill>
                      <a:srgbClr val="0000FF"/>
                    </a:solidFill>
                  </a:rPr>
                  <a:t>Early</a:t>
                </a:r>
                <a:r>
                  <a:rPr lang="sv-SE" sz="2000" b="1" dirty="0">
                    <a:solidFill>
                      <a:srgbClr val="0000FF"/>
                    </a:solidFill>
                  </a:rPr>
                  <a:t> </a:t>
                </a:r>
                <a:r>
                  <a:rPr lang="sv-SE" sz="2000" b="1" dirty="0" err="1">
                    <a:solidFill>
                      <a:srgbClr val="0000FF"/>
                    </a:solidFill>
                  </a:rPr>
                  <a:t>stopping</a:t>
                </a:r>
                <a:endParaRPr lang="sv-SE" sz="2000" b="1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sv-SE" sz="1600" dirty="0"/>
                  <a:t>For </a:t>
                </a:r>
                <a:r>
                  <a:rPr lang="sv-SE" sz="1600" dirty="0" err="1"/>
                  <a:t>complex</a:t>
                </a:r>
                <a:r>
                  <a:rPr lang="sv-SE" sz="1600" dirty="0"/>
                  <a:t> </a:t>
                </a:r>
                <a:r>
                  <a:rPr lang="sv-SE" sz="1600" dirty="0" err="1"/>
                  <a:t>models</a:t>
                </a:r>
                <a:r>
                  <a:rPr lang="sv-SE" sz="1600" dirty="0"/>
                  <a:t>, </a:t>
                </a:r>
                <a:r>
                  <a:rPr lang="sv-SE" sz="1600" dirty="0" err="1"/>
                  <a:t>accurate</a:t>
                </a:r>
                <a:r>
                  <a:rPr lang="sv-SE" sz="1600" dirty="0"/>
                  <a:t> </a:t>
                </a:r>
                <a:r>
                  <a:rPr lang="sv-SE" sz="1600" dirty="0" err="1"/>
                  <a:t>model</a:t>
                </a:r>
                <a:r>
                  <a:rPr lang="sv-SE" sz="1600" dirty="0"/>
                  <a:t> </a:t>
                </a:r>
                <a:r>
                  <a:rPr lang="sv-SE" sz="1600" dirty="0" err="1"/>
                  <a:t>optimization</a:t>
                </a:r>
                <a:r>
                  <a:rPr lang="sv-SE" sz="1600" dirty="0"/>
                  <a:t> </a:t>
                </a:r>
                <a:r>
                  <a:rPr lang="sv-SE" sz="1600" dirty="0" err="1"/>
                  <a:t>may</a:t>
                </a:r>
                <a:r>
                  <a:rPr lang="sv-SE" sz="1600" dirty="0"/>
                  <a:t> </a:t>
                </a:r>
                <a:r>
                  <a:rPr lang="sv-SE" sz="1600" dirty="0" err="1"/>
                  <a:t>lead</a:t>
                </a:r>
                <a:r>
                  <a:rPr lang="sv-SE" sz="1600" dirty="0"/>
                  <a:t> to </a:t>
                </a:r>
                <a:r>
                  <a:rPr lang="sv-SE" sz="1600" dirty="0" err="1"/>
                  <a:t>overfitting</a:t>
                </a:r>
                <a:endParaRPr lang="sv-SE" sz="1600" dirty="0"/>
              </a:p>
              <a:p>
                <a:pPr lvl="1"/>
                <a:endParaRPr lang="sv-SE" sz="1800" dirty="0"/>
              </a:p>
              <a:p>
                <a:pPr lvl="1"/>
                <a:r>
                  <a:rPr lang="sv-SE" sz="1800" dirty="0"/>
                  <a:t>Start from </a:t>
                </a:r>
                <a:r>
                  <a:rPr lang="sv-SE" sz="1800" dirty="0" err="1"/>
                  <a:t>some</a:t>
                </a:r>
                <a:r>
                  <a:rPr lang="sv-SE" sz="1800" dirty="0"/>
                  <a:t> parameter set (</a:t>
                </a:r>
                <a:r>
                  <a:rPr lang="sv-SE" sz="1800" dirty="0" err="1"/>
                  <a:t>probably</a:t>
                </a:r>
                <a:r>
                  <a:rPr lang="sv-SE" sz="1800" dirty="0"/>
                  <a:t> not optimal, </a:t>
                </a:r>
                <a:r>
                  <a:rPr lang="sv-SE" sz="1800" dirty="0" err="1"/>
                  <a:t>large</a:t>
                </a:r>
                <a:r>
                  <a:rPr lang="sv-SE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sv-SE" sz="1800" b="0" i="1" smtClean="0">
                            <a:latin typeface="Cambria Math" panose="02040503050406030204" pitchFamily="18" charset="0"/>
                          </a:rPr>
                          <m:t>𝑡𝑟𝑎𝑖𝑛</m:t>
                        </m:r>
                      </m:sub>
                    </m:sSub>
                  </m:oMath>
                </a14:m>
                <a:r>
                  <a:rPr lang="sv-SE" sz="1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sv-SE" sz="1800" b="0" i="1" smtClean="0"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</m:oMath>
                </a14:m>
                <a:r>
                  <a:rPr lang="sv-SE" sz="1800" dirty="0"/>
                  <a:t>)</a:t>
                </a:r>
              </a:p>
              <a:p>
                <a:pPr lvl="1"/>
                <a:r>
                  <a:rPr lang="sv-SE" sz="1800" dirty="0" err="1"/>
                  <a:t>Trace</a:t>
                </a:r>
                <a:r>
                  <a:rPr lang="sv-SE" sz="1800" dirty="0"/>
                  <a:t> the </a:t>
                </a:r>
                <a:r>
                  <a:rPr lang="sv-SE" sz="1800" dirty="0" err="1"/>
                  <a:t>validation</a:t>
                </a:r>
                <a:r>
                  <a:rPr lang="sv-SE" sz="1800" dirty="0"/>
                  <a:t> </a:t>
                </a:r>
                <a:r>
                  <a:rPr lang="sv-SE" sz="1800" dirty="0" err="1"/>
                  <a:t>error</a:t>
                </a:r>
                <a:r>
                  <a:rPr lang="sv-SE" sz="1800" dirty="0"/>
                  <a:t> (and </a:t>
                </a:r>
                <a:r>
                  <a:rPr lang="sv-SE" sz="1800" dirty="0" err="1"/>
                  <a:t>training</a:t>
                </a:r>
                <a:r>
                  <a:rPr lang="sv-SE" sz="1800" dirty="0"/>
                  <a:t> </a:t>
                </a:r>
                <a:r>
                  <a:rPr lang="sv-SE" sz="1800" dirty="0" err="1"/>
                  <a:t>error</a:t>
                </a:r>
                <a:r>
                  <a:rPr lang="sv-SE" sz="1800" dirty="0"/>
                  <a:t>? ) for </a:t>
                </a:r>
                <a:r>
                  <a:rPr lang="sv-SE" sz="1800" dirty="0" err="1"/>
                  <a:t>each</a:t>
                </a:r>
                <a:r>
                  <a:rPr lang="sv-SE" sz="1800" dirty="0"/>
                  <a:t> </a:t>
                </a:r>
                <a14:m>
                  <m:oMath xmlns:m="http://schemas.openxmlformats.org/officeDocument/2006/math">
                    <m:r>
                      <a:rPr lang="sv-SE" sz="1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sv-SE" sz="1800" dirty="0"/>
              </a:p>
              <a:p>
                <a:pPr lvl="1"/>
                <a:r>
                  <a:rPr lang="sv-SE" sz="1800" dirty="0" err="1"/>
                  <a:t>Choose</a:t>
                </a:r>
                <a:r>
                  <a:rPr lang="sv-SE" sz="1800" dirty="0"/>
                  <a:t> </a:t>
                </a:r>
                <a:r>
                  <a:rPr lang="sv-SE" sz="1800" dirty="0" err="1"/>
                  <a:t>model</a:t>
                </a:r>
                <a:r>
                  <a:rPr lang="sv-SE" sz="1800" dirty="0"/>
                  <a:t> </a:t>
                </a:r>
                <a:r>
                  <a:rPr lang="sv-SE" sz="1800" dirty="0" err="1"/>
                  <a:t>with</a:t>
                </a:r>
                <a:r>
                  <a:rPr lang="sv-SE" sz="1800" dirty="0"/>
                  <a:t> the </a:t>
                </a:r>
                <a:r>
                  <a:rPr lang="sv-SE" sz="1800" dirty="0" err="1"/>
                  <a:t>smallest</a:t>
                </a:r>
                <a:r>
                  <a:rPr lang="sv-SE" sz="1800" dirty="0"/>
                  <a:t> </a:t>
                </a:r>
                <a:r>
                  <a:rPr lang="sv-SE" sz="1800" dirty="0" err="1"/>
                  <a:t>validation</a:t>
                </a:r>
                <a:r>
                  <a:rPr lang="sv-SE" sz="1800" dirty="0"/>
                  <a:t> </a:t>
                </a:r>
                <a:r>
                  <a:rPr lang="sv-SE" sz="1800" dirty="0" err="1"/>
                  <a:t>error</a:t>
                </a:r>
                <a:endParaRPr lang="sv-SE" sz="1800" dirty="0"/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4372E29D-D533-453F-BD87-7D30493360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809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0116AE43-66C7-43D6-84D4-BED53E410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868FB6B9-9677-4BDB-ACA4-41C7E4183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34</a:t>
            </a:fld>
            <a:endParaRPr lang="sv-SE"/>
          </a:p>
        </p:txBody>
      </p:sp>
      <p:pic>
        <p:nvPicPr>
          <p:cNvPr id="9" name="Bildobjekt 8">
            <a:extLst>
              <a:ext uri="{FF2B5EF4-FFF2-40B4-BE49-F238E27FC236}">
                <a16:creationId xmlns:a16="http://schemas.microsoft.com/office/drawing/2014/main" id="{AF98C90C-A081-497C-AB1A-0162BA2DC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664" y="3932586"/>
            <a:ext cx="5071665" cy="2163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2673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9202188-42C5-45D2-AD2E-503FDACE9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Implicit </a:t>
            </a:r>
            <a:r>
              <a:rPr lang="sv-SE" dirty="0" err="1"/>
              <a:t>regularization</a:t>
            </a:r>
            <a:endParaRPr lang="sv-SE" dirty="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7019A1E0-B596-4EC8-AA3A-E87C8CCBD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A7F6FDAD-759B-4CC4-9F4B-D2D458450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35</a:t>
            </a:fld>
            <a:endParaRPr lang="sv-SE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E791D98F-8DA9-4083-A39A-E62300462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081" y="2493054"/>
            <a:ext cx="7574346" cy="1998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6664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E0308BF-B0EC-43D3-8005-7D96DE093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Optimization</a:t>
            </a:r>
            <a:r>
              <a:rPr lang="sv-SE" dirty="0"/>
              <a:t> for </a:t>
            </a:r>
            <a:r>
              <a:rPr lang="sv-SE" dirty="0" err="1"/>
              <a:t>large</a:t>
            </a:r>
            <a:r>
              <a:rPr lang="sv-SE" dirty="0"/>
              <a:t>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A2852F74-3D77-4794-99FA-400D15CD59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70912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sv-SE" sz="2000" b="1" dirty="0">
                    <a:solidFill>
                      <a:srgbClr val="0000FF"/>
                    </a:solidFill>
                  </a:rPr>
                  <a:t>Stochastic gradient </a:t>
                </a:r>
                <a:r>
                  <a:rPr lang="sv-SE" sz="2000" b="1" dirty="0" err="1">
                    <a:solidFill>
                      <a:srgbClr val="0000FF"/>
                    </a:solidFill>
                  </a:rPr>
                  <a:t>descent</a:t>
                </a:r>
                <a:endParaRPr lang="sv-SE" sz="2000" b="1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endParaRPr lang="sv-SE" sz="2000" b="1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r>
                  <a:rPr lang="sv-SE" sz="2000" b="1" dirty="0" err="1">
                    <a:solidFill>
                      <a:srgbClr val="00B050"/>
                    </a:solidFill>
                  </a:rPr>
                  <a:t>Idea</a:t>
                </a:r>
                <a:r>
                  <a:rPr lang="sv-SE" sz="2000" b="1" dirty="0">
                    <a:solidFill>
                      <a:srgbClr val="0000FF"/>
                    </a:solidFill>
                  </a:rPr>
                  <a:t>: </a:t>
                </a:r>
                <a:r>
                  <a:rPr lang="sv-SE" sz="2000" dirty="0" err="1"/>
                  <a:t>use</a:t>
                </a:r>
                <a:r>
                  <a:rPr lang="sv-SE" sz="2000" dirty="0"/>
                  <a:t> gradient </a:t>
                </a:r>
                <a:r>
                  <a:rPr lang="sv-SE" sz="2000" dirty="0" err="1"/>
                  <a:t>descent</a:t>
                </a:r>
                <a:r>
                  <a:rPr lang="sv-SE" sz="2000" dirty="0"/>
                  <a:t> + approximation to </a:t>
                </a:r>
                <a:r>
                  <a:rPr lang="sv-SE" sz="2000" dirty="0" err="1"/>
                  <a:t>expected</a:t>
                </a:r>
                <a:r>
                  <a:rPr lang="sv-SE" sz="2000" dirty="0"/>
                  <a:t> </a:t>
                </a:r>
                <a:r>
                  <a:rPr lang="sv-SE" sz="2000" dirty="0" err="1"/>
                  <a:t>value</a:t>
                </a:r>
                <a:endParaRPr lang="sv-SE" sz="2000" dirty="0"/>
              </a:p>
              <a:p>
                <a:r>
                  <a:rPr lang="sv-SE" sz="2000" dirty="0"/>
                  <a:t>For </a:t>
                </a:r>
                <a:r>
                  <a:rPr lang="sv-SE" sz="2000" b="1" dirty="0" err="1"/>
                  <a:t>random</a:t>
                </a:r>
                <a:r>
                  <a:rPr lang="sv-SE" sz="2000" dirty="0"/>
                  <a:t> </a:t>
                </a:r>
                <a:r>
                  <a:rPr lang="sv-SE" sz="2000" dirty="0" err="1"/>
                  <a:t>sample</a:t>
                </a:r>
                <a:r>
                  <a:rPr lang="sv-SE" sz="2000" dirty="0"/>
                  <a:t> </a:t>
                </a:r>
                <a:r>
                  <a:rPr lang="sv-SE" sz="2000" dirty="0" err="1"/>
                  <a:t>of</a:t>
                </a:r>
                <a:r>
                  <a:rPr lang="sv-SE" sz="2000" dirty="0"/>
                  <a:t> </a:t>
                </a:r>
                <a:r>
                  <a:rPr lang="sv-SE" sz="2000" dirty="0" err="1"/>
                  <a:t>size</a:t>
                </a:r>
                <a:r>
                  <a:rPr lang="sv-SE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sv-SE" sz="2000" dirty="0"/>
                  <a:t> from </a:t>
                </a:r>
                <a:r>
                  <a:rPr lang="sv-SE" sz="2000" dirty="0" err="1"/>
                  <a:t>sample</a:t>
                </a:r>
                <a:r>
                  <a:rPr lang="sv-SE" sz="2000" dirty="0"/>
                  <a:t> </a:t>
                </a:r>
                <a:r>
                  <a:rPr lang="sv-SE" sz="2000" dirty="0" err="1"/>
                  <a:t>of</a:t>
                </a:r>
                <a:r>
                  <a:rPr lang="sv-SE" sz="2000" dirty="0"/>
                  <a:t> </a:t>
                </a:r>
                <a:r>
                  <a:rPr lang="sv-SE" sz="2000" dirty="0" err="1"/>
                  <a:t>size</a:t>
                </a:r>
                <a:r>
                  <a:rPr lang="sv-SE" sz="2000" dirty="0"/>
                  <a:t> </a:t>
                </a:r>
                <a14:m>
                  <m:oMath xmlns:m="http://schemas.openxmlformats.org/officeDocument/2006/math"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sv-SE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sv-SE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v-S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sv-SE" sz="1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sv-SE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v-SE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sv-SE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sv-SE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sv-SE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sv-SE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sv-SE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sv-SE" sz="18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sv-SE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sv-SE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≈</m:t>
                          </m:r>
                          <m:f>
                            <m:fPr>
                              <m:ctrlPr>
                                <a:rPr lang="sv-SE" sz="18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sv-SE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sv-SE" sz="18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sz="1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sv-SE" sz="1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sv-SE" sz="18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sv-SE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sv-SE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sv-SE" sz="18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sz="1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sv-SE" sz="1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sup>
                            <m:e>
                              <m:sSub>
                                <m:sSubPr>
                                  <m:ctrlPr>
                                    <a:rPr lang="sv-SE" sz="18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sz="1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sv-SE" sz="1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sv-SE" sz="18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sv-S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sv-SE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sv-S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sv-SE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sv-S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v-S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sv-SE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sv-SE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sv-S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sv-SE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sv-SE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sv-SE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sv-SE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sv-SE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sv-SE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sv-S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sv-S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𝑠𝑎𝑚𝑝𝑙𝑒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sv-SE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800" i="1">
                                  <a:latin typeface="Cambria Math" panose="02040503050406030204" pitchFamily="18" charset="0"/>
                                </a:rPr>
                                <m:t>𝛻</m:t>
                              </m:r>
                            </m:e>
                            <m:sub>
                              <m:r>
                                <a:rPr lang="sv-SE" sz="1800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sub>
                          </m:sSub>
                          <m:r>
                            <a:rPr lang="sv-S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sv-S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sv-SE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sv-SE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sv-S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sv-SE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sv-SE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sv-S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sv-S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  <m:r>
                            <a:rPr lang="sv-S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sv-SE" sz="1800" dirty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sv-SE" sz="20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sv-SE" sz="2000" dirty="0" err="1"/>
                  <a:t>One</a:t>
                </a:r>
                <a:r>
                  <a:rPr lang="sv-SE" sz="2000" dirty="0"/>
                  <a:t> </a:t>
                </a:r>
                <a:r>
                  <a:rPr lang="sv-SE" sz="2000" b="1" dirty="0" err="1">
                    <a:solidFill>
                      <a:srgbClr val="0000FF"/>
                    </a:solidFill>
                  </a:rPr>
                  <a:t>epoch</a:t>
                </a:r>
                <a:r>
                  <a:rPr lang="sv-SE" sz="2000" dirty="0"/>
                  <a:t>:</a:t>
                </a:r>
              </a:p>
              <a:p>
                <a:pPr marL="857250" lvl="1" indent="-457200">
                  <a:buFont typeface="+mj-lt"/>
                  <a:buAutoNum type="arabicPeriod"/>
                </a:pPr>
                <a:r>
                  <a:rPr lang="sv-SE" sz="1600" dirty="0" err="1"/>
                  <a:t>Permute</a:t>
                </a:r>
                <a:r>
                  <a:rPr lang="sv-SE" sz="1600" dirty="0"/>
                  <a:t> data and </a:t>
                </a:r>
                <a:r>
                  <a:rPr lang="sv-SE" sz="1600" dirty="0" err="1"/>
                  <a:t>divide</a:t>
                </a:r>
                <a:r>
                  <a:rPr lang="sv-SE" sz="1600" dirty="0"/>
                  <a:t> </a:t>
                </a:r>
                <a:r>
                  <a:rPr lang="sv-SE" sz="1600" dirty="0" err="1"/>
                  <a:t>into</a:t>
                </a:r>
                <a:r>
                  <a:rPr lang="sv-SE" sz="1600" dirty="0"/>
                  <a:t> </a:t>
                </a:r>
                <a:r>
                  <a:rPr lang="sv-SE" sz="1600" dirty="0" err="1"/>
                  <a:t>batches</a:t>
                </a:r>
                <a:r>
                  <a:rPr lang="sv-SE" sz="1600" dirty="0"/>
                  <a:t> </a:t>
                </a:r>
                <a:r>
                  <a:rPr lang="sv-SE" sz="1600" dirty="0" err="1"/>
                  <a:t>of</a:t>
                </a:r>
                <a:r>
                  <a:rPr lang="sv-SE" sz="1600" dirty="0"/>
                  <a:t> </a:t>
                </a:r>
                <a:r>
                  <a:rPr lang="sv-SE" sz="1600" dirty="0" err="1"/>
                  <a:t>size</a:t>
                </a:r>
                <a:r>
                  <a:rPr lang="sv-SE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sv-SE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endParaRPr lang="sv-SE" sz="1600" b="0" dirty="0"/>
              </a:p>
              <a:p>
                <a:pPr marL="857250" lvl="1" indent="-457200">
                  <a:buFont typeface="+mj-lt"/>
                  <a:buAutoNum type="arabicPeriod"/>
                </a:pPr>
                <a:r>
                  <a:rPr lang="sv-SE" sz="1600" dirty="0"/>
                  <a:t>In </a:t>
                </a:r>
                <a:r>
                  <a:rPr lang="sv-SE" sz="1600" dirty="0" err="1"/>
                  <a:t>each</a:t>
                </a:r>
                <a:r>
                  <a:rPr lang="sv-SE" sz="1600" dirty="0"/>
                  <a:t> </a:t>
                </a:r>
                <a:r>
                  <a:rPr lang="sv-SE" sz="1600" dirty="0" err="1"/>
                  <a:t>optimization</a:t>
                </a:r>
                <a:r>
                  <a:rPr lang="sv-SE" sz="1600" dirty="0"/>
                  <a:t> iteration, </a:t>
                </a:r>
                <a:r>
                  <a:rPr lang="sv-SE" sz="1600" dirty="0" err="1"/>
                  <a:t>use</a:t>
                </a:r>
                <a:r>
                  <a:rPr lang="sv-SE" sz="1600" dirty="0"/>
                  <a:t> </a:t>
                </a:r>
                <a:r>
                  <a:rPr lang="sv-SE" sz="1600" dirty="0" err="1"/>
                  <a:t>one</a:t>
                </a:r>
                <a:r>
                  <a:rPr lang="sv-SE" sz="1600" dirty="0"/>
                  <a:t> </a:t>
                </a:r>
                <a:r>
                  <a:rPr lang="sv-SE" sz="1600" dirty="0" err="1"/>
                  <a:t>batch</a:t>
                </a:r>
                <a:endParaRPr lang="sv-SE" sz="16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sv-SE" sz="2000" dirty="0" err="1">
                    <a:solidFill>
                      <a:schemeClr val="tx1"/>
                    </a:solidFill>
                  </a:rPr>
                  <a:t>Repeat</a:t>
                </a:r>
                <a:r>
                  <a:rPr lang="sv-SE" sz="2000" dirty="0">
                    <a:solidFill>
                      <a:schemeClr val="tx1"/>
                    </a:solidFill>
                  </a:rPr>
                  <a:t> step 1</a:t>
                </a:r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A2852F74-3D77-4794-99FA-400D15CD59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709120"/>
              </a:xfrm>
              <a:blipFill>
                <a:blip r:embed="rId2"/>
                <a:stretch>
                  <a:fillRect l="-815" t="-777" b="-64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490B2790-38DF-4891-8D41-56E46A41C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89B12BE1-4BBF-4040-AD7D-4ADFD4DD5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36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66803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1BFB38F-30B3-491A-8943-CEFCE5266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Stochastic</a:t>
            </a:r>
            <a:r>
              <a:rPr lang="sv-SE" dirty="0"/>
              <a:t> gradient </a:t>
            </a:r>
            <a:r>
              <a:rPr lang="sv-SE" dirty="0" err="1"/>
              <a:t>descent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138D554F-1970-4EA9-8F96-8DD660D4C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sv-SE" dirty="0"/>
              </a:p>
              <a:p>
                <a:endParaRPr lang="sv-SE" dirty="0"/>
              </a:p>
              <a:p>
                <a:endParaRPr lang="sv-SE" dirty="0"/>
              </a:p>
              <a:p>
                <a:endParaRPr lang="sv-SE" dirty="0"/>
              </a:p>
              <a:p>
                <a:endParaRPr lang="sv-SE" dirty="0"/>
              </a:p>
              <a:p>
                <a:endParaRPr lang="sv-SE" dirty="0"/>
              </a:p>
              <a:p>
                <a:endParaRPr lang="sv-SE" dirty="0"/>
              </a:p>
              <a:p>
                <a:r>
                  <a:rPr lang="sv-SE" sz="2000" dirty="0"/>
                  <a:t>Different </a:t>
                </a:r>
                <a:r>
                  <a:rPr lang="sv-SE" sz="2000" dirty="0" err="1"/>
                  <a:t>choices</a:t>
                </a:r>
                <a:r>
                  <a:rPr lang="sv-SE" sz="2000" dirty="0"/>
                  <a:t>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sv-SE" sz="2000" dirty="0"/>
                  <a:t>, for ex </a:t>
                </a:r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138D554F-1970-4EA9-8F96-8DD660D4C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b="-809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3AC5DE93-99C6-4C4C-B4F6-C508897C5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2D07351F-9DA6-4417-9B22-263677FE9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37</a:t>
            </a:fld>
            <a:endParaRPr lang="sv-SE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2827A147-82E9-46C2-8D36-E53A97304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437" y="1647825"/>
            <a:ext cx="6407126" cy="4022519"/>
          </a:xfrm>
          <a:prstGeom prst="rect">
            <a:avLst/>
          </a:prstGeom>
        </p:spPr>
      </p:pic>
      <p:pic>
        <p:nvPicPr>
          <p:cNvPr id="11" name="Bildobjekt 10">
            <a:extLst>
              <a:ext uri="{FF2B5EF4-FFF2-40B4-BE49-F238E27FC236}">
                <a16:creationId xmlns:a16="http://schemas.microsoft.com/office/drawing/2014/main" id="{27C1AAB8-E7E6-4207-9D02-6F7C232115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8970" y="5688942"/>
            <a:ext cx="2374230" cy="352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1147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4EF7C6B-DF0C-42BF-9845-11053DF6A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Hyperparameter </a:t>
            </a:r>
            <a:r>
              <a:rPr lang="sv-SE" dirty="0" err="1"/>
              <a:t>optimization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5A5B3535-B3DC-4817-9D78-6F8D0AE540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h𝑜𝑙𝑑</m:t>
                        </m:r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sv-SE" sz="2400" dirty="0"/>
                  <a:t> </a:t>
                </a:r>
                <a:r>
                  <a:rPr lang="sv-SE" sz="2400" dirty="0" err="1"/>
                  <a:t>costly</a:t>
                </a:r>
                <a:r>
                  <a:rPr lang="sv-SE" sz="2400" dirty="0"/>
                  <a:t> to </a:t>
                </a:r>
                <a:r>
                  <a:rPr lang="sv-SE" sz="2400" dirty="0" err="1"/>
                  <a:t>compute</a:t>
                </a:r>
                <a:r>
                  <a:rPr lang="sv-SE" sz="2400" dirty="0">
                    <a:sym typeface="Wingdings" panose="05000000000000000000" pitchFamily="2" charset="2"/>
                  </a:rPr>
                  <a:t> </a:t>
                </a:r>
                <a:r>
                  <a:rPr lang="sv-SE" sz="2400" dirty="0" err="1">
                    <a:sym typeface="Wingdings" panose="05000000000000000000" pitchFamily="2" charset="2"/>
                  </a:rPr>
                  <a:t>usual</a:t>
                </a:r>
                <a:r>
                  <a:rPr lang="sv-SE" sz="2400" dirty="0">
                    <a:sym typeface="Wingdings" panose="05000000000000000000" pitchFamily="2" charset="2"/>
                  </a:rPr>
                  <a:t> </a:t>
                </a:r>
                <a:r>
                  <a:rPr lang="sv-SE" sz="2400" dirty="0" err="1">
                    <a:sym typeface="Wingdings" panose="05000000000000000000" pitchFamily="2" charset="2"/>
                  </a:rPr>
                  <a:t>optimization</a:t>
                </a:r>
                <a:r>
                  <a:rPr lang="sv-SE" sz="2400" dirty="0">
                    <a:sym typeface="Wingdings" panose="05000000000000000000" pitchFamily="2" charset="2"/>
                  </a:rPr>
                  <a:t> </a:t>
                </a:r>
                <a:r>
                  <a:rPr lang="sv-SE" sz="2400" dirty="0" err="1">
                    <a:sym typeface="Wingdings" panose="05000000000000000000" pitchFamily="2" charset="2"/>
                  </a:rPr>
                  <a:t>very</a:t>
                </a:r>
                <a:r>
                  <a:rPr lang="sv-SE" sz="2400" dirty="0">
                    <a:sym typeface="Wingdings" panose="05000000000000000000" pitchFamily="2" charset="2"/>
                  </a:rPr>
                  <a:t> hard</a:t>
                </a:r>
              </a:p>
              <a:p>
                <a:pPr lvl="1"/>
                <a:r>
                  <a:rPr lang="sv-SE" sz="2000" dirty="0">
                    <a:sym typeface="Wingdings" panose="05000000000000000000" pitchFamily="2" charset="2"/>
                  </a:rPr>
                  <a:t>Note: for </a:t>
                </a:r>
                <a:r>
                  <a:rPr lang="sv-SE" sz="2000" dirty="0" err="1">
                    <a:sym typeface="Wingdings" panose="05000000000000000000" pitchFamily="2" charset="2"/>
                  </a:rPr>
                  <a:t>each</a:t>
                </a:r>
                <a:r>
                  <a:rPr lang="sv-SE" sz="2000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sv-SE" sz="20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𝜆</m:t>
                    </m:r>
                  </m:oMath>
                </a14:m>
                <a:r>
                  <a:rPr lang="sv-SE" sz="2000" dirty="0"/>
                  <a:t> </a:t>
                </a:r>
                <a:r>
                  <a:rPr lang="sv-SE" sz="2000" dirty="0" err="1"/>
                  <a:t>first</a:t>
                </a:r>
                <a:r>
                  <a:rPr lang="sv-SE" sz="2000" dirty="0"/>
                  <a:t> </a:t>
                </a:r>
                <a:r>
                  <a:rPr lang="sv-SE" sz="2000" dirty="0" err="1"/>
                  <a:t>we</a:t>
                </a:r>
                <a:r>
                  <a:rPr lang="sv-SE" sz="2000" dirty="0"/>
                  <a:t> </a:t>
                </a:r>
                <a:r>
                  <a:rPr lang="sv-SE" sz="2000" dirty="0" err="1"/>
                  <a:t>need</a:t>
                </a:r>
                <a:r>
                  <a:rPr lang="sv-SE" sz="2000" dirty="0"/>
                  <a:t> to </a:t>
                </a:r>
                <a:r>
                  <a:rPr lang="sv-SE" sz="2000" dirty="0" err="1"/>
                  <a:t>optimize</a:t>
                </a:r>
                <a:r>
                  <a:rPr lang="sv-SE" sz="2000" dirty="0"/>
                  <a:t> </a:t>
                </a:r>
                <a14:m>
                  <m:oMath xmlns:m="http://schemas.openxmlformats.org/officeDocument/2006/math"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sv-SE" sz="2000" dirty="0"/>
                  <a:t>…+ gradients </a:t>
                </a:r>
                <a:r>
                  <a:rPr lang="sv-SE" sz="2000" dirty="0" err="1"/>
                  <a:t>of</a:t>
                </a:r>
                <a:r>
                  <a:rPr lang="sv-SE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sv-SE" sz="2000" i="1">
                            <a:latin typeface="Cambria Math" panose="02040503050406030204" pitchFamily="18" charset="0"/>
                          </a:rPr>
                          <m:t>h𝑜𝑙𝑑</m:t>
                        </m:r>
                        <m:r>
                          <a:rPr lang="sv-SE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sv-SE" sz="2000" i="1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sv-SE" sz="2000" dirty="0"/>
                  <a:t> </a:t>
                </a:r>
              </a:p>
              <a:p>
                <a:r>
                  <a:rPr lang="sv-SE" sz="2400" dirty="0"/>
                  <a:t>Grid </a:t>
                </a:r>
                <a:r>
                  <a:rPr lang="sv-SE" sz="2400" dirty="0" err="1"/>
                  <a:t>search</a:t>
                </a:r>
                <a:r>
                  <a:rPr lang="sv-SE" sz="2400" dirty="0"/>
                  <a:t> (</a:t>
                </a:r>
                <a:r>
                  <a:rPr lang="sv-SE" sz="2400" dirty="0" err="1"/>
                  <a:t>can</a:t>
                </a:r>
                <a:r>
                  <a:rPr lang="sv-SE" sz="2400" dirty="0"/>
                  <a:t> </a:t>
                </a:r>
                <a:r>
                  <a:rPr lang="sv-SE" sz="2400" dirty="0" err="1"/>
                  <a:t>also</a:t>
                </a:r>
                <a:r>
                  <a:rPr lang="sv-SE" sz="2400" dirty="0"/>
                  <a:t> be </a:t>
                </a:r>
                <a:r>
                  <a:rPr lang="sv-SE" sz="2400" dirty="0" err="1"/>
                  <a:t>costly</a:t>
                </a:r>
                <a:r>
                  <a:rPr lang="sv-SE" sz="2400" dirty="0"/>
                  <a:t>)</a:t>
                </a:r>
              </a:p>
              <a:p>
                <a:pPr lvl="1"/>
                <a:r>
                  <a:rPr lang="sv-SE" sz="2000" dirty="0"/>
                  <a:t>Alternative: </a:t>
                </a:r>
                <a:r>
                  <a:rPr lang="sv-SE" sz="2000" dirty="0" err="1"/>
                  <a:t>Bayesian</a:t>
                </a:r>
                <a:r>
                  <a:rPr lang="sv-SE" sz="2000" dirty="0"/>
                  <a:t> </a:t>
                </a:r>
                <a:r>
                  <a:rPr lang="sv-SE" sz="2000" dirty="0" err="1"/>
                  <a:t>optimization</a:t>
                </a:r>
                <a:endParaRPr lang="sv-SE" sz="2000" dirty="0"/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5A5B3535-B3DC-4817-9D78-6F8D0AE540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1213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96223967-0F9E-4B79-BC6A-21C4AFB9C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D5A515A7-5B6B-4314-B829-1A65C3E1A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38</a:t>
            </a:fld>
            <a:endParaRPr lang="sv-SE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9856467A-EF01-410B-8EFF-B41095F47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80" y="3316313"/>
            <a:ext cx="3430918" cy="2924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17895"/>
      </p:ext>
    </p:extLst>
  </p:cSld>
  <p:clrMapOvr>
    <a:masterClrMapping/>
  </p:clrMapOvr>
</p:sld>
</file>

<file path=ppt/theme/theme1.xml><?xml version="1.0" encoding="utf-8"?>
<a:theme xmlns:a="http://schemas.openxmlformats.org/drawingml/2006/main" name="my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8B838B1D395C46B230F564133917A4" ma:contentTypeVersion="5" ma:contentTypeDescription="Create a new document." ma:contentTypeScope="" ma:versionID="70e298e78836510adb340f9f68a263a1">
  <xsd:schema xmlns:xsd="http://www.w3.org/2001/XMLSchema" xmlns:xs="http://www.w3.org/2001/XMLSchema" xmlns:p="http://schemas.microsoft.com/office/2006/metadata/properties" xmlns:ns2="e27f7632-7914-4153-b43e-44baa0afba72" xmlns:ns3="e5d37322-26cc-4af7-8808-99666bb9997d" targetNamespace="http://schemas.microsoft.com/office/2006/metadata/properties" ma:root="true" ma:fieldsID="7d3cba0f520645fa006f4f5a2497c43c" ns2:_="" ns3:_="">
    <xsd:import namespace="e27f7632-7914-4153-b43e-44baa0afba72"/>
    <xsd:import namespace="e5d37322-26cc-4af7-8808-99666bb9997d"/>
    <xsd:element name="properties">
      <xsd:complexType>
        <xsd:sequence>
          <xsd:element name="documentManagement">
            <xsd:complexType>
              <xsd:all>
                <xsd:element ref="ns2:_lisam_Description" minOccurs="0"/>
                <xsd:element ref="ns3:_lisam_PublishedVersion" minOccurs="0"/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7f7632-7914-4153-b43e-44baa0afba72" elementFormDefault="qualified">
    <xsd:import namespace="http://schemas.microsoft.com/office/2006/documentManagement/types"/>
    <xsd:import namespace="http://schemas.microsoft.com/office/infopath/2007/PartnerControls"/>
    <xsd:element name="_lisam_Description" ma:index="8" nillable="true" ma:displayName="Description" ma:internalName="_lisam_Description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d37322-26cc-4af7-8808-99666bb9997d" elementFormDefault="qualified">
    <xsd:import namespace="http://schemas.microsoft.com/office/2006/documentManagement/types"/>
    <xsd:import namespace="http://schemas.microsoft.com/office/infopath/2007/PartnerControls"/>
    <xsd:element name="_lisam_PublishedVersion" ma:index="9" nillable="true" ma:displayName="Published Version" ma:internalName="_lisam_PublishedVersion">
      <xsd:simpleType>
        <xsd:restriction base="dms:Text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lisam_Description xmlns="e27f7632-7914-4153-b43e-44baa0afba72" xsi:nil="true"/>
    <_lisam_PublishedVersion xmlns="e5d37322-26cc-4af7-8808-99666bb9997d" xsi:nil="true"/>
  </documentManagement>
</p:properties>
</file>

<file path=customXml/itemProps1.xml><?xml version="1.0" encoding="utf-8"?>
<ds:datastoreItem xmlns:ds="http://schemas.openxmlformats.org/officeDocument/2006/customXml" ds:itemID="{E5393D7B-F03B-43EE-9FBF-6040D66AE1D1}"/>
</file>

<file path=customXml/itemProps2.xml><?xml version="1.0" encoding="utf-8"?>
<ds:datastoreItem xmlns:ds="http://schemas.openxmlformats.org/officeDocument/2006/customXml" ds:itemID="{59585C7B-D7AC-4848-A84E-F04A2DF86FF0}"/>
</file>

<file path=customXml/itemProps3.xml><?xml version="1.0" encoding="utf-8"?>
<ds:datastoreItem xmlns:ds="http://schemas.openxmlformats.org/officeDocument/2006/customXml" ds:itemID="{5C939C2D-9736-4EA4-82BF-3CDFE1904086}"/>
</file>

<file path=docProps/app.xml><?xml version="1.0" encoding="utf-8"?>
<Properties xmlns="http://schemas.openxmlformats.org/officeDocument/2006/extended-properties" xmlns:vt="http://schemas.openxmlformats.org/officeDocument/2006/docPropsVTypes">
  <Template>mytheme</Template>
  <TotalTime>25010</TotalTime>
  <Words>1632</Words>
  <Application>Microsoft Office PowerPoint</Application>
  <PresentationFormat>Bildspel på skärmen (4:3)</PresentationFormat>
  <Paragraphs>392</Paragraphs>
  <Slides>38</Slides>
  <Notes>11</Notes>
  <HiddenSlides>0</HiddenSlides>
  <MMClips>0</MMClips>
  <ScaleCrop>false</ScaleCrop>
  <HeadingPairs>
    <vt:vector size="6" baseType="variant">
      <vt:variant>
        <vt:lpstr>Använt teckensnitt</vt:lpstr>
      </vt:variant>
      <vt:variant>
        <vt:i4>4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38</vt:i4>
      </vt:variant>
    </vt:vector>
  </HeadingPairs>
  <TitlesOfParts>
    <vt:vector size="43" baseType="lpstr">
      <vt:lpstr>Arial</vt:lpstr>
      <vt:lpstr>Calibri</vt:lpstr>
      <vt:lpstr>Cambria Math</vt:lpstr>
      <vt:lpstr>Consolas</vt:lpstr>
      <vt:lpstr>mytheme</vt:lpstr>
      <vt:lpstr>Parameter estimation Optimization</vt:lpstr>
      <vt:lpstr>Parametric functions</vt:lpstr>
      <vt:lpstr>Cost minimization</vt:lpstr>
      <vt:lpstr>Cost minimization: comments</vt:lpstr>
      <vt:lpstr>Loss functions</vt:lpstr>
      <vt:lpstr>Loss functions</vt:lpstr>
      <vt:lpstr>Loss functions</vt:lpstr>
      <vt:lpstr>Loss functions</vt:lpstr>
      <vt:lpstr>Loss functions: classification</vt:lpstr>
      <vt:lpstr>Loss functions: classification</vt:lpstr>
      <vt:lpstr>Loss functions: classification</vt:lpstr>
      <vt:lpstr>Regularization</vt:lpstr>
      <vt:lpstr>Explicit regularization</vt:lpstr>
      <vt:lpstr>Explicit regularization: ridge regression</vt:lpstr>
      <vt:lpstr>Ridge regression</vt:lpstr>
      <vt:lpstr>Ridge regression</vt:lpstr>
      <vt:lpstr>Ridge regression</vt:lpstr>
      <vt:lpstr>Ridge regression</vt:lpstr>
      <vt:lpstr>Ridge regression</vt:lpstr>
      <vt:lpstr>LASSO</vt:lpstr>
      <vt:lpstr>LASSO vs Ridge</vt:lpstr>
      <vt:lpstr>LASSO vs Ridge</vt:lpstr>
      <vt:lpstr>LASSO vs Ridge</vt:lpstr>
      <vt:lpstr>LASSO properies</vt:lpstr>
      <vt:lpstr>Optimization methods</vt:lpstr>
      <vt:lpstr>Optimization methods</vt:lpstr>
      <vt:lpstr>Gradient descent</vt:lpstr>
      <vt:lpstr>Gradient descent</vt:lpstr>
      <vt:lpstr>Newton’s method</vt:lpstr>
      <vt:lpstr>Newton’s method</vt:lpstr>
      <vt:lpstr>Newton’s method</vt:lpstr>
      <vt:lpstr>Optimization methods in R</vt:lpstr>
      <vt:lpstr>Optimization methods in R</vt:lpstr>
      <vt:lpstr>Implicit regularization</vt:lpstr>
      <vt:lpstr>Implicit regularization</vt:lpstr>
      <vt:lpstr>Optimization for large data</vt:lpstr>
      <vt:lpstr>Stochastic gradient descent</vt:lpstr>
      <vt:lpstr>Hyperparameter optimization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Oleg</dc:creator>
  <cp:lastModifiedBy>Oleg Sysoev</cp:lastModifiedBy>
  <cp:revision>531</cp:revision>
  <dcterms:created xsi:type="dcterms:W3CDTF">2008-10-17T08:20:23Z</dcterms:created>
  <dcterms:modified xsi:type="dcterms:W3CDTF">2023-01-03T11:06:32Z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0x010100298B838B1D395C46B230F564133917A4</vt:lpwstr>
  </property>
</Properties>
</file>