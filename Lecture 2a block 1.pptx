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8" r:id="rId1"/>
  </p:sldMasterIdLst>
  <p:notesMasterIdLst>
    <p:notesMasterId r:id="rId41"/>
  </p:notesMasterIdLst>
  <p:sldIdLst>
    <p:sldId id="256" r:id="rId2"/>
    <p:sldId id="300" r:id="rId3"/>
    <p:sldId id="336" r:id="rId4"/>
    <p:sldId id="304" r:id="rId5"/>
    <p:sldId id="344" r:id="rId6"/>
    <p:sldId id="345" r:id="rId7"/>
    <p:sldId id="346" r:id="rId8"/>
    <p:sldId id="347" r:id="rId9"/>
    <p:sldId id="337" r:id="rId10"/>
    <p:sldId id="349" r:id="rId11"/>
    <p:sldId id="314" r:id="rId12"/>
    <p:sldId id="340" r:id="rId13"/>
    <p:sldId id="316" r:id="rId14"/>
    <p:sldId id="317" r:id="rId15"/>
    <p:sldId id="318" r:id="rId16"/>
    <p:sldId id="319" r:id="rId17"/>
    <p:sldId id="320" r:id="rId18"/>
    <p:sldId id="322" r:id="rId19"/>
    <p:sldId id="350" r:id="rId20"/>
    <p:sldId id="343" r:id="rId21"/>
    <p:sldId id="315" r:id="rId22"/>
    <p:sldId id="351" r:id="rId23"/>
    <p:sldId id="324" r:id="rId24"/>
    <p:sldId id="321" r:id="rId25"/>
    <p:sldId id="352" r:id="rId26"/>
    <p:sldId id="353" r:id="rId27"/>
    <p:sldId id="354" r:id="rId28"/>
    <p:sldId id="355" r:id="rId29"/>
    <p:sldId id="325" r:id="rId30"/>
    <p:sldId id="326" r:id="rId31"/>
    <p:sldId id="357" r:id="rId32"/>
    <p:sldId id="358" r:id="rId33"/>
    <p:sldId id="342" r:id="rId34"/>
    <p:sldId id="341" r:id="rId35"/>
    <p:sldId id="359" r:id="rId36"/>
    <p:sldId id="360" r:id="rId37"/>
    <p:sldId id="361" r:id="rId38"/>
    <p:sldId id="356" r:id="rId39"/>
    <p:sldId id="362" r:id="rId40"/>
  </p:sldIdLst>
  <p:sldSz cx="9144000" cy="6858000" type="screen4x3"/>
  <p:notesSz cx="6858000" cy="9144000"/>
  <p:defaultTextStyle>
    <a:defPPr>
      <a:defRPr lang="sv-S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21" autoAdjust="0"/>
    <p:restoredTop sz="94667" autoAdjust="0"/>
  </p:normalViewPr>
  <p:slideViewPr>
    <p:cSldViewPr>
      <p:cViewPr varScale="1">
        <p:scale>
          <a:sx n="106" d="100"/>
          <a:sy n="106" d="100"/>
        </p:scale>
        <p:origin x="178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48" Type="http://schemas.openxmlformats.org/officeDocument/2006/relationships/customXml" Target="../customXml/item3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ustomXml" Target="../customXml/item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4ADB048-B6AA-4D22-B925-1E07B42FCC2F}" type="datetimeFigureOut">
              <a:rPr lang="en-US"/>
              <a:pPr>
                <a:defRPr/>
              </a:pPr>
              <a:t>12/6/2022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1CBF2CB4-761B-4BF8-ADAE-309A87B15E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3715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426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1697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7724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4458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9574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3313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7686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6562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337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8289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9419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3633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4918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5464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3493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F7BB98F-F4EB-4A9D-839E-1C54EDEAB4FD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3139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6243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8359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5568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4874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9062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9428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3023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649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FFFF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49E7385-7E52-438E-88FC-B0C869CA04D4}" type="datetime1">
              <a:rPr lang="sv-SE" smtClean="0"/>
              <a:t>2022-12-06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E41135-FE25-4BB9-845D-2A6C9DB4D648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02590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061ABF-1FFA-41FB-8726-592C01BCBA28}" type="datetime1">
              <a:rPr lang="sv-SE" smtClean="0"/>
              <a:t>2022-12-06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B2DAB0-3E44-4037-BFD8-EC40824E78A2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13052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0FECBE-0BB4-4686-9D68-503914A06516}" type="datetime1">
              <a:rPr lang="sv-SE" smtClean="0"/>
              <a:t>2022-12-06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39442D-BF2B-4F0F-86BC-2E9B5D092FBD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34763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CE673E-2E60-415D-970F-B1535A0F1847}" type="datetime1">
              <a:rPr lang="sv-SE" smtClean="0"/>
              <a:t>2022-12-06</a:t>
            </a:fld>
            <a:endParaRPr lang="sv-SE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143A0B-D25E-4CEE-9A8D-A89D71CA941C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07564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3ACF50-9083-47B5-9E8A-16BC894455E6}" type="datetime1">
              <a:rPr lang="sv-SE" smtClean="0"/>
              <a:t>2022-12-06</a:t>
            </a:fld>
            <a:endParaRPr lang="sv-SE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EF4E0B-44E5-4E70-A00D-EAF82574E9B5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00689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925886-7D95-4D66-88E9-33FF4C1F9344}" type="datetime1">
              <a:rPr lang="sv-SE" smtClean="0"/>
              <a:t>2022-12-06</a:t>
            </a:fld>
            <a:endParaRPr lang="sv-S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C2B8F3-1A8A-45D7-B8F3-C3176EA3727C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38903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CBC364-2D92-45F7-A1F1-44D3B7277BD3}" type="datetime1">
              <a:rPr lang="sv-SE" smtClean="0"/>
              <a:t>2022-12-06</a:t>
            </a:fld>
            <a:endParaRPr lang="sv-SE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07C067-4760-4791-9AD9-243D3788801E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1656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5B3DE-7E46-4661-BDE9-5B30ADDA24AD}" type="datetime1">
              <a:rPr lang="sv-SE" smtClean="0"/>
              <a:t>2022-12-06</a:t>
            </a:fld>
            <a:endParaRPr lang="sv-SE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FCB188-BE35-4DCB-B587-5780F2D8A2E3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77572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62852-7BFD-4AD4-921F-A7E63749FD0B}" type="datetime1">
              <a:rPr lang="sv-SE" smtClean="0"/>
              <a:t>2022-12-06</a:t>
            </a:fld>
            <a:endParaRPr lang="sv-SE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91C374-092E-49BD-9EFA-BFB4801F3599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51781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C78EC2-E0E4-40EE-91FA-301CCF963BA7}" type="datetime1">
              <a:rPr lang="sv-SE" smtClean="0"/>
              <a:t>2022-12-06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D1788B-0916-4076-90CD-A11BF9C4C5F6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08143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4A400E-FCFB-44ED-AA79-C9455C83E9A9}" type="datetime1">
              <a:rPr lang="sv-SE" smtClean="0"/>
              <a:t>2022-12-06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2041AE-3DF6-4B42-A32B-B013DFED45FA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53700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sv-SE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sv-SE"/>
              <a:t>Click to edit Master text styles</a:t>
            </a:r>
          </a:p>
          <a:p>
            <a:pPr lvl="1"/>
            <a:r>
              <a:rPr lang="en-US" altLang="sv-SE"/>
              <a:t>Second level</a:t>
            </a:r>
          </a:p>
          <a:p>
            <a:pPr lvl="2"/>
            <a:r>
              <a:rPr lang="en-US" altLang="sv-SE"/>
              <a:t>Third level</a:t>
            </a:r>
          </a:p>
          <a:p>
            <a:pPr lvl="3"/>
            <a:r>
              <a:rPr lang="en-US" altLang="sv-SE"/>
              <a:t>Fourth level</a:t>
            </a:r>
          </a:p>
          <a:p>
            <a:pPr lvl="4"/>
            <a:r>
              <a:rPr lang="en-US" altLang="sv-SE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1F1AC21A-70A3-497A-8DA6-6AE15C5D8EB1}" type="datetime1">
              <a:rPr lang="sv-SE" smtClean="0"/>
              <a:t>2022-12-06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53457A1C-DCE8-4055-B631-8BF35863A1EB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3" r:id="rId1"/>
    <p:sldLayoutId id="2147483943" r:id="rId2"/>
    <p:sldLayoutId id="2147483944" r:id="rId3"/>
    <p:sldLayoutId id="2147483945" r:id="rId4"/>
    <p:sldLayoutId id="2147483946" r:id="rId5"/>
    <p:sldLayoutId id="2147483947" r:id="rId6"/>
    <p:sldLayoutId id="2147483948" r:id="rId7"/>
    <p:sldLayoutId id="2147483949" r:id="rId8"/>
    <p:sldLayoutId id="2147483950" r:id="rId9"/>
    <p:sldLayoutId id="2147483951" r:id="rId10"/>
    <p:sldLayoutId id="2147483952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4.jpe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sv-SE" altLang="sv-SE" sz="4800" dirty="0" err="1"/>
              <a:t>Model</a:t>
            </a:r>
            <a:r>
              <a:rPr lang="sv-SE" altLang="sv-SE" sz="4800" dirty="0"/>
              <a:t> </a:t>
            </a:r>
            <a:r>
              <a:rPr lang="sv-SE" altLang="sv-SE" sz="4800" dirty="0" err="1"/>
              <a:t>selection</a:t>
            </a:r>
            <a:endParaRPr lang="sv-SE" altLang="sv-SE" sz="4800" dirty="0"/>
          </a:p>
        </p:txBody>
      </p:sp>
      <p:sp>
        <p:nvSpPr>
          <p:cNvPr id="3075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sv-SE" altLang="sv-SE" dirty="0" err="1"/>
              <a:t>Lecture</a:t>
            </a:r>
            <a:r>
              <a:rPr lang="sv-SE" altLang="sv-SE" dirty="0"/>
              <a:t> 2a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E41135-FE25-4BB9-845D-2A6C9DB4D648}" type="slidenum">
              <a:rPr lang="sv-SE" smtClean="0"/>
              <a:pPr>
                <a:defRPr/>
              </a:pPr>
              <a:t>1</a:t>
            </a:fld>
            <a:endParaRPr lang="sv-S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Overview</a:t>
            </a:r>
            <a:endParaRPr lang="sv-SE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 selection</a:t>
            </a:r>
          </a:p>
          <a:p>
            <a:r>
              <a:rPr lang="en-US" dirty="0"/>
              <a:t>Model evaluation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732A99/TDDE01</a:t>
            </a:r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44989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An </a:t>
            </a:r>
            <a:r>
              <a:rPr lang="sv-SE" dirty="0" err="1"/>
              <a:t>estimator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sv-SE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v-SE" sz="2400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acc>
                    <m:r>
                      <a:rPr lang="sv-SE" sz="2400" i="1" dirty="0">
                        <a:latin typeface="Cambria Math"/>
                      </a:rPr>
                      <m:t>=</m:t>
                    </m:r>
                    <m:r>
                      <a:rPr lang="sv-SE" sz="2400" i="1" dirty="0">
                        <a:latin typeface="Cambria Math"/>
                      </a:rPr>
                      <m:t>𝛿</m:t>
                    </m:r>
                    <m:r>
                      <a:rPr lang="sv-SE" sz="2400" i="1" dirty="0">
                        <a:latin typeface="Cambria Math"/>
                      </a:rPr>
                      <m:t>(</m:t>
                    </m:r>
                    <m:r>
                      <a:rPr lang="sv-S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sv-SE" sz="2400" i="1" dirty="0">
                        <a:latin typeface="Cambria Math"/>
                      </a:rPr>
                      <m:t>)</m:t>
                    </m:r>
                  </m:oMath>
                </a14:m>
                <a:r>
                  <a:rPr lang="sv-SE" sz="2400" dirty="0"/>
                  <a:t> (</a:t>
                </a:r>
                <a:r>
                  <a:rPr lang="sv-SE" sz="2400" dirty="0" err="1"/>
                  <a:t>some</a:t>
                </a:r>
                <a:r>
                  <a:rPr lang="sv-SE" sz="2400" dirty="0"/>
                  <a:t> </a:t>
                </a:r>
                <a:r>
                  <a:rPr lang="sv-SE" sz="2400" dirty="0" err="1"/>
                  <a:t>function</a:t>
                </a:r>
                <a:r>
                  <a:rPr lang="sv-SE" sz="2400" dirty="0"/>
                  <a:t> </a:t>
                </a:r>
                <a:r>
                  <a:rPr lang="sv-SE" sz="2400" dirty="0" err="1"/>
                  <a:t>of</a:t>
                </a:r>
                <a:r>
                  <a:rPr lang="sv-SE" sz="2400" dirty="0"/>
                  <a:t> </a:t>
                </a:r>
                <a:r>
                  <a:rPr lang="sv-SE" sz="2400" dirty="0" err="1"/>
                  <a:t>your</a:t>
                </a:r>
                <a:r>
                  <a:rPr lang="sv-SE" sz="2400" dirty="0"/>
                  <a:t> </a:t>
                </a:r>
                <a:r>
                  <a:rPr lang="sv-SE" sz="2400" dirty="0" err="1"/>
                  <a:t>training</a:t>
                </a:r>
                <a:r>
                  <a:rPr lang="sv-SE" sz="2400" dirty="0"/>
                  <a:t> data) – an </a:t>
                </a:r>
                <a:r>
                  <a:rPr lang="sv-SE" sz="2400" b="1" dirty="0" err="1">
                    <a:solidFill>
                      <a:srgbClr val="0070C0"/>
                    </a:solidFill>
                  </a:rPr>
                  <a:t>estimator</a:t>
                </a:r>
                <a:endParaRPr lang="sv-SE" sz="2400" b="1" dirty="0">
                  <a:solidFill>
                    <a:srgbClr val="0070C0"/>
                  </a:solidFill>
                </a:endParaRPr>
              </a:p>
              <a:p>
                <a:r>
                  <a:rPr lang="sv-SE" sz="2400" dirty="0"/>
                  <a:t>Optimal parameter </a:t>
                </a:r>
                <a:r>
                  <a:rPr lang="sv-SE" sz="2400" dirty="0" err="1"/>
                  <a:t>values</a:t>
                </a:r>
                <a:r>
                  <a:rPr lang="sv-SE" sz="2400" dirty="0"/>
                  <a:t>?</a:t>
                </a:r>
                <a:r>
                  <a:rPr lang="sv-SE" sz="2400" dirty="0">
                    <a:sym typeface="Wingdings" panose="05000000000000000000" pitchFamily="2" charset="2"/>
                  </a:rPr>
                  <a:t></a:t>
                </a:r>
                <a:r>
                  <a:rPr lang="sv-SE" sz="2400" dirty="0" err="1">
                    <a:sym typeface="Wingdings" panose="05000000000000000000" pitchFamily="2" charset="2"/>
                  </a:rPr>
                  <a:t>there</a:t>
                </a:r>
                <a:r>
                  <a:rPr lang="sv-SE" sz="2400" dirty="0">
                    <a:sym typeface="Wingdings" panose="05000000000000000000" pitchFamily="2" charset="2"/>
                  </a:rPr>
                  <a:t> </a:t>
                </a:r>
                <a:r>
                  <a:rPr lang="sv-SE" sz="2400" dirty="0" err="1">
                    <a:sym typeface="Wingdings" panose="05000000000000000000" pitchFamily="2" charset="2"/>
                  </a:rPr>
                  <a:t>can</a:t>
                </a:r>
                <a:r>
                  <a:rPr lang="sv-SE" sz="2400" dirty="0">
                    <a:sym typeface="Wingdings" panose="05000000000000000000" pitchFamily="2" charset="2"/>
                  </a:rPr>
                  <a:t> be </a:t>
                </a:r>
                <a:r>
                  <a:rPr lang="sv-SE" sz="2400" dirty="0" err="1">
                    <a:sym typeface="Wingdings" panose="05000000000000000000" pitchFamily="2" charset="2"/>
                  </a:rPr>
                  <a:t>many</a:t>
                </a:r>
                <a:r>
                  <a:rPr lang="sv-SE" sz="2400" dirty="0">
                    <a:sym typeface="Wingdings" panose="05000000000000000000" pitchFamily="2" charset="2"/>
                  </a:rPr>
                  <a:t> </a:t>
                </a:r>
                <a:r>
                  <a:rPr lang="sv-SE" sz="2400" dirty="0" err="1">
                    <a:sym typeface="Wingdings" panose="05000000000000000000" pitchFamily="2" charset="2"/>
                  </a:rPr>
                  <a:t>ways</a:t>
                </a:r>
                <a:r>
                  <a:rPr lang="sv-SE" sz="2400" dirty="0">
                    <a:sym typeface="Wingdings" panose="05000000000000000000" pitchFamily="2" charset="2"/>
                  </a:rPr>
                  <a:t> </a:t>
                </a:r>
                <a:r>
                  <a:rPr lang="sv-SE" sz="2400" dirty="0" err="1">
                    <a:sym typeface="Wingdings" panose="05000000000000000000" pitchFamily="2" charset="2"/>
                  </a:rPr>
                  <a:t>to</a:t>
                </a:r>
                <a:r>
                  <a:rPr lang="sv-SE" sz="2400" dirty="0">
                    <a:sym typeface="Wingdings" panose="05000000000000000000" pitchFamily="2" charset="2"/>
                  </a:rPr>
                  <a:t> </a:t>
                </a:r>
                <a:r>
                  <a:rPr lang="sv-SE" sz="2400" dirty="0" err="1">
                    <a:sym typeface="Wingdings" panose="05000000000000000000" pitchFamily="2" charset="2"/>
                  </a:rPr>
                  <a:t>compute</a:t>
                </a:r>
                <a:r>
                  <a:rPr lang="sv-SE" sz="2400" dirty="0">
                    <a:sym typeface="Wingdings" panose="05000000000000000000" pitchFamily="2" charset="2"/>
                  </a:rPr>
                  <a:t> </a:t>
                </a:r>
                <a:r>
                  <a:rPr lang="sv-SE" sz="2400" dirty="0" err="1">
                    <a:sym typeface="Wingdings" panose="05000000000000000000" pitchFamily="2" charset="2"/>
                  </a:rPr>
                  <a:t>them</a:t>
                </a:r>
                <a:r>
                  <a:rPr lang="sv-SE" sz="2400" dirty="0">
                    <a:sym typeface="Wingdings" panose="05000000000000000000" pitchFamily="2" charset="2"/>
                  </a:rPr>
                  <a:t> (MLE, </a:t>
                </a:r>
                <a:r>
                  <a:rPr lang="sv-SE" sz="2400" dirty="0" err="1">
                    <a:sym typeface="Wingdings" panose="05000000000000000000" pitchFamily="2" charset="2"/>
                  </a:rPr>
                  <a:t>shrinkage</a:t>
                </a:r>
                <a:r>
                  <a:rPr lang="sv-SE" sz="2400" dirty="0">
                    <a:sym typeface="Wingdings" panose="05000000000000000000" pitchFamily="2" charset="2"/>
                  </a:rPr>
                  <a:t>…)</a:t>
                </a:r>
              </a:p>
              <a:p>
                <a:pPr lvl="1"/>
                <a:r>
                  <a:rPr lang="sv-SE" sz="2000" dirty="0" err="1"/>
                  <a:t>There</a:t>
                </a:r>
                <a:r>
                  <a:rPr lang="sv-SE" sz="2000" dirty="0"/>
                  <a:t> is no </a:t>
                </a:r>
                <a:r>
                  <a:rPr lang="sv-SE" sz="2000" dirty="0" err="1"/>
                  <a:t>easy</a:t>
                </a:r>
                <a:r>
                  <a:rPr lang="sv-SE" sz="2000" dirty="0"/>
                  <a:t> </a:t>
                </a:r>
                <a:r>
                  <a:rPr lang="sv-SE" sz="2000" dirty="0" err="1"/>
                  <a:t>way</a:t>
                </a:r>
                <a:r>
                  <a:rPr lang="sv-SE" sz="2000" dirty="0"/>
                  <a:t> to </a:t>
                </a:r>
                <a:r>
                  <a:rPr lang="sv-SE" sz="2000" dirty="0" err="1"/>
                  <a:t>compare</a:t>
                </a:r>
                <a:r>
                  <a:rPr lang="sv-SE" sz="2000" dirty="0"/>
                  <a:t> </a:t>
                </a:r>
                <a:r>
                  <a:rPr lang="sv-SE" sz="2000" dirty="0" err="1"/>
                  <a:t>estimators</a:t>
                </a:r>
                <a:r>
                  <a:rPr lang="sv-SE" sz="2000" dirty="0"/>
                  <a:t> in </a:t>
                </a:r>
                <a:r>
                  <a:rPr lang="sv-SE" sz="2000" dirty="0" err="1"/>
                  <a:t>frequentist</a:t>
                </a:r>
                <a:r>
                  <a:rPr lang="sv-SE" sz="2000" dirty="0"/>
                  <a:t> tradition</a:t>
                </a:r>
              </a:p>
              <a:p>
                <a:pPr lvl="1"/>
                <a:endParaRPr lang="sv-SE" sz="2000" dirty="0"/>
              </a:p>
              <a:p>
                <a:pPr marL="57150" indent="0">
                  <a:buNone/>
                </a:pPr>
                <a:r>
                  <a:rPr lang="en-US" sz="2000" dirty="0">
                    <a:solidFill>
                      <a:srgbClr val="FF0000"/>
                    </a:solidFill>
                  </a:rPr>
                  <a:t>Example: </a:t>
                </a:r>
                <a:r>
                  <a:rPr lang="en-US" sz="2000" dirty="0"/>
                  <a:t>Linear regression</a:t>
                </a:r>
              </a:p>
              <a:p>
                <a:pPr marL="400050"/>
                <a:r>
                  <a:rPr lang="en-US" sz="2000" dirty="0"/>
                  <a:t>Estimator 1: </a:t>
                </a:r>
                <a14:m>
                  <m:oMath xmlns:m="http://schemas.openxmlformats.org/officeDocument/2006/math">
                    <m:r>
                      <a:rPr lang="sv-SE" sz="2000" b="1" i="1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sv-SE" sz="2000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sv-SE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sv-SE" sz="2000" b="0" i="1" smtClean="0">
                                    <a:latin typeface="Cambria Math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sv-SE" sz="2000" b="0" i="1" smtClean="0">
                                    <a:latin typeface="Cambria Math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sv-SE" sz="2000" b="0" i="1" smtClean="0">
                                <a:latin typeface="Cambria Math"/>
                              </a:rPr>
                              <m:t>𝑋</m:t>
                            </m:r>
                          </m:e>
                        </m:d>
                      </m:e>
                      <m:sup>
                        <m:r>
                          <a:rPr lang="sv-SE" sz="2000" b="0" i="1" smtClean="0">
                            <a:latin typeface="Cambria Math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2000" b="0" i="1" smtClean="0">
                            <a:latin typeface="Cambria Math"/>
                          </a:rPr>
                          <m:t>𝑋</m:t>
                        </m:r>
                      </m:e>
                      <m:sup>
                        <m:r>
                          <a:rPr lang="sv-SE" sz="2000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sv-SE" sz="2000" b="0" i="1" smtClean="0">
                        <a:latin typeface="Cambria Math"/>
                      </a:rPr>
                      <m:t>𝑌</m:t>
                    </m:r>
                  </m:oMath>
                </a14:m>
                <a:r>
                  <a:rPr lang="sv-SE" sz="2000" dirty="0"/>
                  <a:t> (maximum </a:t>
                </a:r>
                <a:r>
                  <a:rPr lang="sv-SE" sz="2000" dirty="0" err="1"/>
                  <a:t>likelihood</a:t>
                </a:r>
                <a:r>
                  <a:rPr lang="sv-SE" sz="2000" dirty="0"/>
                  <a:t>)</a:t>
                </a:r>
              </a:p>
              <a:p>
                <a:pPr marL="400050"/>
                <a:r>
                  <a:rPr lang="sv-SE" sz="2000" dirty="0" err="1"/>
                  <a:t>Estimator</a:t>
                </a:r>
                <a:r>
                  <a:rPr lang="sv-SE" sz="2000" dirty="0"/>
                  <a:t> 2: </a:t>
                </a:r>
                <a14:m>
                  <m:oMath xmlns:m="http://schemas.openxmlformats.org/officeDocument/2006/math">
                    <m:r>
                      <a:rPr lang="sv-SE" sz="2000" b="1" i="1">
                        <a:latin typeface="Cambria Math" panose="02040503050406030204" pitchFamily="18" charset="0"/>
                      </a:rPr>
                      <m:t>𝜽</m:t>
                    </m:r>
                    <m:r>
                      <a:rPr lang="sv-SE" sz="2000" b="1" i="1" smtClean="0">
                        <a:latin typeface="Cambria Math"/>
                      </a:rPr>
                      <m:t>=(</m:t>
                    </m:r>
                    <m:r>
                      <a:rPr lang="sv-SE" sz="2000" b="0" i="0" smtClean="0">
                        <a:latin typeface="Cambria Math"/>
                      </a:rPr>
                      <m:t>0,…,0,1)</m:t>
                    </m:r>
                  </m:oMath>
                </a14:m>
                <a:endParaRPr lang="sv-SE" sz="2000" b="1" dirty="0"/>
              </a:p>
              <a:p>
                <a:pPr marL="400050"/>
                <a:r>
                  <a:rPr lang="sv-SE" sz="2000" dirty="0" err="1"/>
                  <a:t>Which</a:t>
                </a:r>
                <a:r>
                  <a:rPr lang="sv-SE" sz="2000" dirty="0"/>
                  <a:t> </a:t>
                </a:r>
                <a:r>
                  <a:rPr lang="sv-SE" sz="2000" dirty="0" err="1"/>
                  <a:t>one</a:t>
                </a:r>
                <a:r>
                  <a:rPr lang="sv-SE" sz="2000" dirty="0"/>
                  <a:t> is </a:t>
                </a:r>
                <a:r>
                  <a:rPr lang="sv-SE" sz="2000" dirty="0" err="1"/>
                  <a:t>better</a:t>
                </a:r>
                <a:r>
                  <a:rPr lang="sv-SE" sz="2000" dirty="0"/>
                  <a:t>?</a:t>
                </a:r>
              </a:p>
              <a:p>
                <a:pPr marL="800100" lvl="1"/>
                <a:r>
                  <a:rPr lang="sv-SE" sz="1800" dirty="0">
                    <a:solidFill>
                      <a:srgbClr val="0070C0"/>
                    </a:solidFill>
                  </a:rPr>
                  <a:t>A </a:t>
                </a:r>
                <a:r>
                  <a:rPr lang="sv-SE" sz="1800" dirty="0" err="1">
                    <a:solidFill>
                      <a:srgbClr val="0070C0"/>
                    </a:solidFill>
                  </a:rPr>
                  <a:t>comparison</a:t>
                </a:r>
                <a:r>
                  <a:rPr lang="sv-SE" sz="1800" dirty="0">
                    <a:solidFill>
                      <a:srgbClr val="0070C0"/>
                    </a:solidFill>
                  </a:rPr>
                  <a:t> </a:t>
                </a:r>
                <a:r>
                  <a:rPr lang="sv-SE" sz="1800" dirty="0" err="1">
                    <a:solidFill>
                      <a:srgbClr val="0070C0"/>
                    </a:solidFill>
                  </a:rPr>
                  <a:t>strategy</a:t>
                </a:r>
                <a:r>
                  <a:rPr lang="sv-SE" sz="1800" dirty="0">
                    <a:solidFill>
                      <a:srgbClr val="0070C0"/>
                    </a:solidFill>
                  </a:rPr>
                  <a:t> is </a:t>
                </a:r>
                <a:r>
                  <a:rPr lang="sv-SE" sz="1800" dirty="0" err="1">
                    <a:solidFill>
                      <a:srgbClr val="0070C0"/>
                    </a:solidFill>
                  </a:rPr>
                  <a:t>needed</a:t>
                </a:r>
                <a:r>
                  <a:rPr lang="sv-SE" sz="1800" dirty="0">
                    <a:solidFill>
                      <a:srgbClr val="0070C0"/>
                    </a:solidFill>
                  </a:rPr>
                  <a:t>!</a:t>
                </a:r>
                <a:endParaRPr lang="sv-SE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3" t="-674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56027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Прямоугольник 68"/>
          <p:cNvSpPr/>
          <p:nvPr/>
        </p:nvSpPr>
        <p:spPr>
          <a:xfrm>
            <a:off x="285750" y="2786063"/>
            <a:ext cx="2786063" cy="3429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cxnSp>
        <p:nvCxnSpPr>
          <p:cNvPr id="70" name="Прямая со стрелкой 69"/>
          <p:cNvCxnSpPr/>
          <p:nvPr/>
        </p:nvCxnSpPr>
        <p:spPr>
          <a:xfrm rot="5400000" flipH="1" flipV="1">
            <a:off x="-1035844" y="4536282"/>
            <a:ext cx="3214687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Прямая со стрелкой 70"/>
          <p:cNvCxnSpPr/>
          <p:nvPr/>
        </p:nvCxnSpPr>
        <p:spPr>
          <a:xfrm>
            <a:off x="571500" y="6143625"/>
            <a:ext cx="2428875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Овал 71"/>
          <p:cNvSpPr/>
          <p:nvPr/>
        </p:nvSpPr>
        <p:spPr>
          <a:xfrm>
            <a:off x="2928938" y="4000500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73" name="Овал 72"/>
          <p:cNvSpPr/>
          <p:nvPr/>
        </p:nvSpPr>
        <p:spPr>
          <a:xfrm>
            <a:off x="1214438" y="5643563"/>
            <a:ext cx="71437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74" name="Овал 73"/>
          <p:cNvSpPr/>
          <p:nvPr/>
        </p:nvSpPr>
        <p:spPr>
          <a:xfrm>
            <a:off x="2643188" y="4429125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75" name="Овал 74"/>
          <p:cNvSpPr/>
          <p:nvPr/>
        </p:nvSpPr>
        <p:spPr>
          <a:xfrm>
            <a:off x="2500313" y="4857750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76" name="Овал 75"/>
          <p:cNvSpPr/>
          <p:nvPr/>
        </p:nvSpPr>
        <p:spPr>
          <a:xfrm>
            <a:off x="928688" y="5857875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77" name="Овал 76"/>
          <p:cNvSpPr/>
          <p:nvPr/>
        </p:nvSpPr>
        <p:spPr>
          <a:xfrm>
            <a:off x="714375" y="5857875"/>
            <a:ext cx="71438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78" name="Овал 77"/>
          <p:cNvSpPr/>
          <p:nvPr/>
        </p:nvSpPr>
        <p:spPr>
          <a:xfrm>
            <a:off x="2286000" y="4857750"/>
            <a:ext cx="71438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79" name="Овал 78"/>
          <p:cNvSpPr/>
          <p:nvPr/>
        </p:nvSpPr>
        <p:spPr>
          <a:xfrm>
            <a:off x="2214563" y="5214938"/>
            <a:ext cx="71437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80" name="Овал 79"/>
          <p:cNvSpPr/>
          <p:nvPr/>
        </p:nvSpPr>
        <p:spPr>
          <a:xfrm>
            <a:off x="2071688" y="5643563"/>
            <a:ext cx="71437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81" name="Овал 80"/>
          <p:cNvSpPr/>
          <p:nvPr/>
        </p:nvSpPr>
        <p:spPr>
          <a:xfrm>
            <a:off x="1428750" y="5715000"/>
            <a:ext cx="71438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82" name="Овал 81"/>
          <p:cNvSpPr/>
          <p:nvPr/>
        </p:nvSpPr>
        <p:spPr>
          <a:xfrm>
            <a:off x="1857375" y="5500688"/>
            <a:ext cx="71438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83" name="Овал 82"/>
          <p:cNvSpPr/>
          <p:nvPr/>
        </p:nvSpPr>
        <p:spPr>
          <a:xfrm>
            <a:off x="1643063" y="5572125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16401" name="Заголовок 8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v-SE" dirty="0" err="1"/>
              <a:t>Overfitting</a:t>
            </a:r>
            <a:endParaRPr lang="en-US" altLang="sv-SE" dirty="0"/>
          </a:p>
        </p:txBody>
      </p:sp>
      <p:sp>
        <p:nvSpPr>
          <p:cNvPr id="18449" name="Содержимое 2"/>
          <p:cNvSpPr>
            <a:spLocks noGrp="1"/>
          </p:cNvSpPr>
          <p:nvPr>
            <p:ph idx="1"/>
          </p:nvPr>
        </p:nvSpPr>
        <p:spPr>
          <a:xfrm>
            <a:off x="428626" y="1772816"/>
            <a:ext cx="7715250" cy="798934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Complex model can </a:t>
            </a:r>
            <a:r>
              <a:rPr lang="en-US" dirty="0" err="1"/>
              <a:t>overfit</a:t>
            </a:r>
            <a:r>
              <a:rPr lang="en-US" dirty="0"/>
              <a:t> your data</a:t>
            </a:r>
          </a:p>
          <a:p>
            <a:pPr eaLnBrk="1" fontAlgn="auto" hangingPunct="1">
              <a:spcAft>
                <a:spcPts val="0"/>
              </a:spcAft>
              <a:buFont typeface="Wingdings 2" pitchFamily="18" charset="2"/>
              <a:buNone/>
              <a:defRPr/>
            </a:pPr>
            <a:endParaRPr lang="en-US" dirty="0"/>
          </a:p>
        </p:txBody>
      </p:sp>
      <p:sp>
        <p:nvSpPr>
          <p:cNvPr id="84" name="Footer Placeholder 8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9" name="Овал 8"/>
          <p:cNvSpPr/>
          <p:nvPr/>
        </p:nvSpPr>
        <p:spPr>
          <a:xfrm>
            <a:off x="3714750" y="3929063"/>
            <a:ext cx="71438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11" name="Овал 10"/>
          <p:cNvSpPr/>
          <p:nvPr/>
        </p:nvSpPr>
        <p:spPr>
          <a:xfrm>
            <a:off x="3429000" y="4357688"/>
            <a:ext cx="71438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12" name="Овал 11"/>
          <p:cNvSpPr/>
          <p:nvPr/>
        </p:nvSpPr>
        <p:spPr>
          <a:xfrm>
            <a:off x="3286125" y="4786313"/>
            <a:ext cx="71438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24" name="Прямоугольник 23"/>
          <p:cNvSpPr/>
          <p:nvPr/>
        </p:nvSpPr>
        <p:spPr>
          <a:xfrm>
            <a:off x="6215063" y="2786063"/>
            <a:ext cx="2786062" cy="3429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cxnSp>
        <p:nvCxnSpPr>
          <p:cNvPr id="25" name="Прямая со стрелкой 24"/>
          <p:cNvCxnSpPr/>
          <p:nvPr/>
        </p:nvCxnSpPr>
        <p:spPr>
          <a:xfrm rot="5400000" flipH="1" flipV="1">
            <a:off x="4894263" y="4535488"/>
            <a:ext cx="3214687" cy="15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/>
          <p:nvPr/>
        </p:nvCxnSpPr>
        <p:spPr>
          <a:xfrm>
            <a:off x="6500813" y="6143625"/>
            <a:ext cx="2428875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Овал 26"/>
          <p:cNvSpPr/>
          <p:nvPr/>
        </p:nvSpPr>
        <p:spPr>
          <a:xfrm>
            <a:off x="8858250" y="4000500"/>
            <a:ext cx="71438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28" name="Овал 27"/>
          <p:cNvSpPr/>
          <p:nvPr/>
        </p:nvSpPr>
        <p:spPr>
          <a:xfrm>
            <a:off x="7143750" y="5643563"/>
            <a:ext cx="71438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29" name="Овал 28"/>
          <p:cNvSpPr/>
          <p:nvPr/>
        </p:nvSpPr>
        <p:spPr>
          <a:xfrm>
            <a:off x="8572500" y="4429125"/>
            <a:ext cx="71438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30" name="Овал 29"/>
          <p:cNvSpPr/>
          <p:nvPr/>
        </p:nvSpPr>
        <p:spPr>
          <a:xfrm>
            <a:off x="8429625" y="4857750"/>
            <a:ext cx="71438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31" name="Овал 30"/>
          <p:cNvSpPr/>
          <p:nvPr/>
        </p:nvSpPr>
        <p:spPr>
          <a:xfrm>
            <a:off x="6858000" y="5857875"/>
            <a:ext cx="71438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32" name="Овал 31"/>
          <p:cNvSpPr/>
          <p:nvPr/>
        </p:nvSpPr>
        <p:spPr>
          <a:xfrm>
            <a:off x="6643688" y="5857875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33" name="Овал 32"/>
          <p:cNvSpPr/>
          <p:nvPr/>
        </p:nvSpPr>
        <p:spPr>
          <a:xfrm>
            <a:off x="8215313" y="4857750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34" name="Овал 33"/>
          <p:cNvSpPr/>
          <p:nvPr/>
        </p:nvSpPr>
        <p:spPr>
          <a:xfrm>
            <a:off x="8143875" y="5214938"/>
            <a:ext cx="71438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35" name="Овал 34"/>
          <p:cNvSpPr/>
          <p:nvPr/>
        </p:nvSpPr>
        <p:spPr>
          <a:xfrm>
            <a:off x="8001000" y="5643563"/>
            <a:ext cx="71438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36" name="Овал 35"/>
          <p:cNvSpPr/>
          <p:nvPr/>
        </p:nvSpPr>
        <p:spPr>
          <a:xfrm>
            <a:off x="7358063" y="5715000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37" name="Овал 36"/>
          <p:cNvSpPr/>
          <p:nvPr/>
        </p:nvSpPr>
        <p:spPr>
          <a:xfrm>
            <a:off x="7786688" y="5500688"/>
            <a:ext cx="71437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38" name="Овал 37"/>
          <p:cNvSpPr/>
          <p:nvPr/>
        </p:nvSpPr>
        <p:spPr>
          <a:xfrm>
            <a:off x="7572375" y="5572125"/>
            <a:ext cx="71438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54" name="Прямоугольник 53"/>
          <p:cNvSpPr/>
          <p:nvPr/>
        </p:nvSpPr>
        <p:spPr>
          <a:xfrm>
            <a:off x="3286125" y="2786063"/>
            <a:ext cx="2786063" cy="3429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cxnSp>
        <p:nvCxnSpPr>
          <p:cNvPr id="55" name="Прямая со стрелкой 54"/>
          <p:cNvCxnSpPr/>
          <p:nvPr/>
        </p:nvCxnSpPr>
        <p:spPr>
          <a:xfrm rot="5400000" flipH="1" flipV="1">
            <a:off x="1964531" y="4536282"/>
            <a:ext cx="3214687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Прямая со стрелкой 55"/>
          <p:cNvCxnSpPr/>
          <p:nvPr/>
        </p:nvCxnSpPr>
        <p:spPr>
          <a:xfrm>
            <a:off x="3571875" y="6143625"/>
            <a:ext cx="2428875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Овал 56"/>
          <p:cNvSpPr/>
          <p:nvPr/>
        </p:nvSpPr>
        <p:spPr>
          <a:xfrm>
            <a:off x="5929313" y="4000500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58" name="Овал 57"/>
          <p:cNvSpPr/>
          <p:nvPr/>
        </p:nvSpPr>
        <p:spPr>
          <a:xfrm>
            <a:off x="4214813" y="5643563"/>
            <a:ext cx="71437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59" name="Овал 58"/>
          <p:cNvSpPr/>
          <p:nvPr/>
        </p:nvSpPr>
        <p:spPr>
          <a:xfrm>
            <a:off x="5643563" y="4429125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60" name="Овал 59"/>
          <p:cNvSpPr/>
          <p:nvPr/>
        </p:nvSpPr>
        <p:spPr>
          <a:xfrm>
            <a:off x="5500688" y="4857750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61" name="Овал 60"/>
          <p:cNvSpPr/>
          <p:nvPr/>
        </p:nvSpPr>
        <p:spPr>
          <a:xfrm>
            <a:off x="3929063" y="5857875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62" name="Овал 61"/>
          <p:cNvSpPr/>
          <p:nvPr/>
        </p:nvSpPr>
        <p:spPr>
          <a:xfrm>
            <a:off x="3714750" y="5857875"/>
            <a:ext cx="71438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63" name="Овал 62"/>
          <p:cNvSpPr/>
          <p:nvPr/>
        </p:nvSpPr>
        <p:spPr>
          <a:xfrm>
            <a:off x="5286375" y="4857750"/>
            <a:ext cx="71438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64" name="Овал 63"/>
          <p:cNvSpPr/>
          <p:nvPr/>
        </p:nvSpPr>
        <p:spPr>
          <a:xfrm>
            <a:off x="5214938" y="5214938"/>
            <a:ext cx="71437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65" name="Овал 64"/>
          <p:cNvSpPr/>
          <p:nvPr/>
        </p:nvSpPr>
        <p:spPr>
          <a:xfrm>
            <a:off x="5072063" y="5643563"/>
            <a:ext cx="71437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66" name="Овал 65"/>
          <p:cNvSpPr/>
          <p:nvPr/>
        </p:nvSpPr>
        <p:spPr>
          <a:xfrm>
            <a:off x="4429125" y="5715000"/>
            <a:ext cx="71438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67" name="Овал 66"/>
          <p:cNvSpPr/>
          <p:nvPr/>
        </p:nvSpPr>
        <p:spPr>
          <a:xfrm>
            <a:off x="4857750" y="5500688"/>
            <a:ext cx="71438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68" name="Овал 67"/>
          <p:cNvSpPr/>
          <p:nvPr/>
        </p:nvSpPr>
        <p:spPr>
          <a:xfrm>
            <a:off x="4643438" y="5572125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cxnSp>
        <p:nvCxnSpPr>
          <p:cNvPr id="85" name="Прямая соединительная линия 84"/>
          <p:cNvCxnSpPr>
            <a:endCxn id="69" idx="3"/>
          </p:cNvCxnSpPr>
          <p:nvPr/>
        </p:nvCxnSpPr>
        <p:spPr>
          <a:xfrm flipV="1">
            <a:off x="714375" y="4500563"/>
            <a:ext cx="2357438" cy="1571625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1" name="Полилиния 90"/>
          <p:cNvSpPr/>
          <p:nvPr/>
        </p:nvSpPr>
        <p:spPr>
          <a:xfrm>
            <a:off x="3736975" y="3848100"/>
            <a:ext cx="2312988" cy="2035175"/>
          </a:xfrm>
          <a:custGeom>
            <a:avLst/>
            <a:gdLst>
              <a:gd name="connsiteX0" fmla="*/ 0 w 2312505"/>
              <a:gd name="connsiteY0" fmla="*/ 2036417 h 2036417"/>
              <a:gd name="connsiteX1" fmla="*/ 1364974 w 2312505"/>
              <a:gd name="connsiteY1" fmla="*/ 1506330 h 2036417"/>
              <a:gd name="connsiteX2" fmla="*/ 2173357 w 2312505"/>
              <a:gd name="connsiteY2" fmla="*/ 220869 h 2036417"/>
              <a:gd name="connsiteX3" fmla="*/ 2199861 w 2312505"/>
              <a:gd name="connsiteY3" fmla="*/ 181113 h 2036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12505" h="2036417">
                <a:moveTo>
                  <a:pt x="0" y="2036417"/>
                </a:moveTo>
                <a:cubicBezTo>
                  <a:pt x="501374" y="1922669"/>
                  <a:pt x="1002748" y="1808921"/>
                  <a:pt x="1364974" y="1506330"/>
                </a:cubicBezTo>
                <a:cubicBezTo>
                  <a:pt x="1727200" y="1203739"/>
                  <a:pt x="2034209" y="441738"/>
                  <a:pt x="2173357" y="220869"/>
                </a:cubicBezTo>
                <a:cubicBezTo>
                  <a:pt x="2312505" y="0"/>
                  <a:pt x="2256183" y="90556"/>
                  <a:pt x="2199861" y="181113"/>
                </a:cubicBezTo>
              </a:path>
            </a:pathLst>
          </a:cu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92" name="Полилиния 91"/>
          <p:cNvSpPr/>
          <p:nvPr/>
        </p:nvSpPr>
        <p:spPr>
          <a:xfrm>
            <a:off x="6665913" y="3927475"/>
            <a:ext cx="2273300" cy="1995488"/>
          </a:xfrm>
          <a:custGeom>
            <a:avLst/>
            <a:gdLst>
              <a:gd name="connsiteX0" fmla="*/ 0 w 2272749"/>
              <a:gd name="connsiteY0" fmla="*/ 1970156 h 1996660"/>
              <a:gd name="connsiteX1" fmla="*/ 238540 w 2272749"/>
              <a:gd name="connsiteY1" fmla="*/ 1956904 h 1996660"/>
              <a:gd name="connsiteX2" fmla="*/ 530087 w 2272749"/>
              <a:gd name="connsiteY2" fmla="*/ 1731617 h 1996660"/>
              <a:gd name="connsiteX3" fmla="*/ 742122 w 2272749"/>
              <a:gd name="connsiteY3" fmla="*/ 1824382 h 1996660"/>
              <a:gd name="connsiteX4" fmla="*/ 927653 w 2272749"/>
              <a:gd name="connsiteY4" fmla="*/ 1678609 h 1996660"/>
              <a:gd name="connsiteX5" fmla="*/ 1166192 w 2272749"/>
              <a:gd name="connsiteY5" fmla="*/ 1612348 h 1996660"/>
              <a:gd name="connsiteX6" fmla="*/ 1378227 w 2272749"/>
              <a:gd name="connsiteY6" fmla="*/ 1744869 h 1996660"/>
              <a:gd name="connsiteX7" fmla="*/ 1590261 w 2272749"/>
              <a:gd name="connsiteY7" fmla="*/ 976243 h 1996660"/>
              <a:gd name="connsiteX8" fmla="*/ 1802296 w 2272749"/>
              <a:gd name="connsiteY8" fmla="*/ 989496 h 1996660"/>
              <a:gd name="connsiteX9" fmla="*/ 1948070 w 2272749"/>
              <a:gd name="connsiteY9" fmla="*/ 538922 h 1996660"/>
              <a:gd name="connsiteX10" fmla="*/ 2226366 w 2272749"/>
              <a:gd name="connsiteY10" fmla="*/ 75096 h 1996660"/>
              <a:gd name="connsiteX11" fmla="*/ 2226366 w 2272749"/>
              <a:gd name="connsiteY11" fmla="*/ 88348 h 1996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72749" h="1996660">
                <a:moveTo>
                  <a:pt x="0" y="1970156"/>
                </a:moveTo>
                <a:cubicBezTo>
                  <a:pt x="75096" y="1983408"/>
                  <a:pt x="150192" y="1996660"/>
                  <a:pt x="238540" y="1956904"/>
                </a:cubicBezTo>
                <a:cubicBezTo>
                  <a:pt x="326888" y="1917148"/>
                  <a:pt x="446157" y="1753704"/>
                  <a:pt x="530087" y="1731617"/>
                </a:cubicBezTo>
                <a:cubicBezTo>
                  <a:pt x="614017" y="1709530"/>
                  <a:pt x="675861" y="1833217"/>
                  <a:pt x="742122" y="1824382"/>
                </a:cubicBezTo>
                <a:cubicBezTo>
                  <a:pt x="808383" y="1815547"/>
                  <a:pt x="856975" y="1713948"/>
                  <a:pt x="927653" y="1678609"/>
                </a:cubicBezTo>
                <a:cubicBezTo>
                  <a:pt x="998331" y="1643270"/>
                  <a:pt x="1091096" y="1601305"/>
                  <a:pt x="1166192" y="1612348"/>
                </a:cubicBezTo>
                <a:cubicBezTo>
                  <a:pt x="1241288" y="1623391"/>
                  <a:pt x="1307549" y="1850886"/>
                  <a:pt x="1378227" y="1744869"/>
                </a:cubicBezTo>
                <a:cubicBezTo>
                  <a:pt x="1448905" y="1638852"/>
                  <a:pt x="1519583" y="1102138"/>
                  <a:pt x="1590261" y="976243"/>
                </a:cubicBezTo>
                <a:cubicBezTo>
                  <a:pt x="1660939" y="850348"/>
                  <a:pt x="1742661" y="1062383"/>
                  <a:pt x="1802296" y="989496"/>
                </a:cubicBezTo>
                <a:cubicBezTo>
                  <a:pt x="1861931" y="916609"/>
                  <a:pt x="1877392" y="691322"/>
                  <a:pt x="1948070" y="538922"/>
                </a:cubicBezTo>
                <a:cubicBezTo>
                  <a:pt x="2018748" y="386522"/>
                  <a:pt x="2179983" y="150192"/>
                  <a:pt x="2226366" y="75096"/>
                </a:cubicBezTo>
                <a:cubicBezTo>
                  <a:pt x="2272749" y="0"/>
                  <a:pt x="2249557" y="44174"/>
                  <a:pt x="2226366" y="88348"/>
                </a:cubicBezTo>
              </a:path>
            </a:pathLst>
          </a:cu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93" name="TextBox 92"/>
          <p:cNvSpPr txBox="1"/>
          <p:nvPr/>
        </p:nvSpPr>
        <p:spPr>
          <a:xfrm>
            <a:off x="785813" y="3071813"/>
            <a:ext cx="2130425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sv-SE" b="1" dirty="0" err="1">
                <a:solidFill>
                  <a:schemeClr val="bg2">
                    <a:lumMod val="25000"/>
                  </a:schemeClr>
                </a:solidFill>
              </a:rPr>
              <a:t>Too</a:t>
            </a:r>
            <a:r>
              <a:rPr lang="sv-SE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sv-SE" b="1" dirty="0" err="1">
                <a:solidFill>
                  <a:schemeClr val="bg2">
                    <a:lumMod val="25000"/>
                  </a:schemeClr>
                </a:solidFill>
              </a:rPr>
              <a:t>easy</a:t>
            </a:r>
            <a:r>
              <a:rPr lang="sv-SE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sv-SE" b="1" dirty="0" err="1">
                <a:solidFill>
                  <a:schemeClr val="bg2">
                    <a:lumMod val="25000"/>
                  </a:schemeClr>
                </a:solidFill>
              </a:rPr>
              <a:t>model</a:t>
            </a:r>
            <a:r>
              <a:rPr lang="sv-SE" b="1" dirty="0">
                <a:solidFill>
                  <a:schemeClr val="bg2">
                    <a:lumMod val="25000"/>
                  </a:schemeClr>
                </a:solidFill>
              </a:rPr>
              <a:t>, a </a:t>
            </a:r>
            <a:r>
              <a:rPr lang="sv-SE" b="1" dirty="0" err="1">
                <a:solidFill>
                  <a:schemeClr val="bg2">
                    <a:lumMod val="25000"/>
                  </a:schemeClr>
                </a:solidFill>
              </a:rPr>
              <a:t>few</a:t>
            </a:r>
            <a:r>
              <a:rPr lang="sv-SE" b="1" dirty="0">
                <a:solidFill>
                  <a:schemeClr val="bg2">
                    <a:lumMod val="25000"/>
                  </a:schemeClr>
                </a:solidFill>
              </a:rPr>
              <a:t> parameters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572250" y="3071813"/>
            <a:ext cx="22860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sv-SE" b="1" dirty="0" err="1">
                <a:solidFill>
                  <a:schemeClr val="bg2">
                    <a:lumMod val="25000"/>
                  </a:schemeClr>
                </a:solidFill>
              </a:rPr>
              <a:t>Complex</a:t>
            </a:r>
            <a:r>
              <a:rPr lang="sv-SE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sv-SE" b="1" dirty="0" err="1">
                <a:solidFill>
                  <a:schemeClr val="bg2">
                    <a:lumMod val="25000"/>
                  </a:schemeClr>
                </a:solidFill>
              </a:rPr>
              <a:t>model</a:t>
            </a:r>
            <a:r>
              <a:rPr lang="sv-SE" b="1" dirty="0">
                <a:solidFill>
                  <a:schemeClr val="bg2">
                    <a:lumMod val="25000"/>
                  </a:schemeClr>
                </a:solidFill>
              </a:rPr>
              <a:t>,</a:t>
            </a:r>
          </a:p>
          <a:p>
            <a:pPr>
              <a:defRPr/>
            </a:pPr>
            <a:r>
              <a:rPr lang="sv-SE" b="1" dirty="0" err="1">
                <a:solidFill>
                  <a:schemeClr val="bg2">
                    <a:lumMod val="25000"/>
                  </a:schemeClr>
                </a:solidFill>
              </a:rPr>
              <a:t>many</a:t>
            </a:r>
            <a:r>
              <a:rPr lang="sv-SE" b="1" dirty="0">
                <a:solidFill>
                  <a:schemeClr val="bg2">
                    <a:lumMod val="25000"/>
                  </a:schemeClr>
                </a:solidFill>
              </a:rPr>
              <a:t> parameters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714750" y="3071813"/>
            <a:ext cx="2000250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sv-SE" b="1" dirty="0">
                <a:solidFill>
                  <a:schemeClr val="bg2">
                    <a:lumMod val="25000"/>
                  </a:schemeClr>
                </a:solidFill>
              </a:rPr>
              <a:t>Proper </a:t>
            </a:r>
            <a:r>
              <a:rPr lang="sv-SE" b="1" dirty="0" err="1">
                <a:solidFill>
                  <a:schemeClr val="bg2">
                    <a:lumMod val="25000"/>
                  </a:schemeClr>
                </a:solidFill>
              </a:rPr>
              <a:t>one</a:t>
            </a:r>
            <a:r>
              <a:rPr lang="sv-SE" b="1" dirty="0">
                <a:solidFill>
                  <a:schemeClr val="bg2">
                    <a:lumMod val="25000"/>
                  </a:schemeClr>
                </a:solidFill>
              </a:rPr>
              <a:t>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9622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FA5C43C-3AF0-48D4-808F-FBE41C5F0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Model</a:t>
            </a:r>
            <a:r>
              <a:rPr lang="sv-SE" dirty="0"/>
              <a:t> </a:t>
            </a:r>
            <a:r>
              <a:rPr lang="sv-SE" dirty="0" err="1"/>
              <a:t>selection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85B4A3F6-E66C-4594-B96A-8181AB86B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ML </a:t>
            </a:r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lead</a:t>
            </a:r>
            <a:r>
              <a:rPr lang="sv-SE" dirty="0"/>
              <a:t> to </a:t>
            </a:r>
            <a:r>
              <a:rPr lang="sv-SE" dirty="0" err="1"/>
              <a:t>overfitting</a:t>
            </a:r>
            <a:endParaRPr lang="sv-SE" dirty="0"/>
          </a:p>
          <a:p>
            <a:endParaRPr lang="sv-SE" dirty="0"/>
          </a:p>
          <a:p>
            <a:r>
              <a:rPr lang="sv-SE" dirty="0" err="1"/>
              <a:t>How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find</a:t>
            </a:r>
            <a:r>
              <a:rPr lang="sv-SE" dirty="0"/>
              <a:t> </a:t>
            </a:r>
            <a:r>
              <a:rPr lang="sv-SE" dirty="0" err="1"/>
              <a:t>appropriate</a:t>
            </a:r>
            <a:r>
              <a:rPr lang="sv-SE" dirty="0"/>
              <a:t> parameter </a:t>
            </a:r>
            <a:r>
              <a:rPr lang="sv-SE" dirty="0" err="1"/>
              <a:t>values</a:t>
            </a:r>
            <a:r>
              <a:rPr lang="sv-SE" dirty="0"/>
              <a:t>?</a:t>
            </a:r>
          </a:p>
          <a:p>
            <a:endParaRPr lang="sv-SE" dirty="0"/>
          </a:p>
          <a:p>
            <a:r>
              <a:rPr lang="sv-SE" dirty="0" err="1"/>
              <a:t>How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compare</a:t>
            </a:r>
            <a:r>
              <a:rPr lang="sv-SE" dirty="0"/>
              <a:t> </a:t>
            </a:r>
            <a:r>
              <a:rPr lang="sv-SE" dirty="0" err="1"/>
              <a:t>between</a:t>
            </a:r>
            <a:r>
              <a:rPr lang="sv-SE" dirty="0"/>
              <a:t> different </a:t>
            </a:r>
            <a:r>
              <a:rPr lang="sv-SE" dirty="0" err="1"/>
              <a:t>models</a:t>
            </a:r>
            <a:r>
              <a:rPr lang="sv-SE" dirty="0"/>
              <a:t>? </a:t>
            </a:r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9AC76BC7-A5DD-4415-9116-8C657E9C3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D45EC8EE-194B-46BC-A86D-5438C4C73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48186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8C0ACE4-9F5E-4A54-9C41-236F133C5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Error</a:t>
            </a:r>
            <a:r>
              <a:rPr lang="sv-SE" dirty="0"/>
              <a:t> </a:t>
            </a:r>
            <a:r>
              <a:rPr lang="sv-SE" dirty="0" err="1"/>
              <a:t>functions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0D137EAC-9569-401E-8A34-F811678360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sv-SE" sz="2800" dirty="0"/>
                  <a:t>Loss </a:t>
                </a:r>
                <a:r>
                  <a:rPr lang="sv-SE" sz="2800" dirty="0" err="1"/>
                  <a:t>functions</a:t>
                </a:r>
                <a:r>
                  <a:rPr lang="sv-SE" sz="2800" dirty="0"/>
                  <a:t> </a:t>
                </a:r>
                <a14:m>
                  <m:oMath xmlns:m="http://schemas.openxmlformats.org/officeDocument/2006/math">
                    <m:r>
                      <a:rPr lang="sv-SE" sz="28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sv-SE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sv-SE" sz="2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sv-SE" sz="2800" b="0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̂"/>
                        <m:ctrlPr>
                          <a:rPr lang="sv-SE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v-SE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sv-SE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sv-SE" sz="2800" dirty="0"/>
                  <a:t> </a:t>
                </a:r>
                <a:r>
                  <a:rPr lang="sv-SE" sz="2800" dirty="0" err="1"/>
                  <a:t>used</a:t>
                </a:r>
                <a:r>
                  <a:rPr lang="sv-SE" sz="2800" dirty="0"/>
                  <a:t> to </a:t>
                </a:r>
                <a:r>
                  <a:rPr lang="sv-SE" sz="2800" dirty="0" err="1"/>
                  <a:t>evaluate</a:t>
                </a:r>
                <a:r>
                  <a:rPr lang="sv-SE" sz="2800" dirty="0"/>
                  <a:t> the </a:t>
                </a:r>
                <a:r>
                  <a:rPr lang="sv-SE" sz="2800" dirty="0" err="1"/>
                  <a:t>quality</a:t>
                </a:r>
                <a:r>
                  <a:rPr lang="sv-SE" sz="2800" dirty="0"/>
                  <a:t> </a:t>
                </a:r>
                <a:r>
                  <a:rPr lang="sv-SE" sz="2800" dirty="0" err="1"/>
                  <a:t>of</a:t>
                </a:r>
                <a:r>
                  <a:rPr lang="sv-SE" sz="2800" dirty="0"/>
                  <a:t> </a:t>
                </a:r>
                <a:r>
                  <a:rPr lang="sv-SE" sz="2800" dirty="0" err="1"/>
                  <a:t>training</a:t>
                </a:r>
                <a:endParaRPr lang="sv-SE" sz="2800" dirty="0"/>
              </a:p>
              <a:p>
                <a:endParaRPr lang="sv-SE" sz="2800" dirty="0"/>
              </a:p>
              <a:p>
                <a:r>
                  <a:rPr lang="sv-SE" sz="2800" b="1" dirty="0" err="1">
                    <a:solidFill>
                      <a:srgbClr val="0000FF"/>
                    </a:solidFill>
                  </a:rPr>
                  <a:t>Error</a:t>
                </a:r>
                <a:r>
                  <a:rPr lang="sv-SE" sz="2800" b="1" dirty="0">
                    <a:solidFill>
                      <a:srgbClr val="0000FF"/>
                    </a:solidFill>
                  </a:rPr>
                  <a:t> </a:t>
                </a:r>
                <a:r>
                  <a:rPr lang="sv-SE" sz="2800" b="1" dirty="0" err="1">
                    <a:solidFill>
                      <a:srgbClr val="0000FF"/>
                    </a:solidFill>
                  </a:rPr>
                  <a:t>functions</a:t>
                </a:r>
                <a:r>
                  <a:rPr lang="sv-SE" sz="2800" b="1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sv-SE" sz="2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sv-SE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sv-SE" sz="2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sv-SE" sz="2800" b="0" i="1" smtClean="0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̂"/>
                        <m:ctrlPr>
                          <a:rPr lang="sv-SE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v-SE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sv-SE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sv-SE" sz="2800" dirty="0"/>
                  <a:t> </a:t>
                </a:r>
                <a:r>
                  <a:rPr lang="sv-SE" sz="2800" dirty="0" err="1"/>
                  <a:t>used</a:t>
                </a:r>
                <a:r>
                  <a:rPr lang="sv-SE" sz="2800" dirty="0"/>
                  <a:t> to </a:t>
                </a:r>
                <a:r>
                  <a:rPr lang="sv-SE" sz="2800" dirty="0" err="1"/>
                  <a:t>measure</a:t>
                </a:r>
                <a:r>
                  <a:rPr lang="sv-SE" sz="2800" dirty="0"/>
                  <a:t> the </a:t>
                </a:r>
                <a:r>
                  <a:rPr lang="sv-SE" sz="2800" dirty="0" err="1"/>
                  <a:t>quality</a:t>
                </a:r>
                <a:r>
                  <a:rPr lang="sv-SE" sz="2800" dirty="0"/>
                  <a:t> </a:t>
                </a:r>
                <a:r>
                  <a:rPr lang="sv-SE" sz="2800" dirty="0" err="1"/>
                  <a:t>of</a:t>
                </a:r>
                <a:r>
                  <a:rPr lang="sv-SE" sz="2800" dirty="0"/>
                  <a:t> </a:t>
                </a:r>
                <a:r>
                  <a:rPr lang="sv-SE" sz="2800" dirty="0" err="1"/>
                  <a:t>prediction</a:t>
                </a:r>
                <a:endParaRPr lang="sv-SE" sz="2800" dirty="0"/>
              </a:p>
              <a:p>
                <a:pPr lvl="1"/>
                <a:r>
                  <a:rPr lang="sv-SE" sz="2400" dirty="0" err="1"/>
                  <a:t>Misclassification</a:t>
                </a:r>
                <a:r>
                  <a:rPr lang="sv-SE" sz="2400" dirty="0"/>
                  <a:t> </a:t>
                </a:r>
                <a:r>
                  <a:rPr lang="sv-SE" sz="2400" dirty="0" err="1"/>
                  <a:t>error</a:t>
                </a:r>
                <a:r>
                  <a:rPr lang="sv-SE" sz="2400" dirty="0"/>
                  <a:t>  </a:t>
                </a:r>
                <a14:m>
                  <m:oMath xmlns:m="http://schemas.openxmlformats.org/officeDocument/2006/math">
                    <m:r>
                      <a:rPr lang="sv-SE" sz="28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sv-SE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sv-SE" sz="2800" b="0" i="0" smtClean="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sv-SE" sz="2800" b="0" i="0" smtClean="0">
                            <a:latin typeface="Cambria Math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sv-SE" sz="2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sv-SE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  <m:r>
                      <a:rPr lang="sv-SE" sz="2800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sv-SE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sv-SE" sz="28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sv-SE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sv-SE" sz="2800" b="0" i="1" smtClean="0">
                                  <a:latin typeface="Cambria Math"/>
                                </a:rPr>
                                <m:t>, </m:t>
                              </m:r>
                              <m:r>
                                <a:rPr lang="sv-SE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sv-SE" sz="2800" b="0" i="1" smtClean="0">
                                  <a:latin typeface="Cambria Math"/>
                                </a:rPr>
                                <m:t>=</m:t>
                              </m:r>
                              <m:acc>
                                <m:accPr>
                                  <m:chr m:val="̂"/>
                                  <m:ctrlPr>
                                    <a:rPr lang="sv-SE" sz="2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sv-SE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r>
                                <a:rPr lang="sv-SE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sv-SE" sz="2800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sv-SE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sv-SE" sz="2800" b="0" i="1" smtClean="0">
                                  <a:latin typeface="Cambria Math"/>
                                </a:rPr>
                                <m:t>≠</m:t>
                              </m:r>
                              <m:acc>
                                <m:accPr>
                                  <m:chr m:val="̂"/>
                                  <m:ctrlPr>
                                    <a:rPr lang="sv-SE" sz="2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sv-SE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mr>
                        </m:m>
                      </m:e>
                    </m:d>
                  </m:oMath>
                </a14:m>
                <a:endParaRPr lang="sv-SE" sz="2400" dirty="0"/>
              </a:p>
              <a:p>
                <a:pPr lvl="1"/>
                <a:r>
                  <a:rPr lang="sv-SE" sz="2400" dirty="0" err="1"/>
                  <a:t>Squared</a:t>
                </a:r>
                <a:r>
                  <a:rPr lang="sv-SE" sz="2400" dirty="0"/>
                  <a:t> </a:t>
                </a:r>
                <a:r>
                  <a:rPr lang="sv-SE" sz="2400" dirty="0" err="1"/>
                  <a:t>error</a:t>
                </a:r>
                <a:r>
                  <a:rPr lang="sv-SE" sz="2400" dirty="0"/>
                  <a:t> </a:t>
                </a:r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acc>
                          <m:accPr>
                            <m:chr m:val="̂"/>
                            <m:ctrlP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sv-SE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sv-SE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sv-SE" sz="2400" dirty="0"/>
              </a:p>
              <a:p>
                <a:pPr lvl="1"/>
                <a:endParaRPr lang="sv-SE" sz="2400" dirty="0"/>
              </a:p>
              <a:p>
                <a:r>
                  <a:rPr lang="sv-SE" sz="2800" dirty="0"/>
                  <a:t>Formulas </a:t>
                </a:r>
                <a:r>
                  <a:rPr lang="sv-SE" sz="2800" dirty="0" err="1"/>
                  <a:t>can</a:t>
                </a:r>
                <a:r>
                  <a:rPr lang="sv-SE" sz="2800" dirty="0"/>
                  <a:t> be same, different </a:t>
                </a:r>
                <a:r>
                  <a:rPr lang="sv-SE" sz="2800" dirty="0" err="1"/>
                  <a:t>purpose</a:t>
                </a:r>
                <a:endParaRPr lang="sv-SE" sz="2800" dirty="0"/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0D137EAC-9569-401E-8A34-F811678360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2291" r="-519" b="-323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33A65563-E004-47E6-B9A3-CE0D2A644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AD8A41F5-2056-4CA4-8433-F2BA000CC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75912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10DFE25-E4B3-4C50-8111-F167067E5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Error</a:t>
            </a:r>
            <a:r>
              <a:rPr lang="sv-SE" dirty="0"/>
              <a:t> vs loss </a:t>
            </a:r>
            <a:r>
              <a:rPr lang="sv-SE" dirty="0" err="1"/>
              <a:t>function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A497D050-4C3F-4911-BB02-D166CEE76F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v-SE" sz="2800" dirty="0"/>
                  <a:t>Should </a:t>
                </a:r>
                <a:r>
                  <a:rPr lang="sv-SE" sz="2800" dirty="0" err="1"/>
                  <a:t>error</a:t>
                </a:r>
                <a:r>
                  <a:rPr lang="sv-SE" sz="2800" dirty="0"/>
                  <a:t> </a:t>
                </a:r>
                <a:r>
                  <a:rPr lang="sv-SE" sz="2800" dirty="0" err="1"/>
                  <a:t>function</a:t>
                </a:r>
                <a:r>
                  <a:rPr lang="sv-SE" sz="2800" dirty="0"/>
                  <a:t> be same as loss </a:t>
                </a:r>
                <a:r>
                  <a:rPr lang="sv-SE" sz="2800" dirty="0" err="1"/>
                  <a:t>function</a:t>
                </a:r>
                <a:r>
                  <a:rPr lang="sv-SE" sz="2800" dirty="0"/>
                  <a:t>?</a:t>
                </a:r>
              </a:p>
              <a:p>
                <a:r>
                  <a:rPr lang="sv-SE" sz="2400" b="1" dirty="0">
                    <a:solidFill>
                      <a:srgbClr val="C00000"/>
                    </a:solidFill>
                  </a:rPr>
                  <a:t>Normal </a:t>
                </a:r>
                <a:r>
                  <a:rPr lang="sv-SE" sz="2400" b="1" dirty="0" err="1">
                    <a:solidFill>
                      <a:srgbClr val="C00000"/>
                    </a:solidFill>
                  </a:rPr>
                  <a:t>practice</a:t>
                </a:r>
                <a:r>
                  <a:rPr lang="sv-SE" sz="2400" b="1" dirty="0">
                    <a:solidFill>
                      <a:srgbClr val="C00000"/>
                    </a:solidFill>
                  </a:rPr>
                  <a:t>: </a:t>
                </a:r>
                <a:r>
                  <a:rPr lang="sv-SE" sz="2400" b="1" dirty="0" err="1"/>
                  <a:t>Choose</a:t>
                </a:r>
                <a:r>
                  <a:rPr lang="sv-SE" sz="2400" b="1" dirty="0"/>
                  <a:t> the loss </a:t>
                </a:r>
                <a:r>
                  <a:rPr lang="sv-SE" sz="2400" b="1" dirty="0" err="1"/>
                  <a:t>related</a:t>
                </a:r>
                <a:r>
                  <a:rPr lang="sv-SE" sz="2400" b="1" dirty="0"/>
                  <a:t> to minus </a:t>
                </a:r>
                <a:r>
                  <a:rPr lang="sv-SE" sz="2400" b="1" dirty="0" err="1"/>
                  <a:t>loglikelihood</a:t>
                </a:r>
                <a:endParaRPr lang="sv-SE" sz="2400" b="1" dirty="0"/>
              </a:p>
              <a:p>
                <a:endParaRPr lang="sv-SE" sz="2800" dirty="0"/>
              </a:p>
              <a:p>
                <a:pPr marL="0" indent="0">
                  <a:buNone/>
                </a:pPr>
                <a:r>
                  <a:rPr lang="sv-SE" sz="2400" dirty="0" err="1">
                    <a:solidFill>
                      <a:srgbClr val="C00000"/>
                    </a:solidFill>
                  </a:rPr>
                  <a:t>Example</a:t>
                </a:r>
                <a:r>
                  <a:rPr lang="sv-SE" sz="2400" dirty="0"/>
                  <a:t>: </a:t>
                </a:r>
                <a:r>
                  <a:rPr lang="sv-SE" sz="2400" dirty="0" err="1"/>
                  <a:t>Predicting</a:t>
                </a:r>
                <a:r>
                  <a:rPr lang="sv-SE" sz="2400" dirty="0"/>
                  <a:t> the risk </a:t>
                </a:r>
                <a:r>
                  <a:rPr lang="sv-SE" sz="2400" dirty="0" err="1"/>
                  <a:t>of</a:t>
                </a:r>
                <a:r>
                  <a:rPr lang="sv-SE" sz="2400" dirty="0"/>
                  <a:t> cancer: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sv-S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acc>
                            <m:accPr>
                              <m:chr m:val="̂"/>
                              <m:ctrlP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sv-SE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sv-SE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sv-S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acc>
                            <m:accPr>
                              <m:chr m:val="̂"/>
                              <m:ctrlP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sv-SE" sz="2400" b="0" i="1" smtClean="0">
                          <a:latin typeface="Cambria Math" panose="02040503050406030204" pitchFamily="18" charset="0"/>
                        </a:rPr>
                        <m:t>=1000</m:t>
                      </m:r>
                    </m:oMath>
                  </m:oMathPara>
                </a14:m>
                <a:endParaRPr lang="sv-SE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sz="240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sv-SE" sz="2400" b="0" i="1" smtClean="0">
                          <a:latin typeface="Cambria Math" panose="02040503050406030204" pitchFamily="18" charset="0"/>
                        </a:rPr>
                        <m:t>𝑜𝑠𝑠</m:t>
                      </m:r>
                      <m:r>
                        <a:rPr lang="sv-SE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2400" b="0" i="1" smtClean="0">
                          <a:latin typeface="Cambria Math" panose="02040503050406030204" pitchFamily="18" charset="0"/>
                        </a:rPr>
                        <m:t>𝑚𝑎𝑡𝑟𝑖𝑥</m:t>
                      </m:r>
                      <m:r>
                        <a:rPr lang="sv-SE" sz="24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sv-S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sv-SE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sv-SE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sv-SE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sv-SE" sz="2400" b="0" i="1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e>
                            </m:mr>
                            <m:mr>
                              <m:e>
                                <m:r>
                                  <a:rPr lang="sv-SE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sv-SE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sv-SE" sz="2400" dirty="0"/>
              </a:p>
              <a:p>
                <a:r>
                  <a:rPr lang="sv-SE" sz="2400" dirty="0" err="1"/>
                  <a:t>One</a:t>
                </a:r>
                <a:r>
                  <a:rPr lang="sv-SE" sz="2400" dirty="0"/>
                  <a:t> </a:t>
                </a:r>
                <a:r>
                  <a:rPr lang="sv-SE" sz="2400" dirty="0" err="1"/>
                  <a:t>can</a:t>
                </a:r>
                <a:r>
                  <a:rPr lang="sv-SE" sz="2400" dirty="0"/>
                  <a:t> show: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e>
                            <m: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&gt;1000→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𝑐𝑙𝑎𝑠𝑠𝑖𝑓𝑦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𝑎𝑠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endParaRPr lang="sv-SE" sz="2400" dirty="0"/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A497D050-4C3F-4911-BB02-D166CEE76F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34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94604658-6027-4858-9A55-F74F85932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1C8D8AD5-4A3E-47A5-9C1E-0842BD24E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31468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ABBE025-DDF4-4EBC-B60F-9743068B6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Data generating process</a:t>
            </a:r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4C49CE36-60E1-416F-B1F4-53895D09F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73845E53-C1DB-4F24-929A-777442249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8</a:t>
            </a:fld>
            <a:endParaRPr lang="sv-SE"/>
          </a:p>
        </p:txBody>
      </p:sp>
      <p:sp>
        <p:nvSpPr>
          <p:cNvPr id="6" name="Rektangel: rundade hörn 5">
            <a:extLst>
              <a:ext uri="{FF2B5EF4-FFF2-40B4-BE49-F238E27FC236}">
                <a16:creationId xmlns:a16="http://schemas.microsoft.com/office/drawing/2014/main" id="{77572F14-A287-4D55-AB3E-79DEE9329FC7}"/>
              </a:ext>
            </a:extLst>
          </p:cNvPr>
          <p:cNvSpPr/>
          <p:nvPr/>
        </p:nvSpPr>
        <p:spPr>
          <a:xfrm>
            <a:off x="1115616" y="2348880"/>
            <a:ext cx="2160240" cy="129614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7" name="textruta 6">
            <a:extLst>
              <a:ext uri="{FF2B5EF4-FFF2-40B4-BE49-F238E27FC236}">
                <a16:creationId xmlns:a16="http://schemas.microsoft.com/office/drawing/2014/main" id="{1F2D2455-F97A-4408-B1ED-CB687F703447}"/>
              </a:ext>
            </a:extLst>
          </p:cNvPr>
          <p:cNvSpPr txBox="1"/>
          <p:nvPr/>
        </p:nvSpPr>
        <p:spPr>
          <a:xfrm>
            <a:off x="846648" y="3875211"/>
            <a:ext cx="2698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Data generating process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ruta 7">
                <a:extLst>
                  <a:ext uri="{FF2B5EF4-FFF2-40B4-BE49-F238E27FC236}">
                    <a16:creationId xmlns:a16="http://schemas.microsoft.com/office/drawing/2014/main" id="{C5B1BA48-6E7E-4434-8F10-8C9A0B29887C}"/>
                  </a:ext>
                </a:extLst>
              </p:cNvPr>
              <p:cNvSpPr txBox="1"/>
              <p:nvPr/>
            </p:nvSpPr>
            <p:spPr>
              <a:xfrm>
                <a:off x="1763688" y="4393704"/>
                <a:ext cx="7383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sv-SE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8" name="textruta 7">
                <a:extLst>
                  <a:ext uri="{FF2B5EF4-FFF2-40B4-BE49-F238E27FC236}">
                    <a16:creationId xmlns:a16="http://schemas.microsoft.com/office/drawing/2014/main" id="{C5B1BA48-6E7E-4434-8F10-8C9A0B298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688" y="4393704"/>
                <a:ext cx="738344" cy="276999"/>
              </a:xfrm>
              <a:prstGeom prst="rect">
                <a:avLst/>
              </a:prstGeom>
              <a:blipFill>
                <a:blip r:embed="rId2"/>
                <a:stretch>
                  <a:fillRect l="-6612" r="-10744" b="-3777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Rak pilkoppling 9">
            <a:extLst>
              <a:ext uri="{FF2B5EF4-FFF2-40B4-BE49-F238E27FC236}">
                <a16:creationId xmlns:a16="http://schemas.microsoft.com/office/drawing/2014/main" id="{74C3A862-84F8-4395-B6CB-6805626182DE}"/>
              </a:ext>
            </a:extLst>
          </p:cNvPr>
          <p:cNvCxnSpPr/>
          <p:nvPr/>
        </p:nvCxnSpPr>
        <p:spPr>
          <a:xfrm flipV="1">
            <a:off x="3419872" y="2599206"/>
            <a:ext cx="1656184" cy="2537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Rak pilkoppling 11">
            <a:extLst>
              <a:ext uri="{FF2B5EF4-FFF2-40B4-BE49-F238E27FC236}">
                <a16:creationId xmlns:a16="http://schemas.microsoft.com/office/drawing/2014/main" id="{396379FF-5418-4C93-8971-818B3607D3BD}"/>
              </a:ext>
            </a:extLst>
          </p:cNvPr>
          <p:cNvCxnSpPr>
            <a:cxnSpLocks/>
          </p:cNvCxnSpPr>
          <p:nvPr/>
        </p:nvCxnSpPr>
        <p:spPr>
          <a:xfrm>
            <a:off x="3347864" y="3212976"/>
            <a:ext cx="1656184" cy="22322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house cat - Wikidata">
            <a:extLst>
              <a:ext uri="{FF2B5EF4-FFF2-40B4-BE49-F238E27FC236}">
                <a16:creationId xmlns:a16="http://schemas.microsoft.com/office/drawing/2014/main" id="{23C3FE02-C0CD-4708-A5F2-2A99A15A1D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3599" y="1985717"/>
            <a:ext cx="1309601" cy="1748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ruta 17">
            <a:extLst>
              <a:ext uri="{FF2B5EF4-FFF2-40B4-BE49-F238E27FC236}">
                <a16:creationId xmlns:a16="http://schemas.microsoft.com/office/drawing/2014/main" id="{6C95D28F-CAF7-41AE-88A4-E6778280FECB}"/>
              </a:ext>
            </a:extLst>
          </p:cNvPr>
          <p:cNvSpPr txBox="1"/>
          <p:nvPr/>
        </p:nvSpPr>
        <p:spPr>
          <a:xfrm>
            <a:off x="4143531" y="3734010"/>
            <a:ext cx="457200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600" dirty="0">
                <a:solidFill>
                  <a:schemeClr val="bg1">
                    <a:lumMod val="85000"/>
                  </a:schemeClr>
                </a:solidFill>
              </a:rPr>
              <a:t>https://upload.wikimedia.org/wikipedia/commons/thumb/4/4d/Cat_November_2010-1a.jpg/1200px-Cat_November_2010-1a.jpg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ruta 16">
                <a:extLst>
                  <a:ext uri="{FF2B5EF4-FFF2-40B4-BE49-F238E27FC236}">
                    <a16:creationId xmlns:a16="http://schemas.microsoft.com/office/drawing/2014/main" id="{D8D9B3A8-0BCB-4912-BA73-DA4B205B608D}"/>
                  </a:ext>
                </a:extLst>
              </p:cNvPr>
              <p:cNvSpPr txBox="1"/>
              <p:nvPr/>
            </p:nvSpPr>
            <p:spPr>
              <a:xfrm>
                <a:off x="6876256" y="2726071"/>
                <a:ext cx="12241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="</m:t>
                      </m:r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𝐶𝑎𝑡</m:t>
                      </m:r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"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7" name="textruta 16">
                <a:extLst>
                  <a:ext uri="{FF2B5EF4-FFF2-40B4-BE49-F238E27FC236}">
                    <a16:creationId xmlns:a16="http://schemas.microsoft.com/office/drawing/2014/main" id="{D8D9B3A8-0BCB-4912-BA73-DA4B205B60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6256" y="2726071"/>
                <a:ext cx="1224181" cy="369332"/>
              </a:xfrm>
              <a:prstGeom prst="rect">
                <a:avLst/>
              </a:prstGeom>
              <a:blipFill>
                <a:blip r:embed="rId4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 descr="Dog definición y significado | Diccionario Inglés Collins">
            <a:extLst>
              <a:ext uri="{FF2B5EF4-FFF2-40B4-BE49-F238E27FC236}">
                <a16:creationId xmlns:a16="http://schemas.microsoft.com/office/drawing/2014/main" id="{76820496-6246-4572-8C26-835C3211F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852" y="3942711"/>
            <a:ext cx="1698056" cy="205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ruta 21">
                <a:extLst>
                  <a:ext uri="{FF2B5EF4-FFF2-40B4-BE49-F238E27FC236}">
                    <a16:creationId xmlns:a16="http://schemas.microsoft.com/office/drawing/2014/main" id="{9E8D0BA4-06A2-4C34-A44B-D40A17FA6E2F}"/>
                  </a:ext>
                </a:extLst>
              </p:cNvPr>
              <p:cNvSpPr txBox="1"/>
              <p:nvPr/>
            </p:nvSpPr>
            <p:spPr>
              <a:xfrm>
                <a:off x="5000852" y="5297637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="</m:t>
                      </m:r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𝐷𝑜𝑔</m:t>
                      </m:r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"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22" name="textruta 21">
                <a:extLst>
                  <a:ext uri="{FF2B5EF4-FFF2-40B4-BE49-F238E27FC236}">
                    <a16:creationId xmlns:a16="http://schemas.microsoft.com/office/drawing/2014/main" id="{9E8D0BA4-06A2-4C34-A44B-D40A17FA6E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0852" y="5297637"/>
                <a:ext cx="4572000" cy="369332"/>
              </a:xfrm>
              <a:prstGeom prst="rect">
                <a:avLst/>
              </a:prstGeom>
              <a:blipFill>
                <a:blip r:embed="rId6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ruta 23">
            <a:extLst>
              <a:ext uri="{FF2B5EF4-FFF2-40B4-BE49-F238E27FC236}">
                <a16:creationId xmlns:a16="http://schemas.microsoft.com/office/drawing/2014/main" id="{F74A69A2-A8F5-436B-B173-FFF24BBD7239}"/>
              </a:ext>
            </a:extLst>
          </p:cNvPr>
          <p:cNvSpPr txBox="1"/>
          <p:nvPr/>
        </p:nvSpPr>
        <p:spPr>
          <a:xfrm>
            <a:off x="4965324" y="5800613"/>
            <a:ext cx="478510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600" dirty="0">
                <a:solidFill>
                  <a:schemeClr val="bg1">
                    <a:lumMod val="85000"/>
                  </a:schemeClr>
                </a:solidFill>
              </a:rPr>
              <a:t>https://www.collinsdictionary.com/images/full/dog_230497594.jpg</a:t>
            </a:r>
          </a:p>
        </p:txBody>
      </p:sp>
    </p:spTree>
    <p:extLst>
      <p:ext uri="{BB962C8B-B14F-4D97-AF65-F5344CB8AC3E}">
        <p14:creationId xmlns:p14="http://schemas.microsoft.com/office/powerpoint/2010/main" val="4266656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Model</a:t>
            </a:r>
            <a:r>
              <a:rPr lang="sv-SE" dirty="0"/>
              <a:t> </a:t>
            </a:r>
            <a:r>
              <a:rPr lang="sv-SE" dirty="0" err="1"/>
              <a:t>selection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v-SE" sz="2800" dirty="0"/>
                  <a:t>Given a </a:t>
                </a:r>
                <a:r>
                  <a:rPr lang="sv-SE" sz="2800" dirty="0" err="1"/>
                  <a:t>model</a:t>
                </a:r>
                <a:r>
                  <a:rPr lang="sv-SE" sz="2800" dirty="0"/>
                  <a:t>, </a:t>
                </a:r>
                <a:r>
                  <a:rPr lang="sv-SE" sz="2800" dirty="0" err="1"/>
                  <a:t>choose</a:t>
                </a:r>
                <a:r>
                  <a:rPr lang="sv-SE" sz="2800" dirty="0"/>
                  <a:t> the optimal parameter </a:t>
                </a:r>
                <a:r>
                  <a:rPr lang="sv-SE" sz="2800" dirty="0" err="1"/>
                  <a:t>values</a:t>
                </a:r>
                <a:endParaRPr lang="sv-SE" sz="2800" dirty="0"/>
              </a:p>
              <a:p>
                <a:pPr lvl="1"/>
                <a:r>
                  <a:rPr lang="sv-SE" sz="2400" dirty="0"/>
                  <a:t>Decision </a:t>
                </a:r>
                <a:r>
                  <a:rPr lang="sv-SE" sz="2400" dirty="0" err="1"/>
                  <a:t>theory</a:t>
                </a:r>
                <a:endParaRPr lang="sv-SE" sz="2400" dirty="0"/>
              </a:p>
              <a:p>
                <a:endParaRPr lang="sv-SE" sz="2800" dirty="0"/>
              </a:p>
              <a:p>
                <a:r>
                  <a:rPr lang="sv-SE" sz="2400" dirty="0"/>
                  <a:t>If </a:t>
                </a:r>
                <a:r>
                  <a:rPr lang="sv-SE" sz="2400" dirty="0" err="1"/>
                  <a:t>we</a:t>
                </a:r>
                <a:r>
                  <a:rPr lang="sv-SE" sz="2400" dirty="0"/>
                  <a:t> </a:t>
                </a:r>
                <a:r>
                  <a:rPr lang="sv-SE" sz="2400" dirty="0" err="1"/>
                  <a:t>know</a:t>
                </a:r>
                <a:r>
                  <a:rPr lang="sv-SE" sz="2400" dirty="0"/>
                  <a:t> the </a:t>
                </a:r>
                <a:r>
                  <a:rPr lang="sv-SE" sz="2400" dirty="0" err="1"/>
                  <a:t>true</a:t>
                </a:r>
                <a:r>
                  <a:rPr lang="sv-SE" sz="2400" dirty="0"/>
                  <a:t> distribution </a:t>
                </a:r>
                <a14:m>
                  <m:oMath xmlns:m="http://schemas.openxmlformats.org/officeDocument/2006/math">
                    <m:r>
                      <a:rPr lang="sv-SE" sz="2400" i="1">
                        <a:latin typeface="Cambria Math"/>
                      </a:rPr>
                      <m:t>𝑝</m:t>
                    </m:r>
                    <m:r>
                      <a:rPr lang="sv-SE" sz="2400" i="1" smtClean="0">
                        <a:latin typeface="Cambria Math"/>
                      </a:rPr>
                      <m:t>(</m:t>
                    </m:r>
                    <m:r>
                      <a:rPr lang="sv-SE" sz="2400" b="0" i="1" smtClean="0">
                        <a:latin typeface="Cambria Math"/>
                      </a:rPr>
                      <m:t>𝑦</m:t>
                    </m:r>
                    <m:r>
                      <a:rPr lang="sv-SE" sz="2400" b="0" i="1" smtClean="0">
                        <a:latin typeface="Cambria Math"/>
                      </a:rPr>
                      <m:t>,</m:t>
                    </m:r>
                    <m:r>
                      <a:rPr lang="sv-SE" sz="2400" b="1" i="1" smtClean="0">
                        <a:latin typeface="Cambria Math"/>
                      </a:rPr>
                      <m:t>𝒙</m:t>
                    </m:r>
                    <m:r>
                      <a:rPr lang="sv-SE" sz="24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sv-SE" sz="2400" dirty="0"/>
                  <a:t> </a:t>
                </a:r>
                <a:r>
                  <a:rPr lang="sv-SE" sz="2400" dirty="0" err="1"/>
                  <a:t>then</a:t>
                </a:r>
                <a:r>
                  <a:rPr lang="sv-SE" sz="2400" dirty="0"/>
                  <a:t> </a:t>
                </a:r>
                <a:r>
                  <a:rPr lang="sv-SE" sz="2400" dirty="0" err="1"/>
                  <a:t>we</a:t>
                </a:r>
                <a:r>
                  <a:rPr lang="sv-SE" sz="2400" dirty="0"/>
                  <a:t> </a:t>
                </a:r>
                <a:r>
                  <a:rPr lang="sv-SE" sz="2400" dirty="0" err="1"/>
                  <a:t>choose</a:t>
                </a:r>
                <a:r>
                  <a:rPr lang="sv-SE" sz="2400" dirty="0"/>
                  <a:t> the optimal </a:t>
                </a:r>
                <a:r>
                  <a:rPr lang="sv-SE" sz="2400" dirty="0" err="1"/>
                  <a:t>model</a:t>
                </a:r>
                <a:r>
                  <a:rPr lang="sv-SE" sz="2400" dirty="0"/>
                  <a:t> by </a:t>
                </a:r>
                <a:r>
                  <a:rPr lang="sv-SE" sz="2400" dirty="0" err="1"/>
                  <a:t>minimizing</a:t>
                </a:r>
                <a:r>
                  <a:rPr lang="sv-SE" sz="2400" dirty="0"/>
                  <a:t> the </a:t>
                </a:r>
                <a:r>
                  <a:rPr lang="sv-SE" sz="2400" b="1" dirty="0" err="1">
                    <a:solidFill>
                      <a:srgbClr val="0000FF"/>
                    </a:solidFill>
                  </a:rPr>
                  <a:t>expected</a:t>
                </a:r>
                <a:r>
                  <a:rPr lang="sv-SE" sz="2400" b="1" dirty="0">
                    <a:solidFill>
                      <a:srgbClr val="0000FF"/>
                    </a:solidFill>
                  </a:rPr>
                  <a:t> risk</a:t>
                </a:r>
                <a:r>
                  <a:rPr lang="sv-SE" sz="2400" dirty="0"/>
                  <a:t>:</a:t>
                </a:r>
              </a:p>
              <a:p>
                <a:endParaRPr lang="sv-SE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33" t="-1348" r="-296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9</a:t>
            </a:fld>
            <a:endParaRPr lang="sv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51520" y="4725144"/>
                <a:ext cx="8496944" cy="6930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sv-SE" b="0" i="0" smtClean="0">
                                  <a:latin typeface="Cambria Math"/>
                                </a:rPr>
                                <m:t>min</m:t>
                              </m:r>
                            </m:e>
                            <m:lim>
                              <m:acc>
                                <m:accPr>
                                  <m:chr m:val="̂"/>
                                  <m:ctrlPr>
                                    <a:rPr lang="sv-S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sv-SE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sv-S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sv-SE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acc>
                            </m:e>
                            <m:sub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𝑛𝑒𝑤</m:t>
                              </m:r>
                            </m:sub>
                          </m:sSub>
                        </m:e>
                      </m:func>
                      <m:r>
                        <a:rPr lang="sv-SE" b="0" i="1" dirty="0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sv-S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sv-SE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sv-SE">
                                  <a:latin typeface="Cambria Math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supHide m:val="on"/>
                              <m:ctrlP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ctrlPr>
                                    <a:rPr lang="sv-S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sv-S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sv-SE" b="0" i="1" smtClean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b>
                                  </m:sSub>
                                  <m:r>
                                    <a:rPr lang="sv-SE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sv-S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sv-SE" b="0" i="1" smtClean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nary>
                                <m:naryPr>
                                  <m:supHide m:val="on"/>
                                  <m:ctrlPr>
                                    <a:rPr lang="sv-S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sv-SE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  <m:sup/>
                                <m:e>
                                  <m:r>
                                    <a:rPr lang="sv-SE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ctrlPr>
                                        <a:rPr lang="sv-S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sv-SE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sv-SE" i="1">
                                              <a:latin typeface="Cambria Math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sv-SE" b="0" i="1" smtClean="0"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b>
                                      </m:sSub>
                                      <m:r>
                                        <a:rPr lang="sv-SE" i="1">
                                          <a:latin typeface="Cambria Math"/>
                                        </a:rPr>
                                        <m:t>,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sv-S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sv-SE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  <m:d>
                                        <m:dPr>
                                          <m:ctrlPr>
                                            <a:rPr lang="sv-S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sv-SE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sv-SE" b="1" i="1"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b>
                                              <m:r>
                                                <a:rPr lang="sv-SE" b="1" i="1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b>
                                          </m:sSub>
                                          <m:r>
                                            <a:rPr lang="sv-SE" i="1"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sv-SE">
                                              <a:latin typeface="Cambria Math" panose="02040503050406030204" pitchFamily="18" charset="0"/>
                                            </a:rPr>
                                            <m:t>Τ</m:t>
                                          </m:r>
                                          <m:r>
                                            <a:rPr lang="sv-SE" b="0" i="0" smtClean="0"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r>
                                            <a:rPr lang="sv-SE" b="1" i="1" smtClean="0">
                                              <a:latin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e>
                                      </m:d>
                                    </m:e>
                                  </m:d>
                                  <m:r>
                                    <a:rPr lang="sv-SE" i="1" dirty="0">
                                      <a:latin typeface="Cambria Math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sv-SE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sv-SE" b="1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sv-SE" b="1" i="1" dirty="0" smtClean="0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sv-SE" b="1" i="1" dirty="0" smtClean="0"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b>
                                      </m:sSub>
                                      <m:r>
                                        <a:rPr lang="sv-SE" b="0" i="1" dirty="0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sv-SE" b="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sv-SE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sv-SE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sv-SE" i="1" dirty="0">
                                      <a:latin typeface="Cambria Math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sv-SE" b="1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b="1" i="1" dirty="0">
                                          <a:latin typeface="Cambria Math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sv-SE" b="1" i="1" dirty="0" smtClean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b>
                                  </m:sSub>
                                  <m:r>
                                    <a:rPr lang="sv-SE" i="1" dirty="0">
                                      <a:latin typeface="Cambria Math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sv-SE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i="1" dirty="0">
                                          <a:latin typeface="Cambria Math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sv-SE" b="0" i="1" dirty="0" smtClean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𝑑𝑇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4725144"/>
                <a:ext cx="8496944" cy="6930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0092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5AD66FD-69FA-47D0-89C5-72B9552B5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Model</a:t>
            </a:r>
            <a:r>
              <a:rPr lang="sv-SE" dirty="0"/>
              <a:t> </a:t>
            </a:r>
            <a:r>
              <a:rPr lang="sv-SE" dirty="0" err="1"/>
              <a:t>selection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681E6D7B-E459-4F8D-A8A6-B69D4D9EFC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v-SE" sz="2800" b="1" dirty="0">
                    <a:solidFill>
                      <a:srgbClr val="0070C0"/>
                    </a:solidFill>
                  </a:rPr>
                  <a:t>Problem</a:t>
                </a:r>
                <a:r>
                  <a:rPr lang="sv-SE" sz="2800" dirty="0"/>
                  <a:t>: data generating process is </a:t>
                </a:r>
                <a:r>
                  <a:rPr lang="sv-SE" sz="2800" dirty="0" err="1"/>
                  <a:t>unknown</a:t>
                </a:r>
                <a:r>
                  <a:rPr lang="sv-SE" sz="2800" dirty="0"/>
                  <a:t> </a:t>
                </a:r>
                <a:r>
                  <a:rPr lang="sv-SE" sz="2800" dirty="0">
                    <a:sym typeface="Wingdings" panose="05000000000000000000" pitchFamily="2" charset="2"/>
                  </a:rPr>
                  <a:t></a:t>
                </a:r>
                <a:r>
                  <a:rPr lang="sv-SE" sz="2800" dirty="0" err="1">
                    <a:sym typeface="Wingdings" panose="05000000000000000000" pitchFamily="2" charset="2"/>
                  </a:rPr>
                  <a:t>can</a:t>
                </a:r>
                <a:r>
                  <a:rPr lang="sv-SE" sz="2800" dirty="0">
                    <a:sym typeface="Wingdings" panose="05000000000000000000" pitchFamily="2" charset="2"/>
                  </a:rPr>
                  <a:t> not </a:t>
                </a:r>
                <a:r>
                  <a:rPr lang="sv-SE" sz="2800" dirty="0" err="1">
                    <a:sym typeface="Wingdings" panose="05000000000000000000" pitchFamily="2" charset="2"/>
                  </a:rPr>
                  <a:t>compute</a:t>
                </a:r>
                <a:r>
                  <a:rPr lang="sv-SE" sz="2800" dirty="0">
                    <a:sym typeface="Wingdings" panose="05000000000000000000" pitchFamily="2" charset="2"/>
                  </a:rPr>
                  <a:t> </a:t>
                </a:r>
                <a:r>
                  <a:rPr lang="sv-SE" sz="2800" dirty="0" err="1">
                    <a:sym typeface="Wingdings" panose="05000000000000000000" pitchFamily="2" charset="2"/>
                  </a:rPr>
                  <a:t>expected</a:t>
                </a:r>
                <a:r>
                  <a:rPr lang="sv-SE" sz="2800" dirty="0">
                    <a:sym typeface="Wingdings" panose="05000000000000000000" pitchFamily="2" charset="2"/>
                  </a:rPr>
                  <a:t> risk!</a:t>
                </a:r>
              </a:p>
              <a:p>
                <a:endParaRPr lang="sv-SE" dirty="0"/>
              </a:p>
              <a:p>
                <a:r>
                  <a:rPr lang="sv-SE" sz="2400" dirty="0">
                    <a:solidFill>
                      <a:srgbClr val="00B050"/>
                    </a:solidFill>
                  </a:rPr>
                  <a:t>Approximation 1</a:t>
                </a:r>
                <a:r>
                  <a:rPr lang="sv-SE" sz="2400" dirty="0"/>
                  <a:t>: </a:t>
                </a:r>
                <a:r>
                  <a:rPr lang="sv-SE" sz="2400" dirty="0" err="1"/>
                  <a:t>Instead</a:t>
                </a:r>
                <a:r>
                  <a:rPr lang="sv-SE" sz="2400" dirty="0"/>
                  <a:t> </a:t>
                </a:r>
                <a:r>
                  <a:rPr lang="sv-SE" sz="2400" dirty="0" err="1"/>
                  <a:t>of</a:t>
                </a:r>
                <a:r>
                  <a:rPr lang="sv-SE" sz="2400" dirty="0"/>
                  <a:t> </a:t>
                </a:r>
                <a:r>
                  <a:rPr lang="sv-SE" sz="2400" dirty="0" err="1"/>
                  <a:t>considering</a:t>
                </a:r>
                <a:r>
                  <a:rPr lang="sv-SE" sz="2400" dirty="0"/>
                  <a:t> all </a:t>
                </a:r>
                <a:r>
                  <a:rPr lang="sv-SE" sz="2400" dirty="0" err="1"/>
                  <a:t>possible</a:t>
                </a:r>
                <a:r>
                  <a:rPr lang="sv-SE" sz="2400" dirty="0"/>
                  <a:t> </a:t>
                </a:r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sv-SE" sz="2400" dirty="0"/>
                  <a:t>, </a:t>
                </a:r>
                <a:r>
                  <a:rPr lang="sv-SE" sz="2400" dirty="0" err="1"/>
                  <a:t>take</a:t>
                </a:r>
                <a:r>
                  <a:rPr lang="sv-SE" sz="2400" dirty="0"/>
                  <a:t> </a:t>
                </a:r>
                <a:r>
                  <a:rPr lang="sv-SE" sz="2400" dirty="0" err="1"/>
                  <a:t>only</a:t>
                </a:r>
                <a:r>
                  <a:rPr lang="sv-SE" sz="2400" dirty="0"/>
                  <a:t> </a:t>
                </a:r>
                <a:r>
                  <a:rPr lang="sv-SE" sz="2400" b="1" dirty="0" err="1"/>
                  <a:t>one</a:t>
                </a:r>
                <a:r>
                  <a:rPr lang="sv-SE" sz="2400" dirty="0"/>
                  <a:t> </a:t>
                </a:r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sv-SE" sz="2400" dirty="0">
                    <a:sym typeface="Wingdings" panose="05000000000000000000" pitchFamily="2" charset="2"/>
                  </a:rPr>
                  <a:t></a:t>
                </a:r>
                <a:r>
                  <a:rPr lang="sv-SE" sz="2400" b="1" dirty="0" err="1">
                    <a:sym typeface="Wingdings" panose="05000000000000000000" pitchFamily="2" charset="2"/>
                  </a:rPr>
                  <a:t>expected</a:t>
                </a:r>
                <a:r>
                  <a:rPr lang="sv-SE" sz="2400" b="1" dirty="0">
                    <a:sym typeface="Wingdings" panose="05000000000000000000" pitchFamily="2" charset="2"/>
                  </a:rPr>
                  <a:t> new data </a:t>
                </a:r>
                <a:r>
                  <a:rPr lang="sv-SE" sz="2400" b="1" dirty="0" err="1">
                    <a:sym typeface="Wingdings" panose="05000000000000000000" pitchFamily="2" charset="2"/>
                  </a:rPr>
                  <a:t>error</a:t>
                </a:r>
                <a:endParaRPr lang="sv-SE" sz="2400" b="1" dirty="0"/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681E6D7B-E459-4F8D-A8A6-B69D4D9EFC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752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238E63C5-020A-425F-80E2-2C7FA5ED5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120F334F-898D-4A28-BE99-C2F420FC5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10</a:t>
            </a:fld>
            <a:endParaRPr lang="sv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ruta 6">
                <a:extLst>
                  <a:ext uri="{FF2B5EF4-FFF2-40B4-BE49-F238E27FC236}">
                    <a16:creationId xmlns:a16="http://schemas.microsoft.com/office/drawing/2014/main" id="{088DB0AD-5100-4A2D-8A03-258B288F4082}"/>
                  </a:ext>
                </a:extLst>
              </p:cNvPr>
              <p:cNvSpPr txBox="1"/>
              <p:nvPr/>
            </p:nvSpPr>
            <p:spPr>
              <a:xfrm>
                <a:off x="827584" y="4509120"/>
                <a:ext cx="8064896" cy="4608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lang="sv-SE" b="0" i="1" dirty="0" smtClean="0">
                        <a:latin typeface="Cambria Math"/>
                      </a:rPr>
                      <m:t>=</m:t>
                    </m:r>
                  </m:oMath>
                </a14:m>
                <a:r>
                  <a:rPr lang="sv-SE" dirty="0"/>
                  <a:t> </a:t>
                </a:r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sv-S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d>
                          <m:dPr>
                            <m:ctrlPr>
                              <a:rPr lang="sv-S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sv-S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b>
                            </m:sSub>
                            <m:r>
                              <a:rPr lang="sv-SE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sv-S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b>
                            </m:sSub>
                          </m:e>
                        </m:d>
                      </m:sub>
                      <m:sup/>
                      <m:e>
                        <m:r>
                          <a:rPr lang="sv-SE" i="1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sv-S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sv-S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v-SE" i="1"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sv-SE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b>
                            </m:sSub>
                            <m:r>
                              <a:rPr lang="sv-SE" i="1">
                                <a:latin typeface="Cambria Math"/>
                              </a:rPr>
                              <m:t>,</m:t>
                            </m:r>
                            <m:acc>
                              <m:accPr>
                                <m:chr m:val="̂"/>
                                <m:ctrlPr>
                                  <a:rPr lang="sv-S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sv-S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sv-SE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sv-SE" b="1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b>
                                </m:sSub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m:rPr>
                                    <m:sty m:val="p"/>
                                  </m:rPr>
                                  <a:rPr lang="sv-SE">
                                    <a:latin typeface="Cambria Math" panose="02040503050406030204" pitchFamily="18" charset="0"/>
                                  </a:rPr>
                                  <m:t>Τ</m:t>
                                </m:r>
                                <m:r>
                                  <a:rPr lang="sv-SE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sv-SE" b="1" i="1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</m:d>
                          </m:e>
                        </m:d>
                        <m:r>
                          <a:rPr lang="sv-SE" i="1" dirty="0">
                            <a:latin typeface="Cambria Math"/>
                          </a:rPr>
                          <m:t>𝑝</m:t>
                        </m:r>
                        <m:d>
                          <m:dPr>
                            <m:ctrlPr>
                              <a:rPr lang="sv-SE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sv-SE" b="1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v-SE" b="1" i="1" dirty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sv-SE" b="1" i="1" dirty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b>
                            </m:sSub>
                            <m:r>
                              <a:rPr lang="sv-SE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sv-SE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v-SE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sv-SE" i="1" dirty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b>
                            </m:sSub>
                          </m:e>
                        </m:d>
                        <m:r>
                          <a:rPr lang="sv-SE" i="1" dirty="0">
                            <a:latin typeface="Cambria Math"/>
                          </a:rPr>
                          <m:t>𝑑</m:t>
                        </m:r>
                        <m:sSub>
                          <m:sSubPr>
                            <m:ctrlPr>
                              <a:rPr lang="sv-SE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b="1" i="1" dirty="0"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sv-SE" b="1" i="1" dirty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  <m:r>
                          <a:rPr lang="sv-SE" i="1" dirty="0">
                            <a:latin typeface="Cambria Math"/>
                          </a:rPr>
                          <m:t>𝑑</m:t>
                        </m:r>
                        <m:sSub>
                          <m:sSubPr>
                            <m:ctrlPr>
                              <a:rPr lang="sv-SE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i="1" dirty="0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sv-SE" i="1" dirty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</m:e>
                    </m:nary>
                  </m:oMath>
                </a14:m>
                <a:endParaRPr lang="sv-SE" dirty="0"/>
              </a:p>
            </p:txBody>
          </p:sp>
        </mc:Choice>
        <mc:Fallback xmlns="">
          <p:sp>
            <p:nvSpPr>
              <p:cNvPr id="7" name="textruta 6">
                <a:extLst>
                  <a:ext uri="{FF2B5EF4-FFF2-40B4-BE49-F238E27FC236}">
                    <a16:creationId xmlns:a16="http://schemas.microsoft.com/office/drawing/2014/main" id="{088DB0AD-5100-4A2D-8A03-258B288F40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4509120"/>
                <a:ext cx="8064896" cy="460895"/>
              </a:xfrm>
              <a:prstGeom prst="rect">
                <a:avLst/>
              </a:prstGeom>
              <a:blipFill>
                <a:blip r:embed="rId3"/>
                <a:stretch>
                  <a:fillRect t="-116000" b="-16800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0333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Hold-out</a:t>
            </a:r>
            <a:r>
              <a:rPr lang="sv-SE" dirty="0"/>
              <a:t> </a:t>
            </a:r>
            <a:r>
              <a:rPr lang="sv-SE" dirty="0" err="1"/>
              <a:t>method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r>
                  <a:rPr lang="sv-SE" dirty="0"/>
                  <a:t>Fix </a:t>
                </a:r>
                <a14:m>
                  <m:oMath xmlns:m="http://schemas.openxmlformats.org/officeDocument/2006/math">
                    <m:r>
                      <a:rPr lang="sv-SE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sv-SE" dirty="0"/>
                  <a:t> as a </a:t>
                </a:r>
                <a:r>
                  <a:rPr lang="sv-SE" dirty="0" err="1"/>
                  <a:t>particular</a:t>
                </a:r>
                <a:r>
                  <a:rPr lang="sv-SE" dirty="0"/>
                  <a:t> </a:t>
                </a:r>
                <a:r>
                  <a:rPr lang="sv-SE" dirty="0" err="1"/>
                  <a:t>training</a:t>
                </a:r>
                <a:r>
                  <a:rPr lang="sv-SE" dirty="0"/>
                  <a:t> set</a:t>
                </a:r>
              </a:p>
              <a:p>
                <a:endParaRPr lang="sv-SE" dirty="0"/>
              </a:p>
              <a:p>
                <a:r>
                  <a:rPr lang="sv-SE" dirty="0">
                    <a:solidFill>
                      <a:srgbClr val="00B050"/>
                    </a:solidFill>
                  </a:rPr>
                  <a:t>Approximation 2</a:t>
                </a:r>
                <a:r>
                  <a:rPr lang="sv-SE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sv-SE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d>
                          <m:dPr>
                            <m:ctrlPr>
                              <a:rPr lang="sv-S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sv-S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b>
                            </m:sSub>
                            <m:r>
                              <a:rPr lang="sv-SE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sv-S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b>
                            </m:sSub>
                          </m:e>
                        </m:d>
                      </m:sub>
                      <m:sup/>
                      <m:e>
                        <m:r>
                          <a:rPr lang="sv-SE" i="1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sv-S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sv-SE" i="1">
                                <a:latin typeface="Cambria Math"/>
                              </a:rPr>
                              <m:t>𝑦</m:t>
                            </m:r>
                            <m:r>
                              <a:rPr lang="sv-SE" i="1">
                                <a:latin typeface="Cambria Math"/>
                              </a:rPr>
                              <m:t>,</m:t>
                            </m:r>
                            <m:acc>
                              <m:accPr>
                                <m:chr m:val="̂"/>
                                <m:ctrlPr>
                                  <a:rPr lang="sv-S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sv-S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sv-S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sv-SE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b>
                                </m:sSub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m:rPr>
                                    <m:sty m:val="p"/>
                                  </m:rPr>
                                  <a:rPr lang="sv-SE">
                                    <a:latin typeface="Cambria Math" panose="02040503050406030204" pitchFamily="18" charset="0"/>
                                  </a:rPr>
                                  <m:t>Τ</m:t>
                                </m:r>
                                <m:r>
                                  <a:rPr lang="sv-SE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sv-SE" b="1" i="1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</m:d>
                          </m:e>
                        </m:d>
                        <m:r>
                          <a:rPr lang="sv-SE" i="1" dirty="0">
                            <a:latin typeface="Cambria Math"/>
                          </a:rPr>
                          <m:t>𝑝</m:t>
                        </m:r>
                        <m:d>
                          <m:dPr>
                            <m:ctrlPr>
                              <a:rPr lang="sv-SE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sv-SE" b="1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v-SE" b="1" i="1" dirty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sv-SE" b="1" i="1" dirty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b>
                            </m:sSub>
                            <m:r>
                              <a:rPr lang="sv-SE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sv-SE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v-SE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sv-SE" i="1" dirty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b>
                            </m:sSub>
                          </m:e>
                        </m:d>
                        <m:r>
                          <a:rPr lang="sv-SE" i="1" dirty="0">
                            <a:latin typeface="Cambria Math"/>
                          </a:rPr>
                          <m:t>𝑑</m:t>
                        </m:r>
                        <m:sSub>
                          <m:sSubPr>
                            <m:ctrlPr>
                              <a:rPr lang="sv-SE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b="1" i="1" dirty="0"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sv-SE" b="1" i="1" dirty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  <m:r>
                          <a:rPr lang="sv-SE" i="1" dirty="0">
                            <a:latin typeface="Cambria Math"/>
                          </a:rPr>
                          <m:t>𝑑</m:t>
                        </m:r>
                        <m:sSub>
                          <m:sSubPr>
                            <m:ctrlPr>
                              <a:rPr lang="sv-SE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i="1" dirty="0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sv-SE" i="1" dirty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  <m:r>
                          <a:rPr lang="sv-SE" b="0" i="1" dirty="0" smtClean="0">
                            <a:latin typeface="Cambria Math" panose="02040503050406030204" pitchFamily="18" charset="0"/>
                          </a:rPr>
                          <m:t>≈</m:t>
                        </m:r>
                        <m:f>
                          <m:fPr>
                            <m:ctrlPr>
                              <a:rPr lang="sv-SE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sv-SE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sv-SE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sv-SE" b="0" i="1" dirty="0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</m:den>
                        </m:f>
                        <m:nary>
                          <m:naryPr>
                            <m:chr m:val="∑"/>
                            <m:supHide m:val="on"/>
                            <m:ctrlPr>
                              <a:rPr lang="sv-SE" b="0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d>
                              <m:dPr>
                                <m:ctrlPr>
                                  <a:rPr lang="sv-SE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sv-SE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sv-SE" b="1" i="1" dirty="0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b>
                                </m:sSub>
                                <m:r>
                                  <a:rPr lang="sv-SE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sv-SE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b="0" i="1" dirty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sv-SE" b="0" i="1" dirty="0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sv-SE" b="0" i="1" dirty="0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sv-SE" b="0" i="1" dirty="0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  <m:sup/>
                          <m:e>
                            <m:r>
                              <a:rPr lang="sv-SE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sv-S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sv-S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i="1">
                                        <a:latin typeface="Cambria Math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sv-SE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b>
                                </m:sSub>
                                <m:r>
                                  <a:rPr lang="sv-SE" i="1">
                                    <a:latin typeface="Cambria Math"/>
                                  </a:rPr>
                                  <m:t>,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sv-SE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sv-SE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sv-S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sv-SE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sv-SE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sv-SE" b="1" i="1"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b>
                                    </m:sSub>
                                    <m:r>
                                      <a:rPr lang="sv-SE" i="1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sv-SE">
                                        <a:latin typeface="Cambria Math" panose="02040503050406030204" pitchFamily="18" charset="0"/>
                                      </a:rPr>
                                      <m:t>Τ</m:t>
                                    </m:r>
                                    <m:r>
                                      <a:rPr lang="sv-SE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sv-SE" b="1" i="1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</m:d>
                              </m:e>
                            </m:d>
                          </m:e>
                        </m:nary>
                      </m:e>
                    </m:nary>
                  </m:oMath>
                </a14:m>
                <a:endParaRPr lang="sv-SE" dirty="0"/>
              </a:p>
              <a:p>
                <a:endParaRPr lang="sv-SE" dirty="0"/>
              </a:p>
              <a:p>
                <a:r>
                  <a:rPr lang="sv-SE" b="1" dirty="0" err="1">
                    <a:solidFill>
                      <a:srgbClr val="0000FF"/>
                    </a:solidFill>
                  </a:rPr>
                  <a:t>Validation</a:t>
                </a:r>
                <a:r>
                  <a:rPr lang="sv-SE" b="1" dirty="0">
                    <a:solidFill>
                      <a:srgbClr val="0000FF"/>
                    </a:solidFill>
                  </a:rPr>
                  <a:t> </a:t>
                </a:r>
                <a:r>
                  <a:rPr lang="sv-SE" b="1" dirty="0" err="1">
                    <a:solidFill>
                      <a:srgbClr val="0000FF"/>
                    </a:solidFill>
                  </a:rPr>
                  <a:t>error</a:t>
                </a:r>
                <a:r>
                  <a:rPr lang="sv-SE" b="1" dirty="0">
                    <a:solidFill>
                      <a:srgbClr val="0000FF"/>
                    </a:solidFill>
                  </a:rPr>
                  <a:t> </a:t>
                </a:r>
                <a:r>
                  <a:rPr lang="sv-SE" dirty="0"/>
                  <a:t>(</a:t>
                </a:r>
                <a:r>
                  <a:rPr lang="sv-SE" b="1" dirty="0" err="1">
                    <a:solidFill>
                      <a:srgbClr val="0070C0"/>
                    </a:solidFill>
                  </a:rPr>
                  <a:t>empirical</a:t>
                </a:r>
                <a:r>
                  <a:rPr lang="sv-SE" b="1" dirty="0">
                    <a:solidFill>
                      <a:srgbClr val="0070C0"/>
                    </a:solidFill>
                  </a:rPr>
                  <a:t> risk</a:t>
                </a:r>
                <a:r>
                  <a:rPr lang="sv-SE" dirty="0"/>
                  <a:t>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b="0" i="1" dirty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sv-SE" b="0" i="1" dirty="0" smtClean="0">
                              <a:latin typeface="Cambria Math" panose="02040503050406030204" pitchFamily="18" charset="0"/>
                            </a:rPr>
                            <m:t>h𝑜𝑙𝑑</m:t>
                          </m:r>
                          <m:r>
                            <a:rPr lang="sv-SE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sv-SE" b="0" i="1" dirty="0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sv-SE" b="0" i="1" dirty="0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sv-SE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v-SE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sv-SE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v-SE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sv-SE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sv-SE" b="0" i="1" dirty="0" smtClean="0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sv-SE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b="1" i="1" dirty="0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sv-SE" b="1" i="1" dirty="0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b>
                          </m:sSub>
                          <m:r>
                            <a:rPr lang="sv-SE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sv-SE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sv-SE" b="0" i="1" dirty="0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b>
                          </m:sSub>
                          <m:r>
                            <a:rPr lang="sv-SE" b="0" i="1" dirty="0" smtClean="0">
                              <a:latin typeface="Cambria Math"/>
                            </a:rPr>
                            <m:t>)</m:t>
                          </m:r>
                          <m:r>
                            <m:rPr>
                              <m:lit/>
                            </m:rPr>
                            <a:rPr lang="sv-SE" b="0" i="1" dirty="0" smtClean="0">
                              <a:latin typeface="Cambria Math"/>
                            </a:rPr>
                            <m:t> </m:t>
                          </m:r>
                          <m:r>
                            <a:rPr lang="sv-SE" b="0" i="1" dirty="0" smtClean="0">
                              <a:latin typeface="Cambria Math"/>
                            </a:rPr>
                            <m:t>∈</m:t>
                          </m:r>
                          <m:r>
                            <a:rPr lang="sv-SE" b="0" i="1" dirty="0" smtClean="0">
                              <a:latin typeface="Cambria Math"/>
                            </a:rPr>
                            <m:t>𝑉</m:t>
                          </m:r>
                        </m:sub>
                        <m:sup/>
                        <m:e>
                          <m:r>
                            <a:rPr lang="sv-SE" b="0" i="1" dirty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sv-SE" b="0" i="1" dirty="0" smtClean="0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sv-SE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sv-SE" b="0" i="1" dirty="0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b>
                          </m:sSub>
                          <m:r>
                            <a:rPr lang="sv-SE" b="0" i="1" dirty="0" smtClean="0">
                              <a:latin typeface="Cambria Math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sv-SE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v-SE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d>
                            <m:dPr>
                              <m:ctrlPr>
                                <a:rPr lang="sv-SE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sv-SE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b="1" i="1" dirty="0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sv-SE" b="1" i="1" dirty="0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b>
                              </m:sSub>
                              <m:r>
                                <a:rPr lang="sv-SE" b="0" i="1" dirty="0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sv-SE" b="0" i="1" dirty="0" smtClean="0">
                                  <a:latin typeface="Cambria Math"/>
                                </a:rPr>
                                <m:t>𝑇</m:t>
                              </m:r>
                              <m:r>
                                <a:rPr lang="sv-SE" b="0" i="1" dirty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sv-SE" b="1" i="1" dirty="0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  <m:r>
                            <a:rPr lang="sv-SE" b="0" i="1" dirty="0" smtClean="0">
                              <a:latin typeface="Cambria Math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sv-SE" dirty="0"/>
              </a:p>
              <a:p>
                <a:pPr lvl="1"/>
                <a:r>
                  <a:rPr lang="sv-SE" dirty="0" err="1"/>
                  <a:t>Model</a:t>
                </a:r>
                <a:r>
                  <a:rPr lang="sv-SE" dirty="0"/>
                  <a:t> is </a:t>
                </a:r>
                <a:r>
                  <a:rPr lang="sv-SE" dirty="0" err="1"/>
                  <a:t>learned</a:t>
                </a:r>
                <a:r>
                  <a:rPr lang="sv-SE" dirty="0"/>
                  <a:t> by Maximum </a:t>
                </a:r>
                <a:r>
                  <a:rPr lang="sv-SE" dirty="0" err="1"/>
                  <a:t>Likelihood</a:t>
                </a:r>
                <a:r>
                  <a:rPr lang="sv-SE" dirty="0"/>
                  <a:t> </a:t>
                </a:r>
                <a:r>
                  <a:rPr lang="sv-SE" dirty="0" err="1"/>
                  <a:t>using</a:t>
                </a:r>
                <a:r>
                  <a:rPr lang="sv-SE" dirty="0"/>
                  <a:t> </a:t>
                </a:r>
                <a:r>
                  <a:rPr lang="sv-SE" dirty="0" err="1"/>
                  <a:t>training</a:t>
                </a:r>
                <a:r>
                  <a:rPr lang="sv-SE" dirty="0"/>
                  <a:t> set</a:t>
                </a:r>
              </a:p>
              <a:p>
                <a:pPr lvl="1"/>
                <a:r>
                  <a:rPr lang="sv-SE" dirty="0" err="1"/>
                  <a:t>Validation</a:t>
                </a:r>
                <a:r>
                  <a:rPr lang="sv-SE" dirty="0"/>
                  <a:t> </a:t>
                </a:r>
                <a:r>
                  <a:rPr lang="sv-SE" dirty="0" err="1"/>
                  <a:t>error</a:t>
                </a:r>
                <a:r>
                  <a:rPr lang="sv-SE" dirty="0"/>
                  <a:t> </a:t>
                </a:r>
                <a:r>
                  <a:rPr lang="sv-SE" dirty="0" err="1"/>
                  <a:t>estimated</a:t>
                </a:r>
                <a:r>
                  <a:rPr lang="sv-SE" dirty="0"/>
                  <a:t> by </a:t>
                </a:r>
                <a:r>
                  <a:rPr lang="sv-SE" dirty="0" err="1"/>
                  <a:t>using</a:t>
                </a:r>
                <a:r>
                  <a:rPr lang="sv-SE" dirty="0"/>
                  <a:t> </a:t>
                </a:r>
                <a:r>
                  <a:rPr lang="sv-SE" dirty="0" err="1"/>
                  <a:t>validation</a:t>
                </a:r>
                <a:r>
                  <a:rPr lang="sv-SE" dirty="0"/>
                  <a:t> set</a:t>
                </a:r>
              </a:p>
              <a:p>
                <a:pPr lvl="1"/>
                <a:r>
                  <a:rPr lang="sv-SE" dirty="0" err="1"/>
                  <a:t>Model</a:t>
                </a:r>
                <a:r>
                  <a:rPr lang="sv-SE" dirty="0"/>
                  <a:t> </a:t>
                </a:r>
                <a:r>
                  <a:rPr lang="sv-SE" dirty="0" err="1"/>
                  <a:t>with</a:t>
                </a:r>
                <a:r>
                  <a:rPr lang="sv-SE" dirty="0"/>
                  <a:t> minimum </a:t>
                </a:r>
                <a:r>
                  <a:rPr lang="sv-SE" dirty="0" err="1"/>
                  <a:t>validation</a:t>
                </a:r>
                <a:r>
                  <a:rPr lang="sv-SE" dirty="0"/>
                  <a:t> </a:t>
                </a:r>
                <a:r>
                  <a:rPr lang="sv-SE" dirty="0" err="1"/>
                  <a:t>error</a:t>
                </a:r>
                <a:r>
                  <a:rPr lang="sv-SE" dirty="0"/>
                  <a:t> is </a:t>
                </a:r>
                <a:r>
                  <a:rPr lang="sv-SE" dirty="0" err="1"/>
                  <a:t>selected</a:t>
                </a:r>
                <a:endParaRPr lang="sv-SE" dirty="0"/>
              </a:p>
              <a:p>
                <a:pPr lvl="1"/>
                <a:endParaRPr lang="sv-SE" dirty="0"/>
              </a:p>
              <a:p>
                <a:r>
                  <a:rPr lang="sv-SE" dirty="0"/>
                  <a:t>Note: </a:t>
                </a:r>
                <a:r>
                  <a:rPr lang="sv-SE" b="1" dirty="0" err="1">
                    <a:solidFill>
                      <a:srgbClr val="0000FF"/>
                    </a:solidFill>
                  </a:rPr>
                  <a:t>training</a:t>
                </a:r>
                <a:r>
                  <a:rPr lang="sv-SE" b="1" dirty="0">
                    <a:solidFill>
                      <a:srgbClr val="0000FF"/>
                    </a:solidFill>
                  </a:rPr>
                  <a:t> </a:t>
                </a:r>
                <a:r>
                  <a:rPr lang="sv-SE" b="1" dirty="0" err="1">
                    <a:solidFill>
                      <a:srgbClr val="0000FF"/>
                    </a:solidFill>
                  </a:rPr>
                  <a:t>error</a:t>
                </a:r>
                <a:r>
                  <a:rPr lang="sv-SE" b="1" dirty="0">
                    <a:solidFill>
                      <a:srgbClr val="0000FF"/>
                    </a:solidFill>
                  </a:rPr>
                  <a:t> </a:t>
                </a:r>
                <a:r>
                  <a:rPr lang="sv-SE" dirty="0" err="1"/>
                  <a:t>can</a:t>
                </a:r>
                <a:r>
                  <a:rPr lang="sv-SE" dirty="0"/>
                  <a:t> be </a:t>
                </a:r>
                <a:r>
                  <a:rPr lang="sv-SE" dirty="0" err="1"/>
                  <a:t>estimated</a:t>
                </a:r>
                <a:r>
                  <a:rPr lang="sv-SE" dirty="0"/>
                  <a:t> by </a:t>
                </a:r>
                <a:r>
                  <a:rPr lang="sv-SE" dirty="0" err="1"/>
                  <a:t>replacing</a:t>
                </a:r>
                <a:r>
                  <a:rPr lang="sv-SE" dirty="0"/>
                  <a:t> V by T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67" t="-2022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11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0965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General </a:t>
            </a:r>
            <a:r>
              <a:rPr lang="sv-SE" dirty="0" err="1"/>
              <a:t>model</a:t>
            </a:r>
            <a:r>
              <a:rPr lang="sv-SE" dirty="0"/>
              <a:t> </a:t>
            </a:r>
            <a:r>
              <a:rPr lang="sv-SE" dirty="0" err="1"/>
              <a:t>selection</a:t>
            </a:r>
            <a:r>
              <a:rPr lang="sv-SE" dirty="0"/>
              <a:t> </a:t>
            </a:r>
            <a:r>
              <a:rPr lang="sv-SE" dirty="0" err="1"/>
              <a:t>strategy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v-SE" sz="2400" dirty="0"/>
                  <a:t>Given data </a:t>
                </a:r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/>
                      </a:rPr>
                      <m:t>𝐷</m:t>
                    </m:r>
                    <m:r>
                      <a:rPr lang="sv-SE" sz="2400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sv-SE" sz="2400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sv-SE" sz="2400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sv-SE" sz="2400" b="0" i="1" smtClean="0">
                            <a:latin typeface="Cambria Math"/>
                          </a:rPr>
                          <m:t>, </m:t>
                        </m:r>
                        <m:r>
                          <a:rPr lang="sv-SE" sz="2400" b="0" i="1" smtClean="0">
                            <a:latin typeface="Cambria Math"/>
                          </a:rPr>
                          <m:t>𝑖</m:t>
                        </m:r>
                        <m:r>
                          <a:rPr lang="sv-SE" sz="2400" b="0" i="1" smtClean="0">
                            <a:latin typeface="Cambria Math"/>
                          </a:rPr>
                          <m:t>=1…</m:t>
                        </m:r>
                        <m:r>
                          <a:rPr lang="sv-SE" sz="2400" b="0" i="1" smtClean="0">
                            <a:latin typeface="Cambria Math"/>
                          </a:rPr>
                          <m:t>𝑛</m:t>
                        </m:r>
                      </m:e>
                    </m:d>
                  </m:oMath>
                </a14:m>
                <a:endParaRPr lang="sv-SE" sz="2800" b="0" dirty="0"/>
              </a:p>
              <a:p>
                <a:endParaRPr lang="sv-SE" sz="2800" dirty="0"/>
              </a:p>
              <a:p>
                <a:endParaRPr lang="sv-SE" sz="2800" dirty="0"/>
              </a:p>
              <a:p>
                <a:endParaRPr lang="sv-SE" sz="2800" dirty="0"/>
              </a:p>
              <a:p>
                <a:endParaRPr lang="sv-SE" sz="2800" dirty="0"/>
              </a:p>
              <a:p>
                <a:r>
                  <a:rPr lang="sv-SE" sz="1800" dirty="0"/>
                  <a:t>At </a:t>
                </a:r>
                <a:r>
                  <a:rPr lang="sv-SE" sz="1800" dirty="0" err="1"/>
                  <a:t>learning</a:t>
                </a:r>
                <a:r>
                  <a:rPr lang="sv-SE" sz="1800" dirty="0"/>
                  <a:t> step, Maximum </a:t>
                </a:r>
                <a:r>
                  <a:rPr lang="sv-SE" sz="1800" dirty="0" err="1"/>
                  <a:t>Likelihood</a:t>
                </a:r>
                <a:r>
                  <a:rPr lang="sv-SE" sz="1800" dirty="0"/>
                  <a:t> is </a:t>
                </a:r>
                <a:r>
                  <a:rPr lang="sv-SE" sz="1800" dirty="0" err="1"/>
                  <a:t>usually</a:t>
                </a:r>
                <a:r>
                  <a:rPr lang="sv-SE" sz="1800" dirty="0"/>
                  <a:t> </a:t>
                </a:r>
                <a:r>
                  <a:rPr lang="sv-SE" sz="1800" dirty="0" err="1"/>
                  <a:t>used</a:t>
                </a:r>
                <a:endParaRPr lang="sv-SE" sz="1800" dirty="0"/>
              </a:p>
              <a:p>
                <a:endParaRPr lang="sv-SE" sz="1800" b="0" i="1" dirty="0">
                  <a:latin typeface="Cambria Math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sv-SE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800" b="0" i="1" smtClean="0"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sv-SE" sz="18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sv-SE" sz="1800" dirty="0"/>
                  <a:t> </a:t>
                </a:r>
                <a:r>
                  <a:rPr lang="sv-SE" sz="1800" dirty="0" err="1"/>
                  <a:t>can</a:t>
                </a:r>
                <a:r>
                  <a:rPr lang="sv-SE" sz="1800" dirty="0"/>
                  <a:t> be different </a:t>
                </a:r>
                <a:r>
                  <a:rPr lang="sv-SE" sz="1800" dirty="0" err="1"/>
                  <a:t>things</a:t>
                </a:r>
                <a:r>
                  <a:rPr lang="sv-SE" sz="1800" dirty="0"/>
                  <a:t>:</a:t>
                </a:r>
              </a:p>
              <a:p>
                <a:pPr lvl="1"/>
                <a:r>
                  <a:rPr lang="sv-SE" sz="1400" dirty="0" err="1"/>
                  <a:t>Type</a:t>
                </a:r>
                <a:r>
                  <a:rPr lang="sv-SE" sz="1400" dirty="0"/>
                  <a:t> </a:t>
                </a:r>
                <a:r>
                  <a:rPr lang="sv-SE" sz="1400" dirty="0" err="1"/>
                  <a:t>of</a:t>
                </a:r>
                <a:r>
                  <a:rPr lang="sv-SE" sz="1400" dirty="0"/>
                  <a:t> distribution</a:t>
                </a:r>
              </a:p>
              <a:p>
                <a:pPr lvl="1"/>
                <a:r>
                  <a:rPr lang="sv-SE" sz="1400" dirty="0" err="1"/>
                  <a:t>Number</a:t>
                </a:r>
                <a:r>
                  <a:rPr lang="sv-SE" sz="1400" dirty="0"/>
                  <a:t> </a:t>
                </a:r>
                <a:r>
                  <a:rPr lang="sv-SE" sz="1400" dirty="0" err="1"/>
                  <a:t>of</a:t>
                </a:r>
                <a:r>
                  <a:rPr lang="sv-SE" sz="1400" dirty="0"/>
                  <a:t> </a:t>
                </a:r>
                <a:r>
                  <a:rPr lang="sv-SE" sz="1400" dirty="0" err="1"/>
                  <a:t>variables</a:t>
                </a:r>
                <a:r>
                  <a:rPr lang="sv-SE" sz="1400" dirty="0"/>
                  <a:t> in the </a:t>
                </a:r>
                <a:r>
                  <a:rPr lang="sv-SE" sz="1400" dirty="0" err="1"/>
                  <a:t>model</a:t>
                </a:r>
                <a:endParaRPr lang="sv-SE" sz="1400" dirty="0"/>
              </a:p>
              <a:p>
                <a:pPr lvl="1"/>
                <a:r>
                  <a:rPr lang="sv-SE" sz="1400"/>
                  <a:t>Regularization</a:t>
                </a:r>
                <a:r>
                  <a:rPr lang="sv-SE" sz="1400" dirty="0"/>
                  <a:t> parameter </a:t>
                </a:r>
                <a:r>
                  <a:rPr lang="sv-SE" sz="1400" dirty="0" err="1"/>
                  <a:t>value</a:t>
                </a:r>
                <a:endParaRPr lang="sv-SE" sz="1400" dirty="0"/>
              </a:p>
              <a:p>
                <a:pPr lvl="1"/>
                <a:r>
                  <a:rPr lang="sv-SE" sz="1400" dirty="0"/>
                  <a:t>…</a:t>
                </a:r>
              </a:p>
              <a:p>
                <a:endParaRPr lang="sv-SE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3" t="-1078" b="-1213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12</a:t>
            </a:fld>
            <a:endParaRPr lang="sv-SE"/>
          </a:p>
        </p:txBody>
      </p:sp>
      <p:sp>
        <p:nvSpPr>
          <p:cNvPr id="6" name="Rounded Rectangle 5"/>
          <p:cNvSpPr/>
          <p:nvPr/>
        </p:nvSpPr>
        <p:spPr>
          <a:xfrm>
            <a:off x="382676" y="2276872"/>
            <a:ext cx="2160240" cy="14401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98700" y="2492896"/>
                <a:ext cx="180020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dirty="0">
                    <a:solidFill>
                      <a:schemeClr val="bg1"/>
                    </a:solidFill>
                  </a:rPr>
                  <a:t>Decide </a:t>
                </a:r>
                <a:r>
                  <a:rPr lang="sv-SE" dirty="0" err="1">
                    <a:solidFill>
                      <a:schemeClr val="bg1"/>
                    </a:solidFill>
                  </a:rPr>
                  <a:t>models</a:t>
                </a:r>
                <a:endParaRPr lang="sv-SE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sv-SE" b="0" i="1" smtClean="0">
                          <a:solidFill>
                            <a:schemeClr val="bg1"/>
                          </a:solidFill>
                          <a:latin typeface="Cambria Math"/>
                        </a:rPr>
                        <m:t>~</m:t>
                      </m:r>
                      <m:r>
                        <a:rPr lang="sv-SE" b="0" i="1" smtClean="0">
                          <a:solidFill>
                            <a:schemeClr val="bg1"/>
                          </a:solidFill>
                          <a:latin typeface="Cambria Math"/>
                        </a:rPr>
                        <m:t>𝑀</m:t>
                      </m:r>
                      <m:r>
                        <a:rPr lang="sv-SE" b="0" i="1" smtClean="0">
                          <a:solidFill>
                            <a:schemeClr val="bg1"/>
                          </a:solidFill>
                          <a:latin typeface="Cambria Math"/>
                        </a:rPr>
                        <m:t>(</m:t>
                      </m:r>
                      <m:r>
                        <a:rPr lang="sv-SE" b="0" i="1" smtClean="0">
                          <a:solidFill>
                            <a:schemeClr val="bg1"/>
                          </a:solidFill>
                          <a:latin typeface="Cambria Math"/>
                        </a:rPr>
                        <m:t>𝑥</m:t>
                      </m:r>
                      <m:r>
                        <a:rPr lang="sv-SE" b="0" i="1" smtClean="0">
                          <a:solidFill>
                            <a:schemeClr val="bg1"/>
                          </a:solidFill>
                          <a:latin typeface="Cambria Math"/>
                        </a:rPr>
                        <m:t>,</m:t>
                      </m:r>
                      <m:r>
                        <a:rPr lang="sv-S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sv-SE" b="0" i="1" smtClean="0">
                          <a:solidFill>
                            <a:schemeClr val="bg1"/>
                          </a:solidFill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sv-S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𝛼</m:t>
                          </m:r>
                        </m:e>
                        <m:sub>
                          <m:r>
                            <a:rPr lang="sv-SE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sv-SE" b="0" i="1" smtClean="0">
                          <a:solidFill>
                            <a:schemeClr val="bg1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sv-SE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sv-SE" i="1">
                          <a:solidFill>
                            <a:schemeClr val="bg1"/>
                          </a:solidFill>
                          <a:latin typeface="Cambria Math"/>
                        </a:rPr>
                        <m:t>~</m:t>
                      </m:r>
                      <m:r>
                        <a:rPr lang="sv-SE" i="1">
                          <a:solidFill>
                            <a:schemeClr val="bg1"/>
                          </a:solidFill>
                          <a:latin typeface="Cambria Math"/>
                        </a:rPr>
                        <m:t>𝑀</m:t>
                      </m:r>
                      <m:d>
                        <m:dPr>
                          <m:ctrlPr>
                            <a:rPr lang="sv-S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sv-SE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sv-S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sv-SE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sv-SE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i="1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sv-SE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sv-SE" dirty="0"/>
              </a:p>
              <a:p>
                <a:r>
                  <a:rPr lang="sv-SE" dirty="0"/>
                  <a:t>…</a:t>
                </a:r>
              </a:p>
              <a:p>
                <a:endParaRPr lang="sv-SE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700" y="2492896"/>
                <a:ext cx="1800200" cy="1477328"/>
              </a:xfrm>
              <a:prstGeom prst="rect">
                <a:avLst/>
              </a:prstGeom>
              <a:blipFill>
                <a:blip r:embed="rId4"/>
                <a:stretch>
                  <a:fillRect l="-2703" t="-2479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3623036" y="2276872"/>
            <a:ext cx="2232248" cy="14401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839060" y="2492896"/>
                <a:ext cx="1872208" cy="9904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dirty="0">
                    <a:solidFill>
                      <a:schemeClr val="bg1"/>
                    </a:solidFill>
                  </a:rPr>
                  <a:t>Fit </a:t>
                </a:r>
                <a:r>
                  <a:rPr lang="sv-SE" dirty="0" err="1">
                    <a:solidFill>
                      <a:schemeClr val="bg1"/>
                    </a:solidFill>
                  </a:rPr>
                  <a:t>models</a:t>
                </a:r>
                <a:endParaRPr lang="sv-SE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sv-SE" i="1">
                          <a:solidFill>
                            <a:schemeClr val="bg1"/>
                          </a:solidFill>
                          <a:latin typeface="Cambria Math"/>
                        </a:rPr>
                        <m:t>~</m:t>
                      </m:r>
                      <m:r>
                        <a:rPr lang="sv-SE" i="1">
                          <a:solidFill>
                            <a:schemeClr val="bg1"/>
                          </a:solidFill>
                          <a:latin typeface="Cambria Math"/>
                        </a:rPr>
                        <m:t>𝑀</m:t>
                      </m:r>
                      <m:r>
                        <a:rPr lang="sv-SE" i="1">
                          <a:solidFill>
                            <a:schemeClr val="bg1"/>
                          </a:solidFill>
                          <a:latin typeface="Cambria Math"/>
                        </a:rPr>
                        <m:t>(</m:t>
                      </m:r>
                      <m:r>
                        <a:rPr lang="sv-SE" i="1">
                          <a:solidFill>
                            <a:schemeClr val="bg1"/>
                          </a:solidFill>
                          <a:latin typeface="Cambria Math"/>
                        </a:rPr>
                        <m:t>𝑥</m:t>
                      </m:r>
                      <m:r>
                        <a:rPr lang="sv-SE" i="1">
                          <a:solidFill>
                            <a:schemeClr val="bg1"/>
                          </a:solidFill>
                          <a:latin typeface="Cambria Math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lang="sv-S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v-S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sv-SE" i="1">
                          <a:solidFill>
                            <a:schemeClr val="bg1"/>
                          </a:solidFill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sv-S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𝛼</m:t>
                          </m:r>
                        </m:e>
                        <m:sub>
                          <m:r>
                            <a:rPr lang="sv-SE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sv-SE" i="1">
                          <a:solidFill>
                            <a:schemeClr val="bg1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sv-SE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sv-SE" i="1">
                          <a:solidFill>
                            <a:schemeClr val="bg1"/>
                          </a:solidFill>
                          <a:latin typeface="Cambria Math"/>
                        </a:rPr>
                        <m:t>~</m:t>
                      </m:r>
                      <m:r>
                        <a:rPr lang="sv-SE" i="1">
                          <a:solidFill>
                            <a:schemeClr val="bg1"/>
                          </a:solidFill>
                          <a:latin typeface="Cambria Math"/>
                        </a:rPr>
                        <m:t>𝑀</m:t>
                      </m:r>
                      <m:d>
                        <m:dPr>
                          <m:ctrlPr>
                            <a:rPr lang="sv-S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sv-SE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sv-S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v-S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  <m:r>
                            <a:rPr lang="sv-SE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sv-SE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i="1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sv-SE" i="1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9060" y="2492896"/>
                <a:ext cx="1872208" cy="990464"/>
              </a:xfrm>
              <a:prstGeom prst="rect">
                <a:avLst/>
              </a:prstGeom>
              <a:blipFill>
                <a:blip r:embed="rId5"/>
                <a:stretch>
                  <a:fillRect l="-2932" t="-3704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719380" y="2240868"/>
            <a:ext cx="2304256" cy="151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1" name="TextBox 10"/>
          <p:cNvSpPr txBox="1"/>
          <p:nvPr/>
        </p:nvSpPr>
        <p:spPr>
          <a:xfrm>
            <a:off x="6863396" y="2492896"/>
            <a:ext cx="20162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>
                <a:solidFill>
                  <a:schemeClr val="bg1"/>
                </a:solidFill>
              </a:rPr>
              <a:t>Select</a:t>
            </a:r>
            <a:r>
              <a:rPr lang="sv-SE" dirty="0">
                <a:solidFill>
                  <a:schemeClr val="bg1"/>
                </a:solidFill>
              </a:rPr>
              <a:t> </a:t>
            </a:r>
            <a:r>
              <a:rPr lang="sv-SE" dirty="0" err="1">
                <a:solidFill>
                  <a:schemeClr val="bg1"/>
                </a:solidFill>
              </a:rPr>
              <a:t>model</a:t>
            </a:r>
            <a:endParaRPr lang="sv-SE" dirty="0">
              <a:solidFill>
                <a:schemeClr val="bg1"/>
              </a:solidFill>
            </a:endParaRPr>
          </a:p>
          <a:p>
            <a:r>
              <a:rPr lang="sv-SE" dirty="0">
                <a:solidFill>
                  <a:schemeClr val="bg1"/>
                </a:solidFill>
              </a:rPr>
              <a:t>..</a:t>
            </a:r>
            <a:r>
              <a:rPr lang="sv-SE" dirty="0" err="1">
                <a:solidFill>
                  <a:schemeClr val="bg1"/>
                </a:solidFill>
              </a:rPr>
              <a:t>that</a:t>
            </a:r>
            <a:r>
              <a:rPr lang="sv-SE" dirty="0">
                <a:solidFill>
                  <a:schemeClr val="bg1"/>
                </a:solidFill>
              </a:rPr>
              <a:t> </a:t>
            </a:r>
            <a:r>
              <a:rPr lang="sv-SE" dirty="0" err="1">
                <a:solidFill>
                  <a:schemeClr val="bg1"/>
                </a:solidFill>
              </a:rPr>
              <a:t>minimizes</a:t>
            </a:r>
            <a:r>
              <a:rPr lang="sv-SE" dirty="0">
                <a:solidFill>
                  <a:schemeClr val="bg1"/>
                </a:solidFill>
              </a:rPr>
              <a:t> the </a:t>
            </a:r>
            <a:r>
              <a:rPr lang="sv-SE" dirty="0" err="1">
                <a:solidFill>
                  <a:schemeClr val="bg1"/>
                </a:solidFill>
              </a:rPr>
              <a:t>empirical</a:t>
            </a:r>
            <a:r>
              <a:rPr lang="sv-SE" dirty="0">
                <a:solidFill>
                  <a:schemeClr val="bg1"/>
                </a:solidFill>
              </a:rPr>
              <a:t> risk</a:t>
            </a:r>
          </a:p>
        </p:txBody>
      </p:sp>
      <p:cxnSp>
        <p:nvCxnSpPr>
          <p:cNvPr id="13" name="Straight Arrow Connector 12"/>
          <p:cNvCxnSpPr>
            <a:stCxn id="6" idx="3"/>
            <a:endCxn id="8" idx="1"/>
          </p:cNvCxnSpPr>
          <p:nvPr/>
        </p:nvCxnSpPr>
        <p:spPr>
          <a:xfrm>
            <a:off x="2542916" y="2996952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8" idx="3"/>
            <a:endCxn id="10" idx="1"/>
          </p:cNvCxnSpPr>
          <p:nvPr/>
        </p:nvCxnSpPr>
        <p:spPr>
          <a:xfrm>
            <a:off x="5855284" y="2996952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614924" y="2420888"/>
            <a:ext cx="79208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100" dirty="0">
                <a:solidFill>
                  <a:srgbClr val="C00000"/>
                </a:solidFill>
              </a:rPr>
              <a:t>Learning step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1288" y="2486026"/>
            <a:ext cx="79208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100" dirty="0">
                <a:solidFill>
                  <a:srgbClr val="C00000"/>
                </a:solidFill>
              </a:rPr>
              <a:t>Decision step</a:t>
            </a:r>
          </a:p>
        </p:txBody>
      </p:sp>
    </p:spTree>
    <p:extLst>
      <p:ext uri="{BB962C8B-B14F-4D97-AF65-F5344CB8AC3E}">
        <p14:creationId xmlns:p14="http://schemas.microsoft.com/office/powerpoint/2010/main" val="1001425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v-SE" dirty="0"/>
              <a:t>Hold-out method</a:t>
            </a:r>
          </a:p>
        </p:txBody>
      </p:sp>
      <p:sp>
        <p:nvSpPr>
          <p:cNvPr id="18435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n-US" altLang="sv-SE" dirty="0"/>
              <a:t>Divide into training, validation and test sets</a:t>
            </a:r>
          </a:p>
          <a:p>
            <a:pPr eaLnBrk="1" hangingPunct="1"/>
            <a:endParaRPr lang="en-US" altLang="sv-SE" dirty="0"/>
          </a:p>
          <a:p>
            <a:pPr eaLnBrk="1" hangingPunct="1"/>
            <a:endParaRPr lang="en-US" altLang="sv-SE" dirty="0"/>
          </a:p>
          <a:p>
            <a:pPr eaLnBrk="1" hangingPunct="1"/>
            <a:r>
              <a:rPr lang="en-US" altLang="sv-SE" dirty="0"/>
              <a:t>Choose proportions in some way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18437" name="Text Box 6"/>
          <p:cNvSpPr txBox="1">
            <a:spLocks noChangeArrowheads="1"/>
          </p:cNvSpPr>
          <p:nvPr/>
        </p:nvSpPr>
        <p:spPr bwMode="auto">
          <a:xfrm>
            <a:off x="1692275" y="2565400"/>
            <a:ext cx="2232025" cy="406400"/>
          </a:xfrm>
          <a:prstGeom prst="rect">
            <a:avLst/>
          </a:prstGeom>
          <a:solidFill>
            <a:srgbClr val="CCFFCC"/>
          </a:solidFill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sv-SE" altLang="sv-SE" sz="2000"/>
              <a:t>Training</a:t>
            </a:r>
            <a:endParaRPr lang="en-US" altLang="sv-SE" sz="2000"/>
          </a:p>
        </p:txBody>
      </p:sp>
      <p:sp>
        <p:nvSpPr>
          <p:cNvPr id="18438" name="Text Box 7"/>
          <p:cNvSpPr txBox="1">
            <a:spLocks noChangeArrowheads="1"/>
          </p:cNvSpPr>
          <p:nvPr/>
        </p:nvSpPr>
        <p:spPr bwMode="auto">
          <a:xfrm>
            <a:off x="3924300" y="2565400"/>
            <a:ext cx="1800225" cy="406400"/>
          </a:xfrm>
          <a:prstGeom prst="rect">
            <a:avLst/>
          </a:prstGeom>
          <a:solidFill>
            <a:srgbClr val="FFFFCC"/>
          </a:solidFill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sv-SE" altLang="sv-SE" sz="2000"/>
              <a:t>Validation</a:t>
            </a:r>
            <a:endParaRPr lang="en-US" altLang="sv-SE" sz="2000"/>
          </a:p>
        </p:txBody>
      </p:sp>
      <p:sp>
        <p:nvSpPr>
          <p:cNvPr id="18439" name="Text Box 8"/>
          <p:cNvSpPr txBox="1">
            <a:spLocks noChangeArrowheads="1"/>
          </p:cNvSpPr>
          <p:nvPr/>
        </p:nvSpPr>
        <p:spPr bwMode="auto">
          <a:xfrm>
            <a:off x="5724525" y="2565400"/>
            <a:ext cx="1800225" cy="406400"/>
          </a:xfrm>
          <a:prstGeom prst="rect">
            <a:avLst/>
          </a:prstGeom>
          <a:solidFill>
            <a:srgbClr val="CCFFFF"/>
          </a:solidFill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sv-SE" altLang="sv-SE" sz="2000"/>
              <a:t>Test</a:t>
            </a:r>
            <a:endParaRPr lang="en-US" altLang="sv-SE" sz="200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13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047358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v-SE" dirty="0"/>
              <a:t>Hold-out method</a:t>
            </a:r>
          </a:p>
        </p:txBody>
      </p:sp>
      <p:sp>
        <p:nvSpPr>
          <p:cNvPr id="19459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sv-SE"/>
              <a:t>Given: training, validation, test sets  and models to select between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643063" y="3143250"/>
            <a:ext cx="1285875" cy="7143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sv-SE" dirty="0">
                <a:solidFill>
                  <a:schemeClr val="tx1"/>
                </a:solidFill>
              </a:rPr>
              <a:t>M1(?,?)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500438" y="3143250"/>
            <a:ext cx="1357312" cy="7143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sv-SE" dirty="0">
                <a:solidFill>
                  <a:schemeClr val="tx1"/>
                </a:solidFill>
              </a:rPr>
              <a:t>M2(?,?,?)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500688" y="3143250"/>
            <a:ext cx="1428750" cy="7143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sv-SE" dirty="0"/>
              <a:t>M3(?,?,?,?,?)</a:t>
            </a:r>
          </a:p>
        </p:txBody>
      </p:sp>
      <p:sp>
        <p:nvSpPr>
          <p:cNvPr id="19464" name="Text Box 6"/>
          <p:cNvSpPr txBox="1">
            <a:spLocks noChangeArrowheads="1"/>
          </p:cNvSpPr>
          <p:nvPr/>
        </p:nvSpPr>
        <p:spPr bwMode="auto">
          <a:xfrm>
            <a:off x="1411288" y="4786313"/>
            <a:ext cx="2232025" cy="406400"/>
          </a:xfrm>
          <a:prstGeom prst="rect">
            <a:avLst/>
          </a:prstGeom>
          <a:solidFill>
            <a:srgbClr val="CCFFCC"/>
          </a:solidFill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sv-SE" altLang="sv-SE" sz="2000"/>
              <a:t>Training</a:t>
            </a:r>
            <a:endParaRPr lang="en-US" altLang="sv-SE" sz="2000"/>
          </a:p>
        </p:txBody>
      </p:sp>
      <p:sp>
        <p:nvSpPr>
          <p:cNvPr id="19465" name="Text Box 7"/>
          <p:cNvSpPr txBox="1">
            <a:spLocks noChangeArrowheads="1"/>
          </p:cNvSpPr>
          <p:nvPr/>
        </p:nvSpPr>
        <p:spPr bwMode="auto">
          <a:xfrm>
            <a:off x="3643313" y="4786313"/>
            <a:ext cx="1800225" cy="406400"/>
          </a:xfrm>
          <a:prstGeom prst="rect">
            <a:avLst/>
          </a:prstGeom>
          <a:solidFill>
            <a:srgbClr val="FFFFCC"/>
          </a:solidFill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sv-SE" altLang="sv-SE" sz="2000"/>
              <a:t>Validation</a:t>
            </a:r>
            <a:endParaRPr lang="en-US" altLang="sv-SE" sz="2000"/>
          </a:p>
        </p:txBody>
      </p:sp>
      <p:sp>
        <p:nvSpPr>
          <p:cNvPr id="19466" name="Text Box 8"/>
          <p:cNvSpPr txBox="1">
            <a:spLocks noChangeArrowheads="1"/>
          </p:cNvSpPr>
          <p:nvPr/>
        </p:nvSpPr>
        <p:spPr bwMode="auto">
          <a:xfrm>
            <a:off x="5443538" y="4786313"/>
            <a:ext cx="1800225" cy="406400"/>
          </a:xfrm>
          <a:prstGeom prst="rect">
            <a:avLst/>
          </a:prstGeom>
          <a:solidFill>
            <a:srgbClr val="CCFFFF"/>
          </a:solidFill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sv-SE" altLang="sv-SE" sz="2000"/>
              <a:t>Test</a:t>
            </a:r>
            <a:endParaRPr lang="en-US" altLang="sv-SE" sz="200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14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75160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v-SE" dirty="0"/>
              <a:t>Hold-out method</a:t>
            </a:r>
          </a:p>
        </p:txBody>
      </p:sp>
      <p:sp>
        <p:nvSpPr>
          <p:cNvPr id="20483" name="Содержимое 2"/>
          <p:cNvSpPr>
            <a:spLocks noGrp="1"/>
          </p:cNvSpPr>
          <p:nvPr>
            <p:ph idx="1"/>
          </p:nvPr>
        </p:nvSpPr>
        <p:spPr>
          <a:xfrm>
            <a:off x="453232" y="1916832"/>
            <a:ext cx="8229600" cy="4389437"/>
          </a:xfrm>
        </p:spPr>
        <p:txBody>
          <a:bodyPr/>
          <a:lstStyle/>
          <a:p>
            <a:pPr eaLnBrk="1" hangingPunct="1"/>
            <a:r>
              <a:rPr lang="en-US" altLang="sv-SE" dirty="0"/>
              <a:t>Training set is to used for fitting models to the dataset by using </a:t>
            </a:r>
            <a:r>
              <a:rPr lang="sv-SE" altLang="sv-SE" dirty="0"/>
              <a:t>given loss </a:t>
            </a:r>
            <a:r>
              <a:rPr lang="sv-SE" altLang="sv-SE" dirty="0" err="1"/>
              <a:t>function</a:t>
            </a:r>
            <a:endParaRPr lang="en-US" altLang="sv-SE" dirty="0"/>
          </a:p>
          <a:p>
            <a:pPr eaLnBrk="1" hangingPunct="1"/>
            <a:endParaRPr lang="en-US" altLang="sv-SE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643063" y="3143250"/>
            <a:ext cx="1285875" cy="7143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sv-SE" dirty="0">
                <a:solidFill>
                  <a:schemeClr val="tx1"/>
                </a:solidFill>
              </a:rPr>
              <a:t>M1(a1,b1)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500438" y="3143250"/>
            <a:ext cx="1571625" cy="7143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sv-SE" dirty="0">
                <a:solidFill>
                  <a:schemeClr val="tx1"/>
                </a:solidFill>
              </a:rPr>
              <a:t>M2(a2,b2,c2)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500688" y="3143250"/>
            <a:ext cx="2214562" cy="7143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sv-SE" dirty="0"/>
              <a:t>M3(a3,b3,c3,d3,e3)</a:t>
            </a:r>
          </a:p>
        </p:txBody>
      </p:sp>
      <p:sp>
        <p:nvSpPr>
          <p:cNvPr id="20488" name="Text Box 6"/>
          <p:cNvSpPr txBox="1">
            <a:spLocks noChangeArrowheads="1"/>
          </p:cNvSpPr>
          <p:nvPr/>
        </p:nvSpPr>
        <p:spPr bwMode="auto">
          <a:xfrm>
            <a:off x="1411288" y="4786313"/>
            <a:ext cx="2232025" cy="406400"/>
          </a:xfrm>
          <a:prstGeom prst="rect">
            <a:avLst/>
          </a:prstGeom>
          <a:solidFill>
            <a:srgbClr val="CCFFCC"/>
          </a:solidFill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sv-SE" altLang="sv-SE" sz="2000"/>
              <a:t>Training</a:t>
            </a:r>
            <a:endParaRPr lang="en-US" altLang="sv-SE" sz="2000"/>
          </a:p>
        </p:txBody>
      </p:sp>
      <p:sp>
        <p:nvSpPr>
          <p:cNvPr id="20489" name="Text Box 7"/>
          <p:cNvSpPr txBox="1">
            <a:spLocks noChangeArrowheads="1"/>
          </p:cNvSpPr>
          <p:nvPr/>
        </p:nvSpPr>
        <p:spPr bwMode="auto">
          <a:xfrm>
            <a:off x="3643313" y="4786313"/>
            <a:ext cx="1800225" cy="406400"/>
          </a:xfrm>
          <a:prstGeom prst="rect">
            <a:avLst/>
          </a:prstGeom>
          <a:solidFill>
            <a:srgbClr val="FFFFCC"/>
          </a:solidFill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sv-SE" altLang="sv-SE" sz="2000"/>
              <a:t>Validation</a:t>
            </a:r>
            <a:endParaRPr lang="en-US" altLang="sv-SE" sz="2000"/>
          </a:p>
        </p:txBody>
      </p:sp>
      <p:sp>
        <p:nvSpPr>
          <p:cNvPr id="20490" name="Text Box 8"/>
          <p:cNvSpPr txBox="1">
            <a:spLocks noChangeArrowheads="1"/>
          </p:cNvSpPr>
          <p:nvPr/>
        </p:nvSpPr>
        <p:spPr bwMode="auto">
          <a:xfrm>
            <a:off x="5443538" y="4786313"/>
            <a:ext cx="1800225" cy="406400"/>
          </a:xfrm>
          <a:prstGeom prst="rect">
            <a:avLst/>
          </a:prstGeom>
          <a:solidFill>
            <a:srgbClr val="CCFFFF"/>
          </a:solidFill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sv-SE" altLang="sv-SE" sz="2000"/>
              <a:t>Test</a:t>
            </a:r>
            <a:endParaRPr lang="en-US" altLang="sv-SE" sz="2000"/>
          </a:p>
        </p:txBody>
      </p:sp>
      <p:cxnSp>
        <p:nvCxnSpPr>
          <p:cNvPr id="11" name="Прямая со стрелкой 10"/>
          <p:cNvCxnSpPr>
            <a:stCxn id="4" idx="2"/>
            <a:endCxn id="20488" idx="0"/>
          </p:cNvCxnSpPr>
          <p:nvPr/>
        </p:nvCxnSpPr>
        <p:spPr>
          <a:xfrm rot="16200000" flipH="1">
            <a:off x="1942306" y="4201319"/>
            <a:ext cx="928688" cy="2413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>
            <a:stCxn id="5" idx="2"/>
            <a:endCxn id="20488" idx="0"/>
          </p:cNvCxnSpPr>
          <p:nvPr/>
        </p:nvCxnSpPr>
        <p:spPr>
          <a:xfrm rot="5400000">
            <a:off x="2942431" y="3442494"/>
            <a:ext cx="928688" cy="17589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stCxn id="6" idx="2"/>
            <a:endCxn id="20488" idx="0"/>
          </p:cNvCxnSpPr>
          <p:nvPr/>
        </p:nvCxnSpPr>
        <p:spPr>
          <a:xfrm rot="5400000">
            <a:off x="4103688" y="2281237"/>
            <a:ext cx="928688" cy="408146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15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48342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v-SE" dirty="0"/>
              <a:t>Hold-out method</a:t>
            </a:r>
          </a:p>
        </p:txBody>
      </p:sp>
      <p:sp>
        <p:nvSpPr>
          <p:cNvPr id="21507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sv-SE" dirty="0"/>
              <a:t>Validation set is used to choose the best model (lowest risk)</a:t>
            </a: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643063" y="3143250"/>
            <a:ext cx="1285875" cy="7143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sv-SE" dirty="0">
                <a:solidFill>
                  <a:schemeClr val="tx1"/>
                </a:solidFill>
              </a:rPr>
              <a:t>M1(a1,b1)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3500438" y="3143250"/>
            <a:ext cx="1571625" cy="7143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sv-SE" dirty="0">
                <a:solidFill>
                  <a:schemeClr val="tx1"/>
                </a:solidFill>
              </a:rPr>
              <a:t>M2(a2,b2,c2)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5500688" y="3143250"/>
            <a:ext cx="2214562" cy="7143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sv-SE" dirty="0"/>
              <a:t>M3(a3,b3,c3,d3,e3)</a:t>
            </a:r>
          </a:p>
        </p:txBody>
      </p:sp>
      <p:sp>
        <p:nvSpPr>
          <p:cNvPr id="21512" name="Text Box 6"/>
          <p:cNvSpPr txBox="1">
            <a:spLocks noChangeArrowheads="1"/>
          </p:cNvSpPr>
          <p:nvPr/>
        </p:nvSpPr>
        <p:spPr bwMode="auto">
          <a:xfrm>
            <a:off x="1411288" y="4786313"/>
            <a:ext cx="2232025" cy="406400"/>
          </a:xfrm>
          <a:prstGeom prst="rect">
            <a:avLst/>
          </a:prstGeom>
          <a:solidFill>
            <a:srgbClr val="CCFFCC"/>
          </a:solidFill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sv-SE" altLang="sv-SE" sz="2000" dirty="0" err="1"/>
              <a:t>Traning</a:t>
            </a:r>
            <a:endParaRPr lang="en-US" altLang="sv-SE" sz="2000" dirty="0"/>
          </a:p>
        </p:txBody>
      </p:sp>
      <p:sp>
        <p:nvSpPr>
          <p:cNvPr id="21513" name="Text Box 7"/>
          <p:cNvSpPr txBox="1">
            <a:spLocks noChangeArrowheads="1"/>
          </p:cNvSpPr>
          <p:nvPr/>
        </p:nvSpPr>
        <p:spPr bwMode="auto">
          <a:xfrm>
            <a:off x="3643313" y="4786313"/>
            <a:ext cx="1800225" cy="406400"/>
          </a:xfrm>
          <a:prstGeom prst="rect">
            <a:avLst/>
          </a:prstGeom>
          <a:solidFill>
            <a:srgbClr val="FFFFCC"/>
          </a:solidFill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sv-SE" altLang="sv-SE" sz="2000" dirty="0" err="1"/>
              <a:t>Validation</a:t>
            </a:r>
            <a:endParaRPr lang="en-US" altLang="sv-SE" sz="2000" dirty="0"/>
          </a:p>
        </p:txBody>
      </p:sp>
      <p:sp>
        <p:nvSpPr>
          <p:cNvPr id="21514" name="Text Box 8"/>
          <p:cNvSpPr txBox="1">
            <a:spLocks noChangeArrowheads="1"/>
          </p:cNvSpPr>
          <p:nvPr/>
        </p:nvSpPr>
        <p:spPr bwMode="auto">
          <a:xfrm>
            <a:off x="5443538" y="4786313"/>
            <a:ext cx="1800225" cy="406400"/>
          </a:xfrm>
          <a:prstGeom prst="rect">
            <a:avLst/>
          </a:prstGeom>
          <a:solidFill>
            <a:srgbClr val="CCFFFF"/>
          </a:solidFill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sv-SE" altLang="sv-SE" sz="2000"/>
              <a:t>Test</a:t>
            </a:r>
            <a:endParaRPr lang="en-US" altLang="sv-SE" sz="2000"/>
          </a:p>
        </p:txBody>
      </p:sp>
      <p:cxnSp>
        <p:nvCxnSpPr>
          <p:cNvPr id="11" name="Прямая со стрелкой 10"/>
          <p:cNvCxnSpPr>
            <a:stCxn id="5" idx="2"/>
            <a:endCxn id="21513" idx="0"/>
          </p:cNvCxnSpPr>
          <p:nvPr/>
        </p:nvCxnSpPr>
        <p:spPr>
          <a:xfrm rot="16200000" flipH="1">
            <a:off x="2950369" y="3193256"/>
            <a:ext cx="928688" cy="22574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>
            <a:stCxn id="6" idx="2"/>
            <a:endCxn id="21513" idx="0"/>
          </p:cNvCxnSpPr>
          <p:nvPr/>
        </p:nvCxnSpPr>
        <p:spPr>
          <a:xfrm rot="16200000" flipH="1">
            <a:off x="3950494" y="4193381"/>
            <a:ext cx="928688" cy="2571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>
            <a:stCxn id="7" idx="2"/>
            <a:endCxn id="21513" idx="0"/>
          </p:cNvCxnSpPr>
          <p:nvPr/>
        </p:nvCxnSpPr>
        <p:spPr>
          <a:xfrm rot="5400000">
            <a:off x="5111750" y="3289300"/>
            <a:ext cx="928688" cy="20653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Овал 16"/>
          <p:cNvSpPr/>
          <p:nvPr/>
        </p:nvSpPr>
        <p:spPr>
          <a:xfrm>
            <a:off x="3286125" y="2714625"/>
            <a:ext cx="2000250" cy="15001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sv-SE" dirty="0">
                <a:solidFill>
                  <a:srgbClr val="FF0000"/>
                </a:solidFill>
              </a:rPr>
              <a:t>Best!</a:t>
            </a:r>
          </a:p>
          <a:p>
            <a:pPr algn="ctr">
              <a:defRPr/>
            </a:pPr>
            <a:endParaRPr lang="sv-SE" dirty="0"/>
          </a:p>
          <a:p>
            <a:pPr algn="ctr">
              <a:defRPr/>
            </a:pPr>
            <a:endParaRPr lang="sv-SE" dirty="0"/>
          </a:p>
          <a:p>
            <a:pPr algn="ctr">
              <a:defRPr/>
            </a:pPr>
            <a:endParaRPr lang="sv-SE" dirty="0"/>
          </a:p>
          <a:p>
            <a:pPr algn="ctr">
              <a:defRPr/>
            </a:pPr>
            <a:endParaRPr lang="sv-S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16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56566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v-SE" dirty="0"/>
              <a:t>Hold-out method</a:t>
            </a:r>
            <a:endParaRPr lang="sv-SE" altLang="sv-SE" dirty="0"/>
          </a:p>
        </p:txBody>
      </p:sp>
      <p:sp>
        <p:nvSpPr>
          <p:cNvPr id="22531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sv-SE" dirty="0"/>
              <a:t>Test set is used to test a performance on a new data</a:t>
            </a: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500438" y="3143250"/>
            <a:ext cx="1571625" cy="7143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sv-SE" dirty="0">
                <a:solidFill>
                  <a:schemeClr val="tx1"/>
                </a:solidFill>
              </a:rPr>
              <a:t>M2(a2,b2,c2)</a:t>
            </a:r>
          </a:p>
        </p:txBody>
      </p:sp>
      <p:sp>
        <p:nvSpPr>
          <p:cNvPr id="22534" name="Text Box 6"/>
          <p:cNvSpPr txBox="1">
            <a:spLocks noChangeArrowheads="1"/>
          </p:cNvSpPr>
          <p:nvPr/>
        </p:nvSpPr>
        <p:spPr bwMode="auto">
          <a:xfrm>
            <a:off x="1411288" y="4786313"/>
            <a:ext cx="2232025" cy="406400"/>
          </a:xfrm>
          <a:prstGeom prst="rect">
            <a:avLst/>
          </a:prstGeom>
          <a:solidFill>
            <a:srgbClr val="CCFFCC"/>
          </a:solidFill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sv-SE" altLang="sv-SE" sz="2000"/>
              <a:t>Training</a:t>
            </a:r>
            <a:endParaRPr lang="en-US" altLang="sv-SE" sz="2000"/>
          </a:p>
        </p:txBody>
      </p:sp>
      <p:sp>
        <p:nvSpPr>
          <p:cNvPr id="22535" name="Text Box 7"/>
          <p:cNvSpPr txBox="1">
            <a:spLocks noChangeArrowheads="1"/>
          </p:cNvSpPr>
          <p:nvPr/>
        </p:nvSpPr>
        <p:spPr bwMode="auto">
          <a:xfrm>
            <a:off x="3643313" y="4786313"/>
            <a:ext cx="1800225" cy="406400"/>
          </a:xfrm>
          <a:prstGeom prst="rect">
            <a:avLst/>
          </a:prstGeom>
          <a:solidFill>
            <a:srgbClr val="FFFFCC"/>
          </a:solidFill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sv-SE" altLang="sv-SE" sz="2000"/>
              <a:t>Validation</a:t>
            </a:r>
            <a:endParaRPr lang="en-US" altLang="sv-SE" sz="2000"/>
          </a:p>
        </p:txBody>
      </p:sp>
      <p:sp>
        <p:nvSpPr>
          <p:cNvPr id="22536" name="Text Box 8"/>
          <p:cNvSpPr txBox="1">
            <a:spLocks noChangeArrowheads="1"/>
          </p:cNvSpPr>
          <p:nvPr/>
        </p:nvSpPr>
        <p:spPr bwMode="auto">
          <a:xfrm>
            <a:off x="5443538" y="4786313"/>
            <a:ext cx="1800225" cy="406400"/>
          </a:xfrm>
          <a:prstGeom prst="rect">
            <a:avLst/>
          </a:prstGeom>
          <a:solidFill>
            <a:srgbClr val="CCFFFF"/>
          </a:solidFill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sv-SE" altLang="sv-SE" sz="2000"/>
              <a:t>Test</a:t>
            </a:r>
            <a:endParaRPr lang="en-US" altLang="sv-SE" sz="2000"/>
          </a:p>
        </p:txBody>
      </p:sp>
      <p:cxnSp>
        <p:nvCxnSpPr>
          <p:cNvPr id="11" name="Прямая со стрелкой 10"/>
          <p:cNvCxnSpPr>
            <a:stCxn id="5" idx="2"/>
          </p:cNvCxnSpPr>
          <p:nvPr/>
        </p:nvCxnSpPr>
        <p:spPr>
          <a:xfrm rot="16200000" flipH="1">
            <a:off x="4786313" y="3357562"/>
            <a:ext cx="928688" cy="19288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17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791219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v-SE" dirty="0"/>
              <a:t>Hold-out method</a:t>
            </a:r>
          </a:p>
        </p:txBody>
      </p:sp>
      <p:sp>
        <p:nvSpPr>
          <p:cNvPr id="98" name="Footer Placeholder 9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85750" y="2786063"/>
            <a:ext cx="2786063" cy="3429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cxnSp>
        <p:nvCxnSpPr>
          <p:cNvPr id="5" name="Прямая со стрелкой 4"/>
          <p:cNvCxnSpPr/>
          <p:nvPr/>
        </p:nvCxnSpPr>
        <p:spPr>
          <a:xfrm rot="5400000" flipH="1" flipV="1">
            <a:off x="-1035844" y="4536282"/>
            <a:ext cx="3214687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Прямая со стрелкой 5"/>
          <p:cNvCxnSpPr/>
          <p:nvPr/>
        </p:nvCxnSpPr>
        <p:spPr>
          <a:xfrm>
            <a:off x="571500" y="6143625"/>
            <a:ext cx="2428875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Овал 6"/>
          <p:cNvSpPr/>
          <p:nvPr/>
        </p:nvSpPr>
        <p:spPr>
          <a:xfrm>
            <a:off x="2928938" y="4000500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8" name="Овал 7"/>
          <p:cNvSpPr/>
          <p:nvPr/>
        </p:nvSpPr>
        <p:spPr>
          <a:xfrm>
            <a:off x="1214438" y="5643563"/>
            <a:ext cx="71437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9" name="Овал 8"/>
          <p:cNvSpPr/>
          <p:nvPr/>
        </p:nvSpPr>
        <p:spPr>
          <a:xfrm>
            <a:off x="2643188" y="4429125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10" name="Овал 9"/>
          <p:cNvSpPr/>
          <p:nvPr/>
        </p:nvSpPr>
        <p:spPr>
          <a:xfrm>
            <a:off x="2500313" y="4857750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11" name="Овал 10"/>
          <p:cNvSpPr/>
          <p:nvPr/>
        </p:nvSpPr>
        <p:spPr>
          <a:xfrm>
            <a:off x="928688" y="5857875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12" name="Овал 11"/>
          <p:cNvSpPr/>
          <p:nvPr/>
        </p:nvSpPr>
        <p:spPr>
          <a:xfrm>
            <a:off x="714375" y="5857875"/>
            <a:ext cx="71438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13" name="Овал 12"/>
          <p:cNvSpPr/>
          <p:nvPr/>
        </p:nvSpPr>
        <p:spPr>
          <a:xfrm>
            <a:off x="2286000" y="4857750"/>
            <a:ext cx="71438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14" name="Овал 13"/>
          <p:cNvSpPr/>
          <p:nvPr/>
        </p:nvSpPr>
        <p:spPr>
          <a:xfrm>
            <a:off x="2214563" y="5214938"/>
            <a:ext cx="71437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15" name="Овал 14"/>
          <p:cNvSpPr/>
          <p:nvPr/>
        </p:nvSpPr>
        <p:spPr>
          <a:xfrm>
            <a:off x="2071688" y="5643563"/>
            <a:ext cx="71437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16" name="Овал 15"/>
          <p:cNvSpPr/>
          <p:nvPr/>
        </p:nvSpPr>
        <p:spPr>
          <a:xfrm>
            <a:off x="1428750" y="5715000"/>
            <a:ext cx="71438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17" name="Овал 16"/>
          <p:cNvSpPr/>
          <p:nvPr/>
        </p:nvSpPr>
        <p:spPr>
          <a:xfrm>
            <a:off x="1857375" y="5500688"/>
            <a:ext cx="71438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18" name="Овал 17"/>
          <p:cNvSpPr/>
          <p:nvPr/>
        </p:nvSpPr>
        <p:spPr>
          <a:xfrm>
            <a:off x="1643063" y="5572125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19" name="Овал 18"/>
          <p:cNvSpPr/>
          <p:nvPr/>
        </p:nvSpPr>
        <p:spPr>
          <a:xfrm>
            <a:off x="3714750" y="3929063"/>
            <a:ext cx="71438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20" name="Овал 19"/>
          <p:cNvSpPr/>
          <p:nvPr/>
        </p:nvSpPr>
        <p:spPr>
          <a:xfrm>
            <a:off x="3429000" y="4357688"/>
            <a:ext cx="71438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21" name="Овал 20"/>
          <p:cNvSpPr/>
          <p:nvPr/>
        </p:nvSpPr>
        <p:spPr>
          <a:xfrm>
            <a:off x="3286125" y="4786313"/>
            <a:ext cx="71438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22" name="Прямоугольник 21"/>
          <p:cNvSpPr/>
          <p:nvPr/>
        </p:nvSpPr>
        <p:spPr>
          <a:xfrm>
            <a:off x="6215063" y="2786063"/>
            <a:ext cx="2786062" cy="3429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cxnSp>
        <p:nvCxnSpPr>
          <p:cNvPr id="23" name="Прямая со стрелкой 22"/>
          <p:cNvCxnSpPr/>
          <p:nvPr/>
        </p:nvCxnSpPr>
        <p:spPr>
          <a:xfrm rot="5400000" flipH="1" flipV="1">
            <a:off x="4894263" y="4535488"/>
            <a:ext cx="3214687" cy="15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>
            <a:off x="6500813" y="6143625"/>
            <a:ext cx="2428875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8858250" y="4000500"/>
            <a:ext cx="71438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26" name="Овал 25"/>
          <p:cNvSpPr/>
          <p:nvPr/>
        </p:nvSpPr>
        <p:spPr>
          <a:xfrm>
            <a:off x="7143750" y="5643563"/>
            <a:ext cx="71438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27" name="Овал 26"/>
          <p:cNvSpPr/>
          <p:nvPr/>
        </p:nvSpPr>
        <p:spPr>
          <a:xfrm>
            <a:off x="8572500" y="4429125"/>
            <a:ext cx="71438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28" name="Овал 27"/>
          <p:cNvSpPr/>
          <p:nvPr/>
        </p:nvSpPr>
        <p:spPr>
          <a:xfrm>
            <a:off x="8429625" y="4857750"/>
            <a:ext cx="71438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29" name="Овал 28"/>
          <p:cNvSpPr/>
          <p:nvPr/>
        </p:nvSpPr>
        <p:spPr>
          <a:xfrm>
            <a:off x="6858000" y="5857875"/>
            <a:ext cx="71438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30" name="Овал 29"/>
          <p:cNvSpPr/>
          <p:nvPr/>
        </p:nvSpPr>
        <p:spPr>
          <a:xfrm>
            <a:off x="6643688" y="5857875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31" name="Овал 30"/>
          <p:cNvSpPr/>
          <p:nvPr/>
        </p:nvSpPr>
        <p:spPr>
          <a:xfrm>
            <a:off x="8215313" y="4857750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32" name="Овал 31"/>
          <p:cNvSpPr/>
          <p:nvPr/>
        </p:nvSpPr>
        <p:spPr>
          <a:xfrm>
            <a:off x="8143875" y="5214938"/>
            <a:ext cx="71438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33" name="Овал 32"/>
          <p:cNvSpPr/>
          <p:nvPr/>
        </p:nvSpPr>
        <p:spPr>
          <a:xfrm>
            <a:off x="8001000" y="5643563"/>
            <a:ext cx="71438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34" name="Овал 33"/>
          <p:cNvSpPr/>
          <p:nvPr/>
        </p:nvSpPr>
        <p:spPr>
          <a:xfrm>
            <a:off x="7358063" y="5715000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35" name="Овал 34"/>
          <p:cNvSpPr/>
          <p:nvPr/>
        </p:nvSpPr>
        <p:spPr>
          <a:xfrm>
            <a:off x="7786688" y="5500688"/>
            <a:ext cx="71437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36" name="Овал 35"/>
          <p:cNvSpPr/>
          <p:nvPr/>
        </p:nvSpPr>
        <p:spPr>
          <a:xfrm>
            <a:off x="7572375" y="5572125"/>
            <a:ext cx="71438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37" name="Прямоугольник 36"/>
          <p:cNvSpPr/>
          <p:nvPr/>
        </p:nvSpPr>
        <p:spPr>
          <a:xfrm>
            <a:off x="3286125" y="2786063"/>
            <a:ext cx="2786063" cy="3429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cxnSp>
        <p:nvCxnSpPr>
          <p:cNvPr id="38" name="Прямая со стрелкой 37"/>
          <p:cNvCxnSpPr/>
          <p:nvPr/>
        </p:nvCxnSpPr>
        <p:spPr>
          <a:xfrm rot="5400000" flipH="1" flipV="1">
            <a:off x="1964531" y="4536282"/>
            <a:ext cx="3214687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>
            <a:off x="3571875" y="6143625"/>
            <a:ext cx="2428875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Овал 39"/>
          <p:cNvSpPr/>
          <p:nvPr/>
        </p:nvSpPr>
        <p:spPr>
          <a:xfrm>
            <a:off x="5929313" y="4000500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41" name="Овал 40"/>
          <p:cNvSpPr/>
          <p:nvPr/>
        </p:nvSpPr>
        <p:spPr>
          <a:xfrm>
            <a:off x="4214813" y="5643563"/>
            <a:ext cx="71437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42" name="Овал 41"/>
          <p:cNvSpPr/>
          <p:nvPr/>
        </p:nvSpPr>
        <p:spPr>
          <a:xfrm>
            <a:off x="5643563" y="4429125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43" name="Овал 42"/>
          <p:cNvSpPr/>
          <p:nvPr/>
        </p:nvSpPr>
        <p:spPr>
          <a:xfrm>
            <a:off x="5500688" y="4857750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44" name="Овал 43"/>
          <p:cNvSpPr/>
          <p:nvPr/>
        </p:nvSpPr>
        <p:spPr>
          <a:xfrm>
            <a:off x="3929063" y="5857875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45" name="Овал 44"/>
          <p:cNvSpPr/>
          <p:nvPr/>
        </p:nvSpPr>
        <p:spPr>
          <a:xfrm>
            <a:off x="3714750" y="5857875"/>
            <a:ext cx="71438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46" name="Овал 45"/>
          <p:cNvSpPr/>
          <p:nvPr/>
        </p:nvSpPr>
        <p:spPr>
          <a:xfrm>
            <a:off x="5286375" y="4857750"/>
            <a:ext cx="71438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47" name="Овал 46"/>
          <p:cNvSpPr/>
          <p:nvPr/>
        </p:nvSpPr>
        <p:spPr>
          <a:xfrm>
            <a:off x="5214938" y="5214938"/>
            <a:ext cx="71437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48" name="Овал 47"/>
          <p:cNvSpPr/>
          <p:nvPr/>
        </p:nvSpPr>
        <p:spPr>
          <a:xfrm>
            <a:off x="5072063" y="5643563"/>
            <a:ext cx="71437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49" name="Овал 48"/>
          <p:cNvSpPr/>
          <p:nvPr/>
        </p:nvSpPr>
        <p:spPr>
          <a:xfrm>
            <a:off x="4429125" y="5715000"/>
            <a:ext cx="71438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50" name="Овал 49"/>
          <p:cNvSpPr/>
          <p:nvPr/>
        </p:nvSpPr>
        <p:spPr>
          <a:xfrm>
            <a:off x="4857750" y="5500688"/>
            <a:ext cx="71438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51" name="Овал 50"/>
          <p:cNvSpPr/>
          <p:nvPr/>
        </p:nvSpPr>
        <p:spPr>
          <a:xfrm>
            <a:off x="4643438" y="5572125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cxnSp>
        <p:nvCxnSpPr>
          <p:cNvPr id="52" name="Прямая соединительная линия 51"/>
          <p:cNvCxnSpPr>
            <a:endCxn id="4" idx="3"/>
          </p:cNvCxnSpPr>
          <p:nvPr/>
        </p:nvCxnSpPr>
        <p:spPr>
          <a:xfrm flipV="1">
            <a:off x="714375" y="4500563"/>
            <a:ext cx="2357438" cy="1571625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3" name="Полилиния 52"/>
          <p:cNvSpPr/>
          <p:nvPr/>
        </p:nvSpPr>
        <p:spPr>
          <a:xfrm>
            <a:off x="3736975" y="3848100"/>
            <a:ext cx="2312988" cy="2035175"/>
          </a:xfrm>
          <a:custGeom>
            <a:avLst/>
            <a:gdLst>
              <a:gd name="connsiteX0" fmla="*/ 0 w 2312505"/>
              <a:gd name="connsiteY0" fmla="*/ 2036417 h 2036417"/>
              <a:gd name="connsiteX1" fmla="*/ 1364974 w 2312505"/>
              <a:gd name="connsiteY1" fmla="*/ 1506330 h 2036417"/>
              <a:gd name="connsiteX2" fmla="*/ 2173357 w 2312505"/>
              <a:gd name="connsiteY2" fmla="*/ 220869 h 2036417"/>
              <a:gd name="connsiteX3" fmla="*/ 2199861 w 2312505"/>
              <a:gd name="connsiteY3" fmla="*/ 181113 h 2036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12505" h="2036417">
                <a:moveTo>
                  <a:pt x="0" y="2036417"/>
                </a:moveTo>
                <a:cubicBezTo>
                  <a:pt x="501374" y="1922669"/>
                  <a:pt x="1002748" y="1808921"/>
                  <a:pt x="1364974" y="1506330"/>
                </a:cubicBezTo>
                <a:cubicBezTo>
                  <a:pt x="1727200" y="1203739"/>
                  <a:pt x="2034209" y="441738"/>
                  <a:pt x="2173357" y="220869"/>
                </a:cubicBezTo>
                <a:cubicBezTo>
                  <a:pt x="2312505" y="0"/>
                  <a:pt x="2256183" y="90556"/>
                  <a:pt x="2199861" y="181113"/>
                </a:cubicBezTo>
              </a:path>
            </a:pathLst>
          </a:cu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54" name="Полилиния 53"/>
          <p:cNvSpPr/>
          <p:nvPr/>
        </p:nvSpPr>
        <p:spPr>
          <a:xfrm>
            <a:off x="6665913" y="3927475"/>
            <a:ext cx="2273300" cy="1995488"/>
          </a:xfrm>
          <a:custGeom>
            <a:avLst/>
            <a:gdLst>
              <a:gd name="connsiteX0" fmla="*/ 0 w 2272749"/>
              <a:gd name="connsiteY0" fmla="*/ 1970156 h 1996660"/>
              <a:gd name="connsiteX1" fmla="*/ 238540 w 2272749"/>
              <a:gd name="connsiteY1" fmla="*/ 1956904 h 1996660"/>
              <a:gd name="connsiteX2" fmla="*/ 530087 w 2272749"/>
              <a:gd name="connsiteY2" fmla="*/ 1731617 h 1996660"/>
              <a:gd name="connsiteX3" fmla="*/ 742122 w 2272749"/>
              <a:gd name="connsiteY3" fmla="*/ 1824382 h 1996660"/>
              <a:gd name="connsiteX4" fmla="*/ 927653 w 2272749"/>
              <a:gd name="connsiteY4" fmla="*/ 1678609 h 1996660"/>
              <a:gd name="connsiteX5" fmla="*/ 1166192 w 2272749"/>
              <a:gd name="connsiteY5" fmla="*/ 1612348 h 1996660"/>
              <a:gd name="connsiteX6" fmla="*/ 1378227 w 2272749"/>
              <a:gd name="connsiteY6" fmla="*/ 1744869 h 1996660"/>
              <a:gd name="connsiteX7" fmla="*/ 1590261 w 2272749"/>
              <a:gd name="connsiteY7" fmla="*/ 976243 h 1996660"/>
              <a:gd name="connsiteX8" fmla="*/ 1802296 w 2272749"/>
              <a:gd name="connsiteY8" fmla="*/ 989496 h 1996660"/>
              <a:gd name="connsiteX9" fmla="*/ 1948070 w 2272749"/>
              <a:gd name="connsiteY9" fmla="*/ 538922 h 1996660"/>
              <a:gd name="connsiteX10" fmla="*/ 2226366 w 2272749"/>
              <a:gd name="connsiteY10" fmla="*/ 75096 h 1996660"/>
              <a:gd name="connsiteX11" fmla="*/ 2226366 w 2272749"/>
              <a:gd name="connsiteY11" fmla="*/ 88348 h 1996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72749" h="1996660">
                <a:moveTo>
                  <a:pt x="0" y="1970156"/>
                </a:moveTo>
                <a:cubicBezTo>
                  <a:pt x="75096" y="1983408"/>
                  <a:pt x="150192" y="1996660"/>
                  <a:pt x="238540" y="1956904"/>
                </a:cubicBezTo>
                <a:cubicBezTo>
                  <a:pt x="326888" y="1917148"/>
                  <a:pt x="446157" y="1753704"/>
                  <a:pt x="530087" y="1731617"/>
                </a:cubicBezTo>
                <a:cubicBezTo>
                  <a:pt x="614017" y="1709530"/>
                  <a:pt x="675861" y="1833217"/>
                  <a:pt x="742122" y="1824382"/>
                </a:cubicBezTo>
                <a:cubicBezTo>
                  <a:pt x="808383" y="1815547"/>
                  <a:pt x="856975" y="1713948"/>
                  <a:pt x="927653" y="1678609"/>
                </a:cubicBezTo>
                <a:cubicBezTo>
                  <a:pt x="998331" y="1643270"/>
                  <a:pt x="1091096" y="1601305"/>
                  <a:pt x="1166192" y="1612348"/>
                </a:cubicBezTo>
                <a:cubicBezTo>
                  <a:pt x="1241288" y="1623391"/>
                  <a:pt x="1307549" y="1850886"/>
                  <a:pt x="1378227" y="1744869"/>
                </a:cubicBezTo>
                <a:cubicBezTo>
                  <a:pt x="1448905" y="1638852"/>
                  <a:pt x="1519583" y="1102138"/>
                  <a:pt x="1590261" y="976243"/>
                </a:cubicBezTo>
                <a:cubicBezTo>
                  <a:pt x="1660939" y="850348"/>
                  <a:pt x="1742661" y="1062383"/>
                  <a:pt x="1802296" y="989496"/>
                </a:cubicBezTo>
                <a:cubicBezTo>
                  <a:pt x="1861931" y="916609"/>
                  <a:pt x="1877392" y="691322"/>
                  <a:pt x="1948070" y="538922"/>
                </a:cubicBezTo>
                <a:cubicBezTo>
                  <a:pt x="2018748" y="386522"/>
                  <a:pt x="2179983" y="150192"/>
                  <a:pt x="2226366" y="75096"/>
                </a:cubicBezTo>
                <a:cubicBezTo>
                  <a:pt x="2272749" y="0"/>
                  <a:pt x="2249557" y="44174"/>
                  <a:pt x="2226366" y="88348"/>
                </a:cubicBezTo>
              </a:path>
            </a:pathLst>
          </a:cu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55" name="TextBox 54"/>
          <p:cNvSpPr txBox="1"/>
          <p:nvPr/>
        </p:nvSpPr>
        <p:spPr>
          <a:xfrm>
            <a:off x="785813" y="3071813"/>
            <a:ext cx="200025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sv-SE" b="1" dirty="0">
                <a:solidFill>
                  <a:schemeClr val="bg2">
                    <a:lumMod val="25000"/>
                  </a:schemeClr>
                </a:solidFill>
              </a:rPr>
              <a:t>Easy </a:t>
            </a:r>
            <a:r>
              <a:rPr lang="sv-SE" b="1" dirty="0" err="1">
                <a:solidFill>
                  <a:schemeClr val="bg2">
                    <a:lumMod val="25000"/>
                  </a:schemeClr>
                </a:solidFill>
              </a:rPr>
              <a:t>model</a:t>
            </a:r>
            <a:r>
              <a:rPr lang="sv-SE" b="1" dirty="0">
                <a:solidFill>
                  <a:schemeClr val="bg2">
                    <a:lumMod val="25000"/>
                  </a:schemeClr>
                </a:solidFill>
              </a:rPr>
              <a:t>, a </a:t>
            </a:r>
            <a:r>
              <a:rPr lang="sv-SE" b="1" dirty="0" err="1">
                <a:solidFill>
                  <a:schemeClr val="bg2">
                    <a:lumMod val="25000"/>
                  </a:schemeClr>
                </a:solidFill>
              </a:rPr>
              <a:t>few</a:t>
            </a:r>
            <a:r>
              <a:rPr lang="sv-SE" b="1" dirty="0">
                <a:solidFill>
                  <a:schemeClr val="bg2">
                    <a:lumMod val="25000"/>
                  </a:schemeClr>
                </a:solidFill>
              </a:rPr>
              <a:t> parameters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72250" y="3071813"/>
            <a:ext cx="22860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sv-SE" b="1" dirty="0" err="1">
                <a:solidFill>
                  <a:schemeClr val="bg2">
                    <a:lumMod val="25000"/>
                  </a:schemeClr>
                </a:solidFill>
              </a:rPr>
              <a:t>Complex</a:t>
            </a:r>
            <a:r>
              <a:rPr lang="sv-SE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sv-SE" b="1" dirty="0" err="1">
                <a:solidFill>
                  <a:schemeClr val="bg2">
                    <a:lumMod val="25000"/>
                  </a:schemeClr>
                </a:solidFill>
              </a:rPr>
              <a:t>model</a:t>
            </a:r>
            <a:r>
              <a:rPr lang="sv-SE" b="1" dirty="0">
                <a:solidFill>
                  <a:schemeClr val="bg2">
                    <a:lumMod val="25000"/>
                  </a:schemeClr>
                </a:solidFill>
              </a:rPr>
              <a:t>,</a:t>
            </a:r>
          </a:p>
          <a:p>
            <a:pPr>
              <a:defRPr/>
            </a:pPr>
            <a:r>
              <a:rPr lang="sv-SE" b="1" dirty="0" err="1">
                <a:solidFill>
                  <a:schemeClr val="bg2">
                    <a:lumMod val="25000"/>
                  </a:schemeClr>
                </a:solidFill>
              </a:rPr>
              <a:t>many</a:t>
            </a:r>
            <a:r>
              <a:rPr lang="sv-SE" b="1" dirty="0">
                <a:solidFill>
                  <a:schemeClr val="bg2">
                    <a:lumMod val="25000"/>
                  </a:schemeClr>
                </a:solidFill>
              </a:rPr>
              <a:t> parameters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14750" y="3071813"/>
            <a:ext cx="2000250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sv-SE" b="1" dirty="0">
                <a:solidFill>
                  <a:schemeClr val="bg2">
                    <a:lumMod val="25000"/>
                  </a:schemeClr>
                </a:solidFill>
              </a:rPr>
              <a:t>OK</a:t>
            </a:r>
          </a:p>
        </p:txBody>
      </p:sp>
      <p:grpSp>
        <p:nvGrpSpPr>
          <p:cNvPr id="17467" name="Группа 121"/>
          <p:cNvGrpSpPr>
            <a:grpSpLocks/>
          </p:cNvGrpSpPr>
          <p:nvPr/>
        </p:nvGrpSpPr>
        <p:grpSpPr bwMode="auto">
          <a:xfrm>
            <a:off x="3714750" y="3786188"/>
            <a:ext cx="2214563" cy="2143125"/>
            <a:chOff x="3714744" y="3786190"/>
            <a:chExt cx="2214578" cy="2143140"/>
          </a:xfrm>
        </p:grpSpPr>
        <p:sp>
          <p:nvSpPr>
            <p:cNvPr id="110" name="Овал 109"/>
            <p:cNvSpPr/>
            <p:nvPr/>
          </p:nvSpPr>
          <p:spPr>
            <a:xfrm>
              <a:off x="5643570" y="4643446"/>
              <a:ext cx="71437" cy="71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11" name="Овал 110"/>
            <p:cNvSpPr/>
            <p:nvPr/>
          </p:nvSpPr>
          <p:spPr>
            <a:xfrm>
              <a:off x="5857884" y="3786190"/>
              <a:ext cx="71438" cy="71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12" name="Овал 111"/>
            <p:cNvSpPr/>
            <p:nvPr/>
          </p:nvSpPr>
          <p:spPr>
            <a:xfrm>
              <a:off x="5429256" y="4714883"/>
              <a:ext cx="71438" cy="7143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13" name="Овал 112"/>
            <p:cNvSpPr/>
            <p:nvPr/>
          </p:nvSpPr>
          <p:spPr>
            <a:xfrm>
              <a:off x="5286380" y="5072074"/>
              <a:ext cx="71438" cy="71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14" name="Овал 113"/>
            <p:cNvSpPr/>
            <p:nvPr/>
          </p:nvSpPr>
          <p:spPr>
            <a:xfrm>
              <a:off x="5072066" y="5286387"/>
              <a:ext cx="71437" cy="7143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15" name="Овал 114"/>
            <p:cNvSpPr/>
            <p:nvPr/>
          </p:nvSpPr>
          <p:spPr>
            <a:xfrm>
              <a:off x="4643438" y="5715015"/>
              <a:ext cx="71437" cy="7143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16" name="Овал 115"/>
            <p:cNvSpPr/>
            <p:nvPr/>
          </p:nvSpPr>
          <p:spPr>
            <a:xfrm>
              <a:off x="4429124" y="5500702"/>
              <a:ext cx="71438" cy="71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17" name="Овал 116"/>
            <p:cNvSpPr/>
            <p:nvPr/>
          </p:nvSpPr>
          <p:spPr>
            <a:xfrm>
              <a:off x="4214810" y="5857891"/>
              <a:ext cx="71437" cy="7143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18" name="Овал 117"/>
            <p:cNvSpPr/>
            <p:nvPr/>
          </p:nvSpPr>
          <p:spPr>
            <a:xfrm>
              <a:off x="5214942" y="5357826"/>
              <a:ext cx="71437" cy="71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19" name="Овал 118"/>
            <p:cNvSpPr/>
            <p:nvPr/>
          </p:nvSpPr>
          <p:spPr>
            <a:xfrm>
              <a:off x="4786314" y="5357826"/>
              <a:ext cx="71437" cy="71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20" name="Овал 119"/>
            <p:cNvSpPr/>
            <p:nvPr/>
          </p:nvSpPr>
          <p:spPr>
            <a:xfrm>
              <a:off x="3929058" y="5715015"/>
              <a:ext cx="71437" cy="7143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21" name="Овал 120"/>
            <p:cNvSpPr/>
            <p:nvPr/>
          </p:nvSpPr>
          <p:spPr>
            <a:xfrm>
              <a:off x="3714744" y="5857891"/>
              <a:ext cx="71438" cy="7143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</p:grpSp>
      <p:grpSp>
        <p:nvGrpSpPr>
          <p:cNvPr id="17468" name="Группа 135"/>
          <p:cNvGrpSpPr>
            <a:grpSpLocks/>
          </p:cNvGrpSpPr>
          <p:nvPr/>
        </p:nvGrpSpPr>
        <p:grpSpPr bwMode="auto">
          <a:xfrm>
            <a:off x="6643688" y="3786188"/>
            <a:ext cx="2214562" cy="2143125"/>
            <a:chOff x="3714744" y="3786190"/>
            <a:chExt cx="2214578" cy="2143140"/>
          </a:xfrm>
        </p:grpSpPr>
        <p:sp>
          <p:nvSpPr>
            <p:cNvPr id="137" name="Овал 136"/>
            <p:cNvSpPr/>
            <p:nvPr/>
          </p:nvSpPr>
          <p:spPr>
            <a:xfrm>
              <a:off x="5643570" y="4643446"/>
              <a:ext cx="71439" cy="71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38" name="Овал 137"/>
            <p:cNvSpPr/>
            <p:nvPr/>
          </p:nvSpPr>
          <p:spPr>
            <a:xfrm>
              <a:off x="5857884" y="3786190"/>
              <a:ext cx="71438" cy="71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39" name="Овал 138"/>
            <p:cNvSpPr/>
            <p:nvPr/>
          </p:nvSpPr>
          <p:spPr>
            <a:xfrm>
              <a:off x="5429256" y="4714883"/>
              <a:ext cx="71438" cy="7143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40" name="Овал 139"/>
            <p:cNvSpPr/>
            <p:nvPr/>
          </p:nvSpPr>
          <p:spPr>
            <a:xfrm>
              <a:off x="5286380" y="5072074"/>
              <a:ext cx="71438" cy="71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41" name="Овал 140"/>
            <p:cNvSpPr/>
            <p:nvPr/>
          </p:nvSpPr>
          <p:spPr>
            <a:xfrm>
              <a:off x="5072066" y="5286387"/>
              <a:ext cx="71439" cy="7143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42" name="Овал 141"/>
            <p:cNvSpPr/>
            <p:nvPr/>
          </p:nvSpPr>
          <p:spPr>
            <a:xfrm>
              <a:off x="4643438" y="5715015"/>
              <a:ext cx="71439" cy="7143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43" name="Овал 142"/>
            <p:cNvSpPr/>
            <p:nvPr/>
          </p:nvSpPr>
          <p:spPr>
            <a:xfrm>
              <a:off x="4429124" y="5500702"/>
              <a:ext cx="71438" cy="71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44" name="Овал 143"/>
            <p:cNvSpPr/>
            <p:nvPr/>
          </p:nvSpPr>
          <p:spPr>
            <a:xfrm>
              <a:off x="4214810" y="5857891"/>
              <a:ext cx="71439" cy="7143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45" name="Овал 144"/>
            <p:cNvSpPr/>
            <p:nvPr/>
          </p:nvSpPr>
          <p:spPr>
            <a:xfrm>
              <a:off x="5214942" y="5357826"/>
              <a:ext cx="71439" cy="71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46" name="Овал 145"/>
            <p:cNvSpPr/>
            <p:nvPr/>
          </p:nvSpPr>
          <p:spPr>
            <a:xfrm>
              <a:off x="4786314" y="5357826"/>
              <a:ext cx="71439" cy="71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47" name="Овал 146"/>
            <p:cNvSpPr/>
            <p:nvPr/>
          </p:nvSpPr>
          <p:spPr>
            <a:xfrm>
              <a:off x="3929058" y="5715015"/>
              <a:ext cx="71439" cy="7143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48" name="Овал 147"/>
            <p:cNvSpPr/>
            <p:nvPr/>
          </p:nvSpPr>
          <p:spPr>
            <a:xfrm>
              <a:off x="3714744" y="5857891"/>
              <a:ext cx="71438" cy="7143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</p:grpSp>
      <p:grpSp>
        <p:nvGrpSpPr>
          <p:cNvPr id="17469" name="Группа 148"/>
          <p:cNvGrpSpPr>
            <a:grpSpLocks/>
          </p:cNvGrpSpPr>
          <p:nvPr/>
        </p:nvGrpSpPr>
        <p:grpSpPr bwMode="auto">
          <a:xfrm>
            <a:off x="714375" y="3786188"/>
            <a:ext cx="2214563" cy="2143125"/>
            <a:chOff x="3714744" y="3786190"/>
            <a:chExt cx="2214578" cy="2143140"/>
          </a:xfrm>
        </p:grpSpPr>
        <p:sp>
          <p:nvSpPr>
            <p:cNvPr id="150" name="Овал 149"/>
            <p:cNvSpPr/>
            <p:nvPr/>
          </p:nvSpPr>
          <p:spPr>
            <a:xfrm>
              <a:off x="5643570" y="4643446"/>
              <a:ext cx="71437" cy="71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51" name="Овал 150"/>
            <p:cNvSpPr/>
            <p:nvPr/>
          </p:nvSpPr>
          <p:spPr>
            <a:xfrm>
              <a:off x="5857884" y="3786190"/>
              <a:ext cx="71438" cy="71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52" name="Овал 151"/>
            <p:cNvSpPr/>
            <p:nvPr/>
          </p:nvSpPr>
          <p:spPr>
            <a:xfrm>
              <a:off x="5429256" y="4714883"/>
              <a:ext cx="71438" cy="7143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53" name="Овал 152"/>
            <p:cNvSpPr/>
            <p:nvPr/>
          </p:nvSpPr>
          <p:spPr>
            <a:xfrm>
              <a:off x="5286380" y="5072074"/>
              <a:ext cx="71438" cy="71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54" name="Овал 153"/>
            <p:cNvSpPr/>
            <p:nvPr/>
          </p:nvSpPr>
          <p:spPr>
            <a:xfrm>
              <a:off x="5072066" y="5286387"/>
              <a:ext cx="71437" cy="7143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55" name="Овал 154"/>
            <p:cNvSpPr/>
            <p:nvPr/>
          </p:nvSpPr>
          <p:spPr>
            <a:xfrm>
              <a:off x="4643438" y="5715015"/>
              <a:ext cx="71437" cy="7143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56" name="Овал 155"/>
            <p:cNvSpPr/>
            <p:nvPr/>
          </p:nvSpPr>
          <p:spPr>
            <a:xfrm>
              <a:off x="4429124" y="5500702"/>
              <a:ext cx="71438" cy="71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57" name="Овал 156"/>
            <p:cNvSpPr/>
            <p:nvPr/>
          </p:nvSpPr>
          <p:spPr>
            <a:xfrm>
              <a:off x="4214810" y="5857891"/>
              <a:ext cx="71437" cy="7143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58" name="Овал 157"/>
            <p:cNvSpPr/>
            <p:nvPr/>
          </p:nvSpPr>
          <p:spPr>
            <a:xfrm>
              <a:off x="5214942" y="5357826"/>
              <a:ext cx="71437" cy="71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59" name="Овал 158"/>
            <p:cNvSpPr/>
            <p:nvPr/>
          </p:nvSpPr>
          <p:spPr>
            <a:xfrm>
              <a:off x="4786314" y="5357826"/>
              <a:ext cx="71437" cy="71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60" name="Овал 159"/>
            <p:cNvSpPr/>
            <p:nvPr/>
          </p:nvSpPr>
          <p:spPr>
            <a:xfrm>
              <a:off x="3929058" y="5715015"/>
              <a:ext cx="71437" cy="7143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61" name="Овал 160"/>
            <p:cNvSpPr/>
            <p:nvPr/>
          </p:nvSpPr>
          <p:spPr>
            <a:xfrm>
              <a:off x="3714744" y="5857891"/>
              <a:ext cx="71438" cy="7143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</p:grpSp>
      <p:sp>
        <p:nvSpPr>
          <p:cNvPr id="162" name="TextBox 161"/>
          <p:cNvSpPr txBox="1"/>
          <p:nvPr/>
        </p:nvSpPr>
        <p:spPr>
          <a:xfrm>
            <a:off x="3779838" y="3929063"/>
            <a:ext cx="1649412" cy="64611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sv-SE" dirty="0"/>
              <a:t>minimum</a:t>
            </a:r>
          </a:p>
          <a:p>
            <a:pPr>
              <a:defRPr/>
            </a:pPr>
            <a:r>
              <a:rPr lang="sv-SE" dirty="0"/>
              <a:t>Valid. </a:t>
            </a:r>
            <a:r>
              <a:rPr lang="sv-SE" dirty="0" err="1"/>
              <a:t>error</a:t>
            </a:r>
            <a:r>
              <a:rPr lang="sv-SE" dirty="0"/>
              <a:t>!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18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061697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FB5B167-CB72-4EE3-A0BD-27428E012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Hold-out</a:t>
            </a:r>
            <a:r>
              <a:rPr lang="sv-SE" dirty="0"/>
              <a:t> </a:t>
            </a:r>
            <a:r>
              <a:rPr lang="sv-SE" dirty="0" err="1"/>
              <a:t>method</a:t>
            </a:r>
            <a:r>
              <a:rPr lang="sv-SE" dirty="0"/>
              <a:t>: </a:t>
            </a:r>
            <a:r>
              <a:rPr lang="sv-SE" dirty="0" err="1"/>
              <a:t>remarks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918F4D07-F370-4766-9C78-469F21FB7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sz="2800" dirty="0"/>
              <a:t>Data </a:t>
            </a:r>
            <a:r>
              <a:rPr lang="sv-SE" sz="2800" dirty="0" err="1"/>
              <a:t>needs</a:t>
            </a:r>
            <a:r>
              <a:rPr lang="sv-SE" sz="2800" dirty="0"/>
              <a:t> to be </a:t>
            </a:r>
            <a:r>
              <a:rPr lang="sv-SE" sz="2800" dirty="0" err="1"/>
              <a:t>shuffled</a:t>
            </a:r>
            <a:r>
              <a:rPr lang="sv-SE" sz="2800" dirty="0"/>
              <a:t> </a:t>
            </a:r>
            <a:r>
              <a:rPr lang="sv-SE" sz="2800" dirty="0" err="1"/>
              <a:t>before</a:t>
            </a:r>
            <a:r>
              <a:rPr lang="sv-SE" sz="2800" dirty="0"/>
              <a:t> split</a:t>
            </a:r>
          </a:p>
          <a:p>
            <a:endParaRPr lang="sv-SE" dirty="0"/>
          </a:p>
          <a:p>
            <a:r>
              <a:rPr lang="sv-SE" sz="2800" dirty="0" err="1"/>
              <a:t>Method</a:t>
            </a:r>
            <a:r>
              <a:rPr lang="sv-SE" sz="2800" dirty="0"/>
              <a:t> is </a:t>
            </a:r>
            <a:r>
              <a:rPr lang="sv-SE" sz="2800" dirty="0" err="1"/>
              <a:t>suitable</a:t>
            </a:r>
            <a:r>
              <a:rPr lang="sv-SE" sz="2800" dirty="0"/>
              <a:t> for </a:t>
            </a:r>
            <a:r>
              <a:rPr lang="sv-SE" sz="2800" dirty="0" err="1"/>
              <a:t>large</a:t>
            </a:r>
            <a:r>
              <a:rPr lang="sv-SE" sz="2800" dirty="0"/>
              <a:t> data </a:t>
            </a:r>
            <a:r>
              <a:rPr lang="sv-SE" sz="2800" dirty="0" err="1">
                <a:sym typeface="Wingdings" panose="05000000000000000000" pitchFamily="2" charset="2"/>
              </a:rPr>
              <a:t>otherwise</a:t>
            </a:r>
            <a:r>
              <a:rPr lang="sv-SE" sz="2800" dirty="0">
                <a:sym typeface="Wingdings" panose="05000000000000000000" pitchFamily="2" charset="2"/>
              </a:rPr>
              <a:t> </a:t>
            </a:r>
            <a:r>
              <a:rPr lang="sv-SE" sz="2800" dirty="0" err="1">
                <a:sym typeface="Wingdings" panose="05000000000000000000" pitchFamily="2" charset="2"/>
              </a:rPr>
              <a:t>training</a:t>
            </a:r>
            <a:r>
              <a:rPr lang="sv-SE" sz="2800" dirty="0">
                <a:sym typeface="Wingdings" panose="05000000000000000000" pitchFamily="2" charset="2"/>
              </a:rPr>
              <a:t> </a:t>
            </a:r>
            <a:r>
              <a:rPr lang="sv-SE" sz="2800" dirty="0" err="1">
                <a:sym typeface="Wingdings" panose="05000000000000000000" pitchFamily="2" charset="2"/>
              </a:rPr>
              <a:t>affected</a:t>
            </a:r>
            <a:endParaRPr lang="sv-SE" sz="2800" dirty="0">
              <a:sym typeface="Wingdings" panose="05000000000000000000" pitchFamily="2" charset="2"/>
            </a:endParaRPr>
          </a:p>
          <a:p>
            <a:endParaRPr lang="sv-SE" dirty="0">
              <a:sym typeface="Wingdings" panose="05000000000000000000" pitchFamily="2" charset="2"/>
            </a:endParaRPr>
          </a:p>
          <a:p>
            <a:r>
              <a:rPr lang="sv-SE" sz="2400" dirty="0">
                <a:sym typeface="Wingdings" panose="05000000000000000000" pitchFamily="2" charset="2"/>
              </a:rPr>
              <a:t>Proportions: </a:t>
            </a:r>
            <a:r>
              <a:rPr lang="sv-SE" sz="2400" dirty="0" err="1">
                <a:sym typeface="Wingdings" panose="05000000000000000000" pitchFamily="2" charset="2"/>
              </a:rPr>
              <a:t>increasing</a:t>
            </a:r>
            <a:r>
              <a:rPr lang="sv-SE" sz="2400" dirty="0">
                <a:sym typeface="Wingdings" panose="05000000000000000000" pitchFamily="2" charset="2"/>
              </a:rPr>
              <a:t> % </a:t>
            </a:r>
            <a:r>
              <a:rPr lang="sv-SE" sz="2400" dirty="0" err="1">
                <a:sym typeface="Wingdings" panose="05000000000000000000" pitchFamily="2" charset="2"/>
              </a:rPr>
              <a:t>of</a:t>
            </a:r>
            <a:r>
              <a:rPr lang="sv-SE" sz="2400" dirty="0">
                <a:sym typeface="Wingdings" panose="05000000000000000000" pitchFamily="2" charset="2"/>
              </a:rPr>
              <a:t> </a:t>
            </a:r>
            <a:r>
              <a:rPr lang="sv-SE" sz="2400" dirty="0" err="1">
                <a:sym typeface="Wingdings" panose="05000000000000000000" pitchFamily="2" charset="2"/>
              </a:rPr>
              <a:t>training</a:t>
            </a:r>
            <a:r>
              <a:rPr lang="sv-SE" sz="2400" dirty="0">
                <a:sym typeface="Wingdings" panose="05000000000000000000" pitchFamily="2" charset="2"/>
              </a:rPr>
              <a:t> data </a:t>
            </a:r>
            <a:r>
              <a:rPr lang="sv-SE" sz="2400" dirty="0" err="1">
                <a:sym typeface="Wingdings" panose="05000000000000000000" pitchFamily="2" charset="2"/>
              </a:rPr>
              <a:t>generally</a:t>
            </a:r>
            <a:r>
              <a:rPr lang="sv-SE" sz="2400" dirty="0">
                <a:sym typeface="Wingdings" panose="05000000000000000000" pitchFamily="2" charset="2"/>
              </a:rPr>
              <a:t> </a:t>
            </a:r>
            <a:r>
              <a:rPr lang="sv-SE" sz="2400" dirty="0" err="1">
                <a:sym typeface="Wingdings" panose="05000000000000000000" pitchFamily="2" charset="2"/>
              </a:rPr>
              <a:t>leads</a:t>
            </a:r>
            <a:r>
              <a:rPr lang="sv-SE" sz="2400" dirty="0">
                <a:sym typeface="Wingdings" panose="05000000000000000000" pitchFamily="2" charset="2"/>
              </a:rPr>
              <a:t> to </a:t>
            </a:r>
            <a:r>
              <a:rPr lang="sv-SE" sz="2400" dirty="0" err="1">
                <a:sym typeface="Wingdings" panose="05000000000000000000" pitchFamily="2" charset="2"/>
              </a:rPr>
              <a:t>better</a:t>
            </a:r>
            <a:r>
              <a:rPr lang="sv-SE" sz="2400" dirty="0">
                <a:sym typeface="Wingdings" panose="05000000000000000000" pitchFamily="2" charset="2"/>
              </a:rPr>
              <a:t> </a:t>
            </a:r>
            <a:r>
              <a:rPr lang="sv-SE" sz="2400" dirty="0" err="1">
                <a:sym typeface="Wingdings" panose="05000000000000000000" pitchFamily="2" charset="2"/>
              </a:rPr>
              <a:t>performance</a:t>
            </a:r>
            <a:r>
              <a:rPr lang="sv-SE" sz="2400" dirty="0">
                <a:sym typeface="Wingdings" panose="05000000000000000000" pitchFamily="2" charset="2"/>
              </a:rPr>
              <a:t> </a:t>
            </a:r>
            <a:r>
              <a:rPr lang="sv-SE" sz="2400" dirty="0" err="1">
                <a:sym typeface="Wingdings" panose="05000000000000000000" pitchFamily="2" charset="2"/>
              </a:rPr>
              <a:t>but</a:t>
            </a:r>
            <a:r>
              <a:rPr lang="sv-SE" sz="2400" dirty="0">
                <a:sym typeface="Wingdings" panose="05000000000000000000" pitchFamily="2" charset="2"/>
              </a:rPr>
              <a:t> the </a:t>
            </a:r>
            <a:r>
              <a:rPr lang="sv-SE" sz="2400" dirty="0" err="1">
                <a:sym typeface="Wingdings" panose="05000000000000000000" pitchFamily="2" charset="2"/>
              </a:rPr>
              <a:t>quality</a:t>
            </a:r>
            <a:r>
              <a:rPr lang="sv-SE" sz="2400" dirty="0">
                <a:sym typeface="Wingdings" panose="05000000000000000000" pitchFamily="2" charset="2"/>
              </a:rPr>
              <a:t> </a:t>
            </a:r>
            <a:r>
              <a:rPr lang="sv-SE" sz="2400" dirty="0" err="1">
                <a:sym typeface="Wingdings" panose="05000000000000000000" pitchFamily="2" charset="2"/>
              </a:rPr>
              <a:t>of</a:t>
            </a:r>
            <a:r>
              <a:rPr lang="sv-SE" sz="2400" dirty="0">
                <a:sym typeface="Wingdings" panose="05000000000000000000" pitchFamily="2" charset="2"/>
              </a:rPr>
              <a:t> ”Approximation 2” </a:t>
            </a:r>
            <a:r>
              <a:rPr lang="sv-SE" sz="2400" dirty="0" err="1">
                <a:sym typeface="Wingdings" panose="05000000000000000000" pitchFamily="2" charset="2"/>
              </a:rPr>
              <a:t>decreases</a:t>
            </a:r>
            <a:endParaRPr lang="sv-SE" sz="2400" dirty="0"/>
          </a:p>
          <a:p>
            <a:endParaRPr lang="sv-SE" dirty="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18438118-9C52-4645-8AF8-7B9D47F9C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76BBBC06-5A46-43D4-A19B-7F28A9A33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19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130783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Hold-out</a:t>
            </a:r>
            <a:r>
              <a:rPr lang="sv-SE" dirty="0"/>
              <a:t>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sz="2400" dirty="0" err="1"/>
              <a:t>How</a:t>
            </a:r>
            <a:r>
              <a:rPr lang="sv-SE" sz="2400" dirty="0"/>
              <a:t> </a:t>
            </a:r>
            <a:r>
              <a:rPr lang="sv-SE" sz="2400" dirty="0" err="1"/>
              <a:t>to</a:t>
            </a:r>
            <a:r>
              <a:rPr lang="sv-SE" sz="2400" dirty="0"/>
              <a:t> partition </a:t>
            </a:r>
            <a:r>
              <a:rPr lang="sv-SE" sz="2400" dirty="0" err="1"/>
              <a:t>into</a:t>
            </a:r>
            <a:r>
              <a:rPr lang="sv-SE" sz="2400" dirty="0"/>
              <a:t> </a:t>
            </a:r>
            <a:r>
              <a:rPr lang="sv-SE" sz="2400" dirty="0" err="1"/>
              <a:t>train</a:t>
            </a:r>
            <a:r>
              <a:rPr lang="sv-SE" sz="2400" dirty="0"/>
              <a:t>/test?</a:t>
            </a:r>
          </a:p>
          <a:p>
            <a:pPr lvl="1"/>
            <a:r>
              <a:rPr lang="sv-SE" sz="2000" dirty="0" err="1">
                <a:solidFill>
                  <a:srgbClr val="FF0000"/>
                </a:solidFill>
              </a:rPr>
              <a:t>Use</a:t>
            </a:r>
            <a:r>
              <a:rPr lang="sv-SE" sz="2000" dirty="0">
                <a:solidFill>
                  <a:srgbClr val="FF0000"/>
                </a:solidFill>
              </a:rPr>
              <a:t> </a:t>
            </a:r>
            <a:r>
              <a:rPr lang="sv-SE" sz="2000" dirty="0" err="1">
                <a:solidFill>
                  <a:srgbClr val="FF0000"/>
                </a:solidFill>
              </a:rPr>
              <a:t>set.seed</a:t>
            </a:r>
            <a:r>
              <a:rPr lang="sv-SE" sz="2000" dirty="0">
                <a:solidFill>
                  <a:srgbClr val="FF0000"/>
                </a:solidFill>
              </a:rPr>
              <a:t>(12345) in the </a:t>
            </a:r>
            <a:r>
              <a:rPr lang="sv-SE" sz="2000" dirty="0" err="1">
                <a:solidFill>
                  <a:srgbClr val="FF0000"/>
                </a:solidFill>
              </a:rPr>
              <a:t>labs</a:t>
            </a:r>
            <a:r>
              <a:rPr lang="sv-SE" sz="2000" dirty="0">
                <a:solidFill>
                  <a:srgbClr val="FF0000"/>
                </a:solidFill>
              </a:rPr>
              <a:t> </a:t>
            </a:r>
            <a:r>
              <a:rPr lang="sv-SE" sz="2000" dirty="0" err="1">
                <a:solidFill>
                  <a:srgbClr val="FF0000"/>
                </a:solidFill>
              </a:rPr>
              <a:t>to</a:t>
            </a:r>
            <a:r>
              <a:rPr lang="sv-SE" sz="2000" dirty="0">
                <a:solidFill>
                  <a:srgbClr val="FF0000"/>
                </a:solidFill>
              </a:rPr>
              <a:t> get </a:t>
            </a:r>
            <a:r>
              <a:rPr lang="sv-SE" sz="2000" dirty="0" err="1">
                <a:solidFill>
                  <a:srgbClr val="FF0000"/>
                </a:solidFill>
              </a:rPr>
              <a:t>identical</a:t>
            </a:r>
            <a:r>
              <a:rPr lang="sv-SE" sz="2000" dirty="0">
                <a:solidFill>
                  <a:srgbClr val="FF0000"/>
                </a:solidFill>
              </a:rPr>
              <a:t> </a:t>
            </a:r>
            <a:r>
              <a:rPr lang="sv-SE" sz="2000" dirty="0" err="1">
                <a:solidFill>
                  <a:srgbClr val="FF0000"/>
                </a:solidFill>
              </a:rPr>
              <a:t>results</a:t>
            </a:r>
            <a:endParaRPr lang="sv-SE" sz="2000" dirty="0">
              <a:solidFill>
                <a:srgbClr val="FF0000"/>
              </a:solidFill>
            </a:endParaRPr>
          </a:p>
          <a:p>
            <a:pPr lvl="1"/>
            <a:endParaRPr lang="sv-SE" sz="2000" dirty="0">
              <a:solidFill>
                <a:srgbClr val="FF0000"/>
              </a:solidFill>
            </a:endParaRPr>
          </a:p>
          <a:p>
            <a:pPr lvl="1"/>
            <a:endParaRPr lang="sv-SE" sz="2000" dirty="0">
              <a:solidFill>
                <a:srgbClr val="FF0000"/>
              </a:solidFill>
            </a:endParaRPr>
          </a:p>
          <a:p>
            <a:pPr lvl="1"/>
            <a:endParaRPr lang="sv-SE" sz="2000" dirty="0">
              <a:solidFill>
                <a:srgbClr val="FF0000"/>
              </a:solidFill>
            </a:endParaRPr>
          </a:p>
          <a:p>
            <a:r>
              <a:rPr lang="sv-SE" sz="2400" dirty="0" err="1"/>
              <a:t>How</a:t>
            </a:r>
            <a:r>
              <a:rPr lang="sv-SE" sz="2400" dirty="0"/>
              <a:t> </a:t>
            </a:r>
            <a:r>
              <a:rPr lang="sv-SE" sz="2400" dirty="0" err="1"/>
              <a:t>to</a:t>
            </a:r>
            <a:r>
              <a:rPr lang="sv-SE" sz="2400" dirty="0"/>
              <a:t> partition </a:t>
            </a:r>
            <a:r>
              <a:rPr lang="sv-SE" sz="2400" dirty="0" err="1"/>
              <a:t>into</a:t>
            </a:r>
            <a:r>
              <a:rPr lang="sv-SE" sz="2400" dirty="0"/>
              <a:t> </a:t>
            </a:r>
            <a:r>
              <a:rPr lang="sv-SE" sz="2400" dirty="0" err="1"/>
              <a:t>train</a:t>
            </a:r>
            <a:r>
              <a:rPr lang="sv-SE" sz="2400" dirty="0"/>
              <a:t>/valid/test?</a:t>
            </a:r>
          </a:p>
          <a:p>
            <a:pPr lvl="1"/>
            <a:endParaRPr lang="sv-SE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20</a:t>
            </a:fld>
            <a:endParaRPr lang="sv-SE"/>
          </a:p>
        </p:txBody>
      </p:sp>
      <p:sp>
        <p:nvSpPr>
          <p:cNvPr id="6" name="Rectangle 5"/>
          <p:cNvSpPr/>
          <p:nvPr/>
        </p:nvSpPr>
        <p:spPr>
          <a:xfrm>
            <a:off x="1475656" y="2420888"/>
            <a:ext cx="4572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n=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dim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(data)[1]</a:t>
            </a:r>
          </a:p>
          <a:p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set.seed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(12345) 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id=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sample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(1:n, 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floor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(n*0.7)) </a:t>
            </a:r>
          </a:p>
          <a:p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train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=data[id,] 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test=data[-id,] </a:t>
            </a:r>
          </a:p>
        </p:txBody>
      </p:sp>
      <p:sp>
        <p:nvSpPr>
          <p:cNvPr id="7" name="Rectangle 6"/>
          <p:cNvSpPr/>
          <p:nvPr/>
        </p:nvSpPr>
        <p:spPr>
          <a:xfrm>
            <a:off x="1619672" y="3933056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n=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dim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(data)[1]</a:t>
            </a:r>
          </a:p>
          <a:p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set.seed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(12345) 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id=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sample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(1:n, 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floor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(n*0.4)) </a:t>
            </a:r>
          </a:p>
          <a:p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train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=data[id,] </a:t>
            </a:r>
          </a:p>
          <a:p>
            <a:endParaRPr lang="sv-SE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id1=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setdiff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(1:n, id)</a:t>
            </a:r>
          </a:p>
          <a:p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set.seed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(12345) 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id2=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sample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(id1, 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floor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(n*0.3)) 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valid=data[id2,]</a:t>
            </a:r>
          </a:p>
          <a:p>
            <a:endParaRPr lang="sv-SE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id3=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setdiff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(id1,id2)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test=data[id3,] </a:t>
            </a:r>
          </a:p>
        </p:txBody>
      </p:sp>
    </p:spTree>
    <p:extLst>
      <p:ext uri="{BB962C8B-B14F-4D97-AF65-F5344CB8AC3E}">
        <p14:creationId xmlns:p14="http://schemas.microsoft.com/office/powerpoint/2010/main" val="4494808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Cross-</a:t>
            </a:r>
            <a:r>
              <a:rPr lang="sv-SE" dirty="0" err="1"/>
              <a:t>validation</a:t>
            </a:r>
            <a:r>
              <a:rPr lang="sv-SE" dirty="0"/>
              <a:t>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sv-SE" dirty="0"/>
                  <a:t>Compared </a:t>
                </a:r>
                <a:r>
                  <a:rPr lang="sv-SE" dirty="0" err="1"/>
                  <a:t>to</a:t>
                </a:r>
                <a:r>
                  <a:rPr lang="sv-SE" dirty="0"/>
                  <a:t> </a:t>
                </a:r>
                <a:r>
                  <a:rPr lang="sv-SE" dirty="0" err="1"/>
                  <a:t>holdout</a:t>
                </a:r>
                <a:r>
                  <a:rPr lang="sv-SE" dirty="0"/>
                  <a:t> </a:t>
                </a:r>
                <a:r>
                  <a:rPr lang="sv-SE" dirty="0" err="1"/>
                  <a:t>method</a:t>
                </a:r>
                <a:r>
                  <a:rPr lang="sv-SE" dirty="0"/>
                  <a:t>:</a:t>
                </a:r>
              </a:p>
              <a:p>
                <a:pPr lvl="1"/>
                <a:r>
                  <a:rPr lang="sv-SE" dirty="0" err="1"/>
                  <a:t>Why</a:t>
                </a:r>
                <a:r>
                  <a:rPr lang="sv-SE" dirty="0"/>
                  <a:t> do </a:t>
                </a:r>
                <a:r>
                  <a:rPr lang="sv-SE" dirty="0" err="1"/>
                  <a:t>we</a:t>
                </a:r>
                <a:r>
                  <a:rPr lang="sv-SE" dirty="0"/>
                  <a:t> </a:t>
                </a:r>
                <a:r>
                  <a:rPr lang="sv-SE" dirty="0" err="1"/>
                  <a:t>use</a:t>
                </a:r>
                <a:r>
                  <a:rPr lang="sv-SE" dirty="0"/>
                  <a:t> </a:t>
                </a:r>
                <a:r>
                  <a:rPr lang="sv-SE" dirty="0" err="1"/>
                  <a:t>only</a:t>
                </a:r>
                <a:r>
                  <a:rPr lang="sv-SE" dirty="0"/>
                  <a:t> </a:t>
                </a:r>
                <a:r>
                  <a:rPr lang="sv-SE" dirty="0" err="1"/>
                  <a:t>some</a:t>
                </a:r>
                <a:r>
                  <a:rPr lang="sv-SE" dirty="0"/>
                  <a:t> portion </a:t>
                </a:r>
                <a:r>
                  <a:rPr lang="sv-SE" dirty="0" err="1"/>
                  <a:t>of</a:t>
                </a:r>
                <a:r>
                  <a:rPr lang="sv-SE" dirty="0"/>
                  <a:t> data for </a:t>
                </a:r>
                <a:r>
                  <a:rPr lang="sv-SE" dirty="0" err="1"/>
                  <a:t>training</a:t>
                </a:r>
                <a:r>
                  <a:rPr lang="sv-SE" dirty="0"/>
                  <a:t>- </a:t>
                </a:r>
                <a:r>
                  <a:rPr lang="sv-SE" dirty="0" err="1"/>
                  <a:t>can</a:t>
                </a:r>
                <a:r>
                  <a:rPr lang="sv-SE" dirty="0"/>
                  <a:t> </a:t>
                </a:r>
                <a:r>
                  <a:rPr lang="sv-SE" dirty="0" err="1"/>
                  <a:t>we</a:t>
                </a:r>
                <a:r>
                  <a:rPr lang="sv-SE" dirty="0"/>
                  <a:t> </a:t>
                </a:r>
                <a:r>
                  <a:rPr lang="sv-SE" dirty="0" err="1"/>
                  <a:t>use</a:t>
                </a:r>
                <a:r>
                  <a:rPr lang="sv-SE" dirty="0"/>
                  <a:t> </a:t>
                </a:r>
                <a:r>
                  <a:rPr lang="sv-SE" dirty="0" err="1"/>
                  <a:t>more</a:t>
                </a:r>
                <a:r>
                  <a:rPr lang="sv-SE" dirty="0"/>
                  <a:t>?</a:t>
                </a:r>
              </a:p>
              <a:p>
                <a:pPr lvl="1"/>
                <a:r>
                  <a:rPr lang="sv-SE" dirty="0">
                    <a:solidFill>
                      <a:srgbClr val="00B050"/>
                    </a:solidFill>
                  </a:rPr>
                  <a:t>Approximation 1</a:t>
                </a:r>
                <a:r>
                  <a:rPr lang="sv-SE" dirty="0"/>
                  <a:t>: </a:t>
                </a:r>
                <a:r>
                  <a:rPr lang="sv-SE" dirty="0" err="1"/>
                  <a:t>choose</a:t>
                </a:r>
                <a:r>
                  <a:rPr lang="sv-SE" dirty="0"/>
                  <a:t> </a:t>
                </a:r>
                <a14:m>
                  <m:oMath xmlns:m="http://schemas.openxmlformats.org/officeDocument/2006/math">
                    <m:r>
                      <a:rPr lang="sv-SE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sv-SE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sv-SE" dirty="0"/>
                  <a:t>as </a:t>
                </a:r>
                <a:r>
                  <a:rPr lang="sv-SE" b="1" dirty="0"/>
                  <a:t>different</a:t>
                </a:r>
                <a:r>
                  <a:rPr lang="sv-SE" dirty="0"/>
                  <a:t> </a:t>
                </a:r>
                <a:r>
                  <a:rPr lang="sv-SE" dirty="0" err="1"/>
                  <a:t>subsets</a:t>
                </a:r>
                <a:r>
                  <a:rPr lang="sv-SE" dirty="0"/>
                  <a:t> </a:t>
                </a:r>
                <a:r>
                  <a:rPr lang="sv-SE" dirty="0" err="1"/>
                  <a:t>of</a:t>
                </a:r>
                <a:r>
                  <a:rPr lang="sv-SE" dirty="0"/>
                  <a:t> data</a:t>
                </a:r>
              </a:p>
              <a:p>
                <a:pPr lvl="1"/>
                <a:r>
                  <a:rPr lang="sv-SE" dirty="0">
                    <a:solidFill>
                      <a:srgbClr val="00B050"/>
                    </a:solidFill>
                  </a:rPr>
                  <a:t>Approximation 2</a:t>
                </a:r>
                <a:r>
                  <a:rPr lang="sv-SE" dirty="0"/>
                  <a:t>: </a:t>
                </a:r>
                <a:r>
                  <a:rPr lang="sv-SE" dirty="0" err="1"/>
                  <a:t>choose</a:t>
                </a:r>
                <a:r>
                  <a:rPr lang="sv-SE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sv-SE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sv-SE" b="1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sv-S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</m:e>
                    </m:d>
                  </m:oMath>
                </a14:m>
                <a:r>
                  <a:rPr lang="sv-SE" dirty="0"/>
                  <a:t> from the </a:t>
                </a:r>
                <a:r>
                  <a:rPr lang="sv-SE" dirty="0" err="1"/>
                  <a:t>remaining</a:t>
                </a:r>
                <a:r>
                  <a:rPr lang="sv-SE" dirty="0"/>
                  <a:t> data</a:t>
                </a:r>
              </a:p>
              <a:p>
                <a:pPr marL="457200" indent="-457200" eaLnBrk="1" hangingPunct="1">
                  <a:buFontTx/>
                  <a:buNone/>
                </a:pPr>
                <a:endParaRPr lang="sv-SE" b="1" dirty="0">
                  <a:solidFill>
                    <a:srgbClr val="7F3203"/>
                  </a:solidFill>
                </a:endParaRPr>
              </a:p>
              <a:p>
                <a:pPr marL="457200" indent="-457200" eaLnBrk="1" hangingPunct="1">
                  <a:buFontTx/>
                  <a:buNone/>
                </a:pPr>
                <a:r>
                  <a:rPr lang="sv-SE" b="1" dirty="0">
                    <a:solidFill>
                      <a:srgbClr val="7F3203"/>
                    </a:solidFill>
                  </a:rPr>
                  <a:t>Cross-</a:t>
                </a:r>
                <a:r>
                  <a:rPr lang="sv-SE" b="1" dirty="0" err="1">
                    <a:solidFill>
                      <a:srgbClr val="7F3203"/>
                    </a:solidFill>
                  </a:rPr>
                  <a:t>validation</a:t>
                </a:r>
                <a:r>
                  <a:rPr lang="sv-SE" b="1" dirty="0">
                    <a:solidFill>
                      <a:srgbClr val="7F3203"/>
                    </a:solidFill>
                  </a:rPr>
                  <a:t> </a:t>
                </a:r>
                <a:r>
                  <a:rPr lang="sv-SE" b="1" dirty="0"/>
                  <a:t>K-</a:t>
                </a:r>
                <a:r>
                  <a:rPr lang="sv-SE" b="1" dirty="0" err="1"/>
                  <a:t>fold</a:t>
                </a:r>
                <a:r>
                  <a:rPr lang="sv-SE" b="1" dirty="0"/>
                  <a:t> cross-</a:t>
                </a:r>
                <a:r>
                  <a:rPr lang="sv-SE" b="1" dirty="0" err="1"/>
                  <a:t>validation</a:t>
                </a:r>
                <a:r>
                  <a:rPr lang="sv-SE" b="1" dirty="0"/>
                  <a:t> (</a:t>
                </a:r>
                <a:r>
                  <a:rPr lang="sv-SE" b="1" dirty="0" err="1"/>
                  <a:t>rough</a:t>
                </a:r>
                <a:r>
                  <a:rPr lang="sv-SE" b="1" dirty="0"/>
                  <a:t> </a:t>
                </a:r>
                <a:r>
                  <a:rPr lang="sv-SE" b="1" dirty="0" err="1"/>
                  <a:t>scheme</a:t>
                </a:r>
                <a:r>
                  <a:rPr lang="sv-SE" b="1" dirty="0"/>
                  <a:t>, show </a:t>
                </a:r>
                <a:r>
                  <a:rPr lang="sv-SE" b="1" dirty="0" err="1"/>
                  <a:t>picture</a:t>
                </a:r>
                <a:r>
                  <a:rPr lang="sv-SE" b="1" dirty="0"/>
                  <a:t>)</a:t>
                </a:r>
                <a:r>
                  <a:rPr lang="sv-SE" dirty="0"/>
                  <a:t>:</a:t>
                </a:r>
              </a:p>
              <a:p>
                <a:pPr marL="457200" indent="-457200" eaLnBrk="1" hangingPunct="1">
                  <a:buFontTx/>
                  <a:buAutoNum type="arabicPeriod"/>
                </a:pPr>
                <a:r>
                  <a:rPr lang="sv-SE" dirty="0" err="1"/>
                  <a:t>Permute</a:t>
                </a:r>
                <a:r>
                  <a:rPr lang="sv-SE" dirty="0"/>
                  <a:t> the observations </a:t>
                </a:r>
                <a:r>
                  <a:rPr lang="sv-SE" dirty="0" err="1"/>
                  <a:t>randomly</a:t>
                </a:r>
                <a:endParaRPr lang="sv-SE" dirty="0"/>
              </a:p>
              <a:p>
                <a:pPr marL="457200" indent="-457200" eaLnBrk="1" hangingPunct="1">
                  <a:buFontTx/>
                  <a:buAutoNum type="arabicPeriod"/>
                </a:pPr>
                <a:r>
                  <a:rPr lang="sv-SE" dirty="0" err="1"/>
                  <a:t>Divide</a:t>
                </a:r>
                <a:r>
                  <a:rPr lang="sv-SE" dirty="0"/>
                  <a:t> data-set in K </a:t>
                </a:r>
                <a:r>
                  <a:rPr lang="sv-SE" dirty="0" err="1"/>
                  <a:t>roughly</a:t>
                </a:r>
                <a:r>
                  <a:rPr lang="sv-SE" dirty="0"/>
                  <a:t> </a:t>
                </a:r>
                <a:r>
                  <a:rPr lang="sv-SE" dirty="0" err="1"/>
                  <a:t>equally-sized</a:t>
                </a:r>
                <a:r>
                  <a:rPr lang="sv-SE" dirty="0"/>
                  <a:t> </a:t>
                </a:r>
                <a:r>
                  <a:rPr lang="sv-SE" dirty="0" err="1"/>
                  <a:t>subsets</a:t>
                </a:r>
                <a:endParaRPr lang="sv-SE" dirty="0"/>
              </a:p>
              <a:p>
                <a:pPr marL="457200" indent="-457200" eaLnBrk="1" hangingPunct="1">
                  <a:buFontTx/>
                  <a:buAutoNum type="arabicPeriod"/>
                </a:pPr>
                <a:r>
                  <a:rPr lang="sv-SE" dirty="0" err="1"/>
                  <a:t>Remove</a:t>
                </a:r>
                <a:r>
                  <a:rPr lang="sv-SE" dirty="0"/>
                  <a:t> </a:t>
                </a:r>
                <a:r>
                  <a:rPr lang="sv-SE" dirty="0" err="1"/>
                  <a:t>subset</a:t>
                </a:r>
                <a:r>
                  <a:rPr lang="sv-SE" dirty="0"/>
                  <a:t> #i and fit the </a:t>
                </a:r>
                <a:r>
                  <a:rPr lang="sv-SE" dirty="0" err="1"/>
                  <a:t>model</a:t>
                </a:r>
                <a:r>
                  <a:rPr lang="sv-SE" dirty="0"/>
                  <a:t> </a:t>
                </a:r>
                <a:r>
                  <a:rPr lang="sv-SE" dirty="0" err="1"/>
                  <a:t>using</a:t>
                </a:r>
                <a:r>
                  <a:rPr lang="sv-SE" dirty="0"/>
                  <a:t> </a:t>
                </a:r>
                <a:r>
                  <a:rPr lang="sv-SE" dirty="0" err="1"/>
                  <a:t>remaining</a:t>
                </a:r>
                <a:r>
                  <a:rPr lang="sv-SE" dirty="0"/>
                  <a:t> data.</a:t>
                </a:r>
              </a:p>
              <a:p>
                <a:pPr marL="457200" indent="-457200" eaLnBrk="1" hangingPunct="1">
                  <a:buFontTx/>
                  <a:buAutoNum type="arabicPeriod"/>
                </a:pPr>
                <a:r>
                  <a:rPr lang="sv-SE" dirty="0" err="1"/>
                  <a:t>Predict</a:t>
                </a:r>
                <a:r>
                  <a:rPr lang="sv-SE" dirty="0"/>
                  <a:t> the </a:t>
                </a:r>
                <a:r>
                  <a:rPr lang="sv-SE" dirty="0" err="1"/>
                  <a:t>function</a:t>
                </a:r>
                <a:r>
                  <a:rPr lang="sv-SE" dirty="0"/>
                  <a:t> </a:t>
                </a:r>
                <a:r>
                  <a:rPr lang="sv-SE" dirty="0" err="1"/>
                  <a:t>values</a:t>
                </a:r>
                <a:r>
                  <a:rPr lang="sv-SE" dirty="0"/>
                  <a:t> for </a:t>
                </a:r>
                <a:r>
                  <a:rPr lang="sv-SE" dirty="0" err="1"/>
                  <a:t>subset</a:t>
                </a:r>
                <a:r>
                  <a:rPr lang="sv-SE" dirty="0"/>
                  <a:t> #i </a:t>
                </a:r>
                <a:r>
                  <a:rPr lang="sv-SE" dirty="0" err="1"/>
                  <a:t>using</a:t>
                </a:r>
                <a:r>
                  <a:rPr lang="sv-SE" dirty="0"/>
                  <a:t> the </a:t>
                </a:r>
                <a:r>
                  <a:rPr lang="sv-SE" dirty="0" err="1"/>
                  <a:t>fitted</a:t>
                </a:r>
                <a:r>
                  <a:rPr lang="sv-SE" dirty="0"/>
                  <a:t> </a:t>
                </a:r>
                <a:r>
                  <a:rPr lang="sv-SE" dirty="0" err="1"/>
                  <a:t>model</a:t>
                </a:r>
                <a:r>
                  <a:rPr lang="sv-SE" dirty="0"/>
                  <a:t>.</a:t>
                </a:r>
              </a:p>
              <a:p>
                <a:pPr marL="457200" indent="-457200" eaLnBrk="1" hangingPunct="1">
                  <a:buFontTx/>
                  <a:buAutoNum type="arabicPeriod"/>
                </a:pPr>
                <a:r>
                  <a:rPr lang="sv-SE" dirty="0" err="1"/>
                  <a:t>Repeat</a:t>
                </a:r>
                <a:r>
                  <a:rPr lang="sv-SE" dirty="0"/>
                  <a:t> steps 3-4 for different i</a:t>
                </a:r>
              </a:p>
              <a:p>
                <a:pPr marL="457200" indent="-457200" eaLnBrk="1" hangingPunct="1">
                  <a:buFontTx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𝑓𝑜𝑙𝑑</m:t>
                        </m:r>
                      </m:sub>
                    </m:sSub>
                  </m:oMath>
                </a14:m>
                <a:r>
                  <a:rPr lang="sv-SE" dirty="0"/>
                  <a:t>= </a:t>
                </a:r>
                <a:r>
                  <a:rPr lang="sv-SE" dirty="0" err="1"/>
                  <a:t>mean</a:t>
                </a:r>
                <a:r>
                  <a:rPr lang="sv-SE" dirty="0"/>
                  <a:t> </a:t>
                </a:r>
                <a:r>
                  <a:rPr lang="sv-SE" dirty="0" err="1"/>
                  <a:t>hold</a:t>
                </a:r>
                <a:r>
                  <a:rPr lang="sv-SE" dirty="0"/>
                  <a:t> </a:t>
                </a:r>
                <a:r>
                  <a:rPr lang="sv-SE" dirty="0" err="1"/>
                  <a:t>out</a:t>
                </a:r>
                <a:r>
                  <a:rPr lang="sv-SE" dirty="0"/>
                  <a:t> loss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3" t="-2291" b="-2022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21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084340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639C3E7-DBAE-4B69-BD8E-24BEE81AE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Cross-</a:t>
            </a:r>
            <a:r>
              <a:rPr lang="sv-SE" dirty="0" err="1"/>
              <a:t>validation</a:t>
            </a:r>
            <a:endParaRPr lang="sv-SE" dirty="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194D7B3D-CA69-441F-B432-499E6DF8A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5D35C489-53BB-4DAE-B4D1-26C3DA662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22</a:t>
            </a:fld>
            <a:endParaRPr lang="sv-SE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4045328B-19E0-49B4-A569-10990D91C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272" y="1776688"/>
            <a:ext cx="6300192" cy="4246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3231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>
          <a:xfrm>
            <a:off x="536179" y="226294"/>
            <a:ext cx="8229600" cy="1143000"/>
          </a:xfrm>
          <a:noFill/>
        </p:spPr>
        <p:txBody>
          <a:bodyPr/>
          <a:lstStyle/>
          <a:p>
            <a:pPr eaLnBrk="1" hangingPunct="1"/>
            <a:r>
              <a:rPr lang="sv-SE" dirty="0"/>
              <a:t>Cross-</a:t>
            </a:r>
            <a:r>
              <a:rPr lang="sv-SE" dirty="0" err="1"/>
              <a:t>validation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629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eaLnBrk="1" hangingPunct="1">
                  <a:buFontTx/>
                  <a:buNone/>
                </a:pPr>
                <a:r>
                  <a:rPr lang="sv-SE" sz="2400" b="1" dirty="0">
                    <a:solidFill>
                      <a:srgbClr val="7F3203"/>
                    </a:solidFill>
                  </a:rPr>
                  <a:t>Cross-</a:t>
                </a:r>
                <a:r>
                  <a:rPr lang="sv-SE" sz="2400" b="1" dirty="0" err="1">
                    <a:solidFill>
                      <a:srgbClr val="7F3203"/>
                    </a:solidFill>
                  </a:rPr>
                  <a:t>validation</a:t>
                </a:r>
                <a:endParaRPr lang="sv-SE" sz="2400" b="1" dirty="0">
                  <a:solidFill>
                    <a:srgbClr val="7F3203"/>
                  </a:solidFill>
                </a:endParaRPr>
              </a:p>
              <a:p>
                <a:pPr eaLnBrk="1" hangingPunct="1">
                  <a:buFontTx/>
                  <a:buNone/>
                </a:pPr>
                <a:endParaRPr lang="sv-SE" sz="2400" u="sng" dirty="0"/>
              </a:p>
              <a:p>
                <a:pPr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𝑓𝑜𝑙𝑑</m:t>
                        </m:r>
                      </m:sub>
                    </m:sSub>
                  </m:oMath>
                </a14:m>
                <a:r>
                  <a:rPr lang="sv-SE" sz="2400" dirty="0"/>
                  <a:t> is </a:t>
                </a:r>
                <a:r>
                  <a:rPr lang="sv-SE" sz="2400" dirty="0" err="1"/>
                  <a:t>used</a:t>
                </a:r>
                <a:r>
                  <a:rPr lang="sv-SE" sz="2400" dirty="0"/>
                  <a:t> as approximation </a:t>
                </a:r>
                <a:r>
                  <a:rPr lang="sv-SE" sz="2400" dirty="0" err="1"/>
                  <a:t>of</a:t>
                </a:r>
                <a:r>
                  <a:rPr lang="sv-SE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</m:oMath>
                </a14:m>
                <a:endParaRPr lang="sv-SE" sz="2400" dirty="0"/>
              </a:p>
              <a:p>
                <a:pPr eaLnBrk="1" hangingPunct="1"/>
                <a:endParaRPr lang="sv-SE" sz="2400" dirty="0"/>
              </a:p>
              <a:p>
                <a:pPr eaLnBrk="1" hangingPunct="1">
                  <a:buFontTx/>
                  <a:buNone/>
                </a:pPr>
                <a:endParaRPr lang="sv-SE" sz="2400" u="sng" dirty="0"/>
              </a:p>
              <a:p>
                <a:pPr eaLnBrk="1" hangingPunct="1">
                  <a:buFontTx/>
                  <a:buNone/>
                </a:pPr>
                <a:r>
                  <a:rPr lang="sv-SE" sz="2400" u="sng" dirty="0"/>
                  <a:t>Note</a:t>
                </a:r>
                <a:r>
                  <a:rPr lang="sv-SE" sz="2400" dirty="0">
                    <a:solidFill>
                      <a:srgbClr val="7F3203"/>
                    </a:solidFill>
                  </a:rPr>
                  <a:t>: </a:t>
                </a:r>
                <a:r>
                  <a:rPr lang="sv-SE" sz="2400" dirty="0" err="1"/>
                  <a:t>if</a:t>
                </a:r>
                <a:r>
                  <a:rPr lang="sv-SE" sz="2400" dirty="0"/>
                  <a:t> </a:t>
                </a:r>
                <a:r>
                  <a:rPr lang="sv-SE" sz="2400" i="1" dirty="0">
                    <a:latin typeface="Times New Roman" pitchFamily="18" charset="0"/>
                  </a:rPr>
                  <a:t>k=n</a:t>
                </a:r>
                <a:r>
                  <a:rPr lang="sv-SE" sz="2400" dirty="0"/>
                  <a:t> </a:t>
                </a:r>
                <a:r>
                  <a:rPr lang="sv-SE" sz="2400" dirty="0" err="1"/>
                  <a:t>then</a:t>
                </a:r>
                <a:r>
                  <a:rPr lang="sv-SE" sz="2400" dirty="0"/>
                  <a:t> </a:t>
                </a:r>
                <a:r>
                  <a:rPr lang="sv-SE" sz="2400" dirty="0" err="1"/>
                  <a:t>method</a:t>
                </a:r>
                <a:r>
                  <a:rPr lang="sv-SE" sz="2400" dirty="0"/>
                  <a:t> is </a:t>
                </a:r>
                <a:r>
                  <a:rPr lang="sv-SE" sz="2400" i="1" dirty="0" err="1">
                    <a:solidFill>
                      <a:srgbClr val="7F3203"/>
                    </a:solidFill>
                  </a:rPr>
                  <a:t>leave-one-out</a:t>
                </a:r>
                <a:r>
                  <a:rPr lang="sv-SE" sz="2400" dirty="0"/>
                  <a:t> cross-</a:t>
                </a:r>
                <a:r>
                  <a:rPr lang="sv-SE" sz="2400" dirty="0" err="1"/>
                  <a:t>validation</a:t>
                </a:r>
                <a:r>
                  <a:rPr lang="sv-SE" sz="2400" dirty="0"/>
                  <a:t>.</a:t>
                </a:r>
                <a:endParaRPr lang="sv-SE" sz="2400" dirty="0">
                  <a:solidFill>
                    <a:srgbClr val="7F3203"/>
                  </a:solidFill>
                </a:endParaRPr>
              </a:p>
              <a:p>
                <a:pPr eaLnBrk="1" hangingPunct="1">
                  <a:buFontTx/>
                  <a:buNone/>
                </a:pPr>
                <a:endParaRPr lang="sv-SE" b="1" dirty="0">
                  <a:solidFill>
                    <a:srgbClr val="7F3203"/>
                  </a:solidFill>
                </a:endParaRPr>
              </a:p>
              <a:p>
                <a:pPr eaLnBrk="1" hangingPunct="1">
                  <a:buFontTx/>
                  <a:buNone/>
                </a:pPr>
                <a:endParaRPr lang="el-GR" dirty="0">
                  <a:cs typeface="Arial" charset="0"/>
                </a:endParaRPr>
              </a:p>
              <a:p>
                <a:pPr eaLnBrk="1" hangingPunct="1"/>
                <a:endParaRPr lang="en-US" dirty="0"/>
              </a:p>
            </p:txBody>
          </p:sp>
        </mc:Choice>
        <mc:Fallback xmlns="">
          <p:sp>
            <p:nvSpPr>
              <p:cNvPr id="2662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11" t="-107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626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732A99/TDDE01</a:t>
            </a:r>
          </a:p>
        </p:txBody>
      </p:sp>
      <p:sp>
        <p:nvSpPr>
          <p:cNvPr id="2662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3D6EAD7-EA5A-4941-BC98-ACB78DDF0DD6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915816" y="4934634"/>
            <a:ext cx="2376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>
                <a:solidFill>
                  <a:srgbClr val="7030A0"/>
                </a:solidFill>
              </a:rPr>
              <a:t>What</a:t>
            </a:r>
            <a:r>
              <a:rPr lang="sv-SE" dirty="0">
                <a:solidFill>
                  <a:srgbClr val="7030A0"/>
                </a:solidFill>
              </a:rPr>
              <a:t> to do </a:t>
            </a:r>
            <a:r>
              <a:rPr lang="sv-SE" dirty="0" err="1">
                <a:solidFill>
                  <a:srgbClr val="7030A0"/>
                </a:solidFill>
              </a:rPr>
              <a:t>if</a:t>
            </a:r>
            <a:r>
              <a:rPr lang="sv-SE" dirty="0">
                <a:solidFill>
                  <a:srgbClr val="7030A0"/>
                </a:solidFill>
              </a:rPr>
              <a:t> n is not a </a:t>
            </a:r>
            <a:r>
              <a:rPr lang="sv-SE" dirty="0" err="1">
                <a:solidFill>
                  <a:srgbClr val="7030A0"/>
                </a:solidFill>
              </a:rPr>
              <a:t>multiple</a:t>
            </a:r>
            <a:r>
              <a:rPr lang="sv-SE" dirty="0">
                <a:solidFill>
                  <a:srgbClr val="7030A0"/>
                </a:solidFill>
              </a:rPr>
              <a:t> </a:t>
            </a:r>
            <a:r>
              <a:rPr lang="sv-SE" dirty="0" err="1">
                <a:solidFill>
                  <a:srgbClr val="7030A0"/>
                </a:solidFill>
              </a:rPr>
              <a:t>of</a:t>
            </a:r>
            <a:r>
              <a:rPr lang="sv-SE" dirty="0">
                <a:solidFill>
                  <a:srgbClr val="7030A0"/>
                </a:solidFill>
              </a:rPr>
              <a:t> k?</a:t>
            </a:r>
          </a:p>
        </p:txBody>
      </p:sp>
    </p:spTree>
    <p:extLst>
      <p:ext uri="{BB962C8B-B14F-4D97-AF65-F5344CB8AC3E}">
        <p14:creationId xmlns:p14="http://schemas.microsoft.com/office/powerpoint/2010/main" val="1023150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Cross-</a:t>
            </a:r>
            <a:r>
              <a:rPr lang="sv-SE" dirty="0" err="1"/>
              <a:t>validation</a:t>
            </a:r>
            <a:r>
              <a:rPr lang="sv-SE" dirty="0"/>
              <a:t> vs </a:t>
            </a:r>
            <a:r>
              <a:rPr lang="sv-SE" dirty="0" err="1"/>
              <a:t>Holdout</a:t>
            </a:r>
            <a:r>
              <a:rPr lang="sv-SE" dirty="0"/>
              <a:t>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sv-SE" sz="2800" dirty="0" err="1"/>
              <a:t>Holdout</a:t>
            </a:r>
            <a:r>
              <a:rPr lang="sv-SE" sz="2800" dirty="0"/>
              <a:t> is </a:t>
            </a:r>
            <a:r>
              <a:rPr lang="sv-SE" sz="2800" dirty="0" err="1"/>
              <a:t>easy</a:t>
            </a:r>
            <a:r>
              <a:rPr lang="sv-SE" sz="2800" dirty="0"/>
              <a:t> to do (</a:t>
            </a:r>
            <a:r>
              <a:rPr lang="sv-SE" sz="2800" dirty="0" err="1"/>
              <a:t>one</a:t>
            </a:r>
            <a:r>
              <a:rPr lang="sv-SE" sz="2800" dirty="0"/>
              <a:t> </a:t>
            </a:r>
            <a:r>
              <a:rPr lang="sv-SE" sz="2800" dirty="0" err="1"/>
              <a:t>model</a:t>
            </a:r>
            <a:r>
              <a:rPr lang="sv-SE" sz="2800" dirty="0"/>
              <a:t> fit)</a:t>
            </a:r>
          </a:p>
          <a:p>
            <a:endParaRPr lang="sv-SE" sz="2800" dirty="0"/>
          </a:p>
          <a:p>
            <a:r>
              <a:rPr lang="sv-SE" sz="2800" dirty="0"/>
              <a:t>Cross </a:t>
            </a:r>
            <a:r>
              <a:rPr lang="sv-SE" sz="2800" dirty="0" err="1"/>
              <a:t>validation</a:t>
            </a:r>
            <a:r>
              <a:rPr lang="sv-SE" sz="2800" dirty="0"/>
              <a:t> is </a:t>
            </a:r>
            <a:r>
              <a:rPr lang="sv-SE" sz="2800" dirty="0" err="1"/>
              <a:t>computationally</a:t>
            </a:r>
            <a:r>
              <a:rPr lang="sv-SE" sz="2800" dirty="0"/>
              <a:t> </a:t>
            </a:r>
            <a:r>
              <a:rPr lang="sv-SE" sz="2800" dirty="0" err="1"/>
              <a:t>demanding</a:t>
            </a:r>
            <a:r>
              <a:rPr lang="sv-SE" sz="2800" dirty="0"/>
              <a:t> (</a:t>
            </a:r>
            <a:r>
              <a:rPr lang="sv-SE" sz="2800" dirty="0" err="1"/>
              <a:t>many</a:t>
            </a:r>
            <a:r>
              <a:rPr lang="sv-SE" sz="2800" dirty="0"/>
              <a:t> </a:t>
            </a:r>
            <a:r>
              <a:rPr lang="sv-SE" sz="2800" dirty="0" err="1"/>
              <a:t>model</a:t>
            </a:r>
            <a:r>
              <a:rPr lang="sv-SE" sz="2800" dirty="0"/>
              <a:t> fits)</a:t>
            </a:r>
          </a:p>
          <a:p>
            <a:endParaRPr lang="sv-SE" sz="2800" dirty="0"/>
          </a:p>
          <a:p>
            <a:r>
              <a:rPr lang="sv-SE" sz="2800" dirty="0" err="1"/>
              <a:t>Holdout</a:t>
            </a:r>
            <a:r>
              <a:rPr lang="sv-SE" sz="2800" dirty="0"/>
              <a:t> is </a:t>
            </a:r>
            <a:r>
              <a:rPr lang="sv-SE" sz="2800" dirty="0" err="1"/>
              <a:t>applicable</a:t>
            </a:r>
            <a:r>
              <a:rPr lang="sv-SE" sz="2800" dirty="0"/>
              <a:t> for </a:t>
            </a:r>
            <a:r>
              <a:rPr lang="sv-SE" sz="2800" dirty="0" err="1"/>
              <a:t>large</a:t>
            </a:r>
            <a:r>
              <a:rPr lang="sv-SE" sz="2800" dirty="0"/>
              <a:t> data</a:t>
            </a:r>
          </a:p>
          <a:p>
            <a:pPr lvl="1"/>
            <a:r>
              <a:rPr lang="sv-SE" sz="2400" dirty="0" err="1"/>
              <a:t>Otherwise</a:t>
            </a:r>
            <a:r>
              <a:rPr lang="sv-SE" sz="2400" dirty="0"/>
              <a:t>, </a:t>
            </a:r>
            <a:r>
              <a:rPr lang="sv-SE" sz="2400" dirty="0" err="1"/>
              <a:t>model</a:t>
            </a:r>
            <a:r>
              <a:rPr lang="sv-SE" sz="2400" dirty="0"/>
              <a:t> </a:t>
            </a:r>
            <a:r>
              <a:rPr lang="sv-SE" sz="2400" dirty="0" err="1"/>
              <a:t>selection</a:t>
            </a:r>
            <a:r>
              <a:rPr lang="sv-SE" sz="2400" dirty="0"/>
              <a:t> </a:t>
            </a:r>
            <a:r>
              <a:rPr lang="sv-SE" sz="2400" dirty="0" err="1"/>
              <a:t>performs</a:t>
            </a:r>
            <a:r>
              <a:rPr lang="sv-SE" sz="2400" dirty="0"/>
              <a:t> </a:t>
            </a:r>
            <a:r>
              <a:rPr lang="sv-SE" sz="2400" dirty="0" err="1"/>
              <a:t>poorly</a:t>
            </a:r>
            <a:endParaRPr lang="sv-SE" sz="2400" dirty="0"/>
          </a:p>
          <a:p>
            <a:pPr lvl="1"/>
            <a:endParaRPr lang="sv-SE" sz="2400" dirty="0"/>
          </a:p>
          <a:p>
            <a:r>
              <a:rPr lang="sv-SE" sz="2800" dirty="0"/>
              <a:t>Cross </a:t>
            </a:r>
            <a:r>
              <a:rPr lang="sv-SE" sz="2800" dirty="0" err="1"/>
              <a:t>validation</a:t>
            </a:r>
            <a:r>
              <a:rPr lang="sv-SE" sz="2800" dirty="0"/>
              <a:t> is </a:t>
            </a:r>
            <a:r>
              <a:rPr lang="sv-SE" sz="2800" dirty="0" err="1"/>
              <a:t>more</a:t>
            </a:r>
            <a:r>
              <a:rPr lang="sv-SE" sz="2800" dirty="0"/>
              <a:t> </a:t>
            </a:r>
            <a:r>
              <a:rPr lang="sv-SE" sz="2800" dirty="0" err="1"/>
              <a:t>suitable</a:t>
            </a:r>
            <a:r>
              <a:rPr lang="sv-SE" sz="2800" dirty="0"/>
              <a:t> for </a:t>
            </a:r>
            <a:r>
              <a:rPr lang="sv-SE" sz="2800" dirty="0" err="1"/>
              <a:t>smaller</a:t>
            </a:r>
            <a:r>
              <a:rPr lang="sv-SE" sz="2800" dirty="0"/>
              <a:t> data</a:t>
            </a:r>
          </a:p>
          <a:p>
            <a:endParaRPr lang="sv-SE" sz="2800" dirty="0"/>
          </a:p>
          <a:p>
            <a:r>
              <a:rPr lang="sv-SE" sz="2800" dirty="0"/>
              <a:t>In </a:t>
            </a:r>
            <a:r>
              <a:rPr lang="sv-SE" sz="2800" dirty="0" err="1"/>
              <a:t>both</a:t>
            </a:r>
            <a:r>
              <a:rPr lang="sv-SE" sz="2800" dirty="0"/>
              <a:t> </a:t>
            </a:r>
            <a:r>
              <a:rPr lang="sv-SE" sz="2800" dirty="0" err="1"/>
              <a:t>cases</a:t>
            </a:r>
            <a:r>
              <a:rPr lang="sv-SE" sz="2800" dirty="0"/>
              <a:t>, </a:t>
            </a:r>
            <a:r>
              <a:rPr lang="sv-SE" sz="2800" b="1" dirty="0"/>
              <a:t>test</a:t>
            </a:r>
            <a:r>
              <a:rPr lang="sv-SE" sz="2800" dirty="0"/>
              <a:t> set gives </a:t>
            </a:r>
            <a:r>
              <a:rPr lang="sv-SE" sz="2800" dirty="0" err="1"/>
              <a:t>unbiased</a:t>
            </a:r>
            <a:r>
              <a:rPr lang="sv-SE" sz="2800" dirty="0"/>
              <a:t> </a:t>
            </a:r>
            <a:r>
              <a:rPr lang="sv-SE" sz="2800" dirty="0" err="1"/>
              <a:t>prediction</a:t>
            </a:r>
            <a:r>
              <a:rPr lang="sv-SE" sz="2800" dirty="0"/>
              <a:t> </a:t>
            </a:r>
            <a:r>
              <a:rPr lang="sv-SE" sz="2800" dirty="0" err="1"/>
              <a:t>error</a:t>
            </a:r>
            <a:endParaRPr lang="sv-SE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24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925433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E7A0603-23B6-4B34-9E8D-F35743A9C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Model</a:t>
            </a:r>
            <a:r>
              <a:rPr lang="sv-SE" dirty="0"/>
              <a:t> </a:t>
            </a:r>
            <a:r>
              <a:rPr lang="sv-SE" dirty="0" err="1"/>
              <a:t>selection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6459F33E-056C-4590-B2C1-257F52A33B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v-SE" dirty="0"/>
                  <a:t>Dependence on </a:t>
                </a:r>
                <a:r>
                  <a:rPr lang="sv-SE" dirty="0" err="1"/>
                  <a:t>model</a:t>
                </a:r>
                <a:r>
                  <a:rPr lang="sv-SE" dirty="0"/>
                  <a:t> </a:t>
                </a:r>
                <a:r>
                  <a:rPr lang="sv-SE" dirty="0" err="1"/>
                  <a:t>complexity</a:t>
                </a:r>
                <a:endParaRPr lang="sv-SE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sv-S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sv-SE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sv-SE" sz="24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e>
                      <m:sub>
                        <m:r>
                          <a:rPr lang="sv-SE" sz="2400" i="1"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lang="sv-SE" sz="2400" b="0" i="1" dirty="0" smtClean="0">
                        <a:latin typeface="Cambria Math"/>
                      </a:rPr>
                      <m:t>=</m:t>
                    </m:r>
                    <m:nary>
                      <m:naryPr>
                        <m:supHide m:val="on"/>
                        <m:ctrlPr>
                          <a:rPr lang="sv-SE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d>
                          <m:dPr>
                            <m:ctrlPr>
                              <a:rPr lang="sv-SE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sv-SE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v-SE" sz="24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sv-SE" sz="24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b>
                            </m:sSub>
                            <m:r>
                              <a:rPr lang="sv-SE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sv-SE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v-SE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sv-SE" sz="24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b>
                            </m:sSub>
                          </m:e>
                        </m:d>
                      </m:sub>
                      <m:sup/>
                      <m:e>
                        <m:nary>
                          <m:naryPr>
                            <m:supHide m:val="on"/>
                            <m:ctrlPr>
                              <a:rPr lang="sv-SE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sv-SE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  <m:sup/>
                          <m:e>
                            <m:r>
                              <a:rPr lang="sv-SE" sz="24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sv-SE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sv-SE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400" i="1">
                                        <a:latin typeface="Cambria Math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sv-SE" sz="2400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b>
                                </m:sSub>
                                <m:r>
                                  <a:rPr lang="sv-SE" sz="2400" i="1">
                                    <a:latin typeface="Cambria Math"/>
                                  </a:rPr>
                                  <m:t>,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sv-SE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sv-SE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sv-SE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sv-SE" sz="24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sv-SE" sz="24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sv-SE" sz="2400" b="1" i="1"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b>
                                    </m:sSub>
                                    <m:r>
                                      <a:rPr lang="sv-SE" sz="2400" i="1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sv-SE" sz="2400">
                                        <a:latin typeface="Cambria Math" panose="02040503050406030204" pitchFamily="18" charset="0"/>
                                      </a:rPr>
                                      <m:t>Τ</m:t>
                                    </m:r>
                                    <m:r>
                                      <a:rPr lang="sv-SE" sz="240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sv-SE" sz="24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e>
                            </m:d>
                            <m:r>
                              <a:rPr lang="sv-SE" sz="2400" i="1" dirty="0">
                                <a:latin typeface="Cambria Math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sv-SE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sv-SE" sz="2400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400" b="1" i="1" dirty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sv-SE" sz="2400" b="1" i="1" dirty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b>
                                </m:sSub>
                                <m:r>
                                  <a:rPr lang="sv-SE" sz="2400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sv-SE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400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sv-SE" sz="2400" i="1" dirty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sv-SE" sz="2400" i="1" dirty="0">
                                <a:latin typeface="Cambria Math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sv-SE" sz="2400" b="1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v-SE" sz="2400" b="1" i="1" dirty="0">
                                    <a:latin typeface="Cambria Math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sv-SE" sz="2400" b="1" i="1" dirty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b>
                            </m:sSub>
                            <m:r>
                              <a:rPr lang="sv-SE" sz="2400" i="1" dirty="0">
                                <a:latin typeface="Cambria Math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sv-SE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v-SE" sz="2400" i="1" dirty="0"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sv-SE" sz="2400" i="1" dirty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b>
                            </m:sSub>
                          </m:e>
                        </m:nary>
                        <m:r>
                          <a:rPr lang="sv-SE" sz="2400" i="1">
                            <a:latin typeface="Cambria Math" panose="02040503050406030204" pitchFamily="18" charset="0"/>
                          </a:rPr>
                          <m:t>𝑑𝑇</m:t>
                        </m:r>
                      </m:e>
                    </m:nary>
                  </m:oMath>
                </a14:m>
                <a:endParaRPr lang="sv-SE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sv-SE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sv-SE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sv-SE" sz="24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e>
                      <m:sub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𝑡𝑟𝑎𝑖𝑛</m:t>
                        </m:r>
                      </m:sub>
                    </m:sSub>
                    <m:r>
                      <a:rPr lang="sv-SE" sz="2400" b="0" i="1" dirty="0" smtClean="0">
                        <a:latin typeface="Cambria Math"/>
                      </a:rPr>
                      <m:t>=</m:t>
                    </m:r>
                    <m:nary>
                      <m:naryPr>
                        <m:supHide m:val="on"/>
                        <m:ctrlPr>
                          <a:rPr lang="sv-SE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sv-SE" sz="2400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/>
                      <m:e>
                        <m:nary>
                          <m:naryPr>
                            <m:supHide m:val="on"/>
                            <m:ctrlP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d>
                              <m:dPr>
                                <m:ctrlPr>
                                  <a:rPr lang="sv-SE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sv-SE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4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sv-SE" sz="2400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b>
                                </m:sSub>
                                <m:r>
                                  <a:rPr lang="sv-SE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sv-SE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sv-SE" sz="2400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  <m:sup/>
                          <m:e>
                            <m:r>
                              <a:rPr lang="sv-SE" sz="24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sv-SE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sv-SE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400" i="1">
                                        <a:latin typeface="Cambria Math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sv-SE" sz="2400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b>
                                </m:sSub>
                                <m:r>
                                  <a:rPr lang="sv-SE" sz="2400" i="1">
                                    <a:latin typeface="Cambria Math"/>
                                  </a:rPr>
                                  <m:t>,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sv-SE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sv-SE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sv-SE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sv-SE" sz="24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sv-SE" sz="24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sv-SE" sz="2400" b="1" i="1"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b>
                                    </m:sSub>
                                    <m:r>
                                      <a:rPr lang="sv-SE" sz="2400" i="1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sv-SE" sz="2400">
                                        <a:latin typeface="Cambria Math" panose="02040503050406030204" pitchFamily="18" charset="0"/>
                                      </a:rPr>
                                      <m:t>Τ</m:t>
                                    </m:r>
                                    <m:r>
                                      <a:rPr lang="sv-SE" sz="240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sv-SE" sz="24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e>
                            </m:d>
                            <m:r>
                              <a:rPr lang="sv-SE" sz="2400" i="1" dirty="0">
                                <a:latin typeface="Cambria Math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sv-SE" sz="2400" b="1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v-SE" sz="2400" b="1" i="1" dirty="0">
                                    <a:latin typeface="Cambria Math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sv-SE" sz="2400" b="1" i="1" dirty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b>
                            </m:sSub>
                            <m:r>
                              <a:rPr lang="sv-SE" sz="2400" i="1" dirty="0">
                                <a:latin typeface="Cambria Math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sv-SE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v-SE" sz="2400" i="1" dirty="0"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sv-SE" sz="2400" i="1" dirty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b>
                            </m:sSub>
                          </m:e>
                        </m:nary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𝑑𝑇</m:t>
                        </m:r>
                      </m:e>
                    </m:nary>
                  </m:oMath>
                </a14:m>
                <a:endParaRPr lang="sv-SE" dirty="0"/>
              </a:p>
              <a:p>
                <a:pPr lvl="1"/>
                <a:endParaRPr lang="sv-SE" dirty="0"/>
              </a:p>
              <a:p>
                <a:pPr lvl="1"/>
                <a:endParaRPr lang="sv-SE" dirty="0"/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6459F33E-056C-4590-B2C1-257F52A33B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F19A158D-75CB-4576-B3D9-1ED1D75C4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5EE79538-E289-4FBC-9E24-8AA2F10E0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25</a:t>
            </a:fld>
            <a:endParaRPr lang="sv-SE"/>
          </a:p>
        </p:txBody>
      </p:sp>
      <p:pic>
        <p:nvPicPr>
          <p:cNvPr id="9" name="Bildobjekt 8">
            <a:extLst>
              <a:ext uri="{FF2B5EF4-FFF2-40B4-BE49-F238E27FC236}">
                <a16:creationId xmlns:a16="http://schemas.microsoft.com/office/drawing/2014/main" id="{FD95D441-90BD-4D6C-B823-8438FA7C2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704" y="3651638"/>
            <a:ext cx="4455852" cy="2684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9824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F876AD9-169D-46A3-AB95-477E6F4A1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Model</a:t>
            </a:r>
            <a:r>
              <a:rPr lang="sv-SE" dirty="0"/>
              <a:t> </a:t>
            </a:r>
            <a:r>
              <a:rPr lang="sv-SE" dirty="0" err="1"/>
              <a:t>selection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4744E445-DC06-4BC0-AFD3-C82D12748A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sv-SE" sz="2400" b="1" dirty="0">
                    <a:solidFill>
                      <a:srgbClr val="0000FF"/>
                    </a:solidFill>
                  </a:rPr>
                  <a:t>Generalization gap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sz="2000" b="0" i="1" smtClean="0">
                          <a:latin typeface="Cambria Math" panose="02040503050406030204" pitchFamily="18" charset="0"/>
                        </a:rPr>
                        <m:t>𝑔𝑒𝑛𝑒𝑟𝑎𝑙𝑖𝑧𝑎𝑡𝑖𝑜𝑛</m:t>
                      </m:r>
                      <m:r>
                        <a:rPr lang="sv-SE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2000" b="0" i="1" smtClean="0">
                          <a:latin typeface="Cambria Math" panose="02040503050406030204" pitchFamily="18" charset="0"/>
                        </a:rPr>
                        <m:t>𝑔𝑎𝑝</m:t>
                      </m:r>
                      <m:r>
                        <a:rPr lang="sv-SE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sv-SE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  <m:sub>
                          <m:r>
                            <a:rPr lang="sv-SE" sz="2000" b="0" i="1" smtClean="0"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  <m:r>
                        <a:rPr lang="sv-SE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sv-SE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  <m:sub>
                          <m:r>
                            <a:rPr lang="sv-SE" sz="2000" b="0" i="1" smtClean="0">
                              <a:latin typeface="Cambria Math" panose="02040503050406030204" pitchFamily="18" charset="0"/>
                            </a:rPr>
                            <m:t>𝑡𝑟𝑎𝑖𝑛</m:t>
                          </m:r>
                        </m:sub>
                      </m:sSub>
                    </m:oMath>
                  </m:oMathPara>
                </a14:m>
                <a:endParaRPr lang="sv-SE" sz="2000" b="0" dirty="0"/>
              </a:p>
              <a:p>
                <a:pPr marL="514350" indent="-457200"/>
                <a:endParaRPr lang="sv-SE" sz="2400" dirty="0"/>
              </a:p>
              <a:p>
                <a:pPr marL="514350" indent="-457200"/>
                <a:r>
                  <a:rPr lang="sv-SE" sz="2400" dirty="0" err="1"/>
                  <a:t>Normally</a:t>
                </a:r>
                <a:r>
                  <a:rPr lang="sv-SE" sz="2400" dirty="0"/>
                  <a:t> </a:t>
                </a:r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𝑔𝑒𝑛𝑒𝑟𝑎𝑙𝑖𝑧𝑎𝑡𝑖𝑜𝑛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𝑔𝑎𝑝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sv-SE" sz="2400" dirty="0"/>
              </a:p>
              <a:p>
                <a:pPr marL="514350" indent="-457200"/>
                <a:endParaRPr lang="sv-SE" sz="2400" dirty="0"/>
              </a:p>
              <a:p>
                <a:pPr marL="514350" indent="-457200"/>
                <a:r>
                  <a:rPr lang="sv-SE" sz="2400" dirty="0" err="1"/>
                  <a:t>How</a:t>
                </a:r>
                <a:r>
                  <a:rPr lang="sv-SE" sz="2400" dirty="0"/>
                  <a:t> to </a:t>
                </a:r>
                <a:r>
                  <a:rPr lang="sv-SE" sz="2400" dirty="0" err="1"/>
                  <a:t>estimate</a:t>
                </a:r>
                <a:r>
                  <a:rPr lang="sv-SE" sz="2400" dirty="0"/>
                  <a:t>: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sv-SE" sz="2000" dirty="0" err="1"/>
                  <a:t>Generate</a:t>
                </a:r>
                <a:r>
                  <a:rPr lang="sv-SE" sz="2000" dirty="0"/>
                  <a:t> </a:t>
                </a:r>
                <a:r>
                  <a:rPr lang="sv-SE" sz="2000" dirty="0" err="1"/>
                  <a:t>training</a:t>
                </a:r>
                <a:r>
                  <a:rPr lang="sv-SE" sz="2000" dirty="0"/>
                  <a:t> and </a:t>
                </a:r>
                <a:r>
                  <a:rPr lang="sv-SE" sz="2000" dirty="0" err="1"/>
                  <a:t>validation</a:t>
                </a:r>
                <a:r>
                  <a:rPr lang="sv-SE" sz="2000" dirty="0"/>
                  <a:t> data from the generating process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sv-SE" sz="2000" dirty="0" err="1"/>
                  <a:t>Estimate</a:t>
                </a:r>
                <a:r>
                  <a:rPr lang="sv-SE" sz="2000" dirty="0"/>
                  <a:t> </a:t>
                </a:r>
                <a:r>
                  <a:rPr lang="sv-SE" sz="2000" dirty="0" err="1"/>
                  <a:t>training</a:t>
                </a:r>
                <a:r>
                  <a:rPr lang="sv-SE" sz="2000" dirty="0"/>
                  <a:t> and </a:t>
                </a:r>
                <a:r>
                  <a:rPr lang="sv-SE" sz="2000" dirty="0" err="1"/>
                  <a:t>validation</a:t>
                </a:r>
                <a:r>
                  <a:rPr lang="sv-SE" sz="2000" dirty="0"/>
                  <a:t> </a:t>
                </a:r>
                <a:r>
                  <a:rPr lang="sv-SE" sz="2000" dirty="0" err="1"/>
                  <a:t>errors</a:t>
                </a:r>
                <a:endParaRPr lang="sv-SE" sz="2000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sv-SE" sz="2000" dirty="0" err="1"/>
                  <a:t>Repeat</a:t>
                </a:r>
                <a:r>
                  <a:rPr lang="sv-SE" sz="2000" dirty="0"/>
                  <a:t> 1-2 </a:t>
                </a:r>
                <a14:m>
                  <m:oMath xmlns:m="http://schemas.openxmlformats.org/officeDocument/2006/math"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sv-SE" sz="2000" dirty="0"/>
                  <a:t> times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sv-SE" sz="2000" dirty="0" err="1"/>
                  <a:t>Substract</a:t>
                </a:r>
                <a:r>
                  <a:rPr lang="sv-SE" sz="2000" dirty="0"/>
                  <a:t> </a:t>
                </a:r>
                <a:r>
                  <a:rPr lang="sv-SE" sz="2000" dirty="0" err="1"/>
                  <a:t>average</a:t>
                </a:r>
                <a:r>
                  <a:rPr lang="sv-SE" sz="2000" dirty="0"/>
                  <a:t> </a:t>
                </a:r>
                <a:r>
                  <a:rPr lang="sv-SE" sz="2000" dirty="0" err="1"/>
                  <a:t>train</a:t>
                </a:r>
                <a:r>
                  <a:rPr lang="sv-SE" sz="2000" dirty="0"/>
                  <a:t> </a:t>
                </a:r>
                <a:r>
                  <a:rPr lang="sv-SE" sz="2000" dirty="0" err="1"/>
                  <a:t>error</a:t>
                </a:r>
                <a:r>
                  <a:rPr lang="sv-SE" sz="2000" dirty="0"/>
                  <a:t> from </a:t>
                </a:r>
                <a:r>
                  <a:rPr lang="sv-SE" sz="2000" dirty="0" err="1"/>
                  <a:t>average</a:t>
                </a:r>
                <a:r>
                  <a:rPr lang="sv-SE" sz="2000" dirty="0"/>
                  <a:t> </a:t>
                </a:r>
                <a:r>
                  <a:rPr lang="sv-SE" sz="2000" dirty="0" err="1"/>
                  <a:t>validation</a:t>
                </a:r>
                <a:r>
                  <a:rPr lang="sv-SE" sz="2000" dirty="0"/>
                  <a:t> </a:t>
                </a:r>
                <a:r>
                  <a:rPr lang="sv-SE" sz="2000" dirty="0" err="1"/>
                  <a:t>error</a:t>
                </a:r>
                <a:endParaRPr lang="sv-SE" sz="2000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sv-SE" sz="2000" dirty="0"/>
              </a:p>
              <a:p>
                <a:pPr marL="514350" indent="-457200"/>
                <a:r>
                  <a:rPr lang="sv-SE" sz="2400" dirty="0">
                    <a:solidFill>
                      <a:srgbClr val="C00000"/>
                    </a:solidFill>
                  </a:rPr>
                  <a:t>Note</a:t>
                </a:r>
                <a:r>
                  <a:rPr lang="sv-SE" sz="2400" dirty="0"/>
                  <a:t>: </a:t>
                </a:r>
                <a:r>
                  <a:rPr lang="sv-SE" sz="2400" dirty="0" err="1"/>
                  <a:t>Normally</a:t>
                </a:r>
                <a:r>
                  <a:rPr lang="sv-SE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e>
                      <m:sub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e>
                      <m:sub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𝑡𝑟𝑎𝑖𝑛</m:t>
                        </m:r>
                      </m:sub>
                    </m:sSub>
                  </m:oMath>
                </a14:m>
                <a:r>
                  <a:rPr lang="sv-SE" sz="2400" dirty="0"/>
                  <a:t> </a:t>
                </a:r>
                <a:r>
                  <a:rPr lang="sv-SE" sz="2400" dirty="0" err="1"/>
                  <a:t>but</a:t>
                </a:r>
                <a:r>
                  <a:rPr lang="sv-SE" sz="2400" dirty="0"/>
                  <a:t> </a:t>
                </a:r>
                <a:r>
                  <a:rPr lang="sv-SE" sz="2400" dirty="0" err="1"/>
                  <a:t>this</a:t>
                </a:r>
                <a:r>
                  <a:rPr lang="sv-SE" sz="2400" dirty="0"/>
                  <a:t> is not </a:t>
                </a:r>
                <a:r>
                  <a:rPr lang="sv-SE" sz="2400" dirty="0" err="1"/>
                  <a:t>always</a:t>
                </a:r>
                <a:r>
                  <a:rPr lang="sv-SE" sz="2400" dirty="0"/>
                  <a:t> the </a:t>
                </a:r>
                <a:r>
                  <a:rPr lang="sv-SE" sz="2400" dirty="0" err="1"/>
                  <a:t>case</a:t>
                </a:r>
                <a:r>
                  <a:rPr lang="sv-SE" sz="2400" dirty="0"/>
                  <a:t> for </a:t>
                </a:r>
                <a:r>
                  <a:rPr lang="sv-SE" sz="2400" dirty="0" err="1"/>
                  <a:t>individual</a:t>
                </a:r>
                <a:r>
                  <a:rPr lang="sv-SE" sz="2400" dirty="0"/>
                  <a:t> </a:t>
                </a:r>
                <a:r>
                  <a:rPr lang="sv-SE" sz="2400" dirty="0" err="1"/>
                  <a:t>training</a:t>
                </a:r>
                <a:r>
                  <a:rPr lang="sv-SE" sz="2400" dirty="0"/>
                  <a:t> and </a:t>
                </a:r>
                <a:r>
                  <a:rPr lang="sv-SE" sz="2400" dirty="0" err="1"/>
                  <a:t>validation</a:t>
                </a:r>
                <a:r>
                  <a:rPr lang="sv-SE" sz="2400" dirty="0"/>
                  <a:t> </a:t>
                </a:r>
                <a:r>
                  <a:rPr lang="sv-SE" sz="2400" dirty="0" err="1"/>
                  <a:t>errors</a:t>
                </a:r>
                <a:endParaRPr lang="sv-SE" sz="2400" dirty="0"/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4744E445-DC06-4BC0-AFD3-C82D12748A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5" t="-1752" b="-404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ED40BFA3-547D-494B-8A36-193C97C88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6680E6DC-5959-4D41-8AE6-9046BAFF7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26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300310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DDAC7A9-D1A2-485B-A8F5-8527CB06B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Model</a:t>
            </a:r>
            <a:r>
              <a:rPr lang="sv-SE" dirty="0"/>
              <a:t> </a:t>
            </a:r>
            <a:r>
              <a:rPr lang="sv-SE" dirty="0" err="1"/>
              <a:t>selection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EDCE81BA-9CF2-4C28-A768-501103879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Dependence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data </a:t>
            </a:r>
            <a:r>
              <a:rPr lang="sv-SE" dirty="0" err="1"/>
              <a:t>size</a:t>
            </a:r>
            <a:endParaRPr lang="sv-SE" dirty="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0309CDCF-A294-48EB-A1F0-64CEE3106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A2F372B4-30B0-4333-8604-9FCD307D4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27</a:t>
            </a:fld>
            <a:endParaRPr lang="sv-SE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8B80AD57-B0AB-45BC-8A13-C23190557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2636912"/>
            <a:ext cx="7477438" cy="3090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2920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09CA0A8-5A24-4CAA-9DC0-0FAD07231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Model</a:t>
            </a:r>
            <a:r>
              <a:rPr lang="sv-SE" dirty="0"/>
              <a:t> </a:t>
            </a:r>
            <a:r>
              <a:rPr lang="sv-SE" dirty="0" err="1"/>
              <a:t>selection</a:t>
            </a:r>
            <a:r>
              <a:rPr lang="sv-SE" dirty="0"/>
              <a:t>: </a:t>
            </a:r>
            <a:r>
              <a:rPr lang="sv-SE" dirty="0" err="1"/>
              <a:t>comments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82A2A3C1-EE4A-4E36-8E1E-E7151CECD4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v-SE" sz="2800" dirty="0"/>
                  <a:t>Choose </a:t>
                </a:r>
                <a:r>
                  <a:rPr lang="sv-SE" sz="2800" dirty="0" err="1"/>
                  <a:t>model</a:t>
                </a:r>
                <a:r>
                  <a:rPr lang="sv-SE" sz="2800" dirty="0"/>
                  <a:t> </a:t>
                </a:r>
                <a:r>
                  <a:rPr lang="sv-SE" sz="2800" dirty="0" err="1"/>
                  <a:t>with</a:t>
                </a:r>
                <a:r>
                  <a:rPr lang="sv-SE" sz="2800" dirty="0"/>
                  <a:t> </a:t>
                </a:r>
                <a:r>
                  <a:rPr lang="sv-SE" sz="2800" dirty="0" err="1"/>
                  <a:t>smallest</a:t>
                </a:r>
                <a:r>
                  <a:rPr lang="sv-SE" sz="2800" dirty="0"/>
                  <a:t> </a:t>
                </a:r>
                <a:r>
                  <a:rPr lang="sv-SE" sz="2800" dirty="0" err="1"/>
                  <a:t>prediction</a:t>
                </a:r>
                <a:r>
                  <a:rPr lang="sv-SE" sz="2800" dirty="0"/>
                  <a:t> </a:t>
                </a:r>
                <a:r>
                  <a:rPr lang="sv-SE" sz="2800" dirty="0" err="1"/>
                  <a:t>error</a:t>
                </a:r>
                <a:endParaRPr lang="sv-SE" sz="2800" dirty="0"/>
              </a:p>
              <a:p>
                <a:pPr lvl="1"/>
                <a:r>
                  <a:rPr lang="sv-SE" sz="24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𝑡𝑟𝑎𝑖𝑛</m:t>
                        </m:r>
                      </m:sub>
                    </m:sSub>
                  </m:oMath>
                </a14:m>
                <a:r>
                  <a:rPr lang="sv-SE" sz="2400" dirty="0"/>
                  <a:t> </a:t>
                </a:r>
                <a:r>
                  <a:rPr lang="sv-SE" sz="2400" dirty="0" err="1"/>
                  <a:t>then</a:t>
                </a:r>
                <a:r>
                  <a:rPr lang="sv-SE" sz="2400" dirty="0"/>
                  <a:t> </a:t>
                </a:r>
                <a:r>
                  <a:rPr lang="sv-SE" sz="2400" dirty="0" err="1"/>
                  <a:t>model</a:t>
                </a:r>
                <a:r>
                  <a:rPr lang="sv-SE" sz="2400" dirty="0"/>
                  <a:t> is </a:t>
                </a:r>
                <a:r>
                  <a:rPr lang="sv-SE" sz="2400" dirty="0" err="1"/>
                  <a:t>probably</a:t>
                </a:r>
                <a:r>
                  <a:rPr lang="sv-SE" sz="2400" dirty="0"/>
                  <a:t> </a:t>
                </a:r>
                <a:r>
                  <a:rPr lang="sv-SE" sz="2400" dirty="0" err="1"/>
                  <a:t>too</a:t>
                </a:r>
                <a:r>
                  <a:rPr lang="sv-SE" sz="2400" dirty="0"/>
                  <a:t> simple</a:t>
                </a:r>
              </a:p>
              <a:p>
                <a:pPr lvl="1"/>
                <a:r>
                  <a:rPr lang="sv-SE" sz="24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≫</m:t>
                    </m:r>
                    <m:sSub>
                      <m:sSub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𝑡𝑟𝑎𝑖𝑛</m:t>
                        </m:r>
                      </m:sub>
                    </m:sSub>
                  </m:oMath>
                </a14:m>
                <a:r>
                  <a:rPr lang="sv-SE" sz="2400" dirty="0"/>
                  <a:t> </a:t>
                </a:r>
                <a:r>
                  <a:rPr lang="sv-SE" sz="2400" dirty="0" err="1"/>
                  <a:t>then</a:t>
                </a:r>
                <a:r>
                  <a:rPr lang="sv-SE" sz="2400" dirty="0"/>
                  <a:t> </a:t>
                </a:r>
                <a:r>
                  <a:rPr lang="sv-SE" sz="2400" dirty="0" err="1"/>
                  <a:t>then</a:t>
                </a:r>
                <a:r>
                  <a:rPr lang="sv-SE" sz="2400" dirty="0"/>
                  <a:t> </a:t>
                </a:r>
                <a:r>
                  <a:rPr lang="sv-SE" sz="2400" dirty="0" err="1"/>
                  <a:t>probably</a:t>
                </a:r>
                <a:r>
                  <a:rPr lang="sv-SE" sz="2400" dirty="0"/>
                  <a:t> </a:t>
                </a:r>
                <a:r>
                  <a:rPr lang="sv-SE" sz="2400" dirty="0" err="1"/>
                  <a:t>overfitting</a:t>
                </a:r>
                <a:endParaRPr lang="sv-SE" sz="2400" dirty="0"/>
              </a:p>
              <a:p>
                <a:pPr lvl="1"/>
                <a:endParaRPr lang="sv-SE" sz="2400" dirty="0"/>
              </a:p>
              <a:p>
                <a:pPr lvl="1"/>
                <a:endParaRPr lang="sv-SE" sz="2400" dirty="0"/>
              </a:p>
              <a:p>
                <a:r>
                  <a:rPr lang="sv-SE" sz="2800" dirty="0"/>
                  <a:t>If the best </a:t>
                </a:r>
                <a:r>
                  <a:rPr lang="sv-SE" sz="2800" dirty="0" err="1"/>
                  <a:t>training</a:t>
                </a:r>
                <a:r>
                  <a:rPr lang="sv-SE" sz="2800" dirty="0"/>
                  <a:t> </a:t>
                </a:r>
                <a:r>
                  <a:rPr lang="sv-SE" sz="2800" dirty="0" err="1"/>
                  <a:t>error</a:t>
                </a:r>
                <a:r>
                  <a:rPr lang="sv-SE" sz="2800" dirty="0"/>
                  <a:t> </a:t>
                </a:r>
                <a:r>
                  <a:rPr lang="sv-SE" sz="2800" dirty="0" err="1"/>
                  <a:t>too</a:t>
                </a:r>
                <a:r>
                  <a:rPr lang="sv-SE" sz="2800" dirty="0"/>
                  <a:t> </a:t>
                </a:r>
                <a:r>
                  <a:rPr lang="sv-SE" sz="2800" dirty="0" err="1"/>
                  <a:t>large</a:t>
                </a:r>
                <a:r>
                  <a:rPr lang="sv-SE" sz="2800" dirty="0">
                    <a:sym typeface="Wingdings" panose="05000000000000000000" pitchFamily="2" charset="2"/>
                  </a:rPr>
                  <a:t> </a:t>
                </a:r>
                <a:r>
                  <a:rPr lang="sv-SE" sz="2800" dirty="0" err="1">
                    <a:sym typeface="Wingdings" panose="05000000000000000000" pitchFamily="2" charset="2"/>
                  </a:rPr>
                  <a:t>change</a:t>
                </a:r>
                <a:r>
                  <a:rPr lang="sv-SE" sz="2800" dirty="0">
                    <a:sym typeface="Wingdings" panose="05000000000000000000" pitchFamily="2" charset="2"/>
                  </a:rPr>
                  <a:t> </a:t>
                </a:r>
                <a:r>
                  <a:rPr lang="sv-SE" sz="2800" dirty="0" err="1">
                    <a:sym typeface="Wingdings" panose="05000000000000000000" pitchFamily="2" charset="2"/>
                  </a:rPr>
                  <a:t>model</a:t>
                </a:r>
                <a:r>
                  <a:rPr lang="sv-SE" sz="2800" dirty="0">
                    <a:sym typeface="Wingdings" panose="05000000000000000000" pitchFamily="2" charset="2"/>
                  </a:rPr>
                  <a:t> or get </a:t>
                </a:r>
                <a:r>
                  <a:rPr lang="sv-SE" sz="2800" dirty="0" err="1">
                    <a:sym typeface="Wingdings" panose="05000000000000000000" pitchFamily="2" charset="2"/>
                  </a:rPr>
                  <a:t>more</a:t>
                </a:r>
                <a:r>
                  <a:rPr lang="sv-SE" sz="2800" dirty="0">
                    <a:sym typeface="Wingdings" panose="05000000000000000000" pitchFamily="2" charset="2"/>
                  </a:rPr>
                  <a:t> data…</a:t>
                </a:r>
              </a:p>
              <a:p>
                <a:endParaRPr lang="sv-SE" sz="2800" dirty="0">
                  <a:sym typeface="Wingdings" panose="05000000000000000000" pitchFamily="2" charset="2"/>
                </a:endParaRPr>
              </a:p>
              <a:p>
                <a:r>
                  <a:rPr lang="sv-SE" sz="2800" dirty="0" err="1">
                    <a:sym typeface="Wingdings" panose="05000000000000000000" pitchFamily="2" charset="2"/>
                  </a:rPr>
                  <a:t>Increasing</a:t>
                </a:r>
                <a:r>
                  <a:rPr lang="sv-SE" sz="2800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sv-SE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𝑛</m:t>
                    </m:r>
                  </m:oMath>
                </a14:m>
                <a:r>
                  <a:rPr lang="sv-SE" sz="2800" dirty="0"/>
                  <a:t> </a:t>
                </a:r>
                <a:r>
                  <a:rPr lang="sv-SE" sz="2800" dirty="0" err="1"/>
                  <a:t>may</a:t>
                </a:r>
                <a:r>
                  <a:rPr lang="sv-SE" sz="2800" dirty="0"/>
                  <a:t> </a:t>
                </a:r>
                <a:r>
                  <a:rPr lang="sv-SE" sz="2800" dirty="0" err="1"/>
                  <a:t>help</a:t>
                </a:r>
                <a:r>
                  <a:rPr lang="sv-SE" sz="2800" dirty="0"/>
                  <a:t> a </a:t>
                </a:r>
                <a:r>
                  <a:rPr lang="sv-SE" sz="2800" dirty="0" err="1"/>
                  <a:t>lot</a:t>
                </a:r>
                <a:r>
                  <a:rPr lang="sv-SE" sz="2800" dirty="0"/>
                  <a:t> for </a:t>
                </a:r>
                <a:r>
                  <a:rPr lang="sv-SE" sz="2800" dirty="0" err="1"/>
                  <a:t>complex</a:t>
                </a:r>
                <a:r>
                  <a:rPr lang="sv-SE" sz="2800" dirty="0"/>
                  <a:t> </a:t>
                </a:r>
                <a:r>
                  <a:rPr lang="sv-SE" sz="2800" dirty="0" err="1"/>
                  <a:t>models</a:t>
                </a:r>
                <a:endParaRPr lang="sv-SE" sz="2800" dirty="0"/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82A2A3C1-EE4A-4E36-8E1E-E7151CECD4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348" r="-2074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BD37EB21-7F36-486A-A483-7CA927734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32F6B717-AF47-401E-BD34-867B42E51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28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151906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Bias-</a:t>
            </a:r>
            <a:r>
              <a:rPr lang="sv-SE" dirty="0" err="1"/>
              <a:t>variance</a:t>
            </a:r>
            <a:r>
              <a:rPr lang="sv-SE" dirty="0"/>
              <a:t> </a:t>
            </a:r>
            <a:r>
              <a:rPr lang="sv-SE" dirty="0" err="1"/>
              <a:t>tradeoff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sv-SE" sz="2800" dirty="0">
                    <a:solidFill>
                      <a:srgbClr val="0070C0"/>
                    </a:solidFill>
                  </a:rPr>
                  <a:t>Bias </a:t>
                </a:r>
                <a:r>
                  <a:rPr lang="sv-SE" sz="2800" dirty="0" err="1">
                    <a:solidFill>
                      <a:srgbClr val="0070C0"/>
                    </a:solidFill>
                  </a:rPr>
                  <a:t>of</a:t>
                </a:r>
                <a:r>
                  <a:rPr lang="sv-SE" sz="2800" dirty="0">
                    <a:solidFill>
                      <a:srgbClr val="0070C0"/>
                    </a:solidFill>
                  </a:rPr>
                  <a:t> an </a:t>
                </a:r>
                <a:r>
                  <a:rPr lang="sv-SE" sz="2800" dirty="0" err="1">
                    <a:solidFill>
                      <a:srgbClr val="0070C0"/>
                    </a:solidFill>
                  </a:rPr>
                  <a:t>estimator</a:t>
                </a:r>
                <a:r>
                  <a:rPr lang="sv-SE" sz="2800" dirty="0">
                    <a:solidFill>
                      <a:srgbClr val="0070C0"/>
                    </a:solidFill>
                  </a:rPr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sz="2800" b="0" i="1" smtClean="0">
                          <a:latin typeface="Cambria Math"/>
                        </a:rPr>
                        <m:t>𝐵𝑖𝑎𝑠</m:t>
                      </m:r>
                      <m:d>
                        <m:dPr>
                          <m:ctrlPr>
                            <a:rPr lang="sv-SE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sv-SE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v-SE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sv-SE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sv-SE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sv-SE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sv-SE" sz="2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sv-SE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d>
                      <m:r>
                        <a:rPr lang="sv-SE" sz="2800" b="0" i="1" smtClean="0">
                          <a:latin typeface="Cambria Math"/>
                        </a:rPr>
                        <m:t>=</m:t>
                      </m:r>
                      <m:r>
                        <a:rPr lang="sv-SE" sz="2800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sv-SE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sv-SE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v-SE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d>
                            <m:dPr>
                              <m:ctrlPr>
                                <a:rPr lang="sv-SE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sv-SE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sz="28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sv-SE" sz="2800" b="1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b>
                              </m:sSub>
                            </m:e>
                          </m:d>
                          <m:r>
                            <a:rPr lang="sv-SE" sz="28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sv-SE" sz="2800" b="0" i="1" smtClean="0">
                              <a:latin typeface="Cambria Math"/>
                            </a:rPr>
                            <m:t>𝑓</m:t>
                          </m:r>
                          <m:r>
                            <a:rPr lang="sv-SE" sz="2800" b="0" i="1" smtClean="0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sv-SE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800" b="1" i="1" smtClean="0">
                                  <a:latin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sv-SE" sz="2800" b="1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b>
                          </m:sSub>
                          <m:r>
                            <a:rPr lang="sv-SE" sz="2800" b="0" i="1" smtClean="0">
                              <a:latin typeface="Cambria Math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sv-SE" sz="2800" b="0" dirty="0"/>
              </a:p>
              <a:p>
                <a:pPr lvl="1"/>
                <a:r>
                  <a:rPr lang="sv-SE" sz="2400" dirty="0"/>
                  <a:t> </a:t>
                </a:r>
                <a14:m>
                  <m:oMath xmlns:m="http://schemas.openxmlformats.org/officeDocument/2006/math">
                    <m:r>
                      <a:rPr lang="sv-SE" sz="2400" i="1">
                        <a:latin typeface="Cambria Math"/>
                      </a:rPr>
                      <m:t>𝑓</m:t>
                    </m:r>
                    <m:r>
                      <a:rPr lang="sv-SE" sz="2400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sv-S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1" i="1"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sv-SE" sz="2400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sv-SE" sz="2400" i="1">
                        <a:latin typeface="Cambria Math"/>
                      </a:rPr>
                      <m:t>)</m:t>
                    </m:r>
                  </m:oMath>
                </a14:m>
                <a:r>
                  <a:rPr lang="sv-SE" sz="2400" dirty="0"/>
                  <a:t> is </a:t>
                </a:r>
                <a:r>
                  <a:rPr lang="sv-SE" sz="2400" dirty="0" err="1"/>
                  <a:t>expected</a:t>
                </a:r>
                <a:r>
                  <a:rPr lang="sv-SE" sz="2400" dirty="0"/>
                  <a:t> </a:t>
                </a:r>
                <a:r>
                  <a:rPr lang="sv-SE" sz="2400" dirty="0" err="1"/>
                  <a:t>response</a:t>
                </a:r>
                <a:r>
                  <a:rPr lang="sv-SE" sz="2400" dirty="0"/>
                  <a:t>, </a:t>
                </a:r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sv-SE" sz="2400" b="0" i="1" smtClean="0">
                        <a:latin typeface="Cambria Math" panose="02040503050406030204" pitchFamily="18" charset="0"/>
                      </a:rPr>
                      <m:t>ϵ</m:t>
                    </m:r>
                  </m:oMath>
                </a14:m>
                <a:r>
                  <a:rPr lang="sv-SE" sz="2400" b="0" dirty="0"/>
                  <a:t>,</a:t>
                </a:r>
              </a:p>
              <a:p>
                <a:pPr lvl="1"/>
                <a:r>
                  <a:rPr lang="sv-SE" sz="2400" b="0" dirty="0"/>
                  <a:t> </a:t>
                </a:r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sv-SE" sz="2400" b="0" dirty="0"/>
              </a:p>
              <a:p>
                <a:endParaRPr lang="sv-SE" sz="2800" dirty="0"/>
              </a:p>
              <a:p>
                <a:pPr lvl="1"/>
                <a:r>
                  <a:rPr lang="sv-SE" sz="2400" dirty="0"/>
                  <a:t>If </a:t>
                </a:r>
                <a14:m>
                  <m:oMath xmlns:m="http://schemas.openxmlformats.org/officeDocument/2006/math">
                    <m:r>
                      <a:rPr lang="sv-SE" sz="2400" i="1">
                        <a:latin typeface="Cambria Math"/>
                      </a:rPr>
                      <m:t>𝐵𝑖𝑎𝑠</m:t>
                    </m:r>
                    <m:d>
                      <m:dPr>
                        <m:ctrlPr>
                          <a:rPr lang="sv-S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sv-SE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sv-SE" sz="2400" i="1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sv-SE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400" b="1" i="1"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sv-SE" sz="2400" b="1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  <m:r>
                          <a:rPr lang="sv-SE" sz="2400" i="1">
                            <a:latin typeface="Cambria Math"/>
                          </a:rPr>
                          <m:t>)</m:t>
                        </m:r>
                      </m:e>
                    </m:d>
                    <m:r>
                      <a:rPr lang="sv-SE" sz="2400" b="0" i="1" smtClean="0">
                        <a:latin typeface="Cambria Math"/>
                      </a:rPr>
                      <m:t>=0</m:t>
                    </m:r>
                  </m:oMath>
                </a14:m>
                <a:r>
                  <a:rPr lang="sv-SE" sz="2400" dirty="0"/>
                  <a:t>, the </a:t>
                </a:r>
                <a:r>
                  <a:rPr lang="sv-SE" sz="2400" dirty="0" err="1"/>
                  <a:t>estimator</a:t>
                </a:r>
                <a:r>
                  <a:rPr lang="sv-SE" sz="2400" dirty="0"/>
                  <a:t> is </a:t>
                </a:r>
                <a:r>
                  <a:rPr lang="sv-SE" sz="2400" b="1" dirty="0" err="1"/>
                  <a:t>unbiased</a:t>
                </a:r>
                <a:endParaRPr lang="sv-SE" sz="2400" b="1" dirty="0"/>
              </a:p>
              <a:p>
                <a:pPr lvl="1"/>
                <a:endParaRPr lang="sv-SE" sz="2400" b="1" dirty="0"/>
              </a:p>
              <a:p>
                <a:pPr lvl="1"/>
                <a:r>
                  <a:rPr lang="sv-SE" sz="2400" dirty="0"/>
                  <a:t>ML </a:t>
                </a:r>
                <a:r>
                  <a:rPr lang="sv-SE" sz="2400" dirty="0" err="1"/>
                  <a:t>estimators</a:t>
                </a:r>
                <a:r>
                  <a:rPr lang="sv-SE" sz="2400" dirty="0"/>
                  <a:t> </a:t>
                </a:r>
                <a:r>
                  <a:rPr lang="sv-SE" sz="2400" dirty="0" err="1"/>
                  <a:t>are</a:t>
                </a:r>
                <a:r>
                  <a:rPr lang="sv-SE" sz="2400" dirty="0"/>
                  <a:t> </a:t>
                </a:r>
                <a:r>
                  <a:rPr lang="sv-SE" sz="2400" dirty="0" err="1"/>
                  <a:t>asymptotically</a:t>
                </a:r>
                <a:r>
                  <a:rPr lang="sv-SE" sz="2400" dirty="0"/>
                  <a:t> </a:t>
                </a:r>
                <a:r>
                  <a:rPr lang="sv-SE" sz="2400" dirty="0" err="1"/>
                  <a:t>unbiased</a:t>
                </a:r>
                <a:r>
                  <a:rPr lang="sv-SE" sz="2400" dirty="0"/>
                  <a:t> </a:t>
                </a:r>
                <a:r>
                  <a:rPr lang="sv-SE" sz="2400" dirty="0" err="1"/>
                  <a:t>if</a:t>
                </a:r>
                <a:r>
                  <a:rPr lang="sv-SE" sz="2400" dirty="0"/>
                  <a:t> the </a:t>
                </a:r>
                <a:r>
                  <a:rPr lang="sv-SE" sz="2400" dirty="0" err="1"/>
                  <a:t>model</a:t>
                </a:r>
                <a:r>
                  <a:rPr lang="sv-SE" sz="2400" dirty="0"/>
                  <a:t> is </a:t>
                </a:r>
                <a:r>
                  <a:rPr lang="sv-SE" sz="2400" dirty="0" err="1"/>
                  <a:t>enough</a:t>
                </a:r>
                <a:r>
                  <a:rPr lang="sv-SE" sz="2400" dirty="0"/>
                  <a:t> </a:t>
                </a:r>
                <a:r>
                  <a:rPr lang="sv-SE" sz="2400" dirty="0" err="1"/>
                  <a:t>complex</a:t>
                </a:r>
                <a:endParaRPr lang="sv-SE" sz="2400" dirty="0"/>
              </a:p>
              <a:p>
                <a:pPr lvl="1"/>
                <a:endParaRPr lang="sv-SE" sz="2400" dirty="0"/>
              </a:p>
              <a:p>
                <a:pPr lvl="1"/>
                <a:r>
                  <a:rPr lang="sv-SE" sz="2400" dirty="0" err="1"/>
                  <a:t>However</a:t>
                </a:r>
                <a:r>
                  <a:rPr lang="sv-SE" sz="2400" dirty="0"/>
                  <a:t>, </a:t>
                </a:r>
                <a:r>
                  <a:rPr lang="sv-SE" sz="2400" dirty="0" err="1"/>
                  <a:t>unbiasedness</a:t>
                </a:r>
                <a:r>
                  <a:rPr lang="sv-SE" sz="2400" dirty="0"/>
                  <a:t> </a:t>
                </a:r>
                <a:r>
                  <a:rPr lang="sv-SE" sz="2400" dirty="0" err="1"/>
                  <a:t>does</a:t>
                </a:r>
                <a:r>
                  <a:rPr lang="sv-SE" sz="2400" dirty="0"/>
                  <a:t> not </a:t>
                </a:r>
                <a:r>
                  <a:rPr lang="sv-SE" sz="2400" dirty="0" err="1"/>
                  <a:t>mean</a:t>
                </a:r>
                <a:r>
                  <a:rPr lang="sv-SE" sz="2400" dirty="0"/>
                  <a:t> a </a:t>
                </a:r>
                <a:r>
                  <a:rPr lang="sv-SE" sz="2400" dirty="0" err="1"/>
                  <a:t>good</a:t>
                </a:r>
                <a:r>
                  <a:rPr lang="sv-SE" sz="2400" dirty="0"/>
                  <a:t> choice!</a:t>
                </a:r>
              </a:p>
              <a:p>
                <a:pPr lvl="1"/>
                <a:endParaRPr lang="sv-SE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33" t="-2291" b="-283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29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434303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Bias-</a:t>
            </a:r>
            <a:r>
              <a:rPr lang="sv-SE" dirty="0" err="1"/>
              <a:t>variance</a:t>
            </a:r>
            <a:r>
              <a:rPr lang="sv-SE" dirty="0"/>
              <a:t> </a:t>
            </a:r>
            <a:r>
              <a:rPr lang="sv-SE" dirty="0" err="1"/>
              <a:t>tradeoff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v-SE" dirty="0"/>
                  <a:t>Assume </a:t>
                </a:r>
                <a:r>
                  <a:rPr lang="sv-SE" dirty="0" err="1"/>
                  <a:t>error</a:t>
                </a:r>
                <a:r>
                  <a:rPr lang="sv-SE" dirty="0"/>
                  <a:t> </a:t>
                </a:r>
                <a:r>
                  <a:rPr lang="sv-SE" dirty="0" err="1"/>
                  <a:t>function</a:t>
                </a:r>
                <a:r>
                  <a:rPr lang="sv-SE" dirty="0"/>
                  <a:t> is </a:t>
                </a:r>
                <a14:m>
                  <m:oMath xmlns:m="http://schemas.openxmlformats.org/officeDocument/2006/math">
                    <m:r>
                      <a:rPr lang="sv-SE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sv-SE" b="0" i="1" smtClean="0">
                            <a:latin typeface="Cambria Math"/>
                          </a:rPr>
                          <m:t>, </m:t>
                        </m:r>
                        <m:acc>
                          <m:accPr>
                            <m:chr m:val="̂"/>
                            <m:ctrlPr>
                              <a:rPr lang="sv-SE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  <m:r>
                      <a:rPr lang="sv-SE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sv-S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sv-SE" b="0" i="1" smtClean="0">
                                <a:latin typeface="Cambria Math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sv-S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sv-SE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sv-SE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sv-S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  <m:sub>
                          <m:r>
                            <a:rPr lang="sv-SE" b="0" i="1" dirty="0" smtClean="0"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  <m:d>
                        <m:dPr>
                          <m:ctrlPr>
                            <a:rPr lang="sv-SE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sv-SE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sz="2000" b="1" i="1" smtClean="0"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sv-SE" sz="2000" b="1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b>
                              </m:sSub>
                            </m:e>
                          </m:d>
                          <m:r>
                            <a:rPr lang="sv-SE" sz="2000" b="0" i="1" smtClean="0">
                              <a:latin typeface="Cambria Math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sv-SE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d>
                            <m:dPr>
                              <m:ctrlP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sv-SE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sz="2000" b="1" i="1" smtClean="0"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sv-SE" sz="2000" b="1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sv-SE" sz="2000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sv-SE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sz="2000" b="0" i="1" smtClean="0">
                              <a:latin typeface="Cambria Math"/>
                            </a:rPr>
                            <m:t>𝜎</m:t>
                          </m:r>
                        </m:e>
                        <m:sup>
                          <m:r>
                            <a:rPr lang="sv-SE" sz="20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sv-SE" sz="2000" b="0" i="1" smtClean="0">
                          <a:latin typeface="Cambria Math"/>
                        </a:rPr>
                        <m:t>+</m:t>
                      </m:r>
                      <m:r>
                        <a:rPr lang="sv-SE" sz="2000" b="0" i="1" smtClean="0">
                          <a:latin typeface="Cambria Math"/>
                        </a:rPr>
                        <m:t>𝐵𝑖𝑎</m:t>
                      </m:r>
                      <m:sSup>
                        <m:sSupPr>
                          <m:ctrlPr>
                            <a:rPr lang="sv-SE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sz="2000" b="0" i="1" smtClean="0">
                              <a:latin typeface="Cambria Math"/>
                            </a:rPr>
                            <m:t>𝑠</m:t>
                          </m:r>
                        </m:e>
                        <m:sup>
                          <m:r>
                            <a:rPr lang="sv-SE" sz="20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sv-SE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sv-SE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d>
                            <m:dPr>
                              <m:ctrlPr>
                                <a:rPr lang="sv-S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sv-SE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sz="2000" b="1" i="1"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sv-SE" sz="2000" b="1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sv-SE" sz="2000" b="0" i="1" smtClean="0">
                          <a:latin typeface="Cambria Math"/>
                        </a:rPr>
                        <m:t>+</m:t>
                      </m:r>
                      <m:r>
                        <a:rPr lang="sv-SE" sz="2000" b="0" i="1" smtClean="0">
                          <a:latin typeface="Cambria Math"/>
                        </a:rPr>
                        <m:t>𝑉𝑎𝑟</m:t>
                      </m:r>
                      <m:r>
                        <a:rPr lang="sv-SE" sz="2000" b="0" i="1" smtClean="0">
                          <a:latin typeface="Cambria Math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sv-SE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v-SE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sv-S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sv-SE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000" b="1" i="1">
                                  <a:latin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sv-SE" sz="2000" b="1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b>
                          </m:sSub>
                        </m:e>
                      </m:d>
                      <m:r>
                        <a:rPr lang="sv-SE" sz="20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sv-SE" sz="2000" dirty="0"/>
              </a:p>
              <a:p>
                <a:pPr marL="0" indent="0">
                  <a:buNone/>
                </a:pPr>
                <a:endParaRPr lang="sv-SE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04" t="-1617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30</a:t>
            </a:fld>
            <a:endParaRPr lang="sv-SE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9512" y="2852936"/>
            <a:ext cx="5530477" cy="3351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6300192" y="3789040"/>
            <a:ext cx="2520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/>
              <a:t>When</a:t>
            </a:r>
            <a:r>
              <a:rPr lang="sv-SE" dirty="0"/>
              <a:t> </a:t>
            </a:r>
            <a:r>
              <a:rPr lang="sv-SE" dirty="0" err="1"/>
              <a:t>error</a:t>
            </a:r>
            <a:r>
              <a:rPr lang="sv-SE" dirty="0"/>
              <a:t> is not </a:t>
            </a:r>
            <a:r>
              <a:rPr lang="sv-SE" dirty="0" err="1"/>
              <a:t>quadratic</a:t>
            </a:r>
            <a:r>
              <a:rPr lang="sv-SE" dirty="0"/>
              <a:t>, no </a:t>
            </a:r>
            <a:r>
              <a:rPr lang="sv-SE" dirty="0" err="1"/>
              <a:t>such</a:t>
            </a:r>
            <a:r>
              <a:rPr lang="sv-SE" dirty="0"/>
              <a:t> </a:t>
            </a:r>
            <a:r>
              <a:rPr lang="sv-SE" dirty="0" err="1"/>
              <a:t>nice</a:t>
            </a:r>
            <a:r>
              <a:rPr lang="sv-SE" dirty="0"/>
              <a:t> </a:t>
            </a:r>
            <a:r>
              <a:rPr lang="sv-SE" dirty="0" err="1"/>
              <a:t>formula</a:t>
            </a:r>
            <a:r>
              <a:rPr lang="sv-SE" dirty="0"/>
              <a:t> </a:t>
            </a:r>
            <a:r>
              <a:rPr lang="sv-SE" dirty="0" err="1"/>
              <a:t>exist</a:t>
            </a:r>
            <a:endParaRPr lang="sv-SE" dirty="0"/>
          </a:p>
        </p:txBody>
      </p:sp>
      <p:cxnSp>
        <p:nvCxnSpPr>
          <p:cNvPr id="11" name="Straight Arrow Connector 10"/>
          <p:cNvCxnSpPr>
            <a:stCxn id="7" idx="0"/>
          </p:cNvCxnSpPr>
          <p:nvPr/>
        </p:nvCxnSpPr>
        <p:spPr>
          <a:xfrm flipH="1" flipV="1">
            <a:off x="5796136" y="2852936"/>
            <a:ext cx="1764196" cy="9361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16070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1D2088D-AB31-43D8-A303-62A959EDB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Bias-</a:t>
            </a:r>
            <a:r>
              <a:rPr lang="sv-SE" dirty="0" err="1"/>
              <a:t>variance</a:t>
            </a:r>
            <a:r>
              <a:rPr lang="sv-SE" dirty="0"/>
              <a:t> </a:t>
            </a:r>
            <a:r>
              <a:rPr lang="sv-SE" dirty="0" err="1"/>
              <a:t>tradeoff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CE67C09E-8D84-4B3F-9206-4FCC61CC7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Individual</a:t>
            </a:r>
            <a:r>
              <a:rPr lang="sv-SE" dirty="0"/>
              <a:t> </a:t>
            </a:r>
            <a:r>
              <a:rPr lang="sv-SE" dirty="0" err="1"/>
              <a:t>contributions</a:t>
            </a:r>
            <a:endParaRPr lang="sv-SE" dirty="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CDF8E6C0-FA11-44D9-8B62-FB7EE19D2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3343A37C-2596-448C-AFC2-7778D4BB8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31</a:t>
            </a:fld>
            <a:endParaRPr lang="sv-SE"/>
          </a:p>
        </p:txBody>
      </p:sp>
      <p:pic>
        <p:nvPicPr>
          <p:cNvPr id="9" name="Bildobjekt 8">
            <a:extLst>
              <a:ext uri="{FF2B5EF4-FFF2-40B4-BE49-F238E27FC236}">
                <a16:creationId xmlns:a16="http://schemas.microsoft.com/office/drawing/2014/main" id="{F3889C03-7EA0-4871-B8B4-CD8C25774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2020028"/>
            <a:ext cx="7896225" cy="43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9290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AB2A02F-D0E8-4781-8740-62166926E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Bias-</a:t>
            </a:r>
            <a:r>
              <a:rPr lang="sv-SE" dirty="0" err="1"/>
              <a:t>variance</a:t>
            </a:r>
            <a:r>
              <a:rPr lang="sv-SE" dirty="0"/>
              <a:t> </a:t>
            </a:r>
            <a:r>
              <a:rPr lang="sv-SE" dirty="0" err="1"/>
              <a:t>tradeoff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6BFBA67D-2D2C-499D-970E-6E66A3998A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v-SE" dirty="0"/>
                  <a:t>Influence </a:t>
                </a:r>
                <a:r>
                  <a:rPr lang="sv-SE" dirty="0" err="1"/>
                  <a:t>of</a:t>
                </a:r>
                <a:r>
                  <a:rPr lang="sv-SE" dirty="0"/>
                  <a:t> </a:t>
                </a:r>
                <a14:m>
                  <m:oMath xmlns:m="http://schemas.openxmlformats.org/officeDocument/2006/math">
                    <m:r>
                      <a:rPr lang="sv-SE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sv-SE" dirty="0"/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6BFBA67D-2D2C-499D-970E-6E66A3998A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617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508D3105-212C-4AB0-AB21-59B680892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F5F2052E-9345-42F7-9704-4B7647FD7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32</a:t>
            </a:fld>
            <a:endParaRPr lang="sv-SE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000B31AA-D091-4311-BC6B-F8C5497345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096" y="2564904"/>
            <a:ext cx="7281808" cy="3195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2600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Model</a:t>
            </a:r>
            <a:r>
              <a:rPr lang="sv-SE" dirty="0"/>
              <a:t> </a:t>
            </a:r>
            <a:r>
              <a:rPr lang="sv-SE" dirty="0" err="1"/>
              <a:t>selection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v-SE" sz="2800" b="1" dirty="0" err="1">
                <a:solidFill>
                  <a:srgbClr val="C00000"/>
                </a:solidFill>
              </a:rPr>
              <a:t>Example</a:t>
            </a:r>
            <a:r>
              <a:rPr lang="sv-SE" sz="2800" dirty="0"/>
              <a:t> </a:t>
            </a:r>
            <a:r>
              <a:rPr lang="sv-SE" sz="2800" b="1" dirty="0"/>
              <a:t>Computer Hardware Data Set</a:t>
            </a:r>
            <a:r>
              <a:rPr lang="sv-SE" sz="2800" dirty="0"/>
              <a:t> : </a:t>
            </a:r>
            <a:r>
              <a:rPr lang="sv-SE" sz="2800" dirty="0" err="1"/>
              <a:t>performance</a:t>
            </a:r>
            <a:r>
              <a:rPr lang="sv-SE" sz="2800" dirty="0"/>
              <a:t> </a:t>
            </a:r>
            <a:r>
              <a:rPr lang="sv-SE" sz="2800" dirty="0" err="1"/>
              <a:t>measured</a:t>
            </a:r>
            <a:r>
              <a:rPr lang="sv-SE" sz="2800" dirty="0"/>
              <a:t> for </a:t>
            </a:r>
            <a:r>
              <a:rPr lang="sv-SE" sz="2800" dirty="0" err="1"/>
              <a:t>various</a:t>
            </a:r>
            <a:r>
              <a:rPr lang="sv-SE" sz="2800" dirty="0"/>
              <a:t> processors and </a:t>
            </a:r>
            <a:r>
              <a:rPr lang="sv-SE" sz="2800" dirty="0" err="1"/>
              <a:t>also</a:t>
            </a:r>
            <a:endParaRPr lang="sv-SE" sz="2800" dirty="0"/>
          </a:p>
          <a:p>
            <a:r>
              <a:rPr lang="sv-SE" sz="2800" dirty="0" err="1"/>
              <a:t>Cycle</a:t>
            </a:r>
            <a:r>
              <a:rPr lang="sv-SE" sz="2800" dirty="0"/>
              <a:t> </a:t>
            </a:r>
            <a:r>
              <a:rPr lang="sv-SE" sz="2800" dirty="0" err="1"/>
              <a:t>time</a:t>
            </a:r>
            <a:endParaRPr lang="sv-SE" sz="2800" dirty="0"/>
          </a:p>
          <a:p>
            <a:r>
              <a:rPr lang="sv-SE" sz="2800" dirty="0" err="1"/>
              <a:t>Memory</a:t>
            </a:r>
            <a:endParaRPr lang="sv-SE" sz="2800" dirty="0"/>
          </a:p>
          <a:p>
            <a:r>
              <a:rPr lang="sv-SE" sz="2800" dirty="0"/>
              <a:t>Channels</a:t>
            </a:r>
          </a:p>
          <a:p>
            <a:r>
              <a:rPr lang="sv-SE" sz="2800" dirty="0"/>
              <a:t>…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33</a:t>
            </a:fld>
            <a:endParaRPr lang="sv-SE"/>
          </a:p>
        </p:txBody>
      </p:sp>
      <p:sp>
        <p:nvSpPr>
          <p:cNvPr id="6" name="Rectangle 5"/>
          <p:cNvSpPr/>
          <p:nvPr/>
        </p:nvSpPr>
        <p:spPr>
          <a:xfrm>
            <a:off x="237272" y="5157192"/>
            <a:ext cx="34563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 err="1"/>
              <a:t>Build</a:t>
            </a:r>
            <a:r>
              <a:rPr lang="sv-SE" dirty="0"/>
              <a:t> </a:t>
            </a:r>
            <a:r>
              <a:rPr lang="sv-SE" dirty="0" err="1"/>
              <a:t>model</a:t>
            </a:r>
            <a:r>
              <a:rPr lang="sv-SE" dirty="0"/>
              <a:t> </a:t>
            </a:r>
            <a:r>
              <a:rPr lang="sv-SE" dirty="0" err="1"/>
              <a:t>predicting</a:t>
            </a:r>
            <a:r>
              <a:rPr lang="sv-SE" dirty="0"/>
              <a:t> </a:t>
            </a:r>
            <a:r>
              <a:rPr lang="sv-SE" dirty="0" err="1"/>
              <a:t>performance</a:t>
            </a:r>
            <a:endParaRPr lang="sv-SE" dirty="0"/>
          </a:p>
        </p:txBody>
      </p:sp>
      <p:sp>
        <p:nvSpPr>
          <p:cNvPr id="7" name="AutoShape 2" descr="http://www.google.se/url?sa=i&amp;source=imgres&amp;cd=&amp;ved=0CAYQjBwwAGoVChMI-bqnvqT5xwIVgw4sCh3GRwQ6&amp;url=http%3A%2F%2Fwww.spam.com%2Fupload%2Fvarieties-images%2Fspam_classic.png&amp;psig=AFQjCNFLZex7XEykFuswq9S31MyclIafGQ&amp;ust=1442414931929328"/>
          <p:cNvSpPr>
            <a:spLocks noChangeAspect="1" noChangeArrowheads="1"/>
          </p:cNvSpPr>
          <p:nvPr/>
        </p:nvSpPr>
        <p:spPr bwMode="auto">
          <a:xfrm>
            <a:off x="63500" y="-136525"/>
            <a:ext cx="4362450" cy="362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v-SE"/>
          </a:p>
        </p:txBody>
      </p:sp>
      <p:sp>
        <p:nvSpPr>
          <p:cNvPr id="8" name="AutoShape 4" descr="http://www.google.se/url?sa=i&amp;source=imgres&amp;cd=&amp;ved=0CAYQjBwwAGoVChMI4PPC2qT5xwIVBAwsCh0kVAc0&amp;url=http%3A%2F%2Fwww.spam.com%2Fupload%2Fvarieties-images%2Fspam_classic.png&amp;psig=AFQjCNHDLNt4lJLFXd81bhwXsrdDfzCPxg&amp;ust=1442414991049794"/>
          <p:cNvSpPr>
            <a:spLocks noChangeAspect="1" noChangeArrowheads="1"/>
          </p:cNvSpPr>
          <p:nvPr/>
        </p:nvSpPr>
        <p:spPr bwMode="auto">
          <a:xfrm>
            <a:off x="215900" y="15875"/>
            <a:ext cx="4362450" cy="362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v-SE"/>
          </a:p>
        </p:txBody>
      </p:sp>
      <p:pic>
        <p:nvPicPr>
          <p:cNvPr id="29703" name="Picture 7" descr="http://archive.ics.uci.edu/ml/assets/MLimages/Large2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3789040"/>
            <a:ext cx="3041303" cy="2027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10136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Cross-</a:t>
            </a:r>
            <a:r>
              <a:rPr lang="sv-SE" dirty="0" err="1"/>
              <a:t>validatation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Try </a:t>
            </a:r>
            <a:r>
              <a:rPr lang="sv-SE" dirty="0" err="1"/>
              <a:t>models</a:t>
            </a:r>
            <a:r>
              <a:rPr lang="sv-SE" dirty="0"/>
              <a:t> </a:t>
            </a:r>
            <a:r>
              <a:rPr lang="sv-SE" dirty="0" err="1"/>
              <a:t>with</a:t>
            </a:r>
            <a:r>
              <a:rPr lang="sv-SE" dirty="0"/>
              <a:t> different </a:t>
            </a:r>
            <a:r>
              <a:rPr lang="sv-SE" dirty="0" err="1"/>
              <a:t>predictor</a:t>
            </a:r>
            <a:r>
              <a:rPr lang="sv-SE" dirty="0"/>
              <a:t> sets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34</a:t>
            </a:fld>
            <a:endParaRPr lang="sv-SE"/>
          </a:p>
        </p:txBody>
      </p:sp>
      <p:sp>
        <p:nvSpPr>
          <p:cNvPr id="6" name="Rectangle 5"/>
          <p:cNvSpPr/>
          <p:nvPr/>
        </p:nvSpPr>
        <p:spPr>
          <a:xfrm>
            <a:off x="395536" y="2564904"/>
            <a:ext cx="4572000" cy="332398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sv-SE" sz="1400" dirty="0">
                <a:latin typeface="Consolas" panose="020B0609020204030204" pitchFamily="49" charset="0"/>
                <a:cs typeface="Consolas" panose="020B0609020204030204" pitchFamily="49" charset="0"/>
              </a:rPr>
              <a:t>data=read.csv("machine.csv", </a:t>
            </a:r>
            <a:r>
              <a:rPr lang="sv-S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header</a:t>
            </a:r>
            <a:r>
              <a:rPr lang="sv-SE" sz="1400" dirty="0">
                <a:latin typeface="Consolas" panose="020B0609020204030204" pitchFamily="49" charset="0"/>
                <a:cs typeface="Consolas" panose="020B0609020204030204" pitchFamily="49" charset="0"/>
              </a:rPr>
              <a:t>=F)</a:t>
            </a:r>
          </a:p>
          <a:p>
            <a:r>
              <a:rPr lang="sv-SE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library</a:t>
            </a:r>
            <a:r>
              <a:rPr lang="sv-SE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sv-SE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cvTools</a:t>
            </a:r>
            <a:r>
              <a:rPr lang="sv-SE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endParaRPr lang="sv-SE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sv-SE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sv-SE" sz="1400" dirty="0">
                <a:latin typeface="Consolas" panose="020B0609020204030204" pitchFamily="49" charset="0"/>
                <a:cs typeface="Consolas" panose="020B0609020204030204" pitchFamily="49" charset="0"/>
              </a:rPr>
              <a:t>fit1=lm(V9~V3+V4+V5+V6+V7+V8, data=data)</a:t>
            </a:r>
          </a:p>
          <a:p>
            <a:r>
              <a:rPr lang="sv-SE" sz="1400" dirty="0">
                <a:latin typeface="Consolas" panose="020B0609020204030204" pitchFamily="49" charset="0"/>
                <a:cs typeface="Consolas" panose="020B0609020204030204" pitchFamily="49" charset="0"/>
              </a:rPr>
              <a:t>fit2=lm(V9~V3+V4+V5+V6+V7, data=data)</a:t>
            </a:r>
          </a:p>
          <a:p>
            <a:r>
              <a:rPr lang="sv-SE" sz="1400" dirty="0">
                <a:latin typeface="Consolas" panose="020B0609020204030204" pitchFamily="49" charset="0"/>
                <a:cs typeface="Consolas" panose="020B0609020204030204" pitchFamily="49" charset="0"/>
              </a:rPr>
              <a:t>fit3=lm(V9~V3+V4+V5+V6, data=data)</a:t>
            </a:r>
          </a:p>
          <a:p>
            <a:r>
              <a:rPr lang="sv-SE" sz="1400" dirty="0">
                <a:latin typeface="Consolas" panose="020B0609020204030204" pitchFamily="49" charset="0"/>
                <a:cs typeface="Consolas" panose="020B0609020204030204" pitchFamily="49" charset="0"/>
              </a:rPr>
              <a:t>f1=</a:t>
            </a:r>
            <a:r>
              <a:rPr lang="sv-S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cvFit</a:t>
            </a:r>
            <a:r>
              <a:rPr lang="sv-SE" sz="1400" dirty="0">
                <a:latin typeface="Consolas" panose="020B0609020204030204" pitchFamily="49" charset="0"/>
                <a:cs typeface="Consolas" panose="020B0609020204030204" pitchFamily="49" charset="0"/>
              </a:rPr>
              <a:t>(fit1, y=data$V9, data=</a:t>
            </a:r>
            <a:r>
              <a:rPr lang="sv-S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data,K</a:t>
            </a:r>
            <a:r>
              <a:rPr lang="sv-SE" sz="1400" dirty="0">
                <a:latin typeface="Consolas" panose="020B0609020204030204" pitchFamily="49" charset="0"/>
                <a:cs typeface="Consolas" panose="020B0609020204030204" pitchFamily="49" charset="0"/>
              </a:rPr>
              <a:t>=10, </a:t>
            </a:r>
            <a:r>
              <a:rPr lang="sv-S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foldType</a:t>
            </a:r>
            <a:r>
              <a:rPr lang="sv-SE" sz="1400" dirty="0"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sv-S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consecutive</a:t>
            </a:r>
            <a:r>
              <a:rPr lang="sv-SE" sz="1400" dirty="0">
                <a:latin typeface="Consolas" panose="020B0609020204030204" pitchFamily="49" charset="0"/>
                <a:cs typeface="Consolas" panose="020B0609020204030204" pitchFamily="49" charset="0"/>
              </a:rPr>
              <a:t>")</a:t>
            </a:r>
          </a:p>
          <a:p>
            <a:r>
              <a:rPr lang="sv-SE" sz="1400" dirty="0">
                <a:latin typeface="Consolas" panose="020B0609020204030204" pitchFamily="49" charset="0"/>
                <a:cs typeface="Consolas" panose="020B0609020204030204" pitchFamily="49" charset="0"/>
              </a:rPr>
              <a:t>f2=</a:t>
            </a:r>
            <a:r>
              <a:rPr lang="sv-S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cvFit</a:t>
            </a:r>
            <a:r>
              <a:rPr lang="sv-SE" sz="1400" dirty="0">
                <a:latin typeface="Consolas" panose="020B0609020204030204" pitchFamily="49" charset="0"/>
                <a:cs typeface="Consolas" panose="020B0609020204030204" pitchFamily="49" charset="0"/>
              </a:rPr>
              <a:t>(fit2, y=data$V9, data=</a:t>
            </a:r>
            <a:r>
              <a:rPr lang="sv-S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data,K</a:t>
            </a:r>
            <a:r>
              <a:rPr lang="sv-SE" sz="1400" dirty="0">
                <a:latin typeface="Consolas" panose="020B0609020204030204" pitchFamily="49" charset="0"/>
                <a:cs typeface="Consolas" panose="020B0609020204030204" pitchFamily="49" charset="0"/>
              </a:rPr>
              <a:t>=10, </a:t>
            </a:r>
            <a:r>
              <a:rPr lang="sv-S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foldType</a:t>
            </a:r>
            <a:r>
              <a:rPr lang="sv-SE" sz="1400" dirty="0"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sv-S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consecutive</a:t>
            </a:r>
            <a:r>
              <a:rPr lang="sv-SE" sz="1400" dirty="0">
                <a:latin typeface="Consolas" panose="020B0609020204030204" pitchFamily="49" charset="0"/>
                <a:cs typeface="Consolas" panose="020B0609020204030204" pitchFamily="49" charset="0"/>
              </a:rPr>
              <a:t>")</a:t>
            </a:r>
          </a:p>
          <a:p>
            <a:r>
              <a:rPr lang="sv-SE" sz="1400" dirty="0">
                <a:latin typeface="Consolas" panose="020B0609020204030204" pitchFamily="49" charset="0"/>
                <a:cs typeface="Consolas" panose="020B0609020204030204" pitchFamily="49" charset="0"/>
              </a:rPr>
              <a:t>f3=</a:t>
            </a:r>
            <a:r>
              <a:rPr lang="sv-S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cvFit</a:t>
            </a:r>
            <a:r>
              <a:rPr lang="sv-SE" sz="1400" dirty="0">
                <a:latin typeface="Consolas" panose="020B0609020204030204" pitchFamily="49" charset="0"/>
                <a:cs typeface="Consolas" panose="020B0609020204030204" pitchFamily="49" charset="0"/>
              </a:rPr>
              <a:t>(fit3, y=data$V9, data=</a:t>
            </a:r>
            <a:r>
              <a:rPr lang="sv-S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data,K</a:t>
            </a:r>
            <a:r>
              <a:rPr lang="sv-SE" sz="1400" dirty="0">
                <a:latin typeface="Consolas" panose="020B0609020204030204" pitchFamily="49" charset="0"/>
                <a:cs typeface="Consolas" panose="020B0609020204030204" pitchFamily="49" charset="0"/>
              </a:rPr>
              <a:t>=10, </a:t>
            </a:r>
            <a:r>
              <a:rPr lang="sv-S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foldType</a:t>
            </a:r>
            <a:r>
              <a:rPr lang="sv-SE" sz="1400" dirty="0"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sv-S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consecutive</a:t>
            </a:r>
            <a:r>
              <a:rPr lang="sv-SE" sz="1400" dirty="0">
                <a:latin typeface="Consolas" panose="020B0609020204030204" pitchFamily="49" charset="0"/>
                <a:cs typeface="Consolas" panose="020B0609020204030204" pitchFamily="49" charset="0"/>
              </a:rPr>
              <a:t>")</a:t>
            </a:r>
          </a:p>
          <a:p>
            <a:r>
              <a:rPr lang="sv-SE" sz="1400" dirty="0">
                <a:latin typeface="Consolas" panose="020B0609020204030204" pitchFamily="49" charset="0"/>
                <a:cs typeface="Consolas" panose="020B0609020204030204" pitchFamily="49" charset="0"/>
              </a:rPr>
              <a:t>res=</a:t>
            </a:r>
            <a:r>
              <a:rPr lang="sv-S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cvSelect</a:t>
            </a:r>
            <a:r>
              <a:rPr lang="sv-SE" sz="1400" dirty="0">
                <a:latin typeface="Consolas" panose="020B0609020204030204" pitchFamily="49" charset="0"/>
                <a:cs typeface="Consolas" panose="020B0609020204030204" pitchFamily="49" charset="0"/>
              </a:rPr>
              <a:t>(f1,f2,f3)</a:t>
            </a:r>
          </a:p>
          <a:p>
            <a:r>
              <a:rPr lang="sv-S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plot</a:t>
            </a:r>
            <a:r>
              <a:rPr lang="sv-SE" sz="1400" dirty="0">
                <a:latin typeface="Consolas" panose="020B0609020204030204" pitchFamily="49" charset="0"/>
                <a:cs typeface="Consolas" panose="020B0609020204030204" pitchFamily="49" charset="0"/>
              </a:rPr>
              <a:t>(res)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2996952"/>
            <a:ext cx="3627437" cy="255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741178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Model</a:t>
            </a:r>
            <a:r>
              <a:rPr lang="sv-SE" dirty="0"/>
              <a:t> </a:t>
            </a:r>
            <a:r>
              <a:rPr lang="sv-SE" dirty="0" err="1"/>
              <a:t>evaluation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v-SE" sz="2400" dirty="0"/>
                  <a:t>Binar</a:t>
                </a:r>
                <a:r>
                  <a:rPr lang="sv-SE" sz="2400" dirty="0" err="1"/>
                  <a:t>y</a:t>
                </a:r>
                <a:r>
                  <a:rPr lang="sv-SE" sz="2400" dirty="0"/>
                  <a:t> </a:t>
                </a:r>
                <a:r>
                  <a:rPr lang="sv-SE" sz="2400" dirty="0" err="1"/>
                  <a:t>classification</a:t>
                </a:r>
                <a:endParaRPr lang="sv-SE" sz="2400" dirty="0"/>
              </a:p>
              <a:p>
                <a:r>
                  <a:rPr lang="sv-SE" sz="2400" dirty="0"/>
                  <a:t>The choice </a:t>
                </a:r>
                <a:r>
                  <a:rPr lang="sv-SE" sz="2400" dirty="0" err="1"/>
                  <a:t>of</a:t>
                </a:r>
                <a:r>
                  <a:rPr lang="sv-SE" sz="2400" dirty="0"/>
                  <a:t> the </a:t>
                </a:r>
                <a:r>
                  <a:rPr lang="sv-SE" sz="2400" dirty="0" err="1"/>
                  <a:t>thershold</a:t>
                </a:r>
                <a:r>
                  <a:rPr lang="sv-SE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sv-SE" sz="240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=1|</m:t>
                        </m:r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sv-SE" sz="240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𝑐𝑙𝑎𝑠𝑠𝑖𝑓𝑦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 "1"</m:t>
                    </m:r>
                  </m:oMath>
                </a14:m>
                <a:r>
                  <a:rPr lang="sv-SE" sz="2400" dirty="0"/>
                  <a:t>  </a:t>
                </a:r>
                <a:r>
                  <a:rPr lang="sv-SE" sz="2400" dirty="0" err="1"/>
                  <a:t>affects</a:t>
                </a:r>
                <a:r>
                  <a:rPr lang="sv-SE" sz="2400" dirty="0"/>
                  <a:t> </a:t>
                </a:r>
                <a:r>
                  <a:rPr lang="sv-SE" sz="2400" dirty="0" err="1"/>
                  <a:t>prediction</a:t>
                </a:r>
                <a:r>
                  <a:rPr lang="sv-SE" sz="2400" dirty="0" err="1">
                    <a:sym typeface="Wingdings" panose="05000000000000000000" pitchFamily="2" charset="2"/>
                  </a:rPr>
                  <a:t>which</a:t>
                </a:r>
                <a:r>
                  <a:rPr lang="sv-SE" sz="2400" dirty="0">
                    <a:sym typeface="Wingdings" panose="05000000000000000000" pitchFamily="2" charset="2"/>
                  </a:rPr>
                  <a:t> </a:t>
                </a:r>
                <a:r>
                  <a:rPr lang="sv-SE" sz="2400" dirty="0" err="1">
                    <a:sym typeface="Wingdings" panose="05000000000000000000" pitchFamily="2" charset="2"/>
                  </a:rPr>
                  <a:t>classifier</a:t>
                </a:r>
                <a:r>
                  <a:rPr lang="sv-SE" sz="2400" dirty="0">
                    <a:sym typeface="Wingdings" panose="05000000000000000000" pitchFamily="2" charset="2"/>
                  </a:rPr>
                  <a:t> is </a:t>
                </a:r>
                <a:r>
                  <a:rPr lang="sv-SE" sz="2400" dirty="0" err="1">
                    <a:sym typeface="Wingdings" panose="05000000000000000000" pitchFamily="2" charset="2"/>
                  </a:rPr>
                  <a:t>better</a:t>
                </a:r>
                <a:r>
                  <a:rPr lang="sv-SE" sz="2400" dirty="0">
                    <a:sym typeface="Wingdings" panose="05000000000000000000" pitchFamily="2" charset="2"/>
                  </a:rPr>
                  <a:t>?</a:t>
                </a:r>
                <a:endParaRPr lang="sv-SE" sz="2400" dirty="0"/>
              </a:p>
              <a:p>
                <a:r>
                  <a:rPr lang="sv-SE" b="1" dirty="0" err="1">
                    <a:solidFill>
                      <a:srgbClr val="0000FF"/>
                    </a:solidFill>
                  </a:rPr>
                  <a:t>Confusion</a:t>
                </a:r>
                <a:r>
                  <a:rPr lang="sv-SE" b="1" dirty="0">
                    <a:solidFill>
                      <a:srgbClr val="0000FF"/>
                    </a:solidFill>
                  </a:rPr>
                  <a:t> matrix</a:t>
                </a:r>
              </a:p>
              <a:p>
                <a:endParaRPr lang="sv-SE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04" t="-107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35</a:t>
            </a:fld>
            <a:endParaRPr lang="sv-SE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96423426"/>
                  </p:ext>
                </p:extLst>
              </p:nvPr>
            </p:nvGraphicFramePr>
            <p:xfrm>
              <a:off x="2267744" y="3933056"/>
              <a:ext cx="3851920" cy="18950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3245">
                      <a:extLst>
                        <a:ext uri="{9D8B030D-6E8A-4147-A177-3AD203B41FA5}">
                          <a16:colId xmlns:a16="http://schemas.microsoft.com/office/drawing/2014/main" val="3367460290"/>
                        </a:ext>
                      </a:extLst>
                    </a:gridCol>
                    <a:gridCol w="113752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7038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7038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70384">
                      <a:extLst>
                        <a:ext uri="{9D8B030D-6E8A-4147-A177-3AD203B41FA5}">
                          <a16:colId xmlns:a16="http://schemas.microsoft.com/office/drawing/2014/main" val="856049358"/>
                        </a:ext>
                      </a:extLst>
                    </a:gridCol>
                  </a:tblGrid>
                  <a:tr h="432048">
                    <a:tc>
                      <a:txBody>
                        <a:bodyPr/>
                        <a:lstStyle/>
                        <a:p>
                          <a:endParaRPr lang="sv-SE" dirty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PREDICTED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sv-S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sv-S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57698607"/>
                      </a:ext>
                    </a:extLst>
                  </a:tr>
                  <a:tr h="432048">
                    <a:tc rowSpan="3">
                      <a:txBody>
                        <a:bodyPr/>
                        <a:lstStyle/>
                        <a:p>
                          <a:r>
                            <a:rPr lang="sv-SE" b="1" dirty="0"/>
                            <a:t>T</a:t>
                          </a:r>
                        </a:p>
                        <a:p>
                          <a:r>
                            <a:rPr lang="sv-SE" b="1" dirty="0"/>
                            <a:t>R</a:t>
                          </a:r>
                        </a:p>
                        <a:p>
                          <a:r>
                            <a:rPr lang="sv-SE" b="1" dirty="0"/>
                            <a:t>U</a:t>
                          </a:r>
                        </a:p>
                        <a:p>
                          <a:r>
                            <a:rPr lang="sv-SE" b="1" dirty="0"/>
                            <a:t>E</a:t>
                          </a:r>
                        </a:p>
                        <a:p>
                          <a:endParaRPr lang="sv-S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sv-SE" dirty="0"/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sv-SE" dirty="0"/>
                            <a:t>0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sv-SE" dirty="0"/>
                            <a:t>1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sv-SE" dirty="0"/>
                            <a:t>Total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81176">
                    <a:tc vMerge="1">
                      <a:txBody>
                        <a:bodyPr/>
                        <a:lstStyle/>
                        <a:p>
                          <a:endParaRPr lang="sv-S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v-SE" dirty="0"/>
                            <a:t>0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sv-SE" dirty="0"/>
                            <a:t>TN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v-SE" dirty="0"/>
                            <a:t>FP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sv-SE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oMath>
                            </m:oMathPara>
                          </a14:m>
                          <a:endParaRPr lang="sv-S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54320">
                    <a:tc vMerge="1">
                      <a:txBody>
                        <a:bodyPr/>
                        <a:lstStyle/>
                        <a:p>
                          <a:endParaRPr lang="sv-S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v-SE" dirty="0"/>
                            <a:t>1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sv-SE" dirty="0"/>
                            <a:t>FN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v-SE" dirty="0"/>
                            <a:t>TP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sv-SE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sv-S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96423426"/>
                  </p:ext>
                </p:extLst>
              </p:nvPr>
            </p:nvGraphicFramePr>
            <p:xfrm>
              <a:off x="2267744" y="3933056"/>
              <a:ext cx="3851920" cy="18950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3245">
                      <a:extLst>
                        <a:ext uri="{9D8B030D-6E8A-4147-A177-3AD203B41FA5}">
                          <a16:colId xmlns:a16="http://schemas.microsoft.com/office/drawing/2014/main" val="3367460290"/>
                        </a:ext>
                      </a:extLst>
                    </a:gridCol>
                    <a:gridCol w="113752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7038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7038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70384">
                      <a:extLst>
                        <a:ext uri="{9D8B030D-6E8A-4147-A177-3AD203B41FA5}">
                          <a16:colId xmlns:a16="http://schemas.microsoft.com/office/drawing/2014/main" val="856049358"/>
                        </a:ext>
                      </a:extLst>
                    </a:gridCol>
                  </a:tblGrid>
                  <a:tr h="432048">
                    <a:tc>
                      <a:txBody>
                        <a:bodyPr/>
                        <a:lstStyle/>
                        <a:p>
                          <a:endParaRPr lang="sv-SE" dirty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PREDICTED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sv-S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sv-S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57698607"/>
                      </a:ext>
                    </a:extLst>
                  </a:tr>
                  <a:tr h="432048">
                    <a:tc rowSpan="3">
                      <a:txBody>
                        <a:bodyPr/>
                        <a:lstStyle/>
                        <a:p>
                          <a:r>
                            <a:rPr lang="sv-SE" b="1" dirty="0"/>
                            <a:t>T</a:t>
                          </a:r>
                        </a:p>
                        <a:p>
                          <a:r>
                            <a:rPr lang="sv-SE" b="1" dirty="0"/>
                            <a:t>R</a:t>
                          </a:r>
                        </a:p>
                        <a:p>
                          <a:r>
                            <a:rPr lang="sv-SE" b="1" dirty="0"/>
                            <a:t>U</a:t>
                          </a:r>
                        </a:p>
                        <a:p>
                          <a:r>
                            <a:rPr lang="sv-SE" b="1" dirty="0"/>
                            <a:t>E</a:t>
                          </a:r>
                        </a:p>
                        <a:p>
                          <a:endParaRPr lang="sv-S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sv-SE" dirty="0"/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sv-SE" dirty="0"/>
                            <a:t>0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sv-SE" dirty="0"/>
                            <a:t>1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sv-SE" dirty="0"/>
                            <a:t>Total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81176">
                    <a:tc vMerge="1">
                      <a:txBody>
                        <a:bodyPr/>
                        <a:lstStyle/>
                        <a:p>
                          <a:endParaRPr lang="sv-S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v-SE" dirty="0"/>
                            <a:t>0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sv-SE" dirty="0"/>
                            <a:t>TN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v-SE" dirty="0"/>
                            <a:t>FP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blipFill>
                          <a:blip r:embed="rId4"/>
                          <a:stretch>
                            <a:fillRect l="-403175" t="-186076" r="-3968" b="-1177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49816">
                    <a:tc vMerge="1">
                      <a:txBody>
                        <a:bodyPr/>
                        <a:lstStyle/>
                        <a:p>
                          <a:endParaRPr lang="sv-S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v-SE" dirty="0"/>
                            <a:t>1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sv-SE" dirty="0"/>
                            <a:t>FN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v-SE" dirty="0"/>
                            <a:t>TP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blipFill>
                          <a:blip r:embed="rId4"/>
                          <a:stretch>
                            <a:fillRect l="-403175" t="-248352" r="-3968" b="-21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821902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Model</a:t>
            </a:r>
            <a:r>
              <a:rPr lang="sv-SE" dirty="0"/>
              <a:t> </a:t>
            </a:r>
            <a:r>
              <a:rPr lang="sv-SE" dirty="0" err="1"/>
              <a:t>evaluation</a:t>
            </a:r>
            <a:endParaRPr lang="sv-S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latshållare för innehåll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r>
                  <a:rPr lang="sv-SE" b="1" dirty="0">
                    <a:solidFill>
                      <a:srgbClr val="0000FF"/>
                    </a:solidFill>
                  </a:rPr>
                  <a:t>Accuracy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𝑎𝑐𝑐</m:t>
                      </m:r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</m:num>
                        <m:den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sv-SE" dirty="0"/>
              </a:p>
              <a:p>
                <a:endParaRPr lang="sv-SE" b="1" dirty="0">
                  <a:solidFill>
                    <a:srgbClr val="0000FF"/>
                  </a:solidFill>
                </a:endParaRPr>
              </a:p>
              <a:p>
                <a:r>
                  <a:rPr lang="sv-SE" b="1" dirty="0" err="1">
                    <a:solidFill>
                      <a:srgbClr val="0000FF"/>
                    </a:solidFill>
                  </a:rPr>
                  <a:t>True</a:t>
                </a:r>
                <a:r>
                  <a:rPr lang="sv-SE" b="1" dirty="0">
                    <a:solidFill>
                      <a:srgbClr val="0000FF"/>
                    </a:solidFill>
                  </a:rPr>
                  <a:t> Positive Rates </a:t>
                </a:r>
                <a:r>
                  <a:rPr lang="sv-SE" dirty="0"/>
                  <a:t>(TPR) = </a:t>
                </a:r>
                <a:r>
                  <a:rPr lang="sv-SE" b="1" dirty="0" err="1">
                    <a:solidFill>
                      <a:srgbClr val="0000FF"/>
                    </a:solidFill>
                  </a:rPr>
                  <a:t>sensitivity</a:t>
                </a:r>
                <a:r>
                  <a:rPr lang="sv-SE" dirty="0"/>
                  <a:t> = </a:t>
                </a:r>
                <a:r>
                  <a:rPr lang="sv-SE" b="1" dirty="0" err="1">
                    <a:solidFill>
                      <a:srgbClr val="0000FF"/>
                    </a:solidFill>
                  </a:rPr>
                  <a:t>recall</a:t>
                </a:r>
                <a:endParaRPr lang="sv-SE" b="1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sv-SE" dirty="0" err="1"/>
                  <a:t>Probability</a:t>
                </a:r>
                <a:r>
                  <a:rPr lang="sv-SE" dirty="0"/>
                  <a:t> </a:t>
                </a:r>
                <a:r>
                  <a:rPr lang="sv-SE" dirty="0" err="1"/>
                  <a:t>of</a:t>
                </a:r>
                <a:r>
                  <a:rPr lang="sv-SE" dirty="0"/>
                  <a:t> </a:t>
                </a:r>
                <a:r>
                  <a:rPr lang="sv-SE" dirty="0" err="1"/>
                  <a:t>detection</a:t>
                </a:r>
                <a:r>
                  <a:rPr lang="sv-SE" dirty="0"/>
                  <a:t> </a:t>
                </a:r>
                <a:r>
                  <a:rPr lang="sv-SE" dirty="0" err="1"/>
                  <a:t>of</a:t>
                </a:r>
                <a:r>
                  <a:rPr lang="sv-SE" dirty="0"/>
                  <a:t> positives: TPR=1 positives </a:t>
                </a:r>
                <a:r>
                  <a:rPr lang="sv-SE" dirty="0" err="1"/>
                  <a:t>are</a:t>
                </a:r>
                <a:r>
                  <a:rPr lang="sv-SE" dirty="0"/>
                  <a:t> </a:t>
                </a:r>
                <a:r>
                  <a:rPr lang="sv-SE" dirty="0" err="1"/>
                  <a:t>correctly</a:t>
                </a:r>
                <a:r>
                  <a:rPr lang="sv-SE" dirty="0"/>
                  <a:t> </a:t>
                </a:r>
                <a:r>
                  <a:rPr lang="sv-SE" dirty="0" err="1"/>
                  <a:t>detected</a:t>
                </a:r>
                <a:endParaRPr lang="sv-S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𝑇𝑃𝑅</m:t>
                      </m:r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𝑇𝑃</m:t>
                      </m:r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sv-SE" dirty="0"/>
              </a:p>
              <a:p>
                <a:r>
                  <a:rPr lang="sv-SE" b="1" dirty="0" err="1">
                    <a:solidFill>
                      <a:srgbClr val="0000FF"/>
                    </a:solidFill>
                  </a:rPr>
                  <a:t>False</a:t>
                </a:r>
                <a:r>
                  <a:rPr lang="sv-SE" b="1" dirty="0">
                    <a:solidFill>
                      <a:srgbClr val="0000FF"/>
                    </a:solidFill>
                  </a:rPr>
                  <a:t> Positive Rates </a:t>
                </a:r>
                <a:r>
                  <a:rPr lang="sv-SE" dirty="0"/>
                  <a:t>(FPR)</a:t>
                </a:r>
              </a:p>
              <a:p>
                <a:pPr lvl="1"/>
                <a:r>
                  <a:rPr lang="sv-SE" dirty="0" err="1"/>
                  <a:t>Probability</a:t>
                </a:r>
                <a:r>
                  <a:rPr lang="sv-SE" dirty="0"/>
                  <a:t> </a:t>
                </a:r>
                <a:r>
                  <a:rPr lang="sv-SE" dirty="0" err="1"/>
                  <a:t>of</a:t>
                </a:r>
                <a:r>
                  <a:rPr lang="sv-SE" dirty="0"/>
                  <a:t> </a:t>
                </a:r>
                <a:r>
                  <a:rPr lang="sv-SE" dirty="0" err="1"/>
                  <a:t>false</a:t>
                </a:r>
                <a:r>
                  <a:rPr lang="sv-SE" dirty="0"/>
                  <a:t> alarm: system alarms (1) </a:t>
                </a:r>
                <a:r>
                  <a:rPr lang="sv-SE" dirty="0" err="1"/>
                  <a:t>when</a:t>
                </a:r>
                <a:r>
                  <a:rPr lang="sv-SE" dirty="0"/>
                  <a:t> </a:t>
                </a:r>
                <a:r>
                  <a:rPr lang="sv-SE" dirty="0" err="1"/>
                  <a:t>nothing</a:t>
                </a:r>
                <a:r>
                  <a:rPr lang="sv-SE" dirty="0"/>
                  <a:t> </a:t>
                </a:r>
                <a:r>
                  <a:rPr lang="sv-SE" dirty="0" err="1"/>
                  <a:t>happens</a:t>
                </a:r>
                <a:r>
                  <a:rPr lang="sv-SE" dirty="0"/>
                  <a:t> (</a:t>
                </a:r>
                <a:r>
                  <a:rPr lang="sv-SE" dirty="0" err="1"/>
                  <a:t>true</a:t>
                </a:r>
                <a:r>
                  <a:rPr lang="sv-SE" dirty="0"/>
                  <a:t>=0)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𝐹𝑃𝑅</m:t>
                      </m:r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𝐹𝑃</m:t>
                      </m:r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sv-SE" dirty="0"/>
              </a:p>
              <a:p>
                <a:r>
                  <a:rPr lang="sv-SE" b="1" dirty="0" err="1">
                    <a:solidFill>
                      <a:srgbClr val="0000FF"/>
                    </a:solidFill>
                  </a:rPr>
                  <a:t>Specificity</a:t>
                </a:r>
                <a:endParaRPr lang="sv-SE" b="1" dirty="0">
                  <a:solidFill>
                    <a:srgbClr val="0000FF"/>
                  </a:solidFill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𝑆𝑝𝑒𝑐𝑖𝑓𝑖𝑐𝑖𝑡𝑦</m:t>
                      </m:r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𝐹𝑃𝑅</m:t>
                      </m:r>
                    </m:oMath>
                  </m:oMathPara>
                </a14:m>
                <a:endParaRPr lang="sv-SE" dirty="0"/>
              </a:p>
              <a:p>
                <a:r>
                  <a:rPr lang="sv-SE" b="1" dirty="0">
                    <a:solidFill>
                      <a:srgbClr val="0000FF"/>
                    </a:solidFill>
                  </a:rPr>
                  <a:t>Precision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𝑃𝑟𝑒𝑐𝑖𝑠𝑖𝑜𝑛</m:t>
                      </m:r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sv-SE" dirty="0"/>
              </a:p>
              <a:p>
                <a:endParaRPr lang="sv-SE" dirty="0"/>
              </a:p>
            </p:txBody>
          </p:sp>
        </mc:Choice>
        <mc:Fallback>
          <p:sp>
            <p:nvSpPr>
              <p:cNvPr id="3" name="Platshållare för innehåll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67" t="-2022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36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577188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ROC </a:t>
            </a:r>
            <a:r>
              <a:rPr lang="sv-SE" dirty="0" err="1"/>
              <a:t>curves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sz="2400" b="1" dirty="0">
                <a:solidFill>
                  <a:srgbClr val="0000FF"/>
                </a:solidFill>
              </a:rPr>
              <a:t>ROC</a:t>
            </a:r>
            <a:r>
              <a:rPr lang="sv-SE" sz="2400" dirty="0"/>
              <a:t>=Receiver operating </a:t>
            </a:r>
            <a:r>
              <a:rPr lang="sv-SE" sz="2400" dirty="0" err="1"/>
              <a:t>characteristics</a:t>
            </a:r>
            <a:endParaRPr lang="sv-SE" sz="2400" dirty="0"/>
          </a:p>
          <a:p>
            <a:r>
              <a:rPr lang="sv-SE" sz="2400" dirty="0" err="1"/>
              <a:t>Use</a:t>
            </a:r>
            <a:r>
              <a:rPr lang="sv-SE" sz="2400" dirty="0"/>
              <a:t> </a:t>
            </a:r>
            <a:r>
              <a:rPr lang="sv-SE" sz="2400" dirty="0" err="1"/>
              <a:t>various</a:t>
            </a:r>
            <a:r>
              <a:rPr lang="sv-SE" sz="2400" dirty="0"/>
              <a:t> </a:t>
            </a:r>
            <a:r>
              <a:rPr lang="sv-SE" sz="2400" dirty="0" err="1"/>
              <a:t>thresholds</a:t>
            </a:r>
            <a:r>
              <a:rPr lang="sv-SE" sz="2400" dirty="0"/>
              <a:t>, </a:t>
            </a:r>
            <a:r>
              <a:rPr lang="sv-SE" sz="2400" dirty="0" err="1"/>
              <a:t>measure</a:t>
            </a:r>
            <a:r>
              <a:rPr lang="sv-SE" sz="2400" dirty="0"/>
              <a:t> TPR and FPR</a:t>
            </a:r>
          </a:p>
          <a:p>
            <a:r>
              <a:rPr lang="sv-SE" sz="2400" dirty="0"/>
              <a:t>Same FPR, </a:t>
            </a:r>
            <a:r>
              <a:rPr lang="sv-SE" sz="2400" dirty="0" err="1"/>
              <a:t>higher</a:t>
            </a:r>
            <a:r>
              <a:rPr lang="sv-SE" sz="2400" dirty="0"/>
              <a:t> TPR</a:t>
            </a:r>
            <a:r>
              <a:rPr lang="sv-SE" sz="2400" dirty="0">
                <a:sym typeface="Wingdings" panose="05000000000000000000" pitchFamily="2" charset="2"/>
              </a:rPr>
              <a:t> </a:t>
            </a:r>
            <a:r>
              <a:rPr lang="sv-SE" sz="2400" dirty="0" err="1">
                <a:sym typeface="Wingdings" panose="05000000000000000000" pitchFamily="2" charset="2"/>
              </a:rPr>
              <a:t>better</a:t>
            </a:r>
            <a:r>
              <a:rPr lang="sv-SE" sz="2400" dirty="0">
                <a:sym typeface="Wingdings" panose="05000000000000000000" pitchFamily="2" charset="2"/>
              </a:rPr>
              <a:t> </a:t>
            </a:r>
            <a:r>
              <a:rPr lang="sv-SE" sz="2400" dirty="0" err="1">
                <a:sym typeface="Wingdings" panose="05000000000000000000" pitchFamily="2" charset="2"/>
              </a:rPr>
              <a:t>classifier</a:t>
            </a:r>
            <a:endParaRPr lang="sv-SE" sz="2400" dirty="0">
              <a:sym typeface="Wingdings" panose="05000000000000000000" pitchFamily="2" charset="2"/>
            </a:endParaRPr>
          </a:p>
          <a:p>
            <a:r>
              <a:rPr lang="sv-SE" sz="2400" dirty="0">
                <a:sym typeface="Wingdings" panose="05000000000000000000" pitchFamily="2" charset="2"/>
              </a:rPr>
              <a:t>Best </a:t>
            </a:r>
            <a:r>
              <a:rPr lang="sv-SE" sz="2400" dirty="0" err="1">
                <a:sym typeface="Wingdings" panose="05000000000000000000" pitchFamily="2" charset="2"/>
              </a:rPr>
              <a:t>classifier</a:t>
            </a:r>
            <a:r>
              <a:rPr lang="sv-SE" sz="2400" dirty="0">
                <a:sym typeface="Wingdings" panose="05000000000000000000" pitchFamily="2" charset="2"/>
              </a:rPr>
              <a:t> = </a:t>
            </a:r>
            <a:r>
              <a:rPr lang="sv-SE" sz="2400" dirty="0" err="1">
                <a:sym typeface="Wingdings" panose="05000000000000000000" pitchFamily="2" charset="2"/>
              </a:rPr>
              <a:t>greatest</a:t>
            </a:r>
            <a:r>
              <a:rPr lang="sv-SE" sz="2400" dirty="0">
                <a:sym typeface="Wingdings" panose="05000000000000000000" pitchFamily="2" charset="2"/>
              </a:rPr>
              <a:t> Area Under </a:t>
            </a:r>
            <a:r>
              <a:rPr lang="sv-SE" sz="2400" dirty="0" err="1">
                <a:sym typeface="Wingdings" panose="05000000000000000000" pitchFamily="2" charset="2"/>
              </a:rPr>
              <a:t>Curve</a:t>
            </a:r>
            <a:r>
              <a:rPr lang="sv-SE" sz="2400" dirty="0">
                <a:sym typeface="Wingdings" panose="05000000000000000000" pitchFamily="2" charset="2"/>
              </a:rPr>
              <a:t> (</a:t>
            </a:r>
            <a:r>
              <a:rPr lang="sv-SE" sz="2400" b="1" dirty="0">
                <a:solidFill>
                  <a:srgbClr val="0000FF"/>
                </a:solidFill>
                <a:sym typeface="Wingdings" panose="05000000000000000000" pitchFamily="2" charset="2"/>
              </a:rPr>
              <a:t>AUC</a:t>
            </a:r>
            <a:r>
              <a:rPr lang="sv-SE" sz="2400" dirty="0">
                <a:sym typeface="Wingdings" panose="05000000000000000000" pitchFamily="2" charset="2"/>
              </a:rPr>
              <a:t>)</a:t>
            </a:r>
            <a:endParaRPr lang="sv-SE" sz="2400" dirty="0"/>
          </a:p>
          <a:p>
            <a:endParaRPr lang="sv-SE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37</a:t>
            </a:fld>
            <a:endParaRPr lang="sv-SE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673B4682-E5C4-42C1-831F-4D80D2060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696" y="3429000"/>
            <a:ext cx="3744416" cy="296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1568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707C360-4254-442F-97AF-3EA206DC4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Imbalanced</a:t>
            </a:r>
            <a:r>
              <a:rPr lang="sv-SE" dirty="0"/>
              <a:t> </a:t>
            </a:r>
            <a:r>
              <a:rPr lang="sv-SE" dirty="0" err="1"/>
              <a:t>classes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3CE74A27-D332-4280-A0F8-D782EDE273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9349" y="1628800"/>
                <a:ext cx="8229600" cy="4525963"/>
              </a:xfrm>
            </p:spPr>
            <p:txBody>
              <a:bodyPr/>
              <a:lstStyle/>
              <a:p>
                <a:r>
                  <a:rPr lang="sv-SE" sz="2400" dirty="0">
                    <a:solidFill>
                      <a:srgbClr val="C00000"/>
                    </a:solidFill>
                  </a:rPr>
                  <a:t>Note</a:t>
                </a:r>
                <a:r>
                  <a:rPr lang="sv-SE" sz="2400" dirty="0"/>
                  <a:t>: </a:t>
                </a:r>
                <a:r>
                  <a:rPr lang="sv-SE" sz="2400" dirty="0" err="1"/>
                  <a:t>if</a:t>
                </a:r>
                <a:r>
                  <a:rPr lang="sv-SE" sz="2400" dirty="0"/>
                  <a:t> 1000 ”0” </a:t>
                </a:r>
                <a:r>
                  <a:rPr lang="sv-SE" sz="2400" dirty="0" err="1"/>
                  <a:t>cases</a:t>
                </a:r>
                <a:r>
                  <a:rPr lang="sv-SE" sz="2400" dirty="0"/>
                  <a:t> and 10 ”1” </a:t>
                </a:r>
                <a:r>
                  <a:rPr lang="sv-SE" sz="2400" dirty="0" err="1"/>
                  <a:t>cases</a:t>
                </a:r>
                <a:r>
                  <a:rPr lang="sv-SE" sz="2400" dirty="0"/>
                  <a:t>, </a:t>
                </a:r>
                <a:r>
                  <a:rPr lang="sv-SE" sz="2400" dirty="0" err="1"/>
                  <a:t>classifying</a:t>
                </a:r>
                <a:r>
                  <a:rPr lang="sv-SE" sz="2400" dirty="0"/>
                  <a:t> all to ”0” </a:t>
                </a:r>
                <a:r>
                  <a:rPr lang="sv-SE" sz="2400" dirty="0" err="1"/>
                  <a:t>results</a:t>
                </a:r>
                <a:r>
                  <a:rPr lang="sv-SE" sz="2400" dirty="0"/>
                  <a:t> </a:t>
                </a:r>
                <a:r>
                  <a:rPr lang="sv-SE" sz="2400"/>
                  <a:t>in 99% </a:t>
                </a:r>
                <a:r>
                  <a:rPr lang="sv-SE" sz="2400" dirty="0" err="1"/>
                  <a:t>accuracy</a:t>
                </a:r>
                <a:endParaRPr lang="sv-SE" sz="2400" dirty="0"/>
              </a:p>
              <a:p>
                <a:endParaRPr lang="sv-SE" sz="2400" dirty="0"/>
              </a:p>
              <a:p>
                <a:r>
                  <a:rPr lang="sv-SE" sz="2400" b="1" dirty="0">
                    <a:solidFill>
                      <a:srgbClr val="0000FF"/>
                    </a:solidFill>
                  </a:rPr>
                  <a:t>F1 score</a:t>
                </a:r>
                <a:r>
                  <a:rPr lang="sv-SE" sz="2400" dirty="0"/>
                  <a:t>: </a:t>
                </a:r>
                <a:r>
                  <a:rPr lang="sv-SE" sz="2400" dirty="0" err="1"/>
                  <a:t>take</a:t>
                </a:r>
                <a:r>
                  <a:rPr lang="sv-SE" sz="2400" dirty="0"/>
                  <a:t> </a:t>
                </a:r>
                <a:r>
                  <a:rPr lang="sv-SE" sz="2400" dirty="0" err="1"/>
                  <a:t>into</a:t>
                </a:r>
                <a:r>
                  <a:rPr lang="sv-SE" sz="2400" dirty="0"/>
                  <a:t> </a:t>
                </a:r>
                <a:r>
                  <a:rPr lang="sv-SE" sz="2400" dirty="0" err="1"/>
                  <a:t>account</a:t>
                </a:r>
                <a:r>
                  <a:rPr lang="sv-SE" sz="2400" dirty="0"/>
                  <a:t> </a:t>
                </a:r>
                <a:r>
                  <a:rPr lang="sv-SE" sz="2400" dirty="0" err="1"/>
                  <a:t>class</a:t>
                </a:r>
                <a:r>
                  <a:rPr lang="sv-SE" sz="2400" dirty="0"/>
                  <a:t> </a:t>
                </a:r>
                <a:r>
                  <a:rPr lang="sv-SE" sz="2400" dirty="0" err="1"/>
                  <a:t>imbalance</a:t>
                </a:r>
                <a:endParaRPr lang="sv-SE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sv-SE" sz="2400" b="0" i="1" smtClean="0">
                          <a:latin typeface="Cambria Math" panose="02040503050406030204" pitchFamily="18" charset="0"/>
                        </a:rPr>
                        <m:t>1=</m:t>
                      </m:r>
                      <m:f>
                        <m:fPr>
                          <m:ctrlPr>
                            <a:rPr lang="sv-SE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v-SE" sz="2400" i="1">
                              <a:latin typeface="Cambria Math" panose="02040503050406030204" pitchFamily="18" charset="0"/>
                            </a:rPr>
                            <m:t>2⋅</m:t>
                          </m:r>
                          <m:r>
                            <a:rPr lang="sv-SE" sz="2400" i="1">
                              <a:latin typeface="Cambria Math" panose="02040503050406030204" pitchFamily="18" charset="0"/>
                            </a:rPr>
                            <m:t>𝑝𝑟𝑒𝑐𝑖𝑠𝑖𝑜𝑛</m:t>
                          </m:r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𝑟𝑒𝑐𝑎𝑙𝑙</m:t>
                          </m:r>
                        </m:num>
                        <m:den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𝑝𝑟𝑒𝑐𝑖𝑠𝑖𝑜𝑛</m:t>
                          </m:r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𝑟𝑒𝑐𝑎𝑙𝑙</m:t>
                          </m:r>
                        </m:den>
                      </m:f>
                    </m:oMath>
                  </m:oMathPara>
                </a14:m>
                <a:endParaRPr lang="sv-SE" sz="2400" dirty="0"/>
              </a:p>
              <a:p>
                <a:pPr marL="0" indent="0">
                  <a:buNone/>
                </a:pPr>
                <a:endParaRPr lang="sv-SE" sz="2400" dirty="0"/>
              </a:p>
              <a:p>
                <a:r>
                  <a:rPr lang="sv-SE" sz="2400" b="1" dirty="0">
                    <a:solidFill>
                      <a:srgbClr val="0000FF"/>
                    </a:solidFill>
                  </a:rPr>
                  <a:t>FB score</a:t>
                </a:r>
                <a:r>
                  <a:rPr lang="sv-SE" sz="2400" dirty="0"/>
                  <a:t>: different </a:t>
                </a:r>
                <a:r>
                  <a:rPr lang="sv-SE" sz="2400" dirty="0" err="1"/>
                  <a:t>costs</a:t>
                </a:r>
                <a:r>
                  <a:rPr lang="sv-SE" sz="2400" dirty="0"/>
                  <a:t> (</a:t>
                </a:r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sv-SE" sz="2400" dirty="0"/>
                  <a:t> </a:t>
                </a:r>
                <a:r>
                  <a:rPr lang="sv-SE" sz="2400" dirty="0" err="1"/>
                  <a:t>importance</a:t>
                </a:r>
                <a:r>
                  <a:rPr lang="sv-SE" sz="2400" dirty="0"/>
                  <a:t> </a:t>
                </a:r>
                <a:r>
                  <a:rPr lang="sv-SE" sz="2400" dirty="0" err="1"/>
                  <a:t>of</a:t>
                </a:r>
                <a:r>
                  <a:rPr lang="sv-SE" sz="2400" dirty="0"/>
                  <a:t> </a:t>
                </a:r>
                <a:r>
                  <a:rPr lang="sv-SE" sz="2400" dirty="0" err="1"/>
                  <a:t>recall</a:t>
                </a:r>
                <a:r>
                  <a:rPr lang="sv-SE" sz="2400" dirty="0"/>
                  <a:t> </a:t>
                </a:r>
                <a:r>
                  <a:rPr lang="sv-SE" sz="2400" dirty="0" err="1"/>
                  <a:t>versus</a:t>
                </a:r>
                <a:r>
                  <a:rPr lang="sv-SE" sz="2400" dirty="0"/>
                  <a:t> precision)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sv-SE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  <m:r>
                        <a:rPr lang="sv-S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sv-SE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sSup>
                            <m:sSupPr>
                              <m:ctrlP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sv-SE" sz="24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sv-SE" sz="2400" i="1">
                              <a:latin typeface="Cambria Math" panose="02040503050406030204" pitchFamily="18" charset="0"/>
                            </a:rPr>
                            <m:t>𝑝𝑟𝑒𝑐𝑖𝑠𝑖𝑜𝑛</m:t>
                          </m:r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𝑟𝑒𝑐𝑎𝑙𝑙</m:t>
                          </m:r>
                        </m:num>
                        <m:den>
                          <m:sSup>
                            <m:sSupPr>
                              <m:ctrlP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𝑝𝑟𝑒𝑐𝑖𝑠𝑖𝑜𝑛</m:t>
                          </m:r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𝑟𝑒𝑐𝑎𝑙𝑙</m:t>
                          </m:r>
                        </m:den>
                      </m:f>
                    </m:oMath>
                  </m:oMathPara>
                </a14:m>
                <a:endParaRPr lang="sv-SE" sz="2400" dirty="0"/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3CE74A27-D332-4280-A0F8-D782EDE273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9349" y="1628800"/>
                <a:ext cx="8229600" cy="4525963"/>
              </a:xfrm>
              <a:blipFill>
                <a:blip r:embed="rId2"/>
                <a:stretch>
                  <a:fillRect l="-1037" t="-1077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A96A97BD-620E-4B82-ABF5-1DABDFC87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80C27908-D9B3-46C0-91B6-A0D9ECE8A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38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300472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EC5DE53-16FC-4CE3-99D0-81309F75A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z="3600" dirty="0" err="1"/>
              <a:t>Imbalanced</a:t>
            </a:r>
            <a:r>
              <a:rPr lang="sv-SE" sz="3600" dirty="0"/>
              <a:t> </a:t>
            </a:r>
            <a:r>
              <a:rPr lang="sv-SE" sz="3600" dirty="0" err="1"/>
              <a:t>classes</a:t>
            </a:r>
            <a:r>
              <a:rPr lang="sv-SE" sz="3600" dirty="0"/>
              <a:t>: precision-</a:t>
            </a:r>
            <a:r>
              <a:rPr lang="sv-SE" sz="3600" dirty="0" err="1"/>
              <a:t>recall</a:t>
            </a:r>
            <a:r>
              <a:rPr lang="sv-SE" sz="3600" dirty="0"/>
              <a:t> </a:t>
            </a:r>
            <a:r>
              <a:rPr lang="sv-SE" sz="3600" dirty="0" err="1"/>
              <a:t>curve</a:t>
            </a:r>
            <a:endParaRPr lang="sv-SE" sz="3600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AAA2DCDD-8DB7-4C61-B9A1-C1F88E07C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Better</a:t>
            </a:r>
            <a:r>
              <a:rPr lang="sv-SE" dirty="0"/>
              <a:t> </a:t>
            </a:r>
            <a:r>
              <a:rPr lang="sv-SE" dirty="0" err="1"/>
              <a:t>than</a:t>
            </a:r>
            <a:r>
              <a:rPr lang="sv-SE" dirty="0"/>
              <a:t> ROC for </a:t>
            </a:r>
            <a:r>
              <a:rPr lang="sv-SE" dirty="0" err="1"/>
              <a:t>imbalanced</a:t>
            </a:r>
            <a:r>
              <a:rPr lang="sv-SE" dirty="0"/>
              <a:t> </a:t>
            </a:r>
            <a:r>
              <a:rPr lang="sv-SE" dirty="0" err="1"/>
              <a:t>classes</a:t>
            </a:r>
            <a:endParaRPr lang="sv-SE" dirty="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2A63BAA8-0BB7-4B1E-9AF8-2B53BF5C8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8816AF3E-421B-4AAC-B6D1-F30C992C2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39</a:t>
            </a:fld>
            <a:endParaRPr lang="sv-SE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062DB486-DB03-426C-B00F-436596B8E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736" y="2363277"/>
            <a:ext cx="4909195" cy="376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629243"/>
      </p:ext>
    </p:extLst>
  </p:cSld>
  <p:clrMapOvr>
    <a:masterClrMapping/>
  </p:clrMapOvr>
</p:sld>
</file>

<file path=ppt/theme/theme1.xml><?xml version="1.0" encoding="utf-8"?>
<a:theme xmlns:a="http://schemas.openxmlformats.org/drawingml/2006/main" name="my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8B838B1D395C46B230F564133917A4" ma:contentTypeVersion="5" ma:contentTypeDescription="Create a new document." ma:contentTypeScope="" ma:versionID="70e298e78836510adb340f9f68a263a1">
  <xsd:schema xmlns:xsd="http://www.w3.org/2001/XMLSchema" xmlns:xs="http://www.w3.org/2001/XMLSchema" xmlns:p="http://schemas.microsoft.com/office/2006/metadata/properties" xmlns:ns2="e27f7632-7914-4153-b43e-44baa0afba72" xmlns:ns3="e5d37322-26cc-4af7-8808-99666bb9997d" targetNamespace="http://schemas.microsoft.com/office/2006/metadata/properties" ma:root="true" ma:fieldsID="7d3cba0f520645fa006f4f5a2497c43c" ns2:_="" ns3:_="">
    <xsd:import namespace="e27f7632-7914-4153-b43e-44baa0afba72"/>
    <xsd:import namespace="e5d37322-26cc-4af7-8808-99666bb9997d"/>
    <xsd:element name="properties">
      <xsd:complexType>
        <xsd:sequence>
          <xsd:element name="documentManagement">
            <xsd:complexType>
              <xsd:all>
                <xsd:element ref="ns2:_lisam_Description" minOccurs="0"/>
                <xsd:element ref="ns3:_lisam_PublishedVersion" minOccurs="0"/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7f7632-7914-4153-b43e-44baa0afba72" elementFormDefault="qualified">
    <xsd:import namespace="http://schemas.microsoft.com/office/2006/documentManagement/types"/>
    <xsd:import namespace="http://schemas.microsoft.com/office/infopath/2007/PartnerControls"/>
    <xsd:element name="_lisam_Description" ma:index="8" nillable="true" ma:displayName="Description" ma:internalName="_lisam_Description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d37322-26cc-4af7-8808-99666bb9997d" elementFormDefault="qualified">
    <xsd:import namespace="http://schemas.microsoft.com/office/2006/documentManagement/types"/>
    <xsd:import namespace="http://schemas.microsoft.com/office/infopath/2007/PartnerControls"/>
    <xsd:element name="_lisam_PublishedVersion" ma:index="9" nillable="true" ma:displayName="Published Version" ma:internalName="_lisam_PublishedVersion">
      <xsd:simpleType>
        <xsd:restriction base="dms:Text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lisam_Description xmlns="e27f7632-7914-4153-b43e-44baa0afba72" xsi:nil="true"/>
    <_lisam_PublishedVersion xmlns="e5d37322-26cc-4af7-8808-99666bb9997d" xsi:nil="true"/>
  </documentManagement>
</p:properties>
</file>

<file path=customXml/itemProps1.xml><?xml version="1.0" encoding="utf-8"?>
<ds:datastoreItem xmlns:ds="http://schemas.openxmlformats.org/officeDocument/2006/customXml" ds:itemID="{B74A123B-3C2B-43CB-BA79-4CD177B63EF0}"/>
</file>

<file path=customXml/itemProps2.xml><?xml version="1.0" encoding="utf-8"?>
<ds:datastoreItem xmlns:ds="http://schemas.openxmlformats.org/officeDocument/2006/customXml" ds:itemID="{1D447CEA-01DF-4985-A57B-11AD923B7570}"/>
</file>

<file path=customXml/itemProps3.xml><?xml version="1.0" encoding="utf-8"?>
<ds:datastoreItem xmlns:ds="http://schemas.openxmlformats.org/officeDocument/2006/customXml" ds:itemID="{FFEACA36-F522-4DCA-BE6B-9C4D9A7E1870}"/>
</file>

<file path=docProps/app.xml><?xml version="1.0" encoding="utf-8"?>
<Properties xmlns="http://schemas.openxmlformats.org/officeDocument/2006/extended-properties" xmlns:vt="http://schemas.openxmlformats.org/officeDocument/2006/docPropsVTypes">
  <Template>mytheme</Template>
  <TotalTime>18256</TotalTime>
  <Words>1927</Words>
  <Application>Microsoft Office PowerPoint</Application>
  <PresentationFormat>Bildspel på skärmen (4:3)</PresentationFormat>
  <Paragraphs>431</Paragraphs>
  <Slides>39</Slides>
  <Notes>25</Notes>
  <HiddenSlides>0</HiddenSlides>
  <MMClips>0</MMClips>
  <ScaleCrop>false</ScaleCrop>
  <HeadingPairs>
    <vt:vector size="6" baseType="variant">
      <vt:variant>
        <vt:lpstr>Använt teckensnitt</vt:lpstr>
      </vt:variant>
      <vt:variant>
        <vt:i4>6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39</vt:i4>
      </vt:variant>
    </vt:vector>
  </HeadingPairs>
  <TitlesOfParts>
    <vt:vector size="46" baseType="lpstr">
      <vt:lpstr>Arial</vt:lpstr>
      <vt:lpstr>Calibri</vt:lpstr>
      <vt:lpstr>Cambria Math</vt:lpstr>
      <vt:lpstr>Consolas</vt:lpstr>
      <vt:lpstr>Times New Roman</vt:lpstr>
      <vt:lpstr>Wingdings 2</vt:lpstr>
      <vt:lpstr>mytheme</vt:lpstr>
      <vt:lpstr>Model selection</vt:lpstr>
      <vt:lpstr>Overview</vt:lpstr>
      <vt:lpstr>An estimator</vt:lpstr>
      <vt:lpstr>Overfitting</vt:lpstr>
      <vt:lpstr>Model selection</vt:lpstr>
      <vt:lpstr>Error functions</vt:lpstr>
      <vt:lpstr>Error vs loss function</vt:lpstr>
      <vt:lpstr>Data generating process</vt:lpstr>
      <vt:lpstr>Model selection</vt:lpstr>
      <vt:lpstr>Model selection</vt:lpstr>
      <vt:lpstr>Hold-out method</vt:lpstr>
      <vt:lpstr>General model selection strategy</vt:lpstr>
      <vt:lpstr>Hold-out method</vt:lpstr>
      <vt:lpstr>Hold-out method</vt:lpstr>
      <vt:lpstr>Hold-out method</vt:lpstr>
      <vt:lpstr>Hold-out method</vt:lpstr>
      <vt:lpstr>Hold-out method</vt:lpstr>
      <vt:lpstr>Hold-out method</vt:lpstr>
      <vt:lpstr>Hold-out method: remarks</vt:lpstr>
      <vt:lpstr>Hold-out in R</vt:lpstr>
      <vt:lpstr>Cross-validation </vt:lpstr>
      <vt:lpstr>Cross-validation</vt:lpstr>
      <vt:lpstr>Cross-validation</vt:lpstr>
      <vt:lpstr>Cross-validation vs Holdout </vt:lpstr>
      <vt:lpstr>Model selection</vt:lpstr>
      <vt:lpstr>Model selection</vt:lpstr>
      <vt:lpstr>Model selection</vt:lpstr>
      <vt:lpstr>Model selection: comments</vt:lpstr>
      <vt:lpstr>Bias-variance tradeoff</vt:lpstr>
      <vt:lpstr>Bias-variance tradeoff</vt:lpstr>
      <vt:lpstr>Bias-variance tradeoff</vt:lpstr>
      <vt:lpstr>Bias-variance tradeoff</vt:lpstr>
      <vt:lpstr>Model selection</vt:lpstr>
      <vt:lpstr>Cross-validatation</vt:lpstr>
      <vt:lpstr>Model evaluation</vt:lpstr>
      <vt:lpstr>Model evaluation</vt:lpstr>
      <vt:lpstr>ROC curves</vt:lpstr>
      <vt:lpstr>Imbalanced classes</vt:lpstr>
      <vt:lpstr>Imbalanced classes: precision-recall curve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Oleg</dc:creator>
  <cp:lastModifiedBy>Oleg Sysoev</cp:lastModifiedBy>
  <cp:revision>500</cp:revision>
  <dcterms:created xsi:type="dcterms:W3CDTF">2008-10-17T08:20:23Z</dcterms:created>
  <dcterms:modified xsi:type="dcterms:W3CDTF">2022-12-06T07:31:36Z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0x010100298B838B1D395C46B230F564133917A4</vt:lpwstr>
  </property>
</Properties>
</file>