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77" r:id="rId15"/>
    <p:sldId id="279" r:id="rId16"/>
    <p:sldId id="280" r:id="rId17"/>
    <p:sldId id="282" r:id="rId18"/>
    <p:sldId id="269" r:id="rId19"/>
    <p:sldId id="270" r:id="rId20"/>
    <p:sldId id="271" r:id="rId21"/>
    <p:sldId id="272" r:id="rId22"/>
    <p:sldId id="281" r:id="rId23"/>
    <p:sldId id="274" r:id="rId24"/>
    <p:sldId id="273" r:id="rId25"/>
    <p:sldId id="283" r:id="rId26"/>
    <p:sldId id="275" r:id="rId27"/>
    <p:sldId id="276" r:id="rId28"/>
    <p:sldId id="285" r:id="rId29"/>
    <p:sldId id="286" r:id="rId30"/>
    <p:sldId id="287" r:id="rId31"/>
    <p:sldId id="284" r:id="rId32"/>
    <p:sldId id="288" r:id="rId33"/>
  </p:sldIdLst>
  <p:sldSz cx="9144000" cy="6858000" type="screen4x3"/>
  <p:notesSz cx="6858000" cy="9144000"/>
  <p:defaultTextStyle>
    <a:defPPr>
      <a:defRPr lang="sv-S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21" autoAdjust="0"/>
    <p:restoredTop sz="94667" autoAdjust="0"/>
  </p:normalViewPr>
  <p:slideViewPr>
    <p:cSldViewPr>
      <p:cViewPr varScale="1">
        <p:scale>
          <a:sx n="106" d="100"/>
          <a:sy n="106" d="100"/>
        </p:scale>
        <p:origin x="178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4ADB048-B6AA-4D22-B925-1E07B42FCC2F}" type="datetimeFigureOut">
              <a:rPr lang="en-US"/>
              <a:pPr>
                <a:defRPr/>
              </a:pPr>
              <a:t>11/1/2022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1CBF2CB4-761B-4BF8-ADAE-309A87B15E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37151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sv-SE" altLang="sv-SE"/>
          </a:p>
        </p:txBody>
      </p:sp>
      <p:sp>
        <p:nvSpPr>
          <p:cNvPr id="37892" name="Footer Placeholder 4"/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sv-SE"/>
              <a:t>Introductory course "Statistics &amp; Data Mining" 2012</a:t>
            </a:r>
            <a:endParaRPr lang="sv-SE" altLang="sv-S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rgbClr val="FFFF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1BA4AED-1972-4D19-9C8B-966EDD3F2DED}" type="datetime1">
              <a:rPr lang="sv-SE" smtClean="0"/>
              <a:t>2022-11-01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E41135-FE25-4BB9-845D-2A6C9DB4D648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02590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49A24A-2D0C-4874-A3FA-F4E7940C7F1B}" type="datetime1">
              <a:rPr lang="sv-SE" smtClean="0"/>
              <a:t>2022-11-01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B2DAB0-3E44-4037-BFD8-EC40824E78A2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13052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CF7B2D-1F4C-4268-B649-80FC12557870}" type="datetime1">
              <a:rPr lang="sv-SE" smtClean="0"/>
              <a:t>2022-11-01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39442D-BF2B-4F0F-86BC-2E9B5D092FBD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34763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3CE518-1A0C-4575-ADBA-CD1B14393CA9}" type="datetime1">
              <a:rPr lang="sv-SE" smtClean="0"/>
              <a:t>2022-11-01</a:t>
            </a:fld>
            <a:endParaRPr lang="sv-SE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143A0B-D25E-4CEE-9A8D-A89D71CA941C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07564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86B51F-6FD9-4176-8C21-CA0C02CCFDC4}" type="datetime1">
              <a:rPr lang="sv-SE" smtClean="0"/>
              <a:t>2022-11-01</a:t>
            </a:fld>
            <a:endParaRPr lang="sv-SE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EF4E0B-44E5-4E70-A00D-EAF82574E9B5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00689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7AB8EC-EC39-4C36-AFEE-1095B61B1F4A}" type="datetime1">
              <a:rPr lang="sv-SE" smtClean="0"/>
              <a:t>2022-11-01</a:t>
            </a:fld>
            <a:endParaRPr lang="sv-SE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C2B8F3-1A8A-45D7-B8F3-C3176EA3727C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38903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72CE85-95E6-49D9-91D9-CEFDCD399A84}" type="datetime1">
              <a:rPr lang="sv-SE" smtClean="0"/>
              <a:t>2022-11-01</a:t>
            </a:fld>
            <a:endParaRPr lang="sv-SE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07C067-4760-4791-9AD9-243D3788801E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1656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8AB593-3B3C-4814-8A3A-0038273763F8}" type="datetime1">
              <a:rPr lang="sv-SE" smtClean="0"/>
              <a:t>2022-11-01</a:t>
            </a:fld>
            <a:endParaRPr lang="sv-SE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FCB188-BE35-4DCB-B587-5780F2D8A2E3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77572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2F1DBE-A04E-48AD-84FD-C0549C7E933A}" type="datetime1">
              <a:rPr lang="sv-SE" smtClean="0"/>
              <a:t>2022-11-01</a:t>
            </a:fld>
            <a:endParaRPr lang="sv-SE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91C374-092E-49BD-9EFA-BFB4801F3599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51781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FCA712-976A-4098-BE91-F020A7427435}" type="datetime1">
              <a:rPr lang="sv-SE" smtClean="0"/>
              <a:t>2022-11-01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D1788B-0916-4076-90CD-A11BF9C4C5F6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08143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4B4BDE-8CB1-4507-97A4-7AB0571094F7}" type="datetime1">
              <a:rPr lang="sv-SE" smtClean="0"/>
              <a:t>2022-11-01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2041AE-3DF6-4B42-A32B-B013DFED45FA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53700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sv-SE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sv-SE"/>
              <a:t>Click to edit Master text styles</a:t>
            </a:r>
          </a:p>
          <a:p>
            <a:pPr lvl="1"/>
            <a:r>
              <a:rPr lang="en-US" altLang="sv-SE"/>
              <a:t>Second level</a:t>
            </a:r>
          </a:p>
          <a:p>
            <a:pPr lvl="2"/>
            <a:r>
              <a:rPr lang="en-US" altLang="sv-SE"/>
              <a:t>Third level</a:t>
            </a:r>
          </a:p>
          <a:p>
            <a:pPr lvl="3"/>
            <a:r>
              <a:rPr lang="en-US" altLang="sv-SE"/>
              <a:t>Fourth level</a:t>
            </a:r>
          </a:p>
          <a:p>
            <a:pPr lvl="4"/>
            <a:r>
              <a:rPr lang="en-US" altLang="sv-SE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FAACCFFF-30D3-46B5-A205-CE5F0CF7FAFE}" type="datetime1">
              <a:rPr lang="sv-SE" smtClean="0"/>
              <a:t>2022-11-01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53457A1C-DCE8-4055-B631-8BF35863A1EB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3" r:id="rId1"/>
    <p:sldLayoutId id="2147483943" r:id="rId2"/>
    <p:sldLayoutId id="2147483944" r:id="rId3"/>
    <p:sldLayoutId id="2147483945" r:id="rId4"/>
    <p:sldLayoutId id="2147483946" r:id="rId5"/>
    <p:sldLayoutId id="2147483947" r:id="rId6"/>
    <p:sldLayoutId id="2147483948" r:id="rId7"/>
    <p:sldLayoutId id="2147483949" r:id="rId8"/>
    <p:sldLayoutId id="2147483950" r:id="rId9"/>
    <p:sldLayoutId id="2147483951" r:id="rId10"/>
    <p:sldLayoutId id="2147483952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rstudio.org/" TargetMode="External"/><Relationship Id="rId2" Type="http://schemas.openxmlformats.org/officeDocument/2006/relationships/hyperlink" Target="http://www.r-project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rstudio.org/" TargetMode="External"/><Relationship Id="rId2" Type="http://schemas.openxmlformats.org/officeDocument/2006/relationships/hyperlink" Target="http://www.r-project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cran.r-project.org/doc/manuals/r-release/R-intro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Заголовок 1"/>
          <p:cNvSpPr>
            <a:spLocks noGrp="1"/>
          </p:cNvSpPr>
          <p:nvPr>
            <p:ph type="ctrTitle"/>
          </p:nvPr>
        </p:nvSpPr>
        <p:spPr>
          <a:xfrm>
            <a:off x="899592" y="1988840"/>
            <a:ext cx="7772400" cy="1470025"/>
          </a:xfrm>
        </p:spPr>
        <p:txBody>
          <a:bodyPr/>
          <a:lstStyle/>
          <a:p>
            <a:pPr eaLnBrk="1" hangingPunct="1"/>
            <a:r>
              <a:rPr lang="sv-SE" altLang="sv-SE" sz="4800" dirty="0" err="1"/>
              <a:t>Introduction</a:t>
            </a:r>
            <a:r>
              <a:rPr lang="sv-SE" altLang="sv-SE" sz="4800" dirty="0"/>
              <a:t> </a:t>
            </a:r>
            <a:r>
              <a:rPr lang="sv-SE" altLang="sv-SE" sz="4800" dirty="0" err="1"/>
              <a:t>to</a:t>
            </a:r>
            <a:r>
              <a:rPr lang="sv-SE" altLang="sv-SE" sz="4800" dirty="0"/>
              <a:t> R</a:t>
            </a:r>
            <a:br>
              <a:rPr lang="sv-SE" altLang="sv-SE" sz="4800" dirty="0"/>
            </a:br>
            <a:endParaRPr lang="sv-SE" altLang="sv-SE" sz="4800" dirty="0"/>
          </a:p>
        </p:txBody>
      </p:sp>
      <p:sp>
        <p:nvSpPr>
          <p:cNvPr id="3075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sv-SE" altLang="sv-SE" dirty="0" err="1"/>
              <a:t>Lecture</a:t>
            </a:r>
            <a:r>
              <a:rPr lang="sv-SE" altLang="sv-SE" dirty="0"/>
              <a:t> 1c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  <a:endParaRPr lang="sv-SE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v-SE"/>
              <a:t>R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395536" y="1700808"/>
            <a:ext cx="6994525" cy="4430712"/>
          </a:xfrm>
        </p:spPr>
        <p:txBody>
          <a:bodyPr/>
          <a:lstStyle/>
          <a:p>
            <a:r>
              <a:rPr lang="en-US" altLang="sv-SE" sz="2000" dirty="0"/>
              <a:t>R is a </a:t>
            </a:r>
            <a:r>
              <a:rPr lang="en-US" altLang="sv-SE" sz="2000" b="1" dirty="0"/>
              <a:t>programming language</a:t>
            </a:r>
            <a:r>
              <a:rPr lang="en-US" altLang="sv-SE" sz="2000" dirty="0"/>
              <a:t> of a higher-level</a:t>
            </a:r>
          </a:p>
          <a:p>
            <a:r>
              <a:rPr lang="en-US" altLang="sv-SE" sz="2000" dirty="0"/>
              <a:t>Constantly increasing amount of packages (new research)</a:t>
            </a:r>
          </a:p>
          <a:p>
            <a:r>
              <a:rPr lang="en-US" altLang="sv-SE" sz="2000" dirty="0"/>
              <a:t>Free of charge</a:t>
            </a:r>
          </a:p>
          <a:p>
            <a:r>
              <a:rPr lang="en-US" altLang="sv-SE" sz="2000" dirty="0"/>
              <a:t>Website: </a:t>
            </a:r>
            <a:r>
              <a:rPr lang="en-US" altLang="sv-SE" sz="2000" dirty="0">
                <a:hlinkClick r:id="rId2"/>
              </a:rPr>
              <a:t>http://www.r-project.org/</a:t>
            </a:r>
            <a:endParaRPr lang="en-US" altLang="sv-SE" sz="2000" dirty="0"/>
          </a:p>
          <a:p>
            <a:r>
              <a:rPr lang="en-US" altLang="sv-SE" sz="2000" dirty="0"/>
              <a:t>Code Editor: </a:t>
            </a:r>
            <a:r>
              <a:rPr lang="en-US" altLang="sv-SE" sz="2000" dirty="0">
                <a:hlinkClick r:id="rId3"/>
              </a:rPr>
              <a:t>http://rstudio.org/</a:t>
            </a:r>
            <a:endParaRPr lang="en-US" altLang="sv-SE" sz="2000" dirty="0"/>
          </a:p>
          <a:p>
            <a:endParaRPr lang="en-US" altLang="sv-SE" sz="2000" dirty="0"/>
          </a:p>
          <a:p>
            <a:endParaRPr lang="en-US" altLang="sv-SE" sz="2000" dirty="0"/>
          </a:p>
        </p:txBody>
      </p:sp>
      <p:sp>
        <p:nvSpPr>
          <p:cNvPr id="19460" name="Footer Placeholder 4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1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sv-SE" sz="1000"/>
              <a:t>732A99/TDDE01</a:t>
            </a:r>
            <a:endParaRPr lang="sv-SE" altLang="sv-SE" sz="1000"/>
          </a:p>
        </p:txBody>
      </p:sp>
      <p:pic>
        <p:nvPicPr>
          <p:cNvPr id="19461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3573016"/>
            <a:ext cx="4357688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61960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altLang="sv-SE"/>
              <a:t>Software: use RStudio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altLang="sv-SE"/>
              <a:t>Install R: </a:t>
            </a:r>
            <a:r>
              <a:rPr lang="sv-SE" altLang="sv-SE">
                <a:hlinkClick r:id="rId2"/>
              </a:rPr>
              <a:t>http://www.r-project.org/</a:t>
            </a:r>
            <a:endParaRPr lang="sv-SE" altLang="sv-SE"/>
          </a:p>
          <a:p>
            <a:r>
              <a:rPr lang="sv-SE" altLang="sv-SE"/>
              <a:t>Install RStudio: </a:t>
            </a:r>
            <a:r>
              <a:rPr lang="sv-SE" altLang="sv-SE">
                <a:hlinkClick r:id="rId3"/>
              </a:rPr>
              <a:t>http://rstudio.org/</a:t>
            </a:r>
            <a:endParaRPr lang="sv-SE" altLang="sv-SE"/>
          </a:p>
          <a:p>
            <a:endParaRPr lang="sv-SE" altLang="sv-SE"/>
          </a:p>
          <a:p>
            <a:endParaRPr lang="sv-SE" altLang="sv-SE"/>
          </a:p>
        </p:txBody>
      </p:sp>
      <p:sp>
        <p:nvSpPr>
          <p:cNvPr id="20484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1403350" y="6237288"/>
            <a:ext cx="446405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1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sv-SE" sz="1200"/>
              <a:t>732A99/TDDE01</a:t>
            </a:r>
            <a:endParaRPr lang="sv-SE" altLang="sv-SE" sz="1200" dirty="0"/>
          </a:p>
        </p:txBody>
      </p:sp>
      <p:pic>
        <p:nvPicPr>
          <p:cNvPr id="20485" name="Picture 2" descr="RStudio on Window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6475" y="2974975"/>
            <a:ext cx="4022725" cy="334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 flipV="1">
            <a:off x="1628775" y="3983038"/>
            <a:ext cx="1079500" cy="43338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1638300" y="5424488"/>
            <a:ext cx="1081088" cy="431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 flipV="1">
            <a:off x="5805488" y="3840163"/>
            <a:ext cx="1800225" cy="431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 flipV="1">
            <a:off x="5948363" y="4945063"/>
            <a:ext cx="1296987" cy="9572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90" name="TextBox 12"/>
          <p:cNvSpPr txBox="1">
            <a:spLocks noChangeArrowheads="1"/>
          </p:cNvSpPr>
          <p:nvPr/>
        </p:nvSpPr>
        <p:spPr bwMode="auto">
          <a:xfrm>
            <a:off x="1196975" y="4338638"/>
            <a:ext cx="9715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1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sv-SE" altLang="sv-SE" sz="1600"/>
              <a:t>Program</a:t>
            </a:r>
          </a:p>
        </p:txBody>
      </p:sp>
      <p:sp>
        <p:nvSpPr>
          <p:cNvPr id="20491" name="TextBox 13"/>
          <p:cNvSpPr txBox="1">
            <a:spLocks noChangeArrowheads="1"/>
          </p:cNvSpPr>
          <p:nvPr/>
        </p:nvSpPr>
        <p:spPr bwMode="auto">
          <a:xfrm>
            <a:off x="1089025" y="5892800"/>
            <a:ext cx="11874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1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sv-SE" altLang="sv-SE" sz="1600"/>
              <a:t>Execution console</a:t>
            </a:r>
          </a:p>
        </p:txBody>
      </p:sp>
      <p:sp>
        <p:nvSpPr>
          <p:cNvPr id="20492" name="TextBox 14"/>
          <p:cNvSpPr txBox="1">
            <a:spLocks noChangeArrowheads="1"/>
          </p:cNvSpPr>
          <p:nvPr/>
        </p:nvSpPr>
        <p:spPr bwMode="auto">
          <a:xfrm>
            <a:off x="7245350" y="5670550"/>
            <a:ext cx="15113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1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sv-SE" altLang="sv-SE" sz="1600"/>
              <a:t>Plots</a:t>
            </a:r>
          </a:p>
        </p:txBody>
      </p:sp>
      <p:sp>
        <p:nvSpPr>
          <p:cNvPr id="20493" name="TextBox 15"/>
          <p:cNvSpPr txBox="1">
            <a:spLocks noChangeArrowheads="1"/>
          </p:cNvSpPr>
          <p:nvPr/>
        </p:nvSpPr>
        <p:spPr bwMode="auto">
          <a:xfrm>
            <a:off x="7513638" y="4271963"/>
            <a:ext cx="16033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1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sv-SE" altLang="sv-SE" sz="1600"/>
              <a:t>Workspace</a:t>
            </a:r>
          </a:p>
        </p:txBody>
      </p:sp>
    </p:spTree>
    <p:extLst>
      <p:ext uri="{BB962C8B-B14F-4D97-AF65-F5344CB8AC3E}">
        <p14:creationId xmlns:p14="http://schemas.microsoft.com/office/powerpoint/2010/main" val="2358816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altLang="sv-SE"/>
              <a:t>Basics in RStudio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itchFamily="2" charset="2"/>
              <a:buNone/>
              <a:defRPr/>
            </a:pPr>
            <a:r>
              <a:rPr lang="sv-SE" sz="2400" b="1" dirty="0" err="1"/>
              <a:t>Important</a:t>
            </a:r>
            <a:r>
              <a:rPr lang="sv-SE" sz="2400" b="1" dirty="0"/>
              <a:t> </a:t>
            </a:r>
            <a:r>
              <a:rPr lang="sv-SE" sz="2400" b="1" dirty="0" err="1"/>
              <a:t>to</a:t>
            </a:r>
            <a:r>
              <a:rPr lang="sv-SE" sz="2400" b="1" dirty="0"/>
              <a:t> </a:t>
            </a:r>
            <a:r>
              <a:rPr lang="sv-SE" sz="2400" b="1" dirty="0" err="1"/>
              <a:t>know</a:t>
            </a:r>
            <a:r>
              <a:rPr lang="sv-SE" sz="2400" b="1" dirty="0"/>
              <a:t>:</a:t>
            </a:r>
          </a:p>
          <a:p>
            <a:pPr>
              <a:defRPr/>
            </a:pPr>
            <a:r>
              <a:rPr lang="sv-SE" sz="2400" dirty="0" err="1"/>
              <a:t>Create</a:t>
            </a:r>
            <a:r>
              <a:rPr lang="sv-SE" sz="2400" dirty="0"/>
              <a:t> a new </a:t>
            </a:r>
            <a:r>
              <a:rPr lang="sv-SE" sz="2400" dirty="0" err="1"/>
              <a:t>file</a:t>
            </a:r>
            <a:r>
              <a:rPr lang="sv-SE" sz="2400" dirty="0"/>
              <a:t> and save it (</a:t>
            </a:r>
            <a:r>
              <a:rPr lang="sv-SE" sz="2400" dirty="0" err="1"/>
              <a:t>File</a:t>
            </a:r>
            <a:r>
              <a:rPr lang="sv-SE" sz="2400" dirty="0"/>
              <a:t> </a:t>
            </a:r>
            <a:r>
              <a:rPr lang="sv-SE" sz="2400" dirty="0" err="1"/>
              <a:t>menu</a:t>
            </a:r>
            <a:r>
              <a:rPr lang="sv-SE" sz="2400" dirty="0"/>
              <a:t>)</a:t>
            </a:r>
          </a:p>
          <a:p>
            <a:pPr>
              <a:defRPr/>
            </a:pPr>
            <a:r>
              <a:rPr lang="sv-SE" sz="2400" dirty="0" err="1"/>
              <a:t>Running</a:t>
            </a:r>
            <a:r>
              <a:rPr lang="sv-SE" sz="2400" dirty="0"/>
              <a:t> </a:t>
            </a:r>
            <a:r>
              <a:rPr lang="sv-SE" sz="2400" dirty="0" err="1"/>
              <a:t>one</a:t>
            </a:r>
            <a:r>
              <a:rPr lang="sv-SE" sz="2400" dirty="0"/>
              <a:t> </a:t>
            </a:r>
            <a:r>
              <a:rPr lang="sv-SE" sz="2400" dirty="0" err="1"/>
              <a:t>line</a:t>
            </a:r>
            <a:r>
              <a:rPr lang="sv-SE" sz="2400" dirty="0"/>
              <a:t> or </a:t>
            </a:r>
            <a:r>
              <a:rPr lang="sv-SE" sz="2400" dirty="0" err="1"/>
              <a:t>entire</a:t>
            </a:r>
            <a:r>
              <a:rPr lang="sv-SE" sz="2400" dirty="0"/>
              <a:t> </a:t>
            </a:r>
            <a:r>
              <a:rPr lang="sv-SE" sz="2400" dirty="0" err="1"/>
              <a:t>code</a:t>
            </a:r>
            <a:r>
              <a:rPr lang="sv-SE" sz="2400" dirty="0"/>
              <a:t> (Edit </a:t>
            </a:r>
            <a:r>
              <a:rPr lang="sv-SE" sz="2400" dirty="0" err="1"/>
              <a:t>menu</a:t>
            </a:r>
            <a:r>
              <a:rPr lang="sv-SE" sz="2400" dirty="0"/>
              <a:t>)</a:t>
            </a:r>
          </a:p>
          <a:p>
            <a:pPr>
              <a:defRPr/>
            </a:pPr>
            <a:r>
              <a:rPr lang="sv-SE" sz="2400" dirty="0" err="1"/>
              <a:t>Running</a:t>
            </a:r>
            <a:r>
              <a:rPr lang="sv-SE" sz="2400" dirty="0"/>
              <a:t> </a:t>
            </a:r>
            <a:r>
              <a:rPr lang="sv-SE" sz="2400" dirty="0" err="1"/>
              <a:t>one</a:t>
            </a:r>
            <a:r>
              <a:rPr lang="sv-SE" sz="2400" dirty="0"/>
              <a:t> </a:t>
            </a:r>
            <a:r>
              <a:rPr lang="sv-SE" sz="2400" dirty="0" err="1"/>
              <a:t>line</a:t>
            </a:r>
            <a:r>
              <a:rPr lang="sv-SE" sz="2400" dirty="0"/>
              <a:t> in </a:t>
            </a:r>
            <a:r>
              <a:rPr lang="sv-SE" sz="2400" dirty="0" err="1"/>
              <a:t>console</a:t>
            </a:r>
            <a:endParaRPr lang="sv-SE" sz="2400" dirty="0"/>
          </a:p>
          <a:p>
            <a:pPr>
              <a:defRPr/>
            </a:pPr>
            <a:r>
              <a:rPr lang="sv-SE" sz="2400" dirty="0" err="1"/>
              <a:t>Workspace</a:t>
            </a:r>
            <a:r>
              <a:rPr lang="sv-SE" sz="2400" dirty="0"/>
              <a:t> (</a:t>
            </a:r>
            <a:r>
              <a:rPr lang="sv-SE" sz="2400" dirty="0" err="1"/>
              <a:t>Observe</a:t>
            </a:r>
            <a:r>
              <a:rPr lang="sv-SE" sz="2400" dirty="0"/>
              <a:t>, Save, Clear)</a:t>
            </a:r>
          </a:p>
          <a:p>
            <a:pPr>
              <a:defRPr/>
            </a:pPr>
            <a:r>
              <a:rPr lang="sv-SE" sz="2400" dirty="0" err="1"/>
              <a:t>Setting</a:t>
            </a:r>
            <a:r>
              <a:rPr lang="sv-SE" sz="2400" dirty="0"/>
              <a:t> </a:t>
            </a:r>
            <a:r>
              <a:rPr lang="sv-SE" sz="2400" dirty="0" err="1"/>
              <a:t>current</a:t>
            </a:r>
            <a:r>
              <a:rPr lang="sv-SE" sz="2400" dirty="0"/>
              <a:t> directory (Tools)</a:t>
            </a:r>
          </a:p>
          <a:p>
            <a:pPr>
              <a:defRPr/>
            </a:pPr>
            <a:r>
              <a:rPr lang="sv-SE" sz="2400" dirty="0" err="1"/>
              <a:t>Installing</a:t>
            </a:r>
            <a:r>
              <a:rPr lang="sv-SE" sz="2400" dirty="0"/>
              <a:t> new </a:t>
            </a:r>
            <a:r>
              <a:rPr lang="sv-SE" sz="2400" dirty="0" err="1"/>
              <a:t>package</a:t>
            </a:r>
            <a:r>
              <a:rPr lang="sv-SE" sz="2400" dirty="0"/>
              <a:t> (Packages </a:t>
            </a:r>
            <a:r>
              <a:rPr lang="sv-SE" sz="2400" dirty="0" err="1"/>
              <a:t>tabs</a:t>
            </a:r>
            <a:r>
              <a:rPr lang="sv-SE" sz="2400" dirty="0"/>
              <a:t>)</a:t>
            </a:r>
          </a:p>
          <a:p>
            <a:pPr>
              <a:defRPr/>
            </a:pPr>
            <a:endParaRPr lang="sv-SE" sz="2400" dirty="0"/>
          </a:p>
          <a:p>
            <a:pPr>
              <a:defRPr/>
            </a:pPr>
            <a:endParaRPr lang="sv-SE" sz="2400" dirty="0"/>
          </a:p>
          <a:p>
            <a:pPr>
              <a:defRPr/>
            </a:pPr>
            <a:endParaRPr lang="sv-SE" sz="2400" dirty="0"/>
          </a:p>
          <a:p>
            <a:pPr>
              <a:defRPr/>
            </a:pPr>
            <a:endParaRPr lang="sv-SE" sz="2400" dirty="0"/>
          </a:p>
        </p:txBody>
      </p:sp>
      <p:sp>
        <p:nvSpPr>
          <p:cNvPr id="21508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1258888" y="6315075"/>
            <a:ext cx="2233612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1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sv-SE" sz="1200"/>
              <a:t>732A99/TDDE01</a:t>
            </a:r>
            <a:endParaRPr lang="sv-SE" altLang="sv-SE" sz="1200"/>
          </a:p>
        </p:txBody>
      </p:sp>
    </p:spTree>
    <p:extLst>
      <p:ext uri="{BB962C8B-B14F-4D97-AF65-F5344CB8AC3E}">
        <p14:creationId xmlns:p14="http://schemas.microsoft.com/office/powerpoint/2010/main" val="2505292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v-SE"/>
              <a:t>Call help</a:t>
            </a:r>
            <a:endParaRPr lang="sv-SE" altLang="sv-SE"/>
          </a:p>
        </p:txBody>
      </p:sp>
      <p:sp>
        <p:nvSpPr>
          <p:cNvPr id="22531" name="Content Placeholder 1"/>
          <p:cNvSpPr>
            <a:spLocks noGrp="1"/>
          </p:cNvSpPr>
          <p:nvPr>
            <p:ph idx="1"/>
          </p:nvPr>
        </p:nvSpPr>
        <p:spPr>
          <a:xfrm>
            <a:off x="1258888" y="1484313"/>
            <a:ext cx="6769100" cy="4525962"/>
          </a:xfrm>
        </p:spPr>
        <p:txBody>
          <a:bodyPr/>
          <a:lstStyle/>
          <a:p>
            <a:r>
              <a:rPr lang="en-US" altLang="sv-SE" sz="2000" dirty="0"/>
              <a:t>Specific function</a:t>
            </a:r>
          </a:p>
          <a:p>
            <a:pPr lvl="1"/>
            <a:r>
              <a:rPr lang="en-US" altLang="sv-SE" sz="1800" dirty="0">
                <a:latin typeface="Courier New" pitchFamily="49" charset="0"/>
                <a:cs typeface="Courier New" pitchFamily="49" charset="0"/>
              </a:rPr>
              <a:t>help(</a:t>
            </a:r>
            <a:r>
              <a:rPr lang="en-US" altLang="sv-SE" sz="1800" i="1" dirty="0">
                <a:latin typeface="Courier New" pitchFamily="49" charset="0"/>
                <a:cs typeface="Courier New" pitchFamily="49" charset="0"/>
              </a:rPr>
              <a:t>function</a:t>
            </a:r>
            <a:r>
              <a:rPr lang="en-US" altLang="sv-SE" sz="1800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US" altLang="sv-SE" sz="2000" dirty="0"/>
              <a:t>Help browser</a:t>
            </a:r>
          </a:p>
          <a:p>
            <a:pPr lvl="1"/>
            <a:r>
              <a:rPr lang="en-US" altLang="sv-SE" sz="1800" dirty="0" err="1">
                <a:latin typeface="Courier New" pitchFamily="49" charset="0"/>
                <a:cs typeface="Courier New" pitchFamily="49" charset="0"/>
              </a:rPr>
              <a:t>help.start</a:t>
            </a:r>
            <a:r>
              <a:rPr lang="en-US" altLang="sv-SE" sz="1800" dirty="0">
                <a:latin typeface="Courier New" pitchFamily="49" charset="0"/>
                <a:cs typeface="Courier New" pitchFamily="49" charset="0"/>
              </a:rPr>
              <a:t>()</a:t>
            </a:r>
          </a:p>
          <a:p>
            <a:r>
              <a:rPr lang="en-US" altLang="sv-SE" sz="2000" dirty="0"/>
              <a:t>Search for something in help</a:t>
            </a:r>
          </a:p>
          <a:p>
            <a:pPr lvl="1"/>
            <a:r>
              <a:rPr lang="en-US" altLang="sv-SE" sz="1800" dirty="0" err="1">
                <a:latin typeface="Courier New" pitchFamily="49" charset="0"/>
                <a:cs typeface="Courier New" pitchFamily="49" charset="0"/>
              </a:rPr>
              <a:t>help.search</a:t>
            </a:r>
            <a:r>
              <a:rPr lang="en-US" altLang="sv-SE" sz="1800" dirty="0">
                <a:latin typeface="Courier New" pitchFamily="49" charset="0"/>
                <a:cs typeface="Courier New" pitchFamily="49" charset="0"/>
              </a:rPr>
              <a:t>(“</a:t>
            </a:r>
            <a:r>
              <a:rPr lang="en-US" altLang="sv-SE" sz="1800" i="1" dirty="0">
                <a:latin typeface="Courier New" pitchFamily="49" charset="0"/>
                <a:cs typeface="Courier New" pitchFamily="49" charset="0"/>
              </a:rPr>
              <a:t>expression”</a:t>
            </a:r>
            <a:r>
              <a:rPr lang="en-US" altLang="sv-SE" sz="1800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sv-SE" altLang="sv-SE" sz="2000" dirty="0"/>
              <a:t>Quick </a:t>
            </a:r>
            <a:r>
              <a:rPr lang="sv-SE" altLang="sv-SE" sz="2000" dirty="0" err="1"/>
              <a:t>reminder</a:t>
            </a:r>
            <a:r>
              <a:rPr lang="sv-SE" altLang="sv-SE" sz="2000" dirty="0"/>
              <a:t> </a:t>
            </a:r>
            <a:r>
              <a:rPr lang="sv-SE" altLang="sv-SE" sz="2000" dirty="0" err="1"/>
              <a:t>of</a:t>
            </a:r>
            <a:r>
              <a:rPr lang="sv-SE" altLang="sv-SE" sz="2000" dirty="0"/>
              <a:t> </a:t>
            </a:r>
            <a:r>
              <a:rPr lang="sv-SE" altLang="sv-SE" sz="2000" dirty="0" err="1"/>
              <a:t>function</a:t>
            </a:r>
            <a:r>
              <a:rPr lang="sv-SE" altLang="sv-SE" sz="2000" dirty="0"/>
              <a:t> arguments:</a:t>
            </a:r>
          </a:p>
          <a:p>
            <a:pPr lvl="1"/>
            <a:r>
              <a:rPr lang="en-US" altLang="sv-SE" sz="1800" dirty="0" err="1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altLang="sv-SE" sz="18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sv-SE" sz="1800" i="1" dirty="0">
                <a:latin typeface="Courier New" pitchFamily="49" charset="0"/>
                <a:cs typeface="Courier New" pitchFamily="49" charset="0"/>
              </a:rPr>
              <a:t>function</a:t>
            </a:r>
            <a:r>
              <a:rPr lang="en-US" altLang="sv-SE" sz="1800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sv-SE" altLang="sv-SE" sz="2000" dirty="0"/>
              <a:t>Examples </a:t>
            </a:r>
            <a:r>
              <a:rPr lang="sv-SE" altLang="sv-SE" sz="2000" dirty="0" err="1"/>
              <a:t>of</a:t>
            </a:r>
            <a:r>
              <a:rPr lang="sv-SE" altLang="sv-SE" sz="2000" dirty="0"/>
              <a:t> </a:t>
            </a:r>
            <a:r>
              <a:rPr lang="sv-SE" altLang="sv-SE" sz="2000" dirty="0" err="1"/>
              <a:t>how</a:t>
            </a:r>
            <a:r>
              <a:rPr lang="sv-SE" altLang="sv-SE" sz="2000" dirty="0"/>
              <a:t> </a:t>
            </a:r>
            <a:r>
              <a:rPr lang="sv-SE" altLang="sv-SE" sz="2000" dirty="0" err="1"/>
              <a:t>to</a:t>
            </a:r>
            <a:r>
              <a:rPr lang="sv-SE" altLang="sv-SE" sz="2000" dirty="0"/>
              <a:t> </a:t>
            </a:r>
            <a:r>
              <a:rPr lang="sv-SE" altLang="sv-SE" sz="2000" dirty="0" err="1"/>
              <a:t>use</a:t>
            </a:r>
            <a:r>
              <a:rPr lang="sv-SE" altLang="sv-SE" sz="2000" dirty="0"/>
              <a:t> </a:t>
            </a:r>
            <a:r>
              <a:rPr lang="sv-SE" altLang="sv-SE" sz="2000" dirty="0" err="1"/>
              <a:t>function</a:t>
            </a:r>
            <a:r>
              <a:rPr lang="sv-SE" altLang="sv-SE" sz="2000" dirty="0"/>
              <a:t>:</a:t>
            </a:r>
          </a:p>
          <a:p>
            <a:pPr lvl="1"/>
            <a:r>
              <a:rPr lang="en-US" altLang="sv-SE" sz="1800" dirty="0">
                <a:latin typeface="Courier New" pitchFamily="49" charset="0"/>
                <a:cs typeface="Courier New" pitchFamily="49" charset="0"/>
              </a:rPr>
              <a:t>example(</a:t>
            </a:r>
            <a:r>
              <a:rPr lang="en-US" altLang="sv-SE" sz="1800" i="1" dirty="0">
                <a:latin typeface="Courier New" pitchFamily="49" charset="0"/>
                <a:cs typeface="Courier New" pitchFamily="49" charset="0"/>
              </a:rPr>
              <a:t>function</a:t>
            </a:r>
            <a:r>
              <a:rPr lang="en-US" altLang="sv-SE" sz="1800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sv-SE" altLang="sv-SE" sz="2000" dirty="0"/>
              <a:t>If </a:t>
            </a:r>
            <a:r>
              <a:rPr lang="sv-SE" altLang="sv-SE" sz="2000" dirty="0" err="1"/>
              <a:t>some</a:t>
            </a:r>
            <a:r>
              <a:rPr lang="sv-SE" altLang="sv-SE" sz="2000" dirty="0"/>
              <a:t> </a:t>
            </a:r>
            <a:r>
              <a:rPr lang="sv-SE" altLang="sv-SE" sz="2000" dirty="0" err="1"/>
              <a:t>method</a:t>
            </a:r>
            <a:r>
              <a:rPr lang="sv-SE" altLang="sv-SE" sz="2000" dirty="0"/>
              <a:t> is not </a:t>
            </a:r>
            <a:r>
              <a:rPr lang="sv-SE" altLang="sv-SE" sz="2000" dirty="0" err="1"/>
              <a:t>installed</a:t>
            </a:r>
            <a:r>
              <a:rPr lang="sv-SE" altLang="sv-SE" sz="2000" dirty="0"/>
              <a:t> on the computer:</a:t>
            </a:r>
          </a:p>
          <a:p>
            <a:pPr lvl="1"/>
            <a:r>
              <a:rPr lang="sv-SE" altLang="sv-SE" sz="1800" dirty="0" err="1">
                <a:latin typeface="Courier New" pitchFamily="49" charset="0"/>
                <a:cs typeface="Courier New" pitchFamily="49" charset="0"/>
              </a:rPr>
              <a:t>RSiteSearch</a:t>
            </a:r>
            <a:r>
              <a:rPr lang="sv-SE" altLang="sv-SE" sz="1800" dirty="0">
                <a:latin typeface="Courier New" pitchFamily="49" charset="0"/>
                <a:cs typeface="Courier New" pitchFamily="49" charset="0"/>
              </a:rPr>
              <a:t>(”expression")</a:t>
            </a:r>
          </a:p>
          <a:p>
            <a:pPr lvl="1">
              <a:buFont typeface="Wingdings" pitchFamily="2" charset="2"/>
              <a:buNone/>
            </a:pPr>
            <a:endParaRPr lang="sv-SE" altLang="sv-SE" sz="1800" dirty="0"/>
          </a:p>
          <a:p>
            <a:endParaRPr lang="sv-SE" altLang="sv-SE" sz="2000" dirty="0"/>
          </a:p>
        </p:txBody>
      </p:sp>
      <p:sp>
        <p:nvSpPr>
          <p:cNvPr id="22532" name="Footer Placeholder 2"/>
          <p:cNvSpPr>
            <a:spLocks noGrp="1"/>
          </p:cNvSpPr>
          <p:nvPr>
            <p:ph type="ftr" sz="quarter" idx="12"/>
          </p:nvPr>
        </p:nvSpPr>
        <p:spPr>
          <a:xfrm>
            <a:off x="1187450" y="6315075"/>
            <a:ext cx="2376488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1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sv-SE" sz="1200"/>
              <a:t>732A99/TDDE01</a:t>
            </a:r>
            <a:endParaRPr lang="sv-SE" altLang="sv-SE" sz="1200"/>
          </a:p>
        </p:txBody>
      </p:sp>
    </p:spTree>
    <p:extLst>
      <p:ext uri="{BB962C8B-B14F-4D97-AF65-F5344CB8AC3E}">
        <p14:creationId xmlns:p14="http://schemas.microsoft.com/office/powerpoint/2010/main" val="1958006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v-SE"/>
              <a:t>Introduction</a:t>
            </a:r>
            <a:endParaRPr lang="sv-SE" altLang="sv-SE"/>
          </a:p>
        </p:txBody>
      </p:sp>
      <p:sp>
        <p:nvSpPr>
          <p:cNvPr id="23555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sv-SE" sz="2000" dirty="0"/>
              <a:t>R is case-sensitive (A and a)</a:t>
            </a:r>
          </a:p>
          <a:p>
            <a:r>
              <a:rPr lang="en-US" altLang="sv-SE" sz="2000" dirty="0"/>
              <a:t>Each command on a new line</a:t>
            </a:r>
          </a:p>
          <a:p>
            <a:r>
              <a:rPr lang="en-US" altLang="sv-SE" sz="2000" dirty="0"/>
              <a:t>Comment: </a:t>
            </a:r>
          </a:p>
          <a:p>
            <a:pPr>
              <a:buFont typeface="Wingdings" pitchFamily="2" charset="2"/>
              <a:buNone/>
            </a:pPr>
            <a:r>
              <a:rPr lang="en-US" altLang="sv-SE" sz="2000" dirty="0">
                <a:latin typeface="Courier New" pitchFamily="49" charset="0"/>
                <a:cs typeface="Courier New" pitchFamily="49" charset="0"/>
              </a:rPr>
              <a:t>#R is a very cool language!</a:t>
            </a:r>
          </a:p>
          <a:p>
            <a:pPr>
              <a:buFont typeface="Wingdings" pitchFamily="2" charset="2"/>
              <a:buNone/>
            </a:pPr>
            <a:endParaRPr lang="en-US" altLang="sv-SE" sz="2000" dirty="0"/>
          </a:p>
          <a:p>
            <a:pPr>
              <a:buFont typeface="Wingdings" pitchFamily="2" charset="2"/>
              <a:buNone/>
            </a:pPr>
            <a:r>
              <a:rPr lang="en-US" altLang="sv-SE" sz="2000" dirty="0">
                <a:solidFill>
                  <a:srgbClr val="0070C0"/>
                </a:solidFill>
              </a:rPr>
              <a:t>Initialize/set the variable</a:t>
            </a:r>
          </a:p>
          <a:p>
            <a:pPr>
              <a:buFont typeface="Wingdings" pitchFamily="2" charset="2"/>
              <a:buNone/>
            </a:pPr>
            <a:endParaRPr lang="en-US" altLang="sv-SE" sz="2000" dirty="0"/>
          </a:p>
          <a:p>
            <a:pPr>
              <a:buFont typeface="Wingdings" pitchFamily="2" charset="2"/>
              <a:buNone/>
            </a:pPr>
            <a:r>
              <a:rPr lang="en-US" altLang="sv-SE" sz="2000" dirty="0"/>
              <a:t>Use-&gt; or &lt;- or =</a:t>
            </a:r>
          </a:p>
          <a:p>
            <a:pPr>
              <a:buFont typeface="Wingdings" pitchFamily="2" charset="2"/>
              <a:buNone/>
            </a:pPr>
            <a:r>
              <a:rPr lang="en-US" altLang="sv-SE" sz="2000" dirty="0">
                <a:latin typeface="Courier New" pitchFamily="49" charset="0"/>
                <a:cs typeface="Courier New" pitchFamily="49" charset="0"/>
              </a:rPr>
              <a:t>a&lt;-3</a:t>
            </a:r>
          </a:p>
          <a:p>
            <a:pPr>
              <a:buFont typeface="Wingdings" pitchFamily="2" charset="2"/>
              <a:buNone/>
            </a:pPr>
            <a:r>
              <a:rPr lang="en-US" altLang="sv-SE" sz="2000" dirty="0">
                <a:latin typeface="Courier New" pitchFamily="49" charset="0"/>
                <a:cs typeface="Courier New" pitchFamily="49" charset="0"/>
              </a:rPr>
              <a:t>a=3</a:t>
            </a:r>
          </a:p>
          <a:p>
            <a:pPr>
              <a:buFont typeface="Wingdings" pitchFamily="2" charset="2"/>
              <a:buNone/>
            </a:pPr>
            <a:r>
              <a:rPr lang="en-US" altLang="sv-SE" sz="2000" dirty="0">
                <a:latin typeface="Courier New" pitchFamily="49" charset="0"/>
                <a:cs typeface="Courier New" pitchFamily="49" charset="0"/>
              </a:rPr>
              <a:t>3-&gt;b</a:t>
            </a:r>
          </a:p>
          <a:p>
            <a:pPr>
              <a:buFont typeface="Wingdings" pitchFamily="2" charset="2"/>
              <a:buNone/>
            </a:pPr>
            <a:endParaRPr lang="en-US" altLang="sv-SE" sz="2000" dirty="0"/>
          </a:p>
          <a:p>
            <a:pPr>
              <a:buFont typeface="Wingdings" pitchFamily="2" charset="2"/>
              <a:buNone/>
            </a:pPr>
            <a:endParaRPr lang="en-US" altLang="sv-SE" sz="2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3556" name="Footer Placeholder 2"/>
          <p:cNvSpPr>
            <a:spLocks noGrp="1"/>
          </p:cNvSpPr>
          <p:nvPr>
            <p:ph type="ftr" sz="quarter" idx="12"/>
          </p:nvPr>
        </p:nvSpPr>
        <p:spPr>
          <a:xfrm>
            <a:off x="1258888" y="6315075"/>
            <a:ext cx="2233612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1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sv-SE" sz="1200"/>
              <a:t>732A99/TDDE01</a:t>
            </a:r>
            <a:endParaRPr lang="sv-SE" altLang="sv-SE" sz="1200"/>
          </a:p>
        </p:txBody>
      </p:sp>
    </p:spTree>
    <p:extLst>
      <p:ext uri="{BB962C8B-B14F-4D97-AF65-F5344CB8AC3E}">
        <p14:creationId xmlns:p14="http://schemas.microsoft.com/office/powerpoint/2010/main" val="436105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v-SE"/>
              <a:t>Vectors</a:t>
            </a:r>
            <a:endParaRPr lang="sv-SE" altLang="sv-SE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99592" y="1772816"/>
            <a:ext cx="7067550" cy="4017962"/>
          </a:xfrm>
        </p:spPr>
        <p:txBody>
          <a:bodyPr/>
          <a:lstStyle/>
          <a:p>
            <a:pPr>
              <a:defRPr/>
            </a:pPr>
            <a:r>
              <a:rPr lang="en-US" sz="2000" dirty="0"/>
              <a:t>Create a vector</a:t>
            </a:r>
          </a:p>
          <a:p>
            <a:pPr marL="457200" lvl="1" indent="0">
              <a:buFont typeface="Wingdings" pitchFamily="2" charset="2"/>
              <a:buNone/>
              <a:defRPr/>
            </a:pPr>
            <a:r>
              <a:rPr lang="en-US" sz="1800" dirty="0"/>
              <a:t>x&lt;-c(1,3)</a:t>
            </a:r>
          </a:p>
          <a:p>
            <a:pPr marL="514350" indent="-457200">
              <a:defRPr/>
            </a:pPr>
            <a:r>
              <a:rPr lang="en-US" sz="2000" dirty="0"/>
              <a:t>See the result</a:t>
            </a:r>
          </a:p>
          <a:p>
            <a:pPr marL="457200" lvl="1" indent="0">
              <a:buFont typeface="Wingdings" pitchFamily="2" charset="2"/>
              <a:buNone/>
              <a:defRPr/>
            </a:pPr>
            <a:r>
              <a:rPr lang="en-US" sz="1800" dirty="0"/>
              <a:t>x</a:t>
            </a:r>
          </a:p>
          <a:p>
            <a:pPr marL="457200" lvl="1" indent="0">
              <a:buFont typeface="Wingdings" pitchFamily="2" charset="2"/>
              <a:buNone/>
              <a:defRPr/>
            </a:pPr>
            <a:r>
              <a:rPr lang="en-US" sz="1800" dirty="0"/>
              <a:t>print(x)</a:t>
            </a:r>
          </a:p>
          <a:p>
            <a:pPr marL="457200" lvl="1" indent="0">
              <a:buFont typeface="Wingdings" pitchFamily="2" charset="2"/>
              <a:buNone/>
              <a:defRPr/>
            </a:pPr>
            <a:endParaRPr lang="en-US" sz="1800" dirty="0"/>
          </a:p>
          <a:p>
            <a:pPr>
              <a:defRPr/>
            </a:pPr>
            <a:r>
              <a:rPr lang="en-US" sz="2200" dirty="0"/>
              <a:t>Create an empty vector</a:t>
            </a:r>
          </a:p>
          <a:p>
            <a:pPr marL="457200" lvl="1" indent="0">
              <a:buNone/>
              <a:defRPr/>
            </a:pPr>
            <a:r>
              <a:rPr lang="en-US" sz="1800" dirty="0"/>
              <a:t>Y=numeric(10)</a:t>
            </a:r>
          </a:p>
          <a:p>
            <a:pPr marL="457200" lvl="1" indent="0">
              <a:buNone/>
              <a:defRPr/>
            </a:pPr>
            <a:r>
              <a:rPr lang="en-US" sz="1800" dirty="0"/>
              <a:t>Y</a:t>
            </a:r>
          </a:p>
        </p:txBody>
      </p:sp>
      <p:sp>
        <p:nvSpPr>
          <p:cNvPr id="24580" name="Footer Placeholder 2"/>
          <p:cNvSpPr>
            <a:spLocks noGrp="1"/>
          </p:cNvSpPr>
          <p:nvPr>
            <p:ph type="ftr" sz="quarter" idx="12"/>
          </p:nvPr>
        </p:nvSpPr>
        <p:spPr>
          <a:xfrm>
            <a:off x="1403350" y="6315075"/>
            <a:ext cx="2447925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1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sv-SE" sz="1200"/>
              <a:t>732A99/TDDE01</a:t>
            </a:r>
            <a:endParaRPr lang="sv-SE" altLang="sv-SE" sz="1200"/>
          </a:p>
        </p:txBody>
      </p:sp>
      <p:pic>
        <p:nvPicPr>
          <p:cNvPr id="24581" name="Picture 4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1988840"/>
            <a:ext cx="1368152" cy="9459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4653136"/>
            <a:ext cx="2647950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089216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v-SE"/>
              <a:t>Sequence</a:t>
            </a:r>
            <a:endParaRPr lang="sv-SE" altLang="sv-SE"/>
          </a:p>
        </p:txBody>
      </p:sp>
      <p:sp>
        <p:nvSpPr>
          <p:cNvPr id="26627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sv-SE"/>
              <a:t>Either‘: ‘ or seq()</a:t>
            </a:r>
          </a:p>
          <a:p>
            <a:endParaRPr lang="sv-SE" altLang="sv-SE"/>
          </a:p>
        </p:txBody>
      </p:sp>
      <p:sp>
        <p:nvSpPr>
          <p:cNvPr id="26628" name="Footer Placeholder 2"/>
          <p:cNvSpPr>
            <a:spLocks noGrp="1"/>
          </p:cNvSpPr>
          <p:nvPr>
            <p:ph type="ftr" sz="quarter" idx="12"/>
          </p:nvPr>
        </p:nvSpPr>
        <p:spPr>
          <a:xfrm>
            <a:off x="1476375" y="6315075"/>
            <a:ext cx="2447925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1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sv-SE" sz="1200"/>
              <a:t>732A99/TDDE01</a:t>
            </a:r>
            <a:endParaRPr lang="sv-SE" altLang="sv-SE" sz="1200"/>
          </a:p>
        </p:txBody>
      </p:sp>
      <p:pic>
        <p:nvPicPr>
          <p:cNvPr id="2662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2420938"/>
            <a:ext cx="6572250" cy="317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61801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sv-SE" sz="1800" dirty="0"/>
              <a:t>indexing</a:t>
            </a:r>
          </a:p>
          <a:p>
            <a:r>
              <a:rPr lang="en-US" altLang="sv-SE" sz="1800" dirty="0"/>
              <a:t>Element-wise: +-*/</a:t>
            </a:r>
            <a:r>
              <a:rPr lang="sv-SE" altLang="sv-SE" sz="1800" dirty="0"/>
              <a:t>^</a:t>
            </a:r>
            <a:endParaRPr lang="en-US" altLang="sv-SE" sz="1800" dirty="0"/>
          </a:p>
          <a:p>
            <a:r>
              <a:rPr lang="en-US" altLang="sv-SE" sz="1800" dirty="0"/>
              <a:t>log </a:t>
            </a:r>
            <a:r>
              <a:rPr lang="en-US" altLang="sv-SE" sz="1800" dirty="0" err="1"/>
              <a:t>exp</a:t>
            </a:r>
            <a:r>
              <a:rPr lang="en-US" altLang="sv-SE" sz="1800" dirty="0"/>
              <a:t> sin cos </a:t>
            </a:r>
          </a:p>
          <a:p>
            <a:r>
              <a:rPr lang="en-US" altLang="sv-SE" sz="1800" dirty="0"/>
              <a:t>length –number of elements</a:t>
            </a:r>
          </a:p>
          <a:p>
            <a:r>
              <a:rPr lang="en-US" altLang="sv-SE" sz="1800" dirty="0"/>
              <a:t>sum - sum of all elements</a:t>
            </a:r>
          </a:p>
          <a:p>
            <a:r>
              <a:rPr lang="en-US" altLang="sv-SE" sz="1800" dirty="0"/>
              <a:t>max min sort order </a:t>
            </a:r>
          </a:p>
          <a:p>
            <a:r>
              <a:rPr lang="en-US" altLang="sv-SE" sz="1800" dirty="0" err="1"/>
              <a:t>which.min</a:t>
            </a:r>
            <a:r>
              <a:rPr lang="en-US" altLang="sv-SE" sz="1800" dirty="0"/>
              <a:t> </a:t>
            </a:r>
            <a:r>
              <a:rPr lang="en-US" altLang="sv-SE" sz="1800" dirty="0" err="1"/>
              <a:t>which.max</a:t>
            </a:r>
            <a:endParaRPr lang="en-US" altLang="sv-SE" sz="1800" dirty="0"/>
          </a:p>
          <a:p>
            <a:pPr>
              <a:buFont typeface="Wingdings" pitchFamily="2" charset="2"/>
              <a:buNone/>
            </a:pPr>
            <a:endParaRPr lang="en-US" altLang="sv-SE" sz="1800" dirty="0"/>
          </a:p>
          <a:p>
            <a:pPr>
              <a:buFont typeface="Wingdings" pitchFamily="2" charset="2"/>
              <a:buNone/>
            </a:pPr>
            <a:r>
              <a:rPr lang="en-US" altLang="sv-SE" sz="1800" dirty="0" err="1">
                <a:solidFill>
                  <a:srgbClr val="0070C0"/>
                </a:solidFill>
              </a:rPr>
              <a:t>Logicals</a:t>
            </a:r>
            <a:r>
              <a:rPr lang="en-US" altLang="sv-SE" sz="1800" dirty="0">
                <a:solidFill>
                  <a:srgbClr val="0070C0"/>
                </a:solidFill>
              </a:rPr>
              <a:t>:</a:t>
            </a:r>
          </a:p>
          <a:p>
            <a:pPr>
              <a:buFont typeface="Wingdings" pitchFamily="2" charset="2"/>
              <a:buNone/>
            </a:pPr>
            <a:r>
              <a:rPr lang="en-US" altLang="sv-SE" sz="1800" dirty="0"/>
              <a:t>TRUE or FALSE:</a:t>
            </a:r>
          </a:p>
          <a:p>
            <a:pPr>
              <a:buFont typeface="Wingdings" pitchFamily="2" charset="2"/>
              <a:buNone/>
            </a:pPr>
            <a:r>
              <a:rPr lang="en-US" altLang="sv-SE" sz="1800" dirty="0">
                <a:latin typeface="Courier New" pitchFamily="49" charset="0"/>
                <a:cs typeface="Courier New" pitchFamily="49" charset="0"/>
              </a:rPr>
              <a:t>A=TRUE;</a:t>
            </a:r>
          </a:p>
          <a:p>
            <a:pPr>
              <a:buFont typeface="Wingdings" pitchFamily="2" charset="2"/>
              <a:buNone/>
            </a:pPr>
            <a:endParaRPr lang="en-US" altLang="sv-SE" sz="1800" dirty="0"/>
          </a:p>
          <a:p>
            <a:pPr>
              <a:buFont typeface="Wingdings" pitchFamily="2" charset="2"/>
              <a:buNone/>
            </a:pPr>
            <a:r>
              <a:rPr lang="sv-SE" altLang="sv-SE" sz="1800"/>
              <a:t>==  &gt;   </a:t>
            </a:r>
            <a:r>
              <a:rPr lang="sv-SE" altLang="sv-SE" sz="1800" dirty="0"/>
              <a:t>&gt;=   &lt;   &lt;=   !=   &amp; (and)</a:t>
            </a:r>
            <a:r>
              <a:rPr lang="en-US" altLang="sv-SE" sz="1800" dirty="0"/>
              <a:t>   | (or)</a:t>
            </a:r>
          </a:p>
          <a:p>
            <a:endParaRPr lang="en-US" altLang="sv-SE" sz="1800" dirty="0"/>
          </a:p>
          <a:p>
            <a:endParaRPr lang="sv-SE" altLang="sv-SE" sz="1800" dirty="0"/>
          </a:p>
        </p:txBody>
      </p:sp>
      <p:sp>
        <p:nvSpPr>
          <p:cNvPr id="25603" name="Footer Placeholder 2"/>
          <p:cNvSpPr>
            <a:spLocks noGrp="1"/>
          </p:cNvSpPr>
          <p:nvPr>
            <p:ph type="ftr" sz="quarter" idx="12"/>
          </p:nvPr>
        </p:nvSpPr>
        <p:spPr>
          <a:xfrm>
            <a:off x="4572000" y="6315075"/>
            <a:ext cx="1235075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1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sv-SE" sz="1200"/>
              <a:t>732A99/TDDE01</a:t>
            </a:r>
            <a:endParaRPr lang="sv-SE" altLang="sv-SE" sz="1200"/>
          </a:p>
        </p:txBody>
      </p:sp>
      <p:sp>
        <p:nvSpPr>
          <p:cNvPr id="2560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sv-SE"/>
              <a:t>Operation with vectors</a:t>
            </a:r>
            <a:endParaRPr lang="sv-SE" altLang="sv-SE"/>
          </a:p>
        </p:txBody>
      </p:sp>
      <p:pic>
        <p:nvPicPr>
          <p:cNvPr id="3891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1590650"/>
            <a:ext cx="2314575" cy="363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5238409"/>
            <a:ext cx="1847850" cy="1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51983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3"/>
          <p:cNvSpPr txBox="1">
            <a:spLocks noChangeArrowheads="1"/>
          </p:cNvSpPr>
          <p:nvPr/>
        </p:nvSpPr>
        <p:spPr bwMode="auto">
          <a:xfrm>
            <a:off x="323528" y="1628775"/>
            <a:ext cx="6335712" cy="3293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1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GB" altLang="sv-SE" sz="1600" dirty="0"/>
              <a:t>Use </a:t>
            </a:r>
            <a:r>
              <a:rPr lang="en-GB" altLang="sv-SE" sz="1600" dirty="0">
                <a:latin typeface="Courier New" pitchFamily="49" charset="0"/>
              </a:rPr>
              <a:t>matrix()</a:t>
            </a:r>
            <a:endParaRPr lang="en-GB" altLang="sv-SE" sz="1600" dirty="0"/>
          </a:p>
          <a:p>
            <a:pPr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GB" altLang="sv-SE" sz="1600" dirty="0"/>
              <a:t>	</a:t>
            </a:r>
            <a:r>
              <a:rPr lang="en-GB" altLang="sv-SE" sz="1600" dirty="0">
                <a:latin typeface="Courier New" pitchFamily="49" charset="0"/>
              </a:rPr>
              <a:t>a&lt;-matrix(</a:t>
            </a:r>
            <a:r>
              <a:rPr lang="en-GB" altLang="sv-SE" sz="1600" i="1" dirty="0" err="1"/>
              <a:t>values</a:t>
            </a:r>
            <a:r>
              <a:rPr lang="en-GB" altLang="sv-SE" sz="1600" dirty="0" err="1">
                <a:latin typeface="Courier New" pitchFamily="49" charset="0"/>
              </a:rPr>
              <a:t>,nrow</a:t>
            </a:r>
            <a:r>
              <a:rPr lang="en-GB" altLang="sv-SE" sz="1600" dirty="0">
                <a:latin typeface="Courier New" pitchFamily="49" charset="0"/>
              </a:rPr>
              <a:t>=</a:t>
            </a:r>
            <a:r>
              <a:rPr lang="en-GB" altLang="sv-SE" sz="1600" i="1" dirty="0" err="1"/>
              <a:t>m</a:t>
            </a:r>
            <a:r>
              <a:rPr lang="en-GB" altLang="sv-SE" sz="1600" dirty="0" err="1">
                <a:latin typeface="Courier New" pitchFamily="49" charset="0"/>
              </a:rPr>
              <a:t>,ncol</a:t>
            </a:r>
            <a:r>
              <a:rPr lang="en-GB" altLang="sv-SE" sz="1600" dirty="0">
                <a:latin typeface="Courier New" pitchFamily="49" charset="0"/>
              </a:rPr>
              <a:t>=</a:t>
            </a:r>
            <a:r>
              <a:rPr lang="en-GB" altLang="sv-SE" sz="1600" i="1" dirty="0"/>
              <a:t>n</a:t>
            </a:r>
            <a:r>
              <a:rPr lang="en-GB" altLang="sv-SE" sz="1600" dirty="0">
                <a:latin typeface="Courier New" pitchFamily="49" charset="0"/>
              </a:rPr>
              <a:t>)</a:t>
            </a:r>
          </a:p>
          <a:p>
            <a:pPr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GB" altLang="sv-SE" sz="1600" i="1" dirty="0"/>
              <a:t>Values should be listed </a:t>
            </a:r>
            <a:r>
              <a:rPr lang="en-GB" altLang="sv-SE" sz="1600" i="1" dirty="0" err="1"/>
              <a:t>columnvise</a:t>
            </a:r>
            <a:endParaRPr lang="en-GB" altLang="sv-SE" sz="1600" i="1" dirty="0"/>
          </a:p>
          <a:p>
            <a:pPr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GB" altLang="sv-SE" sz="1600" dirty="0"/>
              <a:t>	 </a:t>
            </a:r>
            <a:r>
              <a:rPr lang="en-GB" altLang="sv-SE" sz="1600" dirty="0" err="1">
                <a:latin typeface="Courier New" pitchFamily="49" charset="0"/>
              </a:rPr>
              <a:t>nrow</a:t>
            </a:r>
            <a:r>
              <a:rPr lang="en-GB" altLang="sv-SE" sz="1600" dirty="0">
                <a:latin typeface="Courier New" pitchFamily="49" charset="0"/>
              </a:rPr>
              <a:t>=</a:t>
            </a:r>
            <a:r>
              <a:rPr lang="en-GB" altLang="sv-SE" sz="1600" dirty="0"/>
              <a:t> and </a:t>
            </a:r>
            <a:r>
              <a:rPr lang="en-GB" altLang="sv-SE" sz="1600" dirty="0" err="1">
                <a:latin typeface="Courier New" pitchFamily="49" charset="0"/>
              </a:rPr>
              <a:t>ncol</a:t>
            </a:r>
            <a:r>
              <a:rPr lang="en-GB" altLang="sv-SE" sz="1600" dirty="0">
                <a:latin typeface="Courier New" pitchFamily="49" charset="0"/>
              </a:rPr>
              <a:t>=</a:t>
            </a:r>
            <a:r>
              <a:rPr lang="en-GB" altLang="sv-SE" sz="1600" dirty="0"/>
              <a:t> can be skipped</a:t>
            </a:r>
          </a:p>
          <a:p>
            <a:pPr eaLnBrk="1" hangingPunct="1">
              <a:spcBef>
                <a:spcPct val="50000"/>
              </a:spcBef>
              <a:buFont typeface="Wingdings" pitchFamily="2" charset="2"/>
              <a:buNone/>
            </a:pPr>
            <a:endParaRPr lang="en-GB" altLang="sv-SE" sz="1600" dirty="0"/>
          </a:p>
          <a:p>
            <a:pPr eaLnBrk="1" hangingPunct="1">
              <a:spcBef>
                <a:spcPct val="50000"/>
              </a:spcBef>
              <a:buFont typeface="Wingdings" pitchFamily="2" charset="2"/>
              <a:buNone/>
            </a:pPr>
            <a:endParaRPr lang="en-GB" altLang="sv-SE" sz="1600" dirty="0"/>
          </a:p>
          <a:p>
            <a:pPr marL="285750" indent="-285750">
              <a:spcBef>
                <a:spcPct val="50000"/>
              </a:spcBef>
            </a:pPr>
            <a:r>
              <a:rPr lang="en-GB" altLang="sv-SE" sz="1600" dirty="0"/>
              <a:t>Create empty matrix</a:t>
            </a:r>
          </a:p>
          <a:p>
            <a:pPr eaLnBrk="1" hangingPunct="1">
              <a:spcBef>
                <a:spcPct val="50000"/>
              </a:spcBef>
              <a:buFont typeface="Wingdings" pitchFamily="2" charset="2"/>
              <a:buNone/>
            </a:pPr>
            <a:endParaRPr lang="en-GB" altLang="sv-SE" sz="1600" dirty="0"/>
          </a:p>
          <a:p>
            <a:pPr eaLnBrk="1" hangingPunct="1">
              <a:spcBef>
                <a:spcPct val="50000"/>
              </a:spcBef>
              <a:buFont typeface="Wingdings" pitchFamily="2" charset="2"/>
              <a:buNone/>
            </a:pPr>
            <a:endParaRPr lang="en-GB" altLang="sv-SE" sz="1600" dirty="0"/>
          </a:p>
        </p:txBody>
      </p:sp>
      <p:graphicFrame>
        <p:nvGraphicFramePr>
          <p:cNvPr id="2765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078953"/>
              </p:ext>
            </p:extLst>
          </p:nvPr>
        </p:nvGraphicFramePr>
        <p:xfrm>
          <a:off x="5436096" y="1916832"/>
          <a:ext cx="3456261" cy="14955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psbild" r:id="rId2" imgW="3172268" imgH="1371429" progId="PBrush">
                  <p:embed/>
                </p:oleObj>
              </mc:Choice>
              <mc:Fallback>
                <p:oleObj name="Bitmappsbild" r:id="rId2" imgW="3172268" imgH="1371429" progId="PBrush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6096" y="1916832"/>
                        <a:ext cx="3456261" cy="14955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2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1258888" y="6315075"/>
            <a:ext cx="2808287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1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sv-SE" sz="1200"/>
              <a:t>732A99/TDDE01</a:t>
            </a:r>
            <a:endParaRPr lang="sv-SE" altLang="sv-SE" sz="1200"/>
          </a:p>
        </p:txBody>
      </p:sp>
      <p:sp>
        <p:nvSpPr>
          <p:cNvPr id="27653" name="Title 4"/>
          <p:cNvSpPr txBox="1">
            <a:spLocks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1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sv-SE" sz="4400" dirty="0">
                <a:solidFill>
                  <a:schemeClr val="bg1"/>
                </a:solidFill>
              </a:rPr>
              <a:t>Matrices</a:t>
            </a:r>
            <a:endParaRPr lang="sv-SE" altLang="sv-SE" sz="4400" dirty="0">
              <a:solidFill>
                <a:schemeClr val="bg1"/>
              </a:solidFill>
            </a:endParaRPr>
          </a:p>
        </p:txBody>
      </p:sp>
      <p:pic>
        <p:nvPicPr>
          <p:cNvPr id="3789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4509120"/>
            <a:ext cx="28003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01617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Footer Placeholder 2"/>
          <p:cNvSpPr>
            <a:spLocks noGrp="1"/>
          </p:cNvSpPr>
          <p:nvPr>
            <p:ph type="ftr" sz="quarter" idx="12"/>
          </p:nvPr>
        </p:nvSpPr>
        <p:spPr>
          <a:xfrm>
            <a:off x="4572000" y="6315075"/>
            <a:ext cx="1235075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1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sv-SE" altLang="sv-SE" sz="1200"/>
              <a:t>732A99/TDDE01</a:t>
            </a:r>
          </a:p>
        </p:txBody>
      </p:sp>
      <p:sp>
        <p:nvSpPr>
          <p:cNvPr id="28675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altLang="sv-SE"/>
              <a:t>Matrix operations</a:t>
            </a:r>
          </a:p>
        </p:txBody>
      </p:sp>
      <p:pic>
        <p:nvPicPr>
          <p:cNvPr id="2867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772816"/>
            <a:ext cx="4058320" cy="36877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148064" y="1916832"/>
            <a:ext cx="34563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err="1"/>
              <a:t>Usual</a:t>
            </a:r>
            <a:r>
              <a:rPr lang="sv-SE" dirty="0"/>
              <a:t> </a:t>
            </a:r>
            <a:r>
              <a:rPr lang="sv-SE" dirty="0" err="1"/>
              <a:t>vector</a:t>
            </a:r>
            <a:r>
              <a:rPr lang="sv-SE" dirty="0"/>
              <a:t> operations </a:t>
            </a:r>
            <a:r>
              <a:rPr lang="sv-SE" dirty="0" err="1"/>
              <a:t>can</a:t>
            </a:r>
            <a:r>
              <a:rPr lang="sv-SE" dirty="0"/>
              <a:t> </a:t>
            </a:r>
            <a:r>
              <a:rPr lang="sv-SE" dirty="0" err="1"/>
              <a:t>also</a:t>
            </a:r>
            <a:r>
              <a:rPr lang="sv-SE" dirty="0"/>
              <a:t> be </a:t>
            </a:r>
            <a:r>
              <a:rPr lang="sv-SE" dirty="0" err="1"/>
              <a:t>applied</a:t>
            </a:r>
            <a:r>
              <a:rPr lang="sv-SE" dirty="0"/>
              <a:t>:</a:t>
            </a:r>
          </a:p>
        </p:txBody>
      </p:sp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5380" y="3068960"/>
            <a:ext cx="31051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08015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50000"/>
              </a:spcBef>
            </a:pPr>
            <a:r>
              <a:rPr lang="en-GB" altLang="sv-SE" sz="2400" dirty="0"/>
              <a:t>Matrix operators/functions:</a:t>
            </a:r>
          </a:p>
          <a:p>
            <a:pPr>
              <a:spcBef>
                <a:spcPct val="50000"/>
              </a:spcBef>
            </a:pPr>
            <a:r>
              <a:rPr lang="en-GB" altLang="sv-SE" sz="2400" dirty="0"/>
              <a:t>transpose	</a:t>
            </a:r>
            <a:r>
              <a:rPr lang="en-GB" altLang="sv-SE" sz="2400" dirty="0">
                <a:latin typeface="Courier New" pitchFamily="49" charset="0"/>
              </a:rPr>
              <a:t>b=t(a)</a:t>
            </a: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en-GB" altLang="sv-SE" sz="2400" dirty="0">
                <a:latin typeface="Courier New" pitchFamily="49" charset="0"/>
              </a:rPr>
              <a:t>	</a:t>
            </a:r>
            <a:r>
              <a:rPr lang="en-GB" altLang="sv-SE" sz="2400" i="1" dirty="0"/>
              <a:t>b</a:t>
            </a:r>
            <a:r>
              <a:rPr lang="en-GB" altLang="sv-SE" sz="2400" dirty="0"/>
              <a:t> = </a:t>
            </a:r>
            <a:r>
              <a:rPr lang="en-GB" altLang="sv-SE" sz="2400" i="1" dirty="0" err="1"/>
              <a:t>a</a:t>
            </a:r>
            <a:r>
              <a:rPr lang="en-GB" altLang="sv-SE" sz="2400" baseline="30000" dirty="0" err="1"/>
              <a:t>T</a:t>
            </a:r>
            <a:endParaRPr lang="en-GB" altLang="sv-SE" sz="2400" dirty="0">
              <a:latin typeface="Courier New" pitchFamily="49" charset="0"/>
            </a:endParaRPr>
          </a:p>
          <a:p>
            <a:pPr>
              <a:spcBef>
                <a:spcPct val="50000"/>
              </a:spcBef>
            </a:pPr>
            <a:r>
              <a:rPr lang="en-GB" altLang="sv-SE" sz="2400" dirty="0"/>
              <a:t>Inverse </a:t>
            </a:r>
            <a:r>
              <a:rPr lang="en-GB" altLang="sv-SE" sz="2400" i="1" dirty="0"/>
              <a:t>b</a:t>
            </a:r>
            <a:r>
              <a:rPr lang="en-GB" altLang="sv-SE" sz="2400" dirty="0"/>
              <a:t> = </a:t>
            </a:r>
            <a:r>
              <a:rPr lang="en-GB" altLang="sv-SE" sz="2400" i="1" dirty="0"/>
              <a:t>a</a:t>
            </a:r>
            <a:r>
              <a:rPr lang="en-GB" altLang="sv-SE" sz="2400" baseline="30000" dirty="0"/>
              <a:t>-1</a:t>
            </a:r>
            <a:endParaRPr lang="sv-SE" altLang="sv-SE" sz="2400" dirty="0"/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en-GB" altLang="sv-SE" sz="2400" dirty="0"/>
              <a:t>		</a:t>
            </a:r>
            <a:r>
              <a:rPr lang="en-GB" altLang="sv-SE" sz="2400" dirty="0">
                <a:latin typeface="Courier New" pitchFamily="49" charset="0"/>
              </a:rPr>
              <a:t>b=solve(a)</a:t>
            </a:r>
            <a:r>
              <a:rPr lang="en-GB" altLang="sv-SE" sz="2400" dirty="0"/>
              <a:t>	</a:t>
            </a:r>
          </a:p>
          <a:p>
            <a:pPr>
              <a:spcBef>
                <a:spcPct val="50000"/>
              </a:spcBef>
            </a:pPr>
            <a:r>
              <a:rPr lang="sv-SE" altLang="sv-SE" sz="2400" dirty="0" err="1"/>
              <a:t>Solve</a:t>
            </a:r>
            <a:r>
              <a:rPr lang="sv-SE" altLang="sv-SE" sz="2400" i="1" dirty="0"/>
              <a:t> d=</a:t>
            </a:r>
            <a:r>
              <a:rPr lang="en-GB" altLang="sv-SE" sz="2400" i="1" dirty="0"/>
              <a:t>a</a:t>
            </a:r>
            <a:r>
              <a:rPr lang="en-GB" altLang="sv-SE" sz="2400" baseline="30000" dirty="0"/>
              <a:t>-1</a:t>
            </a:r>
            <a:r>
              <a:rPr lang="en-GB" altLang="sv-SE" sz="2400" dirty="0"/>
              <a:t>b</a:t>
            </a:r>
          </a:p>
          <a:p>
            <a:pPr marL="0" indent="0">
              <a:spcBef>
                <a:spcPct val="50000"/>
              </a:spcBef>
              <a:buNone/>
            </a:pPr>
            <a:r>
              <a:rPr lang="en-GB" altLang="sv-SE" sz="2400" dirty="0"/>
              <a:t>	</a:t>
            </a:r>
            <a:r>
              <a:rPr lang="en-GB" altLang="sv-SE" sz="2400" dirty="0">
                <a:latin typeface="Courier New" pitchFamily="49" charset="0"/>
              </a:rPr>
              <a:t>d=solve(</a:t>
            </a:r>
            <a:r>
              <a:rPr lang="en-GB" altLang="sv-SE" sz="2400" dirty="0" err="1">
                <a:latin typeface="Courier New" pitchFamily="49" charset="0"/>
              </a:rPr>
              <a:t>a,b</a:t>
            </a:r>
            <a:r>
              <a:rPr lang="en-GB" altLang="sv-SE" sz="2400" dirty="0">
                <a:latin typeface="Courier New" pitchFamily="49" charset="0"/>
              </a:rPr>
              <a:t>)</a:t>
            </a:r>
            <a:r>
              <a:rPr lang="en-GB" altLang="sv-SE" sz="2400" dirty="0"/>
              <a:t>	</a:t>
            </a:r>
          </a:p>
          <a:p>
            <a:pPr>
              <a:spcBef>
                <a:spcPct val="50000"/>
              </a:spcBef>
            </a:pPr>
            <a:endParaRPr lang="sv-SE" altLang="sv-SE" sz="2400" dirty="0"/>
          </a:p>
          <a:p>
            <a:pPr>
              <a:spcBef>
                <a:spcPct val="50000"/>
              </a:spcBef>
            </a:pPr>
            <a:endParaRPr lang="sv-SE" altLang="sv-SE" sz="2400" dirty="0"/>
          </a:p>
          <a:p>
            <a:pPr>
              <a:spcBef>
                <a:spcPct val="50000"/>
              </a:spcBef>
            </a:pPr>
            <a:endParaRPr lang="en-GB" altLang="sv-SE" sz="2400" dirty="0"/>
          </a:p>
        </p:txBody>
      </p:sp>
      <p:sp>
        <p:nvSpPr>
          <p:cNvPr id="29699" name="Footer Placeholder 2"/>
          <p:cNvSpPr>
            <a:spLocks noGrp="1"/>
          </p:cNvSpPr>
          <p:nvPr>
            <p:ph type="ftr" sz="quarter" idx="12"/>
          </p:nvPr>
        </p:nvSpPr>
        <p:spPr>
          <a:xfrm>
            <a:off x="4572000" y="6315075"/>
            <a:ext cx="1235075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1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sv-SE" altLang="sv-SE" sz="1200"/>
              <a:t>732A99/TDDE01</a:t>
            </a:r>
          </a:p>
        </p:txBody>
      </p:sp>
      <p:sp>
        <p:nvSpPr>
          <p:cNvPr id="29700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altLang="sv-SE"/>
              <a:t>Matrix operations</a:t>
            </a:r>
          </a:p>
        </p:txBody>
      </p:sp>
      <p:pic>
        <p:nvPicPr>
          <p:cNvPr id="2970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2030256"/>
            <a:ext cx="3995936" cy="3457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23967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altLang="sv-SE" dirty="0" err="1"/>
              <a:t>Indexing</a:t>
            </a:r>
            <a:r>
              <a:rPr lang="sv-SE" altLang="sv-SE" dirty="0"/>
              <a:t> for </a:t>
            </a:r>
            <a:r>
              <a:rPr lang="sv-SE" altLang="sv-SE" dirty="0" err="1"/>
              <a:t>matrices</a:t>
            </a:r>
            <a:endParaRPr lang="sv-SE" altLang="sv-SE" dirty="0"/>
          </a:p>
        </p:txBody>
      </p:sp>
      <p:sp>
        <p:nvSpPr>
          <p:cNvPr id="25603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sv-SE" sz="2000" dirty="0"/>
              <a:t>Positive index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sv-SE" sz="2000" dirty="0">
                <a:latin typeface="Courier New" pitchFamily="49" charset="0"/>
                <a:cs typeface="Courier New" pitchFamily="49" charset="0"/>
              </a:rPr>
              <a:t>x[1,6]     x[2:10,]</a:t>
            </a:r>
          </a:p>
          <a:p>
            <a:pPr>
              <a:defRPr/>
            </a:pPr>
            <a:endParaRPr lang="en-US" altLang="sv-SE" sz="2000" dirty="0"/>
          </a:p>
          <a:p>
            <a:pPr>
              <a:defRPr/>
            </a:pPr>
            <a:r>
              <a:rPr lang="en-US" altLang="sv-SE" sz="2000" dirty="0"/>
              <a:t>Negative index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sv-SE" sz="2000" dirty="0">
                <a:latin typeface="Courier New" pitchFamily="49" charset="0"/>
                <a:cs typeface="Courier New" pitchFamily="49" charset="0"/>
              </a:rPr>
              <a:t>x[2,-(1:5)]   </a:t>
            </a:r>
            <a:r>
              <a:rPr lang="en-US" altLang="sv-SE" sz="2000" dirty="0"/>
              <a:t>row 2 and all columns except 1:5</a:t>
            </a:r>
          </a:p>
          <a:p>
            <a:pPr>
              <a:buFont typeface="Wingdings" pitchFamily="2" charset="2"/>
              <a:buNone/>
              <a:defRPr/>
            </a:pPr>
            <a:endParaRPr lang="en-US" altLang="sv-SE" sz="2000" dirty="0"/>
          </a:p>
          <a:p>
            <a:pPr>
              <a:defRPr/>
            </a:pPr>
            <a:r>
              <a:rPr lang="en-US" altLang="sv-SE" sz="2000" dirty="0"/>
              <a:t>Entire column or row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sv-SE" sz="2000" dirty="0">
                <a:latin typeface="Courier New" pitchFamily="49" charset="0"/>
                <a:cs typeface="Courier New" pitchFamily="49" charset="0"/>
              </a:rPr>
              <a:t>y=x[2,]  entire row </a:t>
            </a:r>
            <a:r>
              <a:rPr lang="en-US" altLang="sv-SE" sz="2000" dirty="0"/>
              <a:t>2</a:t>
            </a:r>
          </a:p>
          <a:p>
            <a:pPr>
              <a:defRPr/>
            </a:pPr>
            <a:endParaRPr lang="en-US" altLang="sv-SE" sz="2000" dirty="0"/>
          </a:p>
          <a:p>
            <a:pPr>
              <a:defRPr/>
            </a:pPr>
            <a:r>
              <a:rPr lang="en-US" altLang="sv-SE" sz="2000" dirty="0"/>
              <a:t>Extraction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sv-SE" sz="2000" dirty="0">
                <a:latin typeface="Courier New" pitchFamily="49" charset="0"/>
                <a:cs typeface="Courier New" pitchFamily="49" charset="0"/>
              </a:rPr>
              <a:t>x[x&gt;5]</a:t>
            </a:r>
            <a:endParaRPr lang="en-US" altLang="sv-SE" sz="2000" dirty="0"/>
          </a:p>
          <a:p>
            <a:pPr>
              <a:buFont typeface="Wingdings" pitchFamily="2" charset="2"/>
              <a:buNone/>
              <a:defRPr/>
            </a:pPr>
            <a:endParaRPr lang="en-US" altLang="sv-SE" sz="2000" dirty="0"/>
          </a:p>
        </p:txBody>
      </p:sp>
      <p:sp>
        <p:nvSpPr>
          <p:cNvPr id="30724" name="Footer Placeholder 2"/>
          <p:cNvSpPr>
            <a:spLocks noGrp="1"/>
          </p:cNvSpPr>
          <p:nvPr>
            <p:ph type="ftr" sz="quarter" idx="12"/>
          </p:nvPr>
        </p:nvSpPr>
        <p:spPr>
          <a:xfrm>
            <a:off x="4572000" y="6315075"/>
            <a:ext cx="1235075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1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sv-SE" sz="1200"/>
              <a:t>732A99/TDDE01</a:t>
            </a:r>
            <a:endParaRPr lang="sv-SE" altLang="sv-SE" sz="1200"/>
          </a:p>
        </p:txBody>
      </p:sp>
      <p:pic>
        <p:nvPicPr>
          <p:cNvPr id="3993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4869160"/>
            <a:ext cx="216217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408692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Replication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sz="2400" dirty="0" err="1"/>
              <a:t>Replication</a:t>
            </a:r>
            <a:r>
              <a:rPr lang="sv-SE" sz="2400" dirty="0"/>
              <a:t> for </a:t>
            </a:r>
            <a:r>
              <a:rPr lang="sv-SE" sz="2400" dirty="0" err="1"/>
              <a:t>vectors</a:t>
            </a:r>
            <a:endParaRPr lang="sv-SE" sz="2400" dirty="0"/>
          </a:p>
          <a:p>
            <a:pPr lvl="1"/>
            <a:r>
              <a:rPr lang="sv-SE" sz="2000" dirty="0"/>
              <a:t>rep(</a:t>
            </a:r>
            <a:r>
              <a:rPr lang="sv-SE" sz="2000" dirty="0" err="1"/>
              <a:t>what</a:t>
            </a:r>
            <a:r>
              <a:rPr lang="sv-SE" sz="2000" dirty="0"/>
              <a:t>, </a:t>
            </a:r>
            <a:r>
              <a:rPr lang="sv-SE" sz="2000" dirty="0" err="1"/>
              <a:t>times</a:t>
            </a:r>
            <a:r>
              <a:rPr lang="sv-SE" sz="2000" dirty="0"/>
              <a:t>)</a:t>
            </a:r>
          </a:p>
          <a:p>
            <a:pPr lvl="1"/>
            <a:endParaRPr lang="sv-SE" sz="2000" dirty="0"/>
          </a:p>
          <a:p>
            <a:r>
              <a:rPr lang="sv-SE" sz="2400" dirty="0" err="1"/>
              <a:t>Replication</a:t>
            </a:r>
            <a:r>
              <a:rPr lang="sv-SE" sz="2400" dirty="0"/>
              <a:t> for </a:t>
            </a:r>
            <a:r>
              <a:rPr lang="sv-SE" sz="2400" dirty="0" err="1"/>
              <a:t>matrices</a:t>
            </a:r>
            <a:endParaRPr lang="sv-SE" sz="2400" dirty="0"/>
          </a:p>
          <a:p>
            <a:pPr lvl="1"/>
            <a:r>
              <a:rPr lang="sv-SE" sz="2000" dirty="0"/>
              <a:t>matrix()</a:t>
            </a:r>
          </a:p>
          <a:p>
            <a:endParaRPr lang="sv-SE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3" y="1916832"/>
            <a:ext cx="3971925" cy="420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896251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Matrix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482952" cy="4525963"/>
          </a:xfrm>
        </p:spPr>
        <p:txBody>
          <a:bodyPr>
            <a:normAutofit fontScale="92500" lnSpcReduction="20000"/>
          </a:bodyPr>
          <a:lstStyle/>
          <a:p>
            <a:r>
              <a:rPr lang="sv-SE" sz="2400" dirty="0"/>
              <a:t>Dimension</a:t>
            </a:r>
          </a:p>
          <a:p>
            <a:pPr lvl="1"/>
            <a:r>
              <a:rPr lang="sv-SE" sz="2000" dirty="0" err="1"/>
              <a:t>dim</a:t>
            </a:r>
            <a:r>
              <a:rPr lang="sv-SE" sz="2000" dirty="0"/>
              <a:t>(mat)</a:t>
            </a:r>
          </a:p>
          <a:p>
            <a:r>
              <a:rPr lang="sv-SE" sz="2400" dirty="0" err="1"/>
              <a:t>Row</a:t>
            </a:r>
            <a:r>
              <a:rPr lang="sv-SE" sz="2400" dirty="0"/>
              <a:t>/</a:t>
            </a:r>
            <a:r>
              <a:rPr lang="sv-SE" sz="2400" dirty="0" err="1"/>
              <a:t>column</a:t>
            </a:r>
            <a:r>
              <a:rPr lang="sv-SE" sz="2400" dirty="0"/>
              <a:t> </a:t>
            </a:r>
            <a:r>
              <a:rPr lang="sv-SE" sz="2400" dirty="0" err="1"/>
              <a:t>stististics</a:t>
            </a:r>
            <a:endParaRPr lang="sv-SE" sz="2400" dirty="0"/>
          </a:p>
          <a:p>
            <a:pPr lvl="1"/>
            <a:r>
              <a:rPr lang="sv-SE" sz="2000" dirty="0" err="1"/>
              <a:t>colMeans</a:t>
            </a:r>
            <a:r>
              <a:rPr lang="sv-SE" sz="2000" dirty="0"/>
              <a:t>, </a:t>
            </a:r>
            <a:r>
              <a:rPr lang="sv-SE" sz="2000" dirty="0" err="1"/>
              <a:t>rowMeans</a:t>
            </a:r>
            <a:r>
              <a:rPr lang="sv-SE" sz="2000" dirty="0"/>
              <a:t>, </a:t>
            </a:r>
            <a:r>
              <a:rPr lang="sv-SE" sz="2000" dirty="0" err="1"/>
              <a:t>colSums,rowSums</a:t>
            </a:r>
            <a:endParaRPr lang="sv-SE" sz="2000" dirty="0"/>
          </a:p>
          <a:p>
            <a:pPr lvl="1"/>
            <a:endParaRPr lang="sv-SE" sz="2000" dirty="0"/>
          </a:p>
          <a:p>
            <a:pPr lvl="1"/>
            <a:endParaRPr lang="sv-SE" sz="2000" dirty="0"/>
          </a:p>
          <a:p>
            <a:pPr lvl="1"/>
            <a:endParaRPr lang="sv-SE" sz="2000" dirty="0"/>
          </a:p>
          <a:p>
            <a:pPr lvl="1"/>
            <a:endParaRPr lang="sv-SE" sz="2000" dirty="0"/>
          </a:p>
          <a:p>
            <a:pPr lvl="1"/>
            <a:endParaRPr lang="sv-SE" sz="2000" dirty="0"/>
          </a:p>
          <a:p>
            <a:pPr lvl="1"/>
            <a:endParaRPr lang="sv-SE" sz="2000" dirty="0"/>
          </a:p>
          <a:p>
            <a:r>
              <a:rPr lang="sv-SE" sz="2400" dirty="0" err="1"/>
              <a:t>Apply</a:t>
            </a:r>
            <a:r>
              <a:rPr lang="sv-SE" sz="2400" dirty="0"/>
              <a:t> a </a:t>
            </a:r>
            <a:r>
              <a:rPr lang="sv-SE" sz="2400" dirty="0" err="1"/>
              <a:t>function</a:t>
            </a:r>
            <a:r>
              <a:rPr lang="sv-SE" sz="2400" dirty="0"/>
              <a:t> over </a:t>
            </a:r>
            <a:r>
              <a:rPr lang="sv-SE" sz="2400" dirty="0" err="1"/>
              <a:t>vector</a:t>
            </a:r>
            <a:r>
              <a:rPr lang="sv-SE" sz="2400" dirty="0"/>
              <a:t>/matrix</a:t>
            </a:r>
          </a:p>
          <a:p>
            <a:pPr lvl="1"/>
            <a:r>
              <a:rPr lang="sv-SE" sz="2000" dirty="0" err="1"/>
              <a:t>Sapply</a:t>
            </a:r>
            <a:r>
              <a:rPr lang="sv-SE" sz="2000" dirty="0"/>
              <a:t>()</a:t>
            </a:r>
          </a:p>
          <a:p>
            <a:pPr lvl="1"/>
            <a:r>
              <a:rPr lang="sv-SE" sz="2000" dirty="0" err="1"/>
              <a:t>Normally</a:t>
            </a:r>
            <a:r>
              <a:rPr lang="sv-SE" sz="2000" dirty="0"/>
              <a:t> </a:t>
            </a:r>
            <a:r>
              <a:rPr lang="sv-SE" sz="2000" dirty="0" err="1"/>
              <a:t>used</a:t>
            </a:r>
            <a:r>
              <a:rPr lang="sv-SE" sz="2000" dirty="0"/>
              <a:t> </a:t>
            </a:r>
            <a:r>
              <a:rPr lang="sv-SE" sz="2000" dirty="0" err="1"/>
              <a:t>when</a:t>
            </a:r>
            <a:r>
              <a:rPr lang="sv-SE" sz="2000" dirty="0"/>
              <a:t> </a:t>
            </a:r>
            <a:r>
              <a:rPr lang="sv-SE" sz="2000" dirty="0" err="1"/>
              <a:t>function</a:t>
            </a:r>
            <a:r>
              <a:rPr lang="sv-SE" sz="2000" dirty="0"/>
              <a:t> </a:t>
            </a:r>
            <a:r>
              <a:rPr lang="sv-SE" sz="2000" dirty="0" err="1"/>
              <a:t>works</a:t>
            </a:r>
            <a:r>
              <a:rPr lang="sv-SE" sz="2000" dirty="0"/>
              <a:t> </a:t>
            </a:r>
            <a:r>
              <a:rPr lang="sv-SE" sz="2000" dirty="0" err="1"/>
              <a:t>only</a:t>
            </a:r>
            <a:r>
              <a:rPr lang="sv-SE" sz="2000" dirty="0"/>
              <a:t> element-</a:t>
            </a:r>
            <a:r>
              <a:rPr lang="sv-SE" sz="2000" dirty="0" err="1"/>
              <a:t>wise</a:t>
            </a:r>
            <a:endParaRPr lang="sv-SE" sz="2000" dirty="0"/>
          </a:p>
          <a:p>
            <a:pPr marL="0" indent="0">
              <a:buNone/>
            </a:pPr>
            <a:endParaRPr lang="sv-SE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1819275"/>
            <a:ext cx="1857375" cy="160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8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2852936"/>
            <a:ext cx="3240360" cy="1771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8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5518016"/>
            <a:ext cx="3384376" cy="663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284555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Vector</a:t>
            </a:r>
            <a:r>
              <a:rPr lang="sv-SE" dirty="0"/>
              <a:t>/matrix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sz="2400" dirty="0" err="1"/>
              <a:t>Create</a:t>
            </a:r>
            <a:r>
              <a:rPr lang="sv-SE" sz="2400" dirty="0"/>
              <a:t> </a:t>
            </a:r>
            <a:r>
              <a:rPr lang="sv-SE" sz="2400" dirty="0" err="1"/>
              <a:t>confusion</a:t>
            </a:r>
            <a:r>
              <a:rPr lang="sv-SE" sz="2400" dirty="0"/>
              <a:t> matrix (</a:t>
            </a:r>
            <a:r>
              <a:rPr lang="sv-SE" sz="2400" dirty="0" err="1"/>
              <a:t>classification</a:t>
            </a:r>
            <a:r>
              <a:rPr lang="sv-SE" sz="2400" dirty="0"/>
              <a:t>)</a:t>
            </a:r>
          </a:p>
          <a:p>
            <a:pPr lvl="1"/>
            <a:r>
              <a:rPr lang="sv-SE" sz="2000" dirty="0"/>
              <a:t>table(X,Y)</a:t>
            </a:r>
          </a:p>
          <a:p>
            <a:pPr lvl="1"/>
            <a:endParaRPr lang="sv-SE" sz="2000" dirty="0"/>
          </a:p>
          <a:p>
            <a:r>
              <a:rPr lang="sv-SE" sz="2400" dirty="0" err="1"/>
              <a:t>Extract</a:t>
            </a:r>
            <a:r>
              <a:rPr lang="sv-SE" sz="2400" dirty="0"/>
              <a:t> diagonal</a:t>
            </a:r>
          </a:p>
          <a:p>
            <a:pPr lvl="1"/>
            <a:r>
              <a:rPr lang="sv-SE" sz="2000" dirty="0" err="1"/>
              <a:t>Diag</a:t>
            </a:r>
            <a:r>
              <a:rPr lang="sv-SE" sz="2000" dirty="0"/>
              <a:t>(X)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pic>
        <p:nvPicPr>
          <p:cNvPr id="4301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2708920"/>
            <a:ext cx="3552825" cy="279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06447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Factors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/>
              <a:t>Text </a:t>
            </a:r>
            <a:r>
              <a:rPr lang="sv-SE" dirty="0" err="1"/>
              <a:t>values</a:t>
            </a:r>
            <a:r>
              <a:rPr lang="sv-SE" dirty="0"/>
              <a:t> </a:t>
            </a:r>
          </a:p>
          <a:p>
            <a:endParaRPr lang="sv-S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913" y="2636912"/>
            <a:ext cx="6915150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604564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ontent Placeholder 1"/>
          <p:cNvSpPr>
            <a:spLocks noGrp="1"/>
          </p:cNvSpPr>
          <p:nvPr>
            <p:ph idx="1"/>
          </p:nvPr>
        </p:nvSpPr>
        <p:spPr>
          <a:xfrm>
            <a:off x="1762125" y="1778000"/>
            <a:ext cx="6994525" cy="4430713"/>
          </a:xfrm>
        </p:spPr>
        <p:txBody>
          <a:bodyPr/>
          <a:lstStyle/>
          <a:p>
            <a:r>
              <a:rPr lang="sv-SE" altLang="sv-SE"/>
              <a:t>List is a collection of objects</a:t>
            </a:r>
          </a:p>
          <a:p>
            <a:endParaRPr lang="sv-SE" altLang="sv-SE"/>
          </a:p>
        </p:txBody>
      </p:sp>
      <p:sp>
        <p:nvSpPr>
          <p:cNvPr id="31747" name="Footer Placeholder 2"/>
          <p:cNvSpPr>
            <a:spLocks noGrp="1"/>
          </p:cNvSpPr>
          <p:nvPr>
            <p:ph type="ftr" sz="quarter" idx="12"/>
          </p:nvPr>
        </p:nvSpPr>
        <p:spPr>
          <a:xfrm>
            <a:off x="4572000" y="6315075"/>
            <a:ext cx="1235075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1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sv-SE" sz="1200"/>
              <a:t>732A99/TDDE01</a:t>
            </a:r>
            <a:endParaRPr lang="sv-SE" altLang="sv-SE" sz="1200"/>
          </a:p>
        </p:txBody>
      </p:sp>
      <p:sp>
        <p:nvSpPr>
          <p:cNvPr id="31748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altLang="sv-SE"/>
              <a:t>Lists</a:t>
            </a:r>
          </a:p>
        </p:txBody>
      </p:sp>
      <p:pic>
        <p:nvPicPr>
          <p:cNvPr id="3174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2420938"/>
            <a:ext cx="4000500" cy="380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5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788" y="2757488"/>
            <a:ext cx="1571625" cy="966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86689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1835150" y="1700213"/>
            <a:ext cx="7019925" cy="18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1pPr>
            <a:lvl2pPr marL="800100" indent="-34290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1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GB" altLang="sv-SE" dirty="0"/>
              <a:t>Vectors and matrices of the row length can be collected into a data frame</a:t>
            </a:r>
          </a:p>
          <a:p>
            <a:pPr lvl="1" eaLnBrk="1" hangingPunct="1">
              <a:spcBef>
                <a:spcPct val="50000"/>
              </a:spcBef>
              <a:buClr>
                <a:schemeClr val="accent1"/>
              </a:buClr>
              <a:buSzPct val="65000"/>
              <a:buFont typeface="Arial" charset="0"/>
              <a:buChar char="•"/>
            </a:pPr>
            <a:r>
              <a:rPr lang="en-GB" altLang="sv-SE" sz="2000" dirty="0"/>
              <a:t>Used to store the data of different types into a single table</a:t>
            </a:r>
          </a:p>
          <a:p>
            <a:pPr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GB" altLang="sv-SE" sz="1600" dirty="0"/>
              <a:t>Use </a:t>
            </a:r>
            <a:r>
              <a:rPr lang="en-GB" altLang="sv-SE" sz="1600" dirty="0" err="1">
                <a:latin typeface="Courier New" pitchFamily="49" charset="0"/>
              </a:rPr>
              <a:t>data.frame</a:t>
            </a:r>
            <a:r>
              <a:rPr lang="en-GB" altLang="sv-SE" sz="1600" dirty="0">
                <a:latin typeface="Courier New" pitchFamily="49" charset="0"/>
              </a:rPr>
              <a:t>(</a:t>
            </a:r>
            <a:r>
              <a:rPr lang="en-GB" altLang="sv-SE" sz="1600" i="1" dirty="0"/>
              <a:t>object 1</a:t>
            </a:r>
            <a:r>
              <a:rPr lang="en-GB" altLang="sv-SE" sz="1600" dirty="0"/>
              <a:t>, </a:t>
            </a:r>
            <a:r>
              <a:rPr lang="en-GB" altLang="sv-SE" sz="1600" i="1" dirty="0"/>
              <a:t>object 2</a:t>
            </a:r>
            <a:r>
              <a:rPr lang="en-GB" altLang="sv-SE" sz="1600" dirty="0"/>
              <a:t>, … , </a:t>
            </a:r>
            <a:r>
              <a:rPr lang="en-GB" altLang="sv-SE" sz="1600" i="1" dirty="0"/>
              <a:t>object k</a:t>
            </a:r>
            <a:r>
              <a:rPr lang="en-GB" altLang="sv-SE" sz="1600" dirty="0">
                <a:latin typeface="Courier New" pitchFamily="49" charset="0"/>
              </a:rPr>
              <a:t>)</a:t>
            </a:r>
            <a:endParaRPr lang="en-GB" altLang="sv-SE" sz="1600" dirty="0"/>
          </a:p>
        </p:txBody>
      </p:sp>
      <p:sp>
        <p:nvSpPr>
          <p:cNvPr id="32771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1187450" y="6315075"/>
            <a:ext cx="2232025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1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sv-SE" sz="1200"/>
              <a:t>732A99/TDDE01</a:t>
            </a:r>
            <a:endParaRPr lang="sv-SE" altLang="sv-SE" sz="1200"/>
          </a:p>
        </p:txBody>
      </p:sp>
      <p:sp>
        <p:nvSpPr>
          <p:cNvPr id="32772" name="Title 3"/>
          <p:cNvSpPr txBox="1">
            <a:spLocks/>
          </p:cNvSpPr>
          <p:nvPr/>
        </p:nvSpPr>
        <p:spPr bwMode="auto">
          <a:xfrm>
            <a:off x="455613" y="404813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1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sv-SE" altLang="sv-SE" sz="4400" dirty="0">
                <a:solidFill>
                  <a:schemeClr val="bg1"/>
                </a:solidFill>
              </a:rPr>
              <a:t>Data </a:t>
            </a:r>
            <a:r>
              <a:rPr lang="sv-SE" altLang="sv-SE" sz="4400" dirty="0" err="1">
                <a:solidFill>
                  <a:schemeClr val="bg1"/>
                </a:solidFill>
              </a:rPr>
              <a:t>frame</a:t>
            </a:r>
            <a:endParaRPr lang="sv-SE" altLang="sv-SE" sz="4400" dirty="0">
              <a:solidFill>
                <a:schemeClr val="bg1"/>
              </a:solidFill>
            </a:endParaRPr>
          </a:p>
        </p:txBody>
      </p:sp>
      <p:pic>
        <p:nvPicPr>
          <p:cNvPr id="32773" name="Picture 2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275" y="4221163"/>
            <a:ext cx="2554288" cy="1598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833145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2124075" y="1844675"/>
            <a:ext cx="5472113" cy="354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buChar char="n"/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buClr>
                <a:schemeClr val="accent2"/>
              </a:buClr>
              <a:buSzPct val="60000"/>
              <a:buChar char="q"/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buChar char="n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buClr>
                <a:schemeClr val="accent2"/>
              </a:buClr>
              <a:buSzPct val="70000"/>
              <a:buChar char="q"/>
              <a:defRPr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buSzPct val="75000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285750" indent="-285750" eaLnBrk="1" hangingPunct="1">
              <a:spcBef>
                <a:spcPct val="5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/>
            </a:pPr>
            <a:r>
              <a:rPr lang="en-GB" altLang="sv-SE" sz="1600" dirty="0"/>
              <a:t>Any column in the data frame can be retrieved by</a:t>
            </a:r>
          </a:p>
          <a:p>
            <a:pPr eaLnBrk="1" hangingPunct="1">
              <a:spcBef>
                <a:spcPct val="5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en-GB" altLang="sv-SE" sz="1600" dirty="0"/>
              <a:t>	</a:t>
            </a:r>
            <a:r>
              <a:rPr lang="en-GB" altLang="sv-SE" sz="1600" i="1" dirty="0" err="1"/>
              <a:t>dataframe</a:t>
            </a:r>
            <a:r>
              <a:rPr lang="en-GB" altLang="sv-SE" sz="1600" dirty="0" err="1">
                <a:latin typeface="Courier New" pitchFamily="49" charset="0"/>
              </a:rPr>
              <a:t>$</a:t>
            </a:r>
            <a:r>
              <a:rPr lang="en-GB" altLang="sv-SE" sz="1600" i="1" dirty="0" err="1"/>
              <a:t>object</a:t>
            </a:r>
            <a:endParaRPr lang="en-GB" altLang="sv-SE" sz="1600" i="1" dirty="0"/>
          </a:p>
          <a:p>
            <a:pPr eaLnBrk="1" hangingPunct="1">
              <a:spcBef>
                <a:spcPct val="5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endParaRPr lang="en-GB" altLang="sv-SE" sz="1600" i="1" dirty="0"/>
          </a:p>
          <a:p>
            <a:pPr eaLnBrk="1" hangingPunct="1">
              <a:spcBef>
                <a:spcPct val="5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endParaRPr lang="en-GB" altLang="sv-SE" sz="1600" i="1" dirty="0"/>
          </a:p>
          <a:p>
            <a:pPr eaLnBrk="1" hangingPunct="1">
              <a:spcBef>
                <a:spcPct val="5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endParaRPr lang="en-GB" altLang="sv-SE" sz="1600" i="1" dirty="0"/>
          </a:p>
          <a:p>
            <a:pPr eaLnBrk="1" hangingPunct="1">
              <a:spcBef>
                <a:spcPct val="5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endParaRPr lang="en-GB" altLang="sv-SE" sz="1600" i="1" dirty="0"/>
          </a:p>
          <a:p>
            <a:pPr eaLnBrk="1" hangingPunct="1">
              <a:spcBef>
                <a:spcPct val="5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endParaRPr lang="en-GB" altLang="sv-SE" sz="1600" i="1" dirty="0"/>
          </a:p>
          <a:p>
            <a:pPr eaLnBrk="1" hangingPunct="1">
              <a:spcBef>
                <a:spcPct val="5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endParaRPr lang="en-GB" altLang="sv-SE" sz="1600" i="1" dirty="0"/>
          </a:p>
          <a:p>
            <a:pPr marL="285750" indent="-285750" eaLnBrk="1" hangingPunct="1">
              <a:spcBef>
                <a:spcPct val="5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/>
            </a:pPr>
            <a:r>
              <a:rPr lang="en-GB" altLang="sv-SE" sz="1600" dirty="0"/>
              <a:t>Any row in the data frame can be extracted by using matrix notation, for ex: </a:t>
            </a:r>
            <a:r>
              <a:rPr lang="en-GB" altLang="sv-SE" sz="1600" b="1" dirty="0"/>
              <a:t>z[1,]</a:t>
            </a:r>
          </a:p>
        </p:txBody>
      </p:sp>
      <p:sp>
        <p:nvSpPr>
          <p:cNvPr id="33795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1403350" y="6315075"/>
            <a:ext cx="2232025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1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sv-SE" sz="1200"/>
              <a:t>732A99/TDDE01</a:t>
            </a:r>
            <a:endParaRPr lang="sv-SE" altLang="sv-SE" sz="1200"/>
          </a:p>
        </p:txBody>
      </p:sp>
      <p:sp>
        <p:nvSpPr>
          <p:cNvPr id="33796" name="Title 3"/>
          <p:cNvSpPr txBox="1">
            <a:spLocks/>
          </p:cNvSpPr>
          <p:nvPr/>
        </p:nvSpPr>
        <p:spPr bwMode="auto">
          <a:xfrm>
            <a:off x="455613" y="404813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1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sv-SE" altLang="sv-SE" sz="4400" dirty="0">
                <a:solidFill>
                  <a:schemeClr val="bg1"/>
                </a:solidFill>
              </a:rPr>
              <a:t>Data</a:t>
            </a:r>
            <a:r>
              <a:rPr lang="sv-SE" altLang="sv-SE" sz="4400" dirty="0">
                <a:solidFill>
                  <a:srgbClr val="0070C0"/>
                </a:solidFill>
              </a:rPr>
              <a:t> </a:t>
            </a:r>
            <a:r>
              <a:rPr lang="sv-SE" altLang="sv-SE" sz="4400" dirty="0" err="1">
                <a:solidFill>
                  <a:schemeClr val="bg1"/>
                </a:solidFill>
              </a:rPr>
              <a:t>frame</a:t>
            </a:r>
            <a:endParaRPr lang="sv-SE" altLang="sv-SE" sz="4400" dirty="0">
              <a:solidFill>
                <a:schemeClr val="bg1"/>
              </a:solidFill>
            </a:endParaRPr>
          </a:p>
        </p:txBody>
      </p:sp>
      <p:pic>
        <p:nvPicPr>
          <p:cNvPr id="33797" name="Picture 2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575" y="2552700"/>
            <a:ext cx="2030413" cy="1703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657455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altLang="sv-SE"/>
              <a:t>Read data from Excel file</a:t>
            </a:r>
          </a:p>
        </p:txBody>
      </p:sp>
      <p:sp>
        <p:nvSpPr>
          <p:cNvPr id="34819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66738" indent="-457200">
              <a:buFont typeface="Arial" charset="0"/>
              <a:buAutoNum type="arabicPeriod"/>
            </a:pPr>
            <a:r>
              <a:rPr lang="sv-SE" altLang="sv-SE" sz="2000" dirty="0"/>
              <a:t>Save as ”</a:t>
            </a:r>
            <a:r>
              <a:rPr lang="sv-SE" altLang="sv-SE" sz="2000" dirty="0" err="1"/>
              <a:t>comma</a:t>
            </a:r>
            <a:r>
              <a:rPr lang="sv-SE" altLang="sv-SE" sz="2000" dirty="0"/>
              <a:t>-separated </a:t>
            </a:r>
            <a:r>
              <a:rPr lang="sv-SE" altLang="sv-SE" sz="2000" dirty="0" err="1"/>
              <a:t>file</a:t>
            </a:r>
            <a:r>
              <a:rPr lang="sv-SE" altLang="sv-SE" sz="2000" dirty="0"/>
              <a:t>”(</a:t>
            </a:r>
            <a:r>
              <a:rPr lang="sv-SE" altLang="sv-SE" sz="2000" dirty="0" err="1"/>
              <a:t>csv</a:t>
            </a:r>
            <a:r>
              <a:rPr lang="sv-SE" altLang="sv-SE" sz="2000" dirty="0"/>
              <a:t>)</a:t>
            </a:r>
          </a:p>
          <a:p>
            <a:pPr marL="566738" indent="-457200">
              <a:buFont typeface="Arial" charset="0"/>
              <a:buAutoNum type="arabicPeriod"/>
            </a:pPr>
            <a:r>
              <a:rPr lang="sv-SE" altLang="sv-SE" sz="2000" dirty="0"/>
              <a:t>Change </a:t>
            </a:r>
            <a:r>
              <a:rPr lang="sv-SE" altLang="sv-SE" sz="2000" dirty="0" err="1"/>
              <a:t>current</a:t>
            </a:r>
            <a:r>
              <a:rPr lang="sv-SE" altLang="sv-SE" sz="2000" dirty="0"/>
              <a:t> directory, Session</a:t>
            </a:r>
            <a:r>
              <a:rPr lang="sv-SE" altLang="sv-SE" sz="2000" dirty="0">
                <a:sym typeface="Wingdings" pitchFamily="2" charset="2"/>
              </a:rPr>
              <a:t> Set </a:t>
            </a:r>
            <a:r>
              <a:rPr lang="sv-SE" altLang="sv-SE" sz="2000" dirty="0" err="1">
                <a:sym typeface="Wingdings" pitchFamily="2" charset="2"/>
              </a:rPr>
              <a:t>Working</a:t>
            </a:r>
            <a:r>
              <a:rPr lang="sv-SE" altLang="sv-SE" sz="2000" dirty="0">
                <a:sym typeface="Wingdings" pitchFamily="2" charset="2"/>
              </a:rPr>
              <a:t> Directory or </a:t>
            </a:r>
            <a:r>
              <a:rPr lang="sv-SE" altLang="sv-SE" sz="2000" dirty="0" err="1">
                <a:sym typeface="Wingdings" pitchFamily="2" charset="2"/>
              </a:rPr>
              <a:t>setwd</a:t>
            </a:r>
            <a:r>
              <a:rPr lang="sv-SE" altLang="sv-SE" sz="2000" dirty="0">
                <a:sym typeface="Wingdings" pitchFamily="2" charset="2"/>
              </a:rPr>
              <a:t>()</a:t>
            </a:r>
            <a:endParaRPr lang="sv-SE" altLang="sv-SE" sz="2000" dirty="0"/>
          </a:p>
          <a:p>
            <a:pPr marL="566738" indent="-457200">
              <a:buFont typeface="Arial" charset="0"/>
              <a:buAutoNum type="arabicPeriod"/>
            </a:pPr>
            <a:r>
              <a:rPr lang="sv-SE" altLang="sv-SE" sz="2000" dirty="0" err="1"/>
              <a:t>Use</a:t>
            </a:r>
            <a:endParaRPr lang="sv-SE" altLang="sv-SE" sz="2000" dirty="0"/>
          </a:p>
          <a:p>
            <a:pPr marL="566738" indent="-457200">
              <a:buFont typeface="Wingdings" pitchFamily="2" charset="2"/>
              <a:buNone/>
            </a:pPr>
            <a:endParaRPr lang="sv-SE" altLang="sv-SE" sz="2000" dirty="0"/>
          </a:p>
          <a:p>
            <a:pPr marL="566738" indent="-457200">
              <a:buFont typeface="Wingdings" pitchFamily="2" charset="2"/>
              <a:buNone/>
            </a:pPr>
            <a:r>
              <a:rPr lang="en-US" altLang="sv-SE" sz="2000" i="1" dirty="0" err="1">
                <a:latin typeface="Courier New" pitchFamily="49" charset="0"/>
                <a:cs typeface="Courier New" pitchFamily="49" charset="0"/>
              </a:rPr>
              <a:t>Dataframe</a:t>
            </a:r>
            <a:r>
              <a:rPr lang="en-US" altLang="sv-SE" sz="2000" i="1" dirty="0">
                <a:latin typeface="Courier New" pitchFamily="49" charset="0"/>
                <a:cs typeface="Courier New" pitchFamily="49" charset="0"/>
              </a:rPr>
              <a:t>=read.csv2(</a:t>
            </a:r>
            <a:r>
              <a:rPr lang="en-US" altLang="sv-SE" sz="2000" i="1" dirty="0" err="1">
                <a:latin typeface="Courier New" pitchFamily="49" charset="0"/>
                <a:cs typeface="Courier New" pitchFamily="49" charset="0"/>
              </a:rPr>
              <a:t>file_name</a:t>
            </a:r>
            <a:r>
              <a:rPr lang="en-US" altLang="sv-SE" sz="2000" i="1" dirty="0">
                <a:latin typeface="Courier New" pitchFamily="49" charset="0"/>
                <a:cs typeface="Courier New" pitchFamily="49" charset="0"/>
              </a:rPr>
              <a:t>)</a:t>
            </a:r>
            <a:r>
              <a:rPr lang="en-US" altLang="sv-SE" sz="2000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566738" indent="-457200">
              <a:buFont typeface="Wingdings" pitchFamily="2" charset="2"/>
              <a:buNone/>
            </a:pPr>
            <a:endParaRPr lang="sv-SE" altLang="sv-SE" sz="1800" dirty="0"/>
          </a:p>
          <a:p>
            <a:pPr marL="566738" indent="-457200">
              <a:buFont typeface="Wingdings" pitchFamily="2" charset="2"/>
              <a:buNone/>
            </a:pPr>
            <a:endParaRPr lang="sv-SE" altLang="sv-SE" sz="1800" dirty="0">
              <a:latin typeface="Courier New" pitchFamily="49" charset="0"/>
              <a:cs typeface="Courier New" pitchFamily="49" charset="0"/>
            </a:endParaRPr>
          </a:p>
          <a:p>
            <a:pPr marL="566738" indent="-457200">
              <a:buNone/>
            </a:pPr>
            <a:r>
              <a:rPr lang="en-US" altLang="sv-SE" sz="2000" i="1" dirty="0" err="1">
                <a:latin typeface="Courier New" pitchFamily="49" charset="0"/>
                <a:cs typeface="Courier New" pitchFamily="49" charset="0"/>
              </a:rPr>
              <a:t>Dataframe</a:t>
            </a:r>
            <a:r>
              <a:rPr lang="en-US" altLang="sv-SE" sz="2000" i="1" dirty="0">
                <a:latin typeface="Courier New" pitchFamily="49" charset="0"/>
                <a:cs typeface="Courier New" pitchFamily="49" charset="0"/>
              </a:rPr>
              <a:t>=read.csv(</a:t>
            </a:r>
            <a:r>
              <a:rPr lang="en-US" altLang="sv-SE" sz="2000" i="1" dirty="0" err="1">
                <a:latin typeface="Courier New" pitchFamily="49" charset="0"/>
                <a:cs typeface="Courier New" pitchFamily="49" charset="0"/>
              </a:rPr>
              <a:t>file_name</a:t>
            </a:r>
            <a:r>
              <a:rPr lang="en-US" altLang="sv-SE" sz="2000" i="1" dirty="0">
                <a:latin typeface="Courier New" pitchFamily="49" charset="0"/>
                <a:cs typeface="Courier New" pitchFamily="49" charset="0"/>
              </a:rPr>
              <a:t>)</a:t>
            </a:r>
            <a:r>
              <a:rPr lang="en-US" altLang="sv-SE" sz="2000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566738" indent="-457200">
              <a:buFont typeface="Wingdings" pitchFamily="2" charset="2"/>
              <a:buNone/>
            </a:pPr>
            <a:endParaRPr lang="en-US" altLang="sv-SE" sz="2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4820" name="Footer Placeholder 2"/>
          <p:cNvSpPr>
            <a:spLocks noGrp="1"/>
          </p:cNvSpPr>
          <p:nvPr>
            <p:ph type="ftr" sz="quarter" idx="12"/>
          </p:nvPr>
        </p:nvSpPr>
        <p:spPr>
          <a:xfrm>
            <a:off x="1187450" y="6315075"/>
            <a:ext cx="230505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1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sv-SE" sz="1200"/>
              <a:t>732A99/TDDE01</a:t>
            </a:r>
            <a:endParaRPr lang="sv-SE" altLang="sv-SE" sz="1200"/>
          </a:p>
        </p:txBody>
      </p:sp>
    </p:spTree>
    <p:extLst>
      <p:ext uri="{BB962C8B-B14F-4D97-AF65-F5344CB8AC3E}">
        <p14:creationId xmlns:p14="http://schemas.microsoft.com/office/powerpoint/2010/main" val="32306224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Conversion</a:t>
            </a:r>
            <a:r>
              <a:rPr lang="sv-SE" dirty="0"/>
              <a:t> </a:t>
            </a:r>
            <a:r>
              <a:rPr lang="sv-SE" dirty="0" err="1"/>
              <a:t>between</a:t>
            </a:r>
            <a:r>
              <a:rPr lang="sv-SE" dirty="0"/>
              <a:t> </a:t>
            </a:r>
            <a:r>
              <a:rPr lang="sv-SE" dirty="0" err="1"/>
              <a:t>types</a:t>
            </a:r>
            <a:endParaRPr lang="sv-SE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sz="1800" dirty="0"/>
              <a:t>Data </a:t>
            </a:r>
            <a:r>
              <a:rPr lang="sv-SE" sz="1800" dirty="0" err="1"/>
              <a:t>frame</a:t>
            </a:r>
            <a:r>
              <a:rPr lang="sv-SE" sz="1800" dirty="0"/>
              <a:t> </a:t>
            </a:r>
            <a:r>
              <a:rPr lang="sv-SE" sz="1800" dirty="0" err="1"/>
              <a:t>to</a:t>
            </a:r>
            <a:r>
              <a:rPr lang="sv-SE" sz="1800" dirty="0"/>
              <a:t> matrix</a:t>
            </a:r>
          </a:p>
          <a:p>
            <a:r>
              <a:rPr lang="sv-SE" sz="1800" dirty="0"/>
              <a:t>Matrix </a:t>
            </a:r>
            <a:r>
              <a:rPr lang="sv-SE" sz="1800" dirty="0" err="1"/>
              <a:t>to</a:t>
            </a:r>
            <a:r>
              <a:rPr lang="sv-SE" sz="1800" dirty="0"/>
              <a:t> data </a:t>
            </a:r>
            <a:r>
              <a:rPr lang="sv-SE" sz="1800" dirty="0" err="1"/>
              <a:t>frame</a:t>
            </a:r>
            <a:endParaRPr lang="sv-SE" sz="1800" dirty="0"/>
          </a:p>
          <a:p>
            <a:r>
              <a:rPr lang="sv-SE" sz="1800" dirty="0" err="1"/>
              <a:t>Numeric</a:t>
            </a:r>
            <a:r>
              <a:rPr lang="sv-SE" sz="1800" dirty="0"/>
              <a:t> </a:t>
            </a:r>
            <a:r>
              <a:rPr lang="sv-SE" sz="1800" dirty="0" err="1"/>
              <a:t>to</a:t>
            </a:r>
            <a:r>
              <a:rPr lang="sv-SE" sz="1800" dirty="0"/>
              <a:t> </a:t>
            </a:r>
            <a:r>
              <a:rPr lang="sv-SE" sz="1800" dirty="0" err="1"/>
              <a:t>factor</a:t>
            </a:r>
            <a:endParaRPr lang="sv-SE" sz="1800" dirty="0"/>
          </a:p>
          <a:p>
            <a:r>
              <a:rPr lang="sv-SE" sz="1800" dirty="0" err="1"/>
              <a:t>Factor</a:t>
            </a:r>
            <a:r>
              <a:rPr lang="sv-SE" sz="1800" dirty="0"/>
              <a:t> </a:t>
            </a:r>
            <a:r>
              <a:rPr lang="sv-SE" sz="1800" dirty="0" err="1"/>
              <a:t>to</a:t>
            </a:r>
            <a:r>
              <a:rPr lang="sv-SE" sz="1800" dirty="0"/>
              <a:t> </a:t>
            </a:r>
            <a:r>
              <a:rPr lang="sv-SE" sz="1800" dirty="0" err="1"/>
              <a:t>numeric</a:t>
            </a:r>
            <a:endParaRPr lang="sv-SE" sz="1800" dirty="0"/>
          </a:p>
          <a:p>
            <a:r>
              <a:rPr lang="sv-SE" sz="1800" dirty="0"/>
              <a:t>List </a:t>
            </a:r>
            <a:r>
              <a:rPr lang="sv-SE" sz="1800" dirty="0" err="1"/>
              <a:t>to</a:t>
            </a:r>
            <a:r>
              <a:rPr lang="sv-SE" sz="1800" dirty="0"/>
              <a:t> </a:t>
            </a:r>
            <a:r>
              <a:rPr lang="sv-SE" sz="1800" dirty="0" err="1"/>
              <a:t>vector</a:t>
            </a:r>
            <a:endParaRPr lang="sv-SE" sz="1800" dirty="0"/>
          </a:p>
          <a:p>
            <a:r>
              <a:rPr lang="sv-SE" sz="1800" dirty="0" err="1"/>
              <a:t>Vector</a:t>
            </a:r>
            <a:r>
              <a:rPr lang="sv-SE" sz="1800" dirty="0"/>
              <a:t> </a:t>
            </a:r>
            <a:r>
              <a:rPr lang="sv-SE" sz="1800" dirty="0" err="1"/>
              <a:t>to</a:t>
            </a:r>
            <a:r>
              <a:rPr lang="sv-SE" sz="1800" dirty="0"/>
              <a:t> list</a:t>
            </a:r>
          </a:p>
          <a:p>
            <a:endParaRPr lang="sv-SE" sz="18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3645024"/>
            <a:ext cx="4200525" cy="276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1708423"/>
            <a:ext cx="3046350" cy="4698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322618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sv-SE" altLang="sv-SE" sz="2000" dirty="0">
                <a:latin typeface="Courier New" pitchFamily="49" charset="0"/>
                <a:cs typeface="Courier New" pitchFamily="49" charset="0"/>
              </a:rPr>
              <a:t>for (</a:t>
            </a:r>
            <a:r>
              <a:rPr lang="sv-SE" altLang="sv-SE" sz="2000" i="1" dirty="0" err="1">
                <a:latin typeface="Courier New" pitchFamily="49" charset="0"/>
                <a:cs typeface="Courier New" pitchFamily="49" charset="0"/>
              </a:rPr>
              <a:t>name</a:t>
            </a:r>
            <a:r>
              <a:rPr lang="sv-SE" altLang="sv-SE" sz="2000" dirty="0">
                <a:latin typeface="Courier New" pitchFamily="49" charset="0"/>
                <a:cs typeface="Courier New" pitchFamily="49" charset="0"/>
              </a:rPr>
              <a:t>  in </a:t>
            </a:r>
            <a:r>
              <a:rPr lang="sv-SE" altLang="sv-SE" sz="2000" i="1" dirty="0">
                <a:latin typeface="Courier New" pitchFamily="49" charset="0"/>
                <a:cs typeface="Courier New" pitchFamily="49" charset="0"/>
              </a:rPr>
              <a:t>expr1 </a:t>
            </a:r>
            <a:r>
              <a:rPr lang="sv-SE" altLang="sv-SE" sz="2000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Font typeface="Wingdings" pitchFamily="2" charset="2"/>
              <a:buNone/>
            </a:pPr>
            <a:r>
              <a:rPr lang="sv-SE" altLang="sv-SE" sz="20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Font typeface="Wingdings" pitchFamily="2" charset="2"/>
              <a:buNone/>
            </a:pPr>
            <a:r>
              <a:rPr lang="sv-SE" altLang="sv-SE" sz="20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pPr>
              <a:buFont typeface="Wingdings" pitchFamily="2" charset="2"/>
              <a:buNone/>
            </a:pPr>
            <a:r>
              <a:rPr lang="sv-SE" altLang="sv-SE" sz="20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Font typeface="Wingdings" pitchFamily="2" charset="2"/>
              <a:buNone/>
            </a:pPr>
            <a:endParaRPr lang="sv-SE" altLang="sv-SE" sz="2000" dirty="0"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sv-SE" altLang="sv-SE" sz="2000" dirty="0" err="1">
                <a:latin typeface="Courier New" pitchFamily="49" charset="0"/>
                <a:cs typeface="Courier New" pitchFamily="49" charset="0"/>
              </a:rPr>
              <a:t>while</a:t>
            </a:r>
            <a:r>
              <a:rPr lang="sv-SE" altLang="sv-SE" sz="2000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sv-SE" altLang="sv-SE" sz="2000" i="1" dirty="0" err="1">
                <a:latin typeface="Courier New" pitchFamily="49" charset="0"/>
                <a:cs typeface="Courier New" pitchFamily="49" charset="0"/>
              </a:rPr>
              <a:t>condition</a:t>
            </a:r>
            <a:r>
              <a:rPr lang="sv-SE" altLang="sv-SE" sz="2000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Font typeface="Wingdings" pitchFamily="2" charset="2"/>
              <a:buNone/>
            </a:pPr>
            <a:r>
              <a:rPr lang="sv-SE" altLang="sv-SE" sz="20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Font typeface="Wingdings" pitchFamily="2" charset="2"/>
              <a:buNone/>
            </a:pPr>
            <a:r>
              <a:rPr lang="sv-SE" altLang="sv-SE" sz="2000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pPr>
              <a:buFont typeface="Wingdings" pitchFamily="2" charset="2"/>
              <a:buNone/>
            </a:pPr>
            <a:r>
              <a:rPr lang="sv-SE" altLang="sv-SE" sz="20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endParaRPr lang="sv-SE" altLang="sv-SE" sz="2000" dirty="0"/>
          </a:p>
        </p:txBody>
      </p:sp>
      <p:sp>
        <p:nvSpPr>
          <p:cNvPr id="36867" name="Footer Placeholder 2"/>
          <p:cNvSpPr>
            <a:spLocks noGrp="1"/>
          </p:cNvSpPr>
          <p:nvPr>
            <p:ph type="ftr" sz="quarter" idx="12"/>
          </p:nvPr>
        </p:nvSpPr>
        <p:spPr>
          <a:xfrm>
            <a:off x="1547813" y="6315075"/>
            <a:ext cx="2376487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1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sv-SE" sz="1200"/>
              <a:t>732A99/TDDE01</a:t>
            </a:r>
            <a:endParaRPr lang="sv-SE" altLang="sv-SE" sz="1200"/>
          </a:p>
        </p:txBody>
      </p:sp>
      <p:sp>
        <p:nvSpPr>
          <p:cNvPr id="36868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altLang="sv-SE"/>
              <a:t>Loops</a:t>
            </a:r>
          </a:p>
        </p:txBody>
      </p:sp>
      <p:pic>
        <p:nvPicPr>
          <p:cNvPr id="3686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2780928"/>
            <a:ext cx="2782887" cy="235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99489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altLang="sv-SE"/>
              <a:t>Conditioning and loops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>
              <a:buFont typeface="Wingdings" pitchFamily="2" charset="2"/>
              <a:buNone/>
              <a:defRPr/>
            </a:pPr>
            <a:r>
              <a:rPr lang="sv-SE" dirty="0" err="1"/>
              <a:t>If</a:t>
            </a:r>
            <a:r>
              <a:rPr lang="sv-SE" dirty="0"/>
              <a:t> (x==3) {</a:t>
            </a:r>
          </a:p>
          <a:p>
            <a:pPr>
              <a:buFont typeface="Wingdings" pitchFamily="2" charset="2"/>
              <a:buNone/>
              <a:defRPr/>
            </a:pPr>
            <a:r>
              <a:rPr lang="sv-SE" dirty="0"/>
              <a:t>…</a:t>
            </a:r>
          </a:p>
          <a:p>
            <a:pPr>
              <a:buFont typeface="Wingdings" pitchFamily="2" charset="2"/>
              <a:buNone/>
              <a:defRPr/>
            </a:pPr>
            <a:r>
              <a:rPr lang="sv-SE" dirty="0"/>
              <a:t>…</a:t>
            </a:r>
          </a:p>
          <a:p>
            <a:pPr>
              <a:buFont typeface="Wingdings" pitchFamily="2" charset="2"/>
              <a:buNone/>
              <a:defRPr/>
            </a:pPr>
            <a:r>
              <a:rPr lang="sv-SE" dirty="0"/>
              <a:t>} </a:t>
            </a:r>
            <a:r>
              <a:rPr lang="sv-SE" dirty="0" err="1"/>
              <a:t>else</a:t>
            </a:r>
            <a:r>
              <a:rPr lang="sv-SE" dirty="0"/>
              <a:t> {</a:t>
            </a:r>
          </a:p>
          <a:p>
            <a:pPr>
              <a:buFont typeface="Wingdings" pitchFamily="2" charset="2"/>
              <a:buNone/>
              <a:defRPr/>
            </a:pPr>
            <a:r>
              <a:rPr lang="sv-SE" dirty="0"/>
              <a:t>…</a:t>
            </a:r>
          </a:p>
          <a:p>
            <a:pPr>
              <a:buFont typeface="Wingdings" pitchFamily="2" charset="2"/>
              <a:buNone/>
              <a:defRPr/>
            </a:pPr>
            <a:r>
              <a:rPr lang="sv-SE" dirty="0"/>
              <a:t>}</a:t>
            </a:r>
          </a:p>
          <a:p>
            <a:pPr>
              <a:buFont typeface="Wingdings" pitchFamily="2" charset="2"/>
              <a:buNone/>
              <a:defRPr/>
            </a:pPr>
            <a:endParaRPr lang="sv-SE" dirty="0"/>
          </a:p>
          <a:p>
            <a:pPr>
              <a:buFont typeface="Wingdings" pitchFamily="2" charset="2"/>
              <a:buNone/>
              <a:defRPr/>
            </a:pPr>
            <a:endParaRPr lang="sv-SE" dirty="0"/>
          </a:p>
          <a:p>
            <a:pPr>
              <a:buFont typeface="Wingdings" pitchFamily="2" charset="2"/>
              <a:buNone/>
              <a:defRPr/>
            </a:pPr>
            <a:endParaRPr lang="sv-SE" dirty="0"/>
          </a:p>
          <a:p>
            <a:pPr>
              <a:buFont typeface="Wingdings" pitchFamily="2" charset="2"/>
              <a:buNone/>
              <a:defRPr/>
            </a:pPr>
            <a:r>
              <a:rPr lang="sv-SE" dirty="0"/>
              <a:t>for (i in 2:99) {</a:t>
            </a:r>
          </a:p>
          <a:p>
            <a:pPr>
              <a:buFont typeface="Wingdings" pitchFamily="2" charset="2"/>
              <a:buNone/>
              <a:defRPr/>
            </a:pPr>
            <a:r>
              <a:rPr lang="sv-SE" dirty="0"/>
              <a:t>…</a:t>
            </a:r>
          </a:p>
          <a:p>
            <a:pPr>
              <a:buFont typeface="Wingdings" pitchFamily="2" charset="2"/>
              <a:buNone/>
              <a:defRPr/>
            </a:pPr>
            <a:r>
              <a:rPr lang="sv-SE" dirty="0"/>
              <a:t>}</a:t>
            </a:r>
          </a:p>
          <a:p>
            <a:pPr>
              <a:buFont typeface="Wingdings" pitchFamily="2" charset="2"/>
              <a:buNone/>
              <a:defRPr/>
            </a:pPr>
            <a:endParaRPr lang="sv-SE" dirty="0"/>
          </a:p>
          <a:p>
            <a:pPr>
              <a:buFont typeface="Wingdings" pitchFamily="2" charset="2"/>
              <a:buNone/>
              <a:defRPr/>
            </a:pPr>
            <a:endParaRPr lang="sv-SE" dirty="0"/>
          </a:p>
          <a:p>
            <a:pPr>
              <a:buFont typeface="Wingdings" pitchFamily="2" charset="2"/>
              <a:buNone/>
              <a:defRPr/>
            </a:pPr>
            <a:endParaRPr lang="sv-SE" dirty="0"/>
          </a:p>
          <a:p>
            <a:pPr>
              <a:buFont typeface="Wingdings" pitchFamily="2" charset="2"/>
              <a:buNone/>
              <a:defRPr/>
            </a:pPr>
            <a:r>
              <a:rPr lang="sv-SE" dirty="0" err="1"/>
              <a:t>while</a:t>
            </a:r>
            <a:r>
              <a:rPr lang="sv-SE" dirty="0"/>
              <a:t>(x!=29) {</a:t>
            </a:r>
          </a:p>
          <a:p>
            <a:pPr>
              <a:buFont typeface="Wingdings" pitchFamily="2" charset="2"/>
              <a:buNone/>
              <a:defRPr/>
            </a:pPr>
            <a:r>
              <a:rPr lang="sv-SE" dirty="0"/>
              <a:t>…</a:t>
            </a:r>
          </a:p>
          <a:p>
            <a:pPr>
              <a:buFont typeface="Wingdings" pitchFamily="2" charset="2"/>
              <a:buNone/>
              <a:defRPr/>
            </a:pPr>
            <a:r>
              <a:rPr lang="sv-SE" dirty="0"/>
              <a:t>}</a:t>
            </a:r>
          </a:p>
        </p:txBody>
      </p:sp>
      <p:sp>
        <p:nvSpPr>
          <p:cNvPr id="35844" name="Footer Placeholder 2"/>
          <p:cNvSpPr>
            <a:spLocks noGrp="1"/>
          </p:cNvSpPr>
          <p:nvPr>
            <p:ph type="ftr" sz="quarter" idx="12"/>
          </p:nvPr>
        </p:nvSpPr>
        <p:spPr>
          <a:xfrm>
            <a:off x="1331913" y="6315075"/>
            <a:ext cx="2447925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1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sv-SE" sz="1200"/>
              <a:t>732A99/TDDE01</a:t>
            </a:r>
            <a:endParaRPr lang="sv-SE" altLang="sv-SE" sz="1200"/>
          </a:p>
        </p:txBody>
      </p:sp>
      <p:pic>
        <p:nvPicPr>
          <p:cNvPr id="4710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2636912"/>
            <a:ext cx="3248025" cy="219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674477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Random </a:t>
            </a:r>
            <a:r>
              <a:rPr lang="sv-SE" dirty="0" err="1"/>
              <a:t>number</a:t>
            </a:r>
            <a:r>
              <a:rPr lang="sv-SE" dirty="0"/>
              <a:t>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2962672" cy="4525963"/>
          </a:xfrm>
        </p:spPr>
        <p:txBody>
          <a:bodyPr>
            <a:normAutofit lnSpcReduction="10000"/>
          </a:bodyPr>
          <a:lstStyle/>
          <a:p>
            <a:r>
              <a:rPr lang="sv-SE" sz="2000" dirty="0"/>
              <a:t>Random </a:t>
            </a:r>
            <a:r>
              <a:rPr lang="sv-SE" sz="2000" dirty="0" err="1"/>
              <a:t>are</a:t>
            </a:r>
            <a:r>
              <a:rPr lang="sv-SE" sz="2000" dirty="0"/>
              <a:t> not random</a:t>
            </a:r>
          </a:p>
          <a:p>
            <a:pPr lvl="1"/>
            <a:r>
              <a:rPr lang="sv-SE" sz="1800" dirty="0" err="1"/>
              <a:t>Use</a:t>
            </a:r>
            <a:r>
              <a:rPr lang="sv-SE" sz="1800" dirty="0"/>
              <a:t> </a:t>
            </a:r>
            <a:r>
              <a:rPr lang="sv-SE" sz="1800" dirty="0" err="1"/>
              <a:t>set.seed</a:t>
            </a:r>
            <a:r>
              <a:rPr lang="sv-SE" sz="1800" dirty="0"/>
              <a:t>(12345) </a:t>
            </a:r>
            <a:r>
              <a:rPr lang="sv-SE" sz="1800" dirty="0" err="1"/>
              <a:t>to</a:t>
            </a:r>
            <a:r>
              <a:rPr lang="sv-SE" sz="1800" dirty="0"/>
              <a:t> get </a:t>
            </a:r>
            <a:r>
              <a:rPr lang="sv-SE" sz="1800" dirty="0" err="1"/>
              <a:t>identical</a:t>
            </a:r>
            <a:r>
              <a:rPr lang="sv-SE" sz="1800" dirty="0"/>
              <a:t> </a:t>
            </a:r>
            <a:r>
              <a:rPr lang="sv-SE" sz="1800" dirty="0" err="1"/>
              <a:t>results</a:t>
            </a:r>
            <a:endParaRPr lang="sv-SE" sz="1800" dirty="0"/>
          </a:p>
          <a:p>
            <a:r>
              <a:rPr lang="sv-SE" sz="2000" dirty="0"/>
              <a:t>A </a:t>
            </a:r>
            <a:r>
              <a:rPr lang="sv-SE" sz="2000" dirty="0" err="1"/>
              <a:t>plenty</a:t>
            </a:r>
            <a:r>
              <a:rPr lang="sv-SE" sz="2000" dirty="0"/>
              <a:t> </a:t>
            </a:r>
            <a:r>
              <a:rPr lang="sv-SE" sz="2000" dirty="0" err="1"/>
              <a:t>of</a:t>
            </a:r>
            <a:r>
              <a:rPr lang="sv-SE" sz="2000" dirty="0"/>
              <a:t> random </a:t>
            </a:r>
            <a:r>
              <a:rPr lang="sv-SE" sz="2000" dirty="0" err="1"/>
              <a:t>number</a:t>
            </a:r>
            <a:r>
              <a:rPr lang="sv-SE" sz="2000" dirty="0"/>
              <a:t> generators</a:t>
            </a:r>
          </a:p>
          <a:p>
            <a:pPr lvl="1"/>
            <a:r>
              <a:rPr lang="sv-SE" sz="1600" dirty="0" err="1"/>
              <a:t>Rnorm</a:t>
            </a:r>
            <a:endParaRPr lang="sv-SE" sz="1600" dirty="0"/>
          </a:p>
          <a:p>
            <a:pPr lvl="1"/>
            <a:r>
              <a:rPr lang="sv-SE" sz="1600" dirty="0" err="1"/>
              <a:t>Runif</a:t>
            </a:r>
            <a:endParaRPr lang="sv-SE" sz="1600" dirty="0"/>
          </a:p>
          <a:p>
            <a:pPr lvl="1"/>
            <a:r>
              <a:rPr lang="sv-SE" sz="1600" dirty="0"/>
              <a:t>…</a:t>
            </a:r>
          </a:p>
          <a:p>
            <a:r>
              <a:rPr lang="nb-NO" sz="2000" dirty="0"/>
              <a:t>Use d for density p for CDF q for quantiles and r for simulation:</a:t>
            </a:r>
          </a:p>
          <a:p>
            <a:pPr>
              <a:buNone/>
            </a:pPr>
            <a:r>
              <a:rPr lang="nb-NO" sz="2000" dirty="0"/>
              <a:t>(ex: rnorm  pnorm  dnorm qnorm)</a:t>
            </a:r>
          </a:p>
          <a:p>
            <a:endParaRPr lang="sv-SE" sz="2000" dirty="0"/>
          </a:p>
          <a:p>
            <a:endParaRPr lang="sv-SE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07904" y="1988840"/>
            <a:ext cx="5038725" cy="379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814493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altLang="sv-SE"/>
              <a:t>Using a function</a:t>
            </a:r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altLang="sv-SE" sz="1600"/>
              <a:t>Use ?</a:t>
            </a:r>
            <a:r>
              <a:rPr lang="sv-SE" altLang="sv-SE" sz="1600" i="1"/>
              <a:t>name_of_function </a:t>
            </a:r>
            <a:r>
              <a:rPr lang="sv-SE" altLang="sv-SE" sz="1600"/>
              <a:t>to see function parameters</a:t>
            </a:r>
          </a:p>
          <a:p>
            <a:pPr lvl="1"/>
            <a:r>
              <a:rPr lang="sv-SE" altLang="sv-SE" sz="1400"/>
              <a:t>For ex. </a:t>
            </a:r>
            <a:r>
              <a:rPr lang="sv-SE" altLang="sv-SE" sz="1400" i="1"/>
              <a:t>?lm</a:t>
            </a:r>
          </a:p>
          <a:p>
            <a:r>
              <a:rPr lang="sv-SE" altLang="sv-SE" sz="1600"/>
              <a:t>There are some obligatory parameters and optional parameters</a:t>
            </a:r>
          </a:p>
          <a:p>
            <a:r>
              <a:rPr lang="sv-SE" altLang="sv-SE" sz="1600"/>
              <a:t>The optional parameters can be specified in different order</a:t>
            </a:r>
          </a:p>
          <a:p>
            <a:endParaRPr lang="sv-SE" altLang="sv-SE" sz="1600"/>
          </a:p>
        </p:txBody>
      </p:sp>
      <p:sp>
        <p:nvSpPr>
          <p:cNvPr id="38916" name="Footer Placeholder 3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1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sv-SE" sz="1000"/>
              <a:t>732A99/TDDE01</a:t>
            </a:r>
            <a:endParaRPr lang="sv-SE" altLang="sv-SE" sz="1000"/>
          </a:p>
        </p:txBody>
      </p:sp>
      <p:sp>
        <p:nvSpPr>
          <p:cNvPr id="38917" name="Rectangle 4"/>
          <p:cNvSpPr>
            <a:spLocks noChangeArrowheads="1"/>
          </p:cNvSpPr>
          <p:nvPr/>
        </p:nvSpPr>
        <p:spPr bwMode="auto">
          <a:xfrm>
            <a:off x="1403350" y="2997200"/>
            <a:ext cx="457200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1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sv-SE" altLang="sv-SE" sz="1400">
                <a:latin typeface="Consolas" pitchFamily="49" charset="0"/>
                <a:cs typeface="Consolas" pitchFamily="49" charset="0"/>
              </a:rPr>
              <a:t>X=1:10</a:t>
            </a:r>
          </a:p>
          <a:p>
            <a:pPr eaLnBrk="1" hangingPunct="1">
              <a:buFont typeface="Wingdings" pitchFamily="2" charset="2"/>
              <a:buNone/>
            </a:pPr>
            <a:r>
              <a:rPr lang="sv-SE" altLang="sv-SE" sz="1400">
                <a:latin typeface="Consolas" pitchFamily="49" charset="0"/>
                <a:cs typeface="Consolas" pitchFamily="49" charset="0"/>
              </a:rPr>
              <a:t>Y=1:10+rnorm(10)</a:t>
            </a:r>
          </a:p>
          <a:p>
            <a:pPr eaLnBrk="1" hangingPunct="1">
              <a:buFont typeface="Wingdings" pitchFamily="2" charset="2"/>
              <a:buNone/>
            </a:pPr>
            <a:r>
              <a:rPr lang="sv-SE" altLang="sv-SE" sz="1400">
                <a:latin typeface="Consolas" pitchFamily="49" charset="0"/>
                <a:cs typeface="Consolas" pitchFamily="49" charset="0"/>
              </a:rPr>
              <a:t>W=c(rep(1,5), rep(2,5))</a:t>
            </a:r>
          </a:p>
          <a:p>
            <a:pPr eaLnBrk="1" hangingPunct="1">
              <a:buFont typeface="Wingdings" pitchFamily="2" charset="2"/>
              <a:buNone/>
            </a:pPr>
            <a:r>
              <a:rPr lang="sv-SE" altLang="sv-SE" sz="1400">
                <a:latin typeface="Consolas" pitchFamily="49" charset="0"/>
                <a:cs typeface="Consolas" pitchFamily="49" charset="0"/>
              </a:rPr>
              <a:t>mydata=data.frame(X,Y)</a:t>
            </a:r>
          </a:p>
          <a:p>
            <a:pPr eaLnBrk="1" hangingPunct="1">
              <a:buFont typeface="Wingdings" pitchFamily="2" charset="2"/>
              <a:buNone/>
            </a:pPr>
            <a:endParaRPr lang="sv-SE" altLang="sv-SE" sz="1400">
              <a:latin typeface="Consolas" pitchFamily="49" charset="0"/>
              <a:cs typeface="Consolas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sv-SE" altLang="sv-SE" sz="1400">
                <a:latin typeface="Consolas" pitchFamily="49" charset="0"/>
                <a:cs typeface="Consolas" pitchFamily="49" charset="0"/>
              </a:rPr>
              <a:t>result=lm(Y~X,  weights=W,data=mydata)</a:t>
            </a:r>
          </a:p>
          <a:p>
            <a:pPr eaLnBrk="1" hangingPunct="1">
              <a:buFont typeface="Wingdings" pitchFamily="2" charset="2"/>
              <a:buNone/>
            </a:pPr>
            <a:r>
              <a:rPr lang="sv-SE" altLang="sv-SE" sz="1400">
                <a:latin typeface="Consolas" pitchFamily="49" charset="0"/>
                <a:cs typeface="Consolas" pitchFamily="49" charset="0"/>
              </a:rPr>
              <a:t>?predict.lm</a:t>
            </a:r>
          </a:p>
          <a:p>
            <a:pPr eaLnBrk="1" hangingPunct="1">
              <a:buFont typeface="Wingdings" pitchFamily="2" charset="2"/>
              <a:buNone/>
            </a:pPr>
            <a:r>
              <a:rPr lang="sv-SE" altLang="sv-SE" sz="1400">
                <a:latin typeface="Consolas" pitchFamily="49" charset="0"/>
                <a:cs typeface="Consolas" pitchFamily="49" charset="0"/>
              </a:rPr>
              <a:t>Fit=predict(result)</a:t>
            </a:r>
          </a:p>
          <a:p>
            <a:pPr eaLnBrk="1" hangingPunct="1">
              <a:buFont typeface="Wingdings" pitchFamily="2" charset="2"/>
              <a:buNone/>
            </a:pPr>
            <a:endParaRPr lang="sv-SE" altLang="sv-SE" sz="1400">
              <a:latin typeface="Consolas" pitchFamily="49" charset="0"/>
              <a:cs typeface="Consolas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sv-SE" altLang="sv-SE" sz="1400">
                <a:latin typeface="Consolas" pitchFamily="49" charset="0"/>
                <a:cs typeface="Consolas" pitchFamily="49" charset="0"/>
              </a:rPr>
              <a:t>plot(X,Y)</a:t>
            </a:r>
          </a:p>
          <a:p>
            <a:pPr eaLnBrk="1" hangingPunct="1">
              <a:buFont typeface="Wingdings" pitchFamily="2" charset="2"/>
              <a:buNone/>
            </a:pPr>
            <a:r>
              <a:rPr lang="sv-SE" altLang="sv-SE" sz="1400">
                <a:latin typeface="Consolas" pitchFamily="49" charset="0"/>
                <a:cs typeface="Consolas" pitchFamily="49" charset="0"/>
              </a:rPr>
              <a:t>points(X,Fit, type="l", col="blue")</a:t>
            </a:r>
          </a:p>
        </p:txBody>
      </p:sp>
      <p:pic>
        <p:nvPicPr>
          <p:cNvPr id="389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2924944"/>
            <a:ext cx="3370736" cy="3297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859268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Content Placeholder 1"/>
          <p:cNvSpPr>
            <a:spLocks noGrp="1"/>
          </p:cNvSpPr>
          <p:nvPr>
            <p:ph idx="1"/>
          </p:nvPr>
        </p:nvSpPr>
        <p:spPr>
          <a:xfrm>
            <a:off x="1331640" y="1772816"/>
            <a:ext cx="2447925" cy="4525962"/>
          </a:xfrm>
        </p:spPr>
        <p:txBody>
          <a:bodyPr/>
          <a:lstStyle/>
          <a:p>
            <a:r>
              <a:rPr lang="sv-SE" altLang="sv-SE" sz="2000" dirty="0" err="1"/>
              <a:t>Function</a:t>
            </a:r>
            <a:r>
              <a:rPr lang="sv-SE" altLang="sv-SE" sz="2000" dirty="0"/>
              <a:t> </a:t>
            </a:r>
            <a:r>
              <a:rPr lang="sv-SE" altLang="sv-SE" sz="2000" dirty="0" err="1"/>
              <a:t>writing</a:t>
            </a:r>
            <a:r>
              <a:rPr lang="sv-SE" altLang="sv-SE" sz="2000" dirty="0"/>
              <a:t> must </a:t>
            </a:r>
            <a:r>
              <a:rPr lang="sv-SE" altLang="sv-SE" sz="2000" dirty="0" err="1"/>
              <a:t>always</a:t>
            </a:r>
            <a:r>
              <a:rPr lang="sv-SE" altLang="sv-SE" sz="2000" dirty="0"/>
              <a:t> end </a:t>
            </a:r>
            <a:r>
              <a:rPr lang="sv-SE" altLang="sv-SE" sz="2000" dirty="0" err="1"/>
              <a:t>with</a:t>
            </a:r>
            <a:r>
              <a:rPr lang="sv-SE" altLang="sv-SE" sz="2000" dirty="0"/>
              <a:t> </a:t>
            </a:r>
            <a:r>
              <a:rPr lang="sv-SE" altLang="sv-SE" sz="2000" dirty="0" err="1"/>
              <a:t>writing</a:t>
            </a:r>
            <a:r>
              <a:rPr lang="sv-SE" altLang="sv-SE" sz="2000" dirty="0"/>
              <a:t> the </a:t>
            </a:r>
            <a:r>
              <a:rPr lang="sv-SE" altLang="sv-SE" sz="2000" dirty="0" err="1"/>
              <a:t>value</a:t>
            </a:r>
            <a:r>
              <a:rPr lang="sv-SE" altLang="sv-SE" sz="2000" dirty="0"/>
              <a:t> </a:t>
            </a:r>
            <a:r>
              <a:rPr lang="sv-SE" altLang="sv-SE" sz="2000" dirty="0" err="1"/>
              <a:t>which</a:t>
            </a:r>
            <a:r>
              <a:rPr lang="sv-SE" altLang="sv-SE" sz="2000" dirty="0"/>
              <a:t> </a:t>
            </a:r>
            <a:r>
              <a:rPr lang="sv-SE" altLang="sv-SE" sz="2000" dirty="0" err="1"/>
              <a:t>should</a:t>
            </a:r>
            <a:r>
              <a:rPr lang="sv-SE" altLang="sv-SE" sz="2000" dirty="0"/>
              <a:t> be </a:t>
            </a:r>
            <a:r>
              <a:rPr lang="sv-SE" altLang="sv-SE" sz="2000" dirty="0" err="1"/>
              <a:t>returned</a:t>
            </a:r>
            <a:r>
              <a:rPr lang="sv-SE" altLang="sv-SE" sz="2000" dirty="0"/>
              <a:t>!</a:t>
            </a:r>
          </a:p>
          <a:p>
            <a:r>
              <a:rPr lang="sv-SE" altLang="sv-SE" sz="2000" dirty="0" err="1"/>
              <a:t>You</a:t>
            </a:r>
            <a:r>
              <a:rPr lang="sv-SE" altLang="sv-SE" sz="2000" dirty="0"/>
              <a:t> </a:t>
            </a:r>
            <a:r>
              <a:rPr lang="sv-SE" altLang="sv-SE" sz="2000" dirty="0" err="1"/>
              <a:t>may</a:t>
            </a:r>
            <a:r>
              <a:rPr lang="sv-SE" altLang="sv-SE" sz="2000" dirty="0"/>
              <a:t> </a:t>
            </a:r>
            <a:r>
              <a:rPr lang="sv-SE" altLang="sv-SE" sz="2000" dirty="0" err="1"/>
              <a:t>also</a:t>
            </a:r>
            <a:r>
              <a:rPr lang="sv-SE" altLang="sv-SE" sz="2000" dirty="0"/>
              <a:t> </a:t>
            </a:r>
            <a:r>
              <a:rPr lang="sv-SE" altLang="sv-SE" sz="2000" dirty="0" err="1"/>
              <a:t>use</a:t>
            </a:r>
            <a:r>
              <a:rPr lang="sv-SE" altLang="sv-SE" sz="2000" dirty="0"/>
              <a:t> ”</a:t>
            </a:r>
            <a:r>
              <a:rPr lang="sv-SE" altLang="sv-SE" sz="2000" b="1" dirty="0" err="1"/>
              <a:t>return</a:t>
            </a:r>
            <a:r>
              <a:rPr lang="sv-SE" altLang="sv-SE" sz="2000" b="1" dirty="0"/>
              <a:t>(</a:t>
            </a:r>
            <a:r>
              <a:rPr lang="sv-SE" altLang="sv-SE" sz="2000" b="1" dirty="0" err="1"/>
              <a:t>value</a:t>
            </a:r>
            <a:r>
              <a:rPr lang="sv-SE" altLang="sv-SE" sz="2000" b="1" dirty="0"/>
              <a:t>)</a:t>
            </a:r>
            <a:r>
              <a:rPr lang="sv-SE" altLang="sv-SE" sz="2000" dirty="0"/>
              <a:t>” </a:t>
            </a:r>
            <a:r>
              <a:rPr lang="sv-SE" altLang="sv-SE" sz="2000" dirty="0" err="1"/>
              <a:t>to</a:t>
            </a:r>
            <a:r>
              <a:rPr lang="sv-SE" altLang="sv-SE" sz="2000" dirty="0"/>
              <a:t> show </a:t>
            </a:r>
            <a:r>
              <a:rPr lang="sv-SE" altLang="sv-SE" sz="2000" dirty="0" err="1"/>
              <a:t>what</a:t>
            </a:r>
            <a:r>
              <a:rPr lang="sv-SE" altLang="sv-SE" sz="2000" dirty="0"/>
              <a:t> </a:t>
            </a:r>
            <a:r>
              <a:rPr lang="sv-SE" altLang="sv-SE" sz="2000" dirty="0" err="1"/>
              <a:t>value</a:t>
            </a:r>
            <a:r>
              <a:rPr lang="sv-SE" altLang="sv-SE" sz="2000" dirty="0"/>
              <a:t> the </a:t>
            </a:r>
            <a:r>
              <a:rPr lang="sv-SE" altLang="sv-SE" sz="2000" dirty="0" err="1"/>
              <a:t>function</a:t>
            </a:r>
            <a:r>
              <a:rPr lang="sv-SE" altLang="sv-SE" sz="2000" dirty="0"/>
              <a:t> </a:t>
            </a:r>
            <a:r>
              <a:rPr lang="sv-SE" altLang="sv-SE" sz="2000" dirty="0" err="1"/>
              <a:t>should</a:t>
            </a:r>
            <a:r>
              <a:rPr lang="sv-SE" altLang="sv-SE" sz="2000" dirty="0"/>
              <a:t> </a:t>
            </a:r>
            <a:r>
              <a:rPr lang="sv-SE" altLang="sv-SE" sz="2000" dirty="0" err="1"/>
              <a:t>return</a:t>
            </a:r>
            <a:endParaRPr lang="sv-SE" altLang="sv-SE" sz="2000" dirty="0"/>
          </a:p>
          <a:p>
            <a:endParaRPr lang="sv-SE" altLang="sv-SE" sz="2000" dirty="0"/>
          </a:p>
          <a:p>
            <a:endParaRPr lang="sv-SE" altLang="sv-SE" sz="2000" dirty="0"/>
          </a:p>
        </p:txBody>
      </p:sp>
      <p:sp>
        <p:nvSpPr>
          <p:cNvPr id="39939" name="Footer Placeholder 2"/>
          <p:cNvSpPr>
            <a:spLocks noGrp="1"/>
          </p:cNvSpPr>
          <p:nvPr>
            <p:ph type="ftr" sz="quarter" idx="12"/>
          </p:nvPr>
        </p:nvSpPr>
        <p:spPr>
          <a:xfrm>
            <a:off x="1187450" y="6315075"/>
            <a:ext cx="2447925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1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sv-SE" sz="1200"/>
              <a:t>732A99/TDDE01</a:t>
            </a:r>
            <a:endParaRPr lang="sv-SE" altLang="sv-SE" sz="1200"/>
          </a:p>
        </p:txBody>
      </p:sp>
      <p:sp>
        <p:nvSpPr>
          <p:cNvPr id="39940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altLang="sv-SE"/>
              <a:t>Writing your own functions</a:t>
            </a:r>
          </a:p>
        </p:txBody>
      </p:sp>
      <p:pic>
        <p:nvPicPr>
          <p:cNvPr id="3994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2132856"/>
            <a:ext cx="3313882" cy="3029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396775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8"/>
            <a:ext cx="4114800" cy="497200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endParaRPr lang="sv-SE" dirty="0"/>
          </a:p>
          <a:p>
            <a:pPr marL="0" indent="0">
              <a:buNone/>
            </a:pPr>
            <a:r>
              <a:rPr lang="sv-SE" b="1" dirty="0" err="1"/>
              <a:t>Some</a:t>
            </a:r>
            <a:r>
              <a:rPr lang="sv-SE" b="1" dirty="0"/>
              <a:t> common </a:t>
            </a:r>
            <a:r>
              <a:rPr lang="sv-SE" b="1" dirty="0" err="1"/>
              <a:t>procedures</a:t>
            </a:r>
            <a:r>
              <a:rPr lang="sv-SE" b="1" dirty="0"/>
              <a:t>:</a:t>
            </a:r>
          </a:p>
          <a:p>
            <a:pPr marL="0" indent="0">
              <a:buNone/>
            </a:pPr>
            <a:endParaRPr lang="sv-SE" dirty="0"/>
          </a:p>
          <a:p>
            <a:r>
              <a:rPr lang="sv-SE" dirty="0" err="1"/>
              <a:t>plot</a:t>
            </a:r>
            <a:r>
              <a:rPr lang="sv-SE" dirty="0"/>
              <a:t>(x,..) </a:t>
            </a:r>
            <a:r>
              <a:rPr lang="sv-SE" dirty="0" err="1"/>
              <a:t>plots</a:t>
            </a:r>
            <a:r>
              <a:rPr lang="sv-SE" dirty="0"/>
              <a:t> time series</a:t>
            </a:r>
          </a:p>
          <a:p>
            <a:endParaRPr lang="sv-SE" dirty="0"/>
          </a:p>
          <a:p>
            <a:r>
              <a:rPr lang="sv-SE" dirty="0" err="1"/>
              <a:t>plot</a:t>
            </a:r>
            <a:r>
              <a:rPr lang="sv-SE" dirty="0"/>
              <a:t>(</a:t>
            </a:r>
            <a:r>
              <a:rPr lang="sv-SE" dirty="0" err="1"/>
              <a:t>x,y</a:t>
            </a:r>
            <a:r>
              <a:rPr lang="sv-SE" dirty="0"/>
              <a:t>) </a:t>
            </a:r>
            <a:r>
              <a:rPr lang="sv-SE" dirty="0" err="1"/>
              <a:t>scatter</a:t>
            </a:r>
            <a:r>
              <a:rPr lang="sv-SE" dirty="0"/>
              <a:t> </a:t>
            </a:r>
            <a:r>
              <a:rPr lang="sv-SE" dirty="0" err="1"/>
              <a:t>plot</a:t>
            </a:r>
            <a:endParaRPr lang="sv-SE" dirty="0"/>
          </a:p>
          <a:p>
            <a:endParaRPr lang="sv-SE" dirty="0"/>
          </a:p>
          <a:p>
            <a:r>
              <a:rPr lang="sv-SE" dirty="0" err="1"/>
              <a:t>plot</a:t>
            </a:r>
            <a:r>
              <a:rPr lang="sv-SE" dirty="0"/>
              <a:t>(</a:t>
            </a:r>
            <a:r>
              <a:rPr lang="sv-SE" dirty="0" err="1"/>
              <a:t>x,y</a:t>
            </a:r>
            <a:r>
              <a:rPr lang="sv-SE" dirty="0"/>
              <a:t>) </a:t>
            </a:r>
            <a:r>
              <a:rPr lang="sv-SE" dirty="0" err="1"/>
              <a:t>followed</a:t>
            </a:r>
            <a:r>
              <a:rPr lang="sv-SE" dirty="0"/>
              <a:t> by points(</a:t>
            </a:r>
            <a:r>
              <a:rPr lang="sv-SE" dirty="0" err="1"/>
              <a:t>x,y</a:t>
            </a:r>
            <a:r>
              <a:rPr lang="sv-SE" dirty="0"/>
              <a:t>) </a:t>
            </a:r>
            <a:r>
              <a:rPr lang="sv-SE" dirty="0" err="1"/>
              <a:t>plots</a:t>
            </a:r>
            <a:r>
              <a:rPr lang="sv-SE" dirty="0"/>
              <a:t> </a:t>
            </a:r>
            <a:r>
              <a:rPr lang="sv-SE" dirty="0" err="1"/>
              <a:t>several</a:t>
            </a:r>
            <a:r>
              <a:rPr lang="sv-SE" dirty="0"/>
              <a:t> </a:t>
            </a:r>
            <a:r>
              <a:rPr lang="sv-SE" dirty="0" err="1"/>
              <a:t>scatterplots</a:t>
            </a:r>
            <a:r>
              <a:rPr lang="sv-SE" dirty="0"/>
              <a:t> in </a:t>
            </a:r>
            <a:r>
              <a:rPr lang="sv-SE" dirty="0" err="1"/>
              <a:t>one</a:t>
            </a:r>
            <a:r>
              <a:rPr lang="sv-SE" dirty="0"/>
              <a:t> </a:t>
            </a:r>
            <a:r>
              <a:rPr lang="sv-SE" dirty="0" err="1"/>
              <a:t>coordinate</a:t>
            </a:r>
            <a:r>
              <a:rPr lang="sv-SE" dirty="0"/>
              <a:t> system</a:t>
            </a:r>
          </a:p>
          <a:p>
            <a:endParaRPr lang="sv-SE" dirty="0"/>
          </a:p>
          <a:p>
            <a:r>
              <a:rPr lang="sv-SE" dirty="0" err="1"/>
              <a:t>hist</a:t>
            </a:r>
            <a:r>
              <a:rPr lang="sv-SE" dirty="0"/>
              <a:t>(x,..) </a:t>
            </a:r>
            <a:r>
              <a:rPr lang="sv-SE" dirty="0" err="1"/>
              <a:t>plots</a:t>
            </a:r>
            <a:r>
              <a:rPr lang="sv-SE" dirty="0"/>
              <a:t> a </a:t>
            </a:r>
            <a:r>
              <a:rPr lang="sv-SE" dirty="0" err="1"/>
              <a:t>hitogram</a:t>
            </a:r>
            <a:endParaRPr lang="sv-SE" dirty="0"/>
          </a:p>
          <a:p>
            <a:endParaRPr lang="sv-SE" dirty="0"/>
          </a:p>
          <a:p>
            <a:r>
              <a:rPr lang="sv-SE" dirty="0" err="1"/>
              <a:t>persp</a:t>
            </a:r>
            <a:r>
              <a:rPr lang="sv-SE" dirty="0"/>
              <a:t>(</a:t>
            </a:r>
            <a:r>
              <a:rPr lang="sv-SE" dirty="0" err="1"/>
              <a:t>x,y,z</a:t>
            </a:r>
            <a:r>
              <a:rPr lang="sv-SE" dirty="0"/>
              <a:t>,…) </a:t>
            </a:r>
            <a:r>
              <a:rPr lang="sv-SE" dirty="0" err="1"/>
              <a:t>creates</a:t>
            </a:r>
            <a:r>
              <a:rPr lang="sv-SE" dirty="0"/>
              <a:t> </a:t>
            </a:r>
            <a:r>
              <a:rPr lang="sv-SE" dirty="0" err="1"/>
              <a:t>surface</a:t>
            </a:r>
            <a:r>
              <a:rPr lang="sv-SE" dirty="0"/>
              <a:t> </a:t>
            </a:r>
            <a:r>
              <a:rPr lang="sv-SE" dirty="0" err="1"/>
              <a:t>plots</a:t>
            </a:r>
            <a:endParaRPr lang="sv-SE" dirty="0"/>
          </a:p>
          <a:p>
            <a:endParaRPr lang="sv-SE" dirty="0"/>
          </a:p>
          <a:p>
            <a:r>
              <a:rPr lang="sv-SE" dirty="0" err="1"/>
              <a:t>cloud</a:t>
            </a:r>
            <a:r>
              <a:rPr lang="sv-SE" dirty="0"/>
              <a:t>(</a:t>
            </a:r>
            <a:r>
              <a:rPr lang="sv-SE" dirty="0" err="1"/>
              <a:t>formula,data</a:t>
            </a:r>
            <a:r>
              <a:rPr lang="sv-SE" dirty="0"/>
              <a:t>..) </a:t>
            </a:r>
            <a:r>
              <a:rPr lang="sv-SE" dirty="0" err="1"/>
              <a:t>creates</a:t>
            </a:r>
            <a:r>
              <a:rPr lang="sv-SE" dirty="0"/>
              <a:t> 3D </a:t>
            </a:r>
            <a:r>
              <a:rPr lang="sv-SE" dirty="0" err="1"/>
              <a:t>scatter</a:t>
            </a:r>
            <a:r>
              <a:rPr lang="sv-SE" dirty="0"/>
              <a:t> </a:t>
            </a:r>
            <a:r>
              <a:rPr lang="sv-SE" dirty="0" err="1"/>
              <a:t>plot</a:t>
            </a:r>
            <a:endParaRPr lang="sv-SE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732A99/TDDE01</a:t>
            </a:r>
            <a:endParaRPr lang="sv-SE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Graphical</a:t>
            </a:r>
            <a:r>
              <a:rPr lang="sv-SE" dirty="0"/>
              <a:t> </a:t>
            </a:r>
            <a:r>
              <a:rPr lang="sv-SE" dirty="0" err="1"/>
              <a:t>procedures</a:t>
            </a:r>
            <a:endParaRPr lang="sv-SE" dirty="0"/>
          </a:p>
        </p:txBody>
      </p:sp>
      <p:pic>
        <p:nvPicPr>
          <p:cNvPr id="7782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27983" y="1628800"/>
            <a:ext cx="4253741" cy="1512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78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76056" y="3429000"/>
            <a:ext cx="2748930" cy="2701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053478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67544" y="2102123"/>
            <a:ext cx="5472608" cy="2551014"/>
          </a:xfrm>
        </p:spPr>
        <p:txBody>
          <a:bodyPr>
            <a:normAutofit fontScale="62500" lnSpcReduction="20000"/>
          </a:bodyPr>
          <a:lstStyle/>
          <a:p>
            <a:r>
              <a:rPr lang="sv-SE" dirty="0" err="1"/>
              <a:t>Adjust</a:t>
            </a:r>
            <a:r>
              <a:rPr lang="sv-SE" dirty="0"/>
              <a:t> color </a:t>
            </a:r>
            <a:r>
              <a:rPr lang="sv-SE" dirty="0" err="1"/>
              <a:t>of</a:t>
            </a:r>
            <a:r>
              <a:rPr lang="sv-SE" dirty="0"/>
              <a:t> a </a:t>
            </a:r>
            <a:r>
              <a:rPr lang="sv-SE" dirty="0" err="1"/>
              <a:t>graphical</a:t>
            </a:r>
            <a:r>
              <a:rPr lang="sv-SE" dirty="0"/>
              <a:t> </a:t>
            </a:r>
            <a:r>
              <a:rPr lang="sv-SE" dirty="0" err="1"/>
              <a:t>object</a:t>
            </a:r>
            <a:r>
              <a:rPr lang="sv-SE" dirty="0"/>
              <a:t> by </a:t>
            </a:r>
            <a:r>
              <a:rPr lang="sv-SE" dirty="0" err="1"/>
              <a:t>specifying</a:t>
            </a:r>
            <a:r>
              <a:rPr lang="sv-SE" dirty="0"/>
              <a:t> </a:t>
            </a:r>
          </a:p>
          <a:p>
            <a:pPr lvl="1"/>
            <a:r>
              <a:rPr lang="sv-SE" dirty="0" err="1"/>
              <a:t>col</a:t>
            </a:r>
            <a:r>
              <a:rPr lang="sv-SE" dirty="0"/>
              <a:t>=</a:t>
            </a:r>
          </a:p>
          <a:p>
            <a:r>
              <a:rPr lang="sv-SE" dirty="0" err="1"/>
              <a:t>Other</a:t>
            </a:r>
            <a:r>
              <a:rPr lang="sv-SE" dirty="0"/>
              <a:t> </a:t>
            </a:r>
            <a:r>
              <a:rPr lang="sv-SE" dirty="0" err="1"/>
              <a:t>typical</a:t>
            </a:r>
            <a:r>
              <a:rPr lang="sv-SE" dirty="0"/>
              <a:t> parameters for </a:t>
            </a:r>
            <a:r>
              <a:rPr lang="sv-SE" dirty="0" err="1"/>
              <a:t>graphical</a:t>
            </a:r>
            <a:r>
              <a:rPr lang="sv-SE" dirty="0"/>
              <a:t> </a:t>
            </a:r>
            <a:r>
              <a:rPr lang="sv-SE" dirty="0" err="1"/>
              <a:t>functions</a:t>
            </a:r>
            <a:endParaRPr lang="sv-SE" dirty="0"/>
          </a:p>
          <a:p>
            <a:pPr lvl="1"/>
            <a:r>
              <a:rPr lang="sv-SE" dirty="0" err="1"/>
              <a:t>main</a:t>
            </a:r>
            <a:r>
              <a:rPr lang="sv-SE" dirty="0"/>
              <a:t>=”text”   </a:t>
            </a:r>
            <a:r>
              <a:rPr lang="sv-SE" dirty="0" err="1"/>
              <a:t>Title”text</a:t>
            </a:r>
            <a:r>
              <a:rPr lang="sv-SE" dirty="0"/>
              <a:t>”</a:t>
            </a:r>
          </a:p>
          <a:p>
            <a:pPr lvl="1"/>
            <a:r>
              <a:rPr lang="sv-SE" dirty="0" err="1"/>
              <a:t>sub</a:t>
            </a:r>
            <a:r>
              <a:rPr lang="sv-SE" dirty="0"/>
              <a:t>=”text”   </a:t>
            </a:r>
            <a:r>
              <a:rPr lang="sv-SE" dirty="0" err="1"/>
              <a:t>Footnote</a:t>
            </a:r>
            <a:r>
              <a:rPr lang="sv-SE" dirty="0"/>
              <a:t>  ”text”</a:t>
            </a:r>
          </a:p>
          <a:p>
            <a:pPr lvl="1"/>
            <a:r>
              <a:rPr lang="sv-SE" dirty="0" err="1"/>
              <a:t>xlab</a:t>
            </a:r>
            <a:r>
              <a:rPr lang="sv-SE" dirty="0"/>
              <a:t>=”text” X-</a:t>
            </a:r>
            <a:r>
              <a:rPr lang="sv-SE" dirty="0" err="1"/>
              <a:t>axis</a:t>
            </a:r>
            <a:r>
              <a:rPr lang="sv-SE" dirty="0"/>
              <a:t> </a:t>
            </a:r>
            <a:r>
              <a:rPr lang="sv-SE" dirty="0" err="1"/>
              <a:t>label</a:t>
            </a:r>
            <a:endParaRPr lang="sv-SE" dirty="0"/>
          </a:p>
          <a:p>
            <a:pPr lvl="1"/>
            <a:r>
              <a:rPr lang="sv-SE" dirty="0" err="1"/>
              <a:t>ylab</a:t>
            </a:r>
            <a:r>
              <a:rPr lang="sv-SE" dirty="0"/>
              <a:t>=”text” Y-</a:t>
            </a:r>
            <a:r>
              <a:rPr lang="sv-SE" dirty="0" err="1"/>
              <a:t>axis</a:t>
            </a:r>
            <a:r>
              <a:rPr lang="sv-SE" dirty="0"/>
              <a:t> </a:t>
            </a:r>
            <a:r>
              <a:rPr lang="sv-SE" dirty="0" err="1"/>
              <a:t>label</a:t>
            </a:r>
            <a:endParaRPr lang="sv-SE" dirty="0"/>
          </a:p>
          <a:p>
            <a:pPr lvl="1"/>
            <a:endParaRPr lang="sv-SE" dirty="0"/>
          </a:p>
          <a:p>
            <a:pPr lvl="1"/>
            <a:endParaRPr lang="sv-SE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732A99/TDDE01</a:t>
            </a:r>
            <a:endParaRPr lang="sv-SE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Graphical</a:t>
            </a:r>
            <a:r>
              <a:rPr lang="sv-SE" dirty="0"/>
              <a:t> parameters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55576" y="4869160"/>
            <a:ext cx="770485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400" dirty="0" err="1">
                <a:latin typeface="Consolas" pitchFamily="49" charset="0"/>
                <a:cs typeface="Consolas" pitchFamily="49" charset="0"/>
              </a:rPr>
              <a:t>mydata</a:t>
            </a:r>
            <a:r>
              <a:rPr lang="sv-SE" sz="1400" dirty="0">
                <a:latin typeface="Consolas" pitchFamily="49" charset="0"/>
                <a:cs typeface="Consolas" pitchFamily="49" charset="0"/>
              </a:rPr>
              <a:t>&lt;-read.csv2("Counties.csv");</a:t>
            </a:r>
          </a:p>
          <a:p>
            <a:r>
              <a:rPr lang="sv-SE" sz="1400" dirty="0" err="1">
                <a:latin typeface="Consolas" pitchFamily="49" charset="0"/>
                <a:cs typeface="Consolas" pitchFamily="49" charset="0"/>
              </a:rPr>
              <a:t>barplot</a:t>
            </a:r>
            <a:r>
              <a:rPr lang="sv-SE" sz="1400" dirty="0">
                <a:latin typeface="Consolas" pitchFamily="49" charset="0"/>
                <a:cs typeface="Consolas" pitchFamily="49" charset="0"/>
              </a:rPr>
              <a:t>(</a:t>
            </a:r>
            <a:r>
              <a:rPr lang="sv-SE" sz="1400" dirty="0" err="1">
                <a:latin typeface="Consolas" pitchFamily="49" charset="0"/>
                <a:cs typeface="Consolas" pitchFamily="49" charset="0"/>
              </a:rPr>
              <a:t>mydata$Area</a:t>
            </a:r>
            <a:r>
              <a:rPr lang="sv-SE" sz="1400" dirty="0">
                <a:latin typeface="Consolas" pitchFamily="49" charset="0"/>
                <a:cs typeface="Consolas" pitchFamily="49" charset="0"/>
              </a:rPr>
              <a:t>, </a:t>
            </a:r>
            <a:r>
              <a:rPr lang="sv-SE" sz="1400" dirty="0" err="1">
                <a:latin typeface="Consolas" pitchFamily="49" charset="0"/>
                <a:cs typeface="Consolas" pitchFamily="49" charset="0"/>
              </a:rPr>
              <a:t>names.arg</a:t>
            </a:r>
            <a:r>
              <a:rPr lang="sv-SE" sz="1400" dirty="0">
                <a:latin typeface="Consolas" pitchFamily="49" charset="0"/>
                <a:cs typeface="Consolas" pitchFamily="49" charset="0"/>
              </a:rPr>
              <a:t>=</a:t>
            </a:r>
            <a:r>
              <a:rPr lang="sv-SE" sz="1400" dirty="0" err="1">
                <a:latin typeface="Consolas" pitchFamily="49" charset="0"/>
                <a:cs typeface="Consolas" pitchFamily="49" charset="0"/>
              </a:rPr>
              <a:t>mydata$County</a:t>
            </a:r>
            <a:r>
              <a:rPr lang="sv-SE" sz="1400" dirty="0">
                <a:latin typeface="Consolas" pitchFamily="49" charset="0"/>
                <a:cs typeface="Consolas" pitchFamily="49" charset="0"/>
              </a:rPr>
              <a:t>, </a:t>
            </a:r>
            <a:r>
              <a:rPr lang="sv-SE" sz="1400" dirty="0" err="1">
                <a:latin typeface="Consolas" pitchFamily="49" charset="0"/>
                <a:cs typeface="Consolas" pitchFamily="49" charset="0"/>
              </a:rPr>
              <a:t>main</a:t>
            </a:r>
            <a:r>
              <a:rPr lang="sv-SE" sz="1400" dirty="0">
                <a:latin typeface="Consolas" pitchFamily="49" charset="0"/>
                <a:cs typeface="Consolas" pitchFamily="49" charset="0"/>
              </a:rPr>
              <a:t>=”Area </a:t>
            </a:r>
            <a:r>
              <a:rPr lang="sv-SE" sz="1400" dirty="0" err="1">
                <a:latin typeface="Consolas" pitchFamily="49" charset="0"/>
                <a:cs typeface="Consolas" pitchFamily="49" charset="0"/>
              </a:rPr>
              <a:t>of</a:t>
            </a:r>
            <a:r>
              <a:rPr lang="sv-SE" sz="1400" dirty="0">
                <a:latin typeface="Consolas" pitchFamily="49" charset="0"/>
                <a:cs typeface="Consolas" pitchFamily="49" charset="0"/>
              </a:rPr>
              <a:t> the US regions”, </a:t>
            </a:r>
            <a:r>
              <a:rPr lang="sv-SE" sz="1400" dirty="0" err="1">
                <a:latin typeface="Consolas" pitchFamily="49" charset="0"/>
                <a:cs typeface="Consolas" pitchFamily="49" charset="0"/>
              </a:rPr>
              <a:t>xlab</a:t>
            </a:r>
            <a:r>
              <a:rPr lang="sv-SE" sz="1400" dirty="0">
                <a:latin typeface="Consolas" pitchFamily="49" charset="0"/>
                <a:cs typeface="Consolas" pitchFamily="49" charset="0"/>
              </a:rPr>
              <a:t>=”County”, </a:t>
            </a:r>
            <a:r>
              <a:rPr lang="sv-SE" sz="1400" dirty="0" err="1">
                <a:latin typeface="Consolas" pitchFamily="49" charset="0"/>
                <a:cs typeface="Consolas" pitchFamily="49" charset="0"/>
              </a:rPr>
              <a:t>ylab</a:t>
            </a:r>
            <a:r>
              <a:rPr lang="sv-SE" sz="1400" dirty="0">
                <a:latin typeface="Consolas" pitchFamily="49" charset="0"/>
                <a:cs typeface="Consolas" pitchFamily="49" charset="0"/>
              </a:rPr>
              <a:t>=”Area”);</a:t>
            </a:r>
          </a:p>
        </p:txBody>
      </p:sp>
      <p:pic>
        <p:nvPicPr>
          <p:cNvPr id="12595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2618159"/>
            <a:ext cx="3639766" cy="2251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794914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199" y="1481329"/>
            <a:ext cx="3846491" cy="3387832"/>
          </a:xfrm>
        </p:spPr>
        <p:txBody>
          <a:bodyPr>
            <a:noAutofit/>
          </a:bodyPr>
          <a:lstStyle/>
          <a:p>
            <a:endParaRPr lang="sv-SE" sz="1600" dirty="0"/>
          </a:p>
          <a:p>
            <a:r>
              <a:rPr lang="sv-SE" sz="1600" dirty="0" err="1"/>
              <a:t>Some</a:t>
            </a:r>
            <a:r>
              <a:rPr lang="sv-SE" sz="1600" dirty="0"/>
              <a:t> parameters </a:t>
            </a:r>
            <a:r>
              <a:rPr lang="sv-SE" sz="1600" dirty="0" err="1"/>
              <a:t>need</a:t>
            </a:r>
            <a:r>
              <a:rPr lang="sv-SE" sz="1600" dirty="0"/>
              <a:t> </a:t>
            </a:r>
            <a:r>
              <a:rPr lang="sv-SE" sz="1600" dirty="0" err="1"/>
              <a:t>to</a:t>
            </a:r>
            <a:r>
              <a:rPr lang="sv-SE" sz="1600" dirty="0"/>
              <a:t> be </a:t>
            </a:r>
            <a:r>
              <a:rPr lang="sv-SE" sz="1600" dirty="0" err="1"/>
              <a:t>specified</a:t>
            </a:r>
            <a:r>
              <a:rPr lang="sv-SE" sz="1600" dirty="0"/>
              <a:t> </a:t>
            </a:r>
            <a:r>
              <a:rPr lang="sv-SE" sz="1600" dirty="0" err="1"/>
              <a:t>either</a:t>
            </a:r>
            <a:r>
              <a:rPr lang="sv-SE" sz="1600" dirty="0"/>
              <a:t> in the </a:t>
            </a:r>
            <a:r>
              <a:rPr lang="sv-SE" sz="1600" dirty="0" err="1"/>
              <a:t>plotting</a:t>
            </a:r>
            <a:r>
              <a:rPr lang="sv-SE" sz="1600" dirty="0"/>
              <a:t> </a:t>
            </a:r>
            <a:r>
              <a:rPr lang="sv-SE" sz="1600" dirty="0" err="1"/>
              <a:t>function</a:t>
            </a:r>
            <a:r>
              <a:rPr lang="sv-SE" sz="1600" dirty="0"/>
              <a:t> or inside par(…)</a:t>
            </a:r>
          </a:p>
          <a:p>
            <a:pPr lvl="1"/>
            <a:r>
              <a:rPr lang="sv-SE" sz="1400" dirty="0" err="1"/>
              <a:t>Pch</a:t>
            </a:r>
            <a:r>
              <a:rPr lang="sv-SE" sz="1400" dirty="0"/>
              <a:t>=</a:t>
            </a:r>
            <a:r>
              <a:rPr lang="sv-SE" sz="1400" dirty="0" err="1"/>
              <a:t>number</a:t>
            </a:r>
            <a:r>
              <a:rPr lang="sv-SE" sz="1400" dirty="0"/>
              <a:t> – symbol </a:t>
            </a:r>
            <a:r>
              <a:rPr lang="sv-SE" sz="1400" dirty="0" err="1"/>
              <a:t>that</a:t>
            </a:r>
            <a:r>
              <a:rPr lang="sv-SE" sz="1400" dirty="0"/>
              <a:t> is </a:t>
            </a:r>
            <a:r>
              <a:rPr lang="sv-SE" sz="1400" dirty="0" err="1"/>
              <a:t>plotted</a:t>
            </a:r>
            <a:endParaRPr lang="sv-SE" sz="1400" dirty="0"/>
          </a:p>
          <a:p>
            <a:pPr lvl="1"/>
            <a:r>
              <a:rPr lang="sv-SE" sz="1400" dirty="0" err="1"/>
              <a:t>Lty</a:t>
            </a:r>
            <a:r>
              <a:rPr lang="sv-SE" sz="1400" dirty="0"/>
              <a:t>=</a:t>
            </a:r>
            <a:r>
              <a:rPr lang="sv-SE" sz="1400" dirty="0" err="1"/>
              <a:t>number</a:t>
            </a:r>
            <a:r>
              <a:rPr lang="sv-SE" sz="1400" dirty="0"/>
              <a:t> – </a:t>
            </a:r>
            <a:r>
              <a:rPr lang="sv-SE" sz="1400" dirty="0" err="1"/>
              <a:t>linetype</a:t>
            </a:r>
            <a:endParaRPr lang="sv-SE" sz="1400" dirty="0"/>
          </a:p>
          <a:p>
            <a:pPr lvl="1"/>
            <a:r>
              <a:rPr lang="sv-SE" sz="1400" dirty="0"/>
              <a:t>Las=0 1 eller 2 </a:t>
            </a:r>
            <a:r>
              <a:rPr lang="sv-SE" sz="1400" dirty="0" err="1"/>
              <a:t>Direction</a:t>
            </a:r>
            <a:r>
              <a:rPr lang="sv-SE" sz="1400" dirty="0"/>
              <a:t> </a:t>
            </a:r>
            <a:r>
              <a:rPr lang="sv-SE" sz="1400" dirty="0" err="1"/>
              <a:t>of</a:t>
            </a:r>
            <a:r>
              <a:rPr lang="sv-SE" sz="1400" dirty="0"/>
              <a:t> </a:t>
            </a:r>
            <a:r>
              <a:rPr lang="sv-SE" sz="1400" dirty="0" err="1"/>
              <a:t>axis</a:t>
            </a:r>
            <a:r>
              <a:rPr lang="sv-SE" sz="1400" dirty="0"/>
              <a:t> </a:t>
            </a:r>
            <a:r>
              <a:rPr lang="sv-SE" sz="1400" dirty="0" err="1"/>
              <a:t>values</a:t>
            </a:r>
            <a:endParaRPr lang="sv-SE" sz="1400" dirty="0"/>
          </a:p>
          <a:p>
            <a:pPr lvl="1"/>
            <a:r>
              <a:rPr lang="sv-SE" sz="1400" dirty="0" err="1"/>
              <a:t>mai=c</a:t>
            </a:r>
            <a:r>
              <a:rPr lang="sv-SE" sz="1400" dirty="0"/>
              <a:t>(</a:t>
            </a:r>
            <a:r>
              <a:rPr lang="en-US" sz="1400" dirty="0"/>
              <a:t>bottom, left, top, right</a:t>
            </a:r>
            <a:r>
              <a:rPr lang="sv-SE" sz="1400" dirty="0"/>
              <a:t>) – </a:t>
            </a:r>
            <a:r>
              <a:rPr lang="sv-SE" sz="1400" dirty="0" err="1"/>
              <a:t>margins</a:t>
            </a:r>
            <a:r>
              <a:rPr lang="sv-SE" sz="1400" dirty="0"/>
              <a:t> (</a:t>
            </a:r>
            <a:r>
              <a:rPr lang="sv-SE" sz="1400" dirty="0" err="1"/>
              <a:t>inch</a:t>
            </a:r>
            <a:r>
              <a:rPr lang="sv-SE" sz="1400" dirty="0"/>
              <a:t>)</a:t>
            </a:r>
          </a:p>
          <a:p>
            <a:pPr lvl="1"/>
            <a:r>
              <a:rPr lang="sv-SE" sz="1400" dirty="0" err="1"/>
              <a:t>adj</a:t>
            </a:r>
            <a:r>
              <a:rPr lang="sv-SE" sz="1400" dirty="0"/>
              <a:t>=</a:t>
            </a:r>
            <a:r>
              <a:rPr lang="sv-SE" sz="1400" dirty="0" err="1"/>
              <a:t>between</a:t>
            </a:r>
            <a:r>
              <a:rPr lang="sv-SE" sz="1400" dirty="0"/>
              <a:t> 0 and 1, </a:t>
            </a:r>
            <a:r>
              <a:rPr lang="sv-SE" sz="1400" dirty="0" err="1"/>
              <a:t>horizontal</a:t>
            </a:r>
            <a:r>
              <a:rPr lang="sv-SE" sz="1400" dirty="0"/>
              <a:t> </a:t>
            </a:r>
            <a:r>
              <a:rPr lang="sv-SE" sz="1400" dirty="0" err="1"/>
              <a:t>justification</a:t>
            </a:r>
            <a:endParaRPr lang="sv-SE" sz="14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732A99/TDDE01</a:t>
            </a:r>
            <a:endParaRPr lang="sv-SE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Graphical</a:t>
            </a:r>
            <a:r>
              <a:rPr lang="sv-SE" dirty="0"/>
              <a:t> parametes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7624" y="4725144"/>
            <a:ext cx="4572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 err="1">
                <a:latin typeface="Consolas" pitchFamily="49" charset="0"/>
                <a:cs typeface="Consolas" pitchFamily="49" charset="0"/>
              </a:rPr>
              <a:t>barplot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(</a:t>
            </a:r>
            <a:r>
              <a:rPr lang="en-US" sz="1400" dirty="0" err="1">
                <a:latin typeface="Consolas" pitchFamily="49" charset="0"/>
                <a:cs typeface="Consolas" pitchFamily="49" charset="0"/>
              </a:rPr>
              <a:t>mydata$Area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, </a:t>
            </a:r>
            <a:r>
              <a:rPr lang="en-US" sz="1400" dirty="0" err="1">
                <a:latin typeface="Consolas" pitchFamily="49" charset="0"/>
                <a:cs typeface="Consolas" pitchFamily="49" charset="0"/>
              </a:rPr>
              <a:t>names.arg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=</a:t>
            </a:r>
            <a:r>
              <a:rPr lang="en-US" sz="1400" dirty="0" err="1">
                <a:latin typeface="Consolas" pitchFamily="49" charset="0"/>
                <a:cs typeface="Consolas" pitchFamily="49" charset="0"/>
              </a:rPr>
              <a:t>mydata$County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, </a:t>
            </a:r>
            <a:r>
              <a:rPr lang="en-US" sz="1400" dirty="0" err="1">
                <a:latin typeface="Consolas" pitchFamily="49" charset="0"/>
                <a:cs typeface="Consolas" pitchFamily="49" charset="0"/>
              </a:rPr>
              <a:t>horiz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=TRUE, </a:t>
            </a:r>
            <a:r>
              <a:rPr lang="en-US" sz="1400" dirty="0" err="1">
                <a:latin typeface="Consolas" pitchFamily="49" charset="0"/>
                <a:cs typeface="Consolas" pitchFamily="49" charset="0"/>
              </a:rPr>
              <a:t>las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=1,   </a:t>
            </a:r>
            <a:r>
              <a:rPr lang="en-US" sz="1400" dirty="0" err="1">
                <a:latin typeface="Consolas" pitchFamily="49" charset="0"/>
                <a:cs typeface="Consolas" pitchFamily="49" charset="0"/>
              </a:rPr>
              <a:t>xlim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=c(0,1000), col="orange", main="Area of the US regions", </a:t>
            </a:r>
            <a:r>
              <a:rPr lang="en-US" sz="1400" dirty="0" err="1">
                <a:latin typeface="Consolas" pitchFamily="49" charset="0"/>
                <a:cs typeface="Consolas" pitchFamily="49" charset="0"/>
              </a:rPr>
              <a:t>xlab</a:t>
            </a:r>
            <a:r>
              <a:rPr lang="en-US" sz="1400" dirty="0">
                <a:latin typeface="Consolas" pitchFamily="49" charset="0"/>
                <a:cs typeface="Consolas" pitchFamily="49" charset="0"/>
              </a:rPr>
              <a:t>="Area");</a:t>
            </a:r>
          </a:p>
        </p:txBody>
      </p:sp>
      <p:pic>
        <p:nvPicPr>
          <p:cNvPr id="12697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3691" y="2060847"/>
            <a:ext cx="4516781" cy="2793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064311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Some</a:t>
            </a:r>
            <a:r>
              <a:rPr lang="sv-SE" dirty="0"/>
              <a:t> </a:t>
            </a:r>
            <a:r>
              <a:rPr lang="sv-SE" dirty="0" err="1"/>
              <a:t>more</a:t>
            </a:r>
            <a:r>
              <a:rPr lang="sv-SE" dirty="0"/>
              <a:t>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sz="2400" dirty="0"/>
              <a:t>Dividing </a:t>
            </a:r>
            <a:r>
              <a:rPr lang="sv-SE" sz="2400" dirty="0" err="1"/>
              <a:t>training</a:t>
            </a:r>
            <a:r>
              <a:rPr lang="sv-SE" sz="2400" dirty="0"/>
              <a:t>/test</a:t>
            </a:r>
            <a:endParaRPr lang="sv-SE" sz="1600" dirty="0"/>
          </a:p>
          <a:p>
            <a:pPr marL="0" indent="0">
              <a:buNone/>
            </a:pPr>
            <a:endParaRPr lang="sv-SE" sz="2000" dirty="0"/>
          </a:p>
          <a:p>
            <a:pPr marL="0" indent="0">
              <a:buNone/>
            </a:pPr>
            <a:endParaRPr lang="sv-SE" sz="2000" dirty="0"/>
          </a:p>
          <a:p>
            <a:endParaRPr lang="sv-SE" sz="2000" dirty="0"/>
          </a:p>
          <a:p>
            <a:endParaRPr lang="sv-SE" sz="2000" dirty="0"/>
          </a:p>
          <a:p>
            <a:r>
              <a:rPr lang="sv-SE" sz="2000" dirty="0" err="1"/>
              <a:t>Computing</a:t>
            </a:r>
            <a:r>
              <a:rPr lang="sv-SE" sz="2000" dirty="0"/>
              <a:t> </a:t>
            </a:r>
            <a:r>
              <a:rPr lang="sv-SE" sz="2000" dirty="0" err="1"/>
              <a:t>misclassification</a:t>
            </a:r>
            <a:r>
              <a:rPr lang="sv-SE" sz="2000" dirty="0"/>
              <a:t> rate</a:t>
            </a:r>
            <a:endParaRPr lang="sv-S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/>
              <a:t>732A99/TDDE01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3568" y="2262063"/>
            <a:ext cx="502733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data=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data.frame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(X=c(1,1,2,2,3), Y=c("M","F","M","M","F"))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n=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dim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(data)[1]</a:t>
            </a:r>
          </a:p>
          <a:p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set.seed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(12345) 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id=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sample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(1:n, 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floor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(n*0.5)) </a:t>
            </a:r>
          </a:p>
          <a:p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train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=data[id,] 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test=data[-id,] </a:t>
            </a:r>
          </a:p>
        </p:txBody>
      </p:sp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24" y="2132856"/>
            <a:ext cx="1343025" cy="165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692332" y="4034970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missclass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function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(X,X1){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n=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length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(X)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(1-sum(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diag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(table(X,X1)))/n)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pic>
        <p:nvPicPr>
          <p:cNvPr id="4915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249" y="5229200"/>
            <a:ext cx="3609975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6660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B63B73E-8B25-572C-0D56-4FB358962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More</a:t>
            </a:r>
            <a:r>
              <a:rPr lang="sv-SE" dirty="0"/>
              <a:t> </a:t>
            </a:r>
            <a:r>
              <a:rPr lang="sv-SE" dirty="0" err="1"/>
              <a:t>about</a:t>
            </a:r>
            <a:r>
              <a:rPr lang="sv-SE" dirty="0"/>
              <a:t> R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8117A2BA-AC4F-0F1C-C499-40C62CD80C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sz="2400" dirty="0" err="1">
                <a:solidFill>
                  <a:srgbClr val="0000FF"/>
                </a:solidFill>
              </a:rPr>
              <a:t>Important</a:t>
            </a:r>
            <a:r>
              <a:rPr lang="sv-SE" sz="2400" dirty="0"/>
              <a:t>: read manuals </a:t>
            </a:r>
            <a:r>
              <a:rPr lang="sv-SE" sz="2400" dirty="0" err="1"/>
              <a:t>of</a:t>
            </a:r>
            <a:r>
              <a:rPr lang="sv-SE" sz="2400" dirty="0"/>
              <a:t> </a:t>
            </a:r>
            <a:r>
              <a:rPr lang="sv-SE" sz="2400" b="1" dirty="0" err="1"/>
              <a:t>dplyr</a:t>
            </a:r>
            <a:r>
              <a:rPr lang="sv-SE" sz="2400" b="1" dirty="0"/>
              <a:t> </a:t>
            </a:r>
            <a:r>
              <a:rPr lang="sv-SE" sz="2400" dirty="0"/>
              <a:t>and </a:t>
            </a:r>
            <a:r>
              <a:rPr lang="sv-SE" sz="2400" b="1" dirty="0" err="1"/>
              <a:t>tidyr</a:t>
            </a:r>
            <a:r>
              <a:rPr lang="sv-SE" sz="2400" dirty="0"/>
              <a:t> </a:t>
            </a:r>
            <a:r>
              <a:rPr lang="sv-SE" sz="2400" dirty="0" err="1"/>
              <a:t>packages</a:t>
            </a:r>
            <a:r>
              <a:rPr lang="sv-SE" sz="2400" dirty="0"/>
              <a:t> (data manipulation)</a:t>
            </a:r>
          </a:p>
          <a:p>
            <a:endParaRPr lang="sv-SE" sz="2400" b="1" dirty="0"/>
          </a:p>
          <a:p>
            <a:r>
              <a:rPr lang="sv-SE" sz="2400" b="1" dirty="0"/>
              <a:t>R </a:t>
            </a:r>
            <a:r>
              <a:rPr lang="sv-SE" sz="2400" b="1" dirty="0" err="1"/>
              <a:t>language</a:t>
            </a:r>
            <a:r>
              <a:rPr lang="sv-SE" sz="2400" b="1" dirty="0"/>
              <a:t> manual </a:t>
            </a:r>
            <a:r>
              <a:rPr lang="sv-SE" sz="2400" b="1" dirty="0">
                <a:hlinkClick r:id="rId2"/>
              </a:rPr>
              <a:t>https://cran.r-project.org/doc/manuals/r-release/R-intro.pdf</a:t>
            </a:r>
            <a:r>
              <a:rPr lang="sv-SE" sz="2400" b="1" dirty="0"/>
              <a:t> </a:t>
            </a:r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A8A4D3E9-0096-4116-5BDF-AD4DA993C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sv-SE" dirty="0"/>
              <a:t>732A99/TDDE01</a:t>
            </a:r>
          </a:p>
        </p:txBody>
      </p:sp>
    </p:spTree>
    <p:extLst>
      <p:ext uri="{BB962C8B-B14F-4D97-AF65-F5344CB8AC3E}">
        <p14:creationId xmlns:p14="http://schemas.microsoft.com/office/powerpoint/2010/main" val="1146493382"/>
      </p:ext>
    </p:extLst>
  </p:cSld>
  <p:clrMapOvr>
    <a:masterClrMapping/>
  </p:clrMapOvr>
</p:sld>
</file>

<file path=ppt/theme/theme1.xml><?xml version="1.0" encoding="utf-8"?>
<a:theme xmlns:a="http://schemas.openxmlformats.org/drawingml/2006/main" name="my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8B838B1D395C46B230F564133917A4" ma:contentTypeVersion="5" ma:contentTypeDescription="Create a new document." ma:contentTypeScope="" ma:versionID="70e298e78836510adb340f9f68a263a1">
  <xsd:schema xmlns:xsd="http://www.w3.org/2001/XMLSchema" xmlns:xs="http://www.w3.org/2001/XMLSchema" xmlns:p="http://schemas.microsoft.com/office/2006/metadata/properties" xmlns:ns2="e27f7632-7914-4153-b43e-44baa0afba72" xmlns:ns3="e5d37322-26cc-4af7-8808-99666bb9997d" targetNamespace="http://schemas.microsoft.com/office/2006/metadata/properties" ma:root="true" ma:fieldsID="7d3cba0f520645fa006f4f5a2497c43c" ns2:_="" ns3:_="">
    <xsd:import namespace="e27f7632-7914-4153-b43e-44baa0afba72"/>
    <xsd:import namespace="e5d37322-26cc-4af7-8808-99666bb9997d"/>
    <xsd:element name="properties">
      <xsd:complexType>
        <xsd:sequence>
          <xsd:element name="documentManagement">
            <xsd:complexType>
              <xsd:all>
                <xsd:element ref="ns2:_lisam_Description" minOccurs="0"/>
                <xsd:element ref="ns3:_lisam_PublishedVersion" minOccurs="0"/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7f7632-7914-4153-b43e-44baa0afba72" elementFormDefault="qualified">
    <xsd:import namespace="http://schemas.microsoft.com/office/2006/documentManagement/types"/>
    <xsd:import namespace="http://schemas.microsoft.com/office/infopath/2007/PartnerControls"/>
    <xsd:element name="_lisam_Description" ma:index="8" nillable="true" ma:displayName="Description" ma:internalName="_lisam_Description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d37322-26cc-4af7-8808-99666bb9997d" elementFormDefault="qualified">
    <xsd:import namespace="http://schemas.microsoft.com/office/2006/documentManagement/types"/>
    <xsd:import namespace="http://schemas.microsoft.com/office/infopath/2007/PartnerControls"/>
    <xsd:element name="_lisam_PublishedVersion" ma:index="9" nillable="true" ma:displayName="Published Version" ma:internalName="_lisam_PublishedVersion">
      <xsd:simpleType>
        <xsd:restriction base="dms:Text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lisam_Description xmlns="e27f7632-7914-4153-b43e-44baa0afba72" xsi:nil="true"/>
    <_lisam_PublishedVersion xmlns="e5d37322-26cc-4af7-8808-99666bb9997d" xsi:nil="true"/>
  </documentManagement>
</p:properties>
</file>

<file path=customXml/itemProps1.xml><?xml version="1.0" encoding="utf-8"?>
<ds:datastoreItem xmlns:ds="http://schemas.openxmlformats.org/officeDocument/2006/customXml" ds:itemID="{BEEFFD99-91C1-49B2-872A-1ED3DDDB2416}"/>
</file>

<file path=customXml/itemProps2.xml><?xml version="1.0" encoding="utf-8"?>
<ds:datastoreItem xmlns:ds="http://schemas.openxmlformats.org/officeDocument/2006/customXml" ds:itemID="{5538DDEA-7448-4EA1-AB6F-0088A82A5B00}"/>
</file>

<file path=customXml/itemProps3.xml><?xml version="1.0" encoding="utf-8"?>
<ds:datastoreItem xmlns:ds="http://schemas.openxmlformats.org/officeDocument/2006/customXml" ds:itemID="{7AF0B919-5B26-4DA7-8289-095D9C796370}"/>
</file>

<file path=docProps/app.xml><?xml version="1.0" encoding="utf-8"?>
<Properties xmlns="http://schemas.openxmlformats.org/officeDocument/2006/extended-properties" xmlns:vt="http://schemas.openxmlformats.org/officeDocument/2006/docPropsVTypes">
  <Template>mytheme</Template>
  <TotalTime>42590</TotalTime>
  <Words>1465</Words>
  <Application>Microsoft Office PowerPoint</Application>
  <PresentationFormat>Bildspel på skärmen (4:3)</PresentationFormat>
  <Paragraphs>312</Paragraphs>
  <Slides>32</Slides>
  <Notes>1</Notes>
  <HiddenSlides>0</HiddenSlides>
  <MMClips>0</MMClips>
  <ScaleCrop>false</ScaleCrop>
  <HeadingPairs>
    <vt:vector size="8" baseType="variant">
      <vt:variant>
        <vt:lpstr>Använt teckensnitt</vt:lpstr>
      </vt:variant>
      <vt:variant>
        <vt:i4>5</vt:i4>
      </vt:variant>
      <vt:variant>
        <vt:lpstr>Tema</vt:lpstr>
      </vt:variant>
      <vt:variant>
        <vt:i4>1</vt:i4>
      </vt:variant>
      <vt:variant>
        <vt:lpstr>Serverprogram för OLE-inbäddning</vt:lpstr>
      </vt:variant>
      <vt:variant>
        <vt:i4>1</vt:i4>
      </vt:variant>
      <vt:variant>
        <vt:lpstr>Bildrubriker</vt:lpstr>
      </vt:variant>
      <vt:variant>
        <vt:i4>32</vt:i4>
      </vt:variant>
    </vt:vector>
  </HeadingPairs>
  <TitlesOfParts>
    <vt:vector size="39" baseType="lpstr">
      <vt:lpstr>Arial</vt:lpstr>
      <vt:lpstr>Calibri</vt:lpstr>
      <vt:lpstr>Consolas</vt:lpstr>
      <vt:lpstr>Courier New</vt:lpstr>
      <vt:lpstr>Wingdings</vt:lpstr>
      <vt:lpstr>mytheme</vt:lpstr>
      <vt:lpstr>Bitmappsbild</vt:lpstr>
      <vt:lpstr>Introduction to R </vt:lpstr>
      <vt:lpstr>R</vt:lpstr>
      <vt:lpstr>Software: use RStudio</vt:lpstr>
      <vt:lpstr>Basics in RStudio</vt:lpstr>
      <vt:lpstr>Call help</vt:lpstr>
      <vt:lpstr>Introduction</vt:lpstr>
      <vt:lpstr>Vectors</vt:lpstr>
      <vt:lpstr>Sequence</vt:lpstr>
      <vt:lpstr>Operation with vectors</vt:lpstr>
      <vt:lpstr>PowerPoint-presentation</vt:lpstr>
      <vt:lpstr>Matrix operations</vt:lpstr>
      <vt:lpstr>Matrix operations</vt:lpstr>
      <vt:lpstr>Indexing for matrices</vt:lpstr>
      <vt:lpstr>Replication</vt:lpstr>
      <vt:lpstr>Matrix operations</vt:lpstr>
      <vt:lpstr>Vector/matrix operations</vt:lpstr>
      <vt:lpstr>Factors</vt:lpstr>
      <vt:lpstr>Lists</vt:lpstr>
      <vt:lpstr>PowerPoint-presentation</vt:lpstr>
      <vt:lpstr>PowerPoint-presentation</vt:lpstr>
      <vt:lpstr>Read data from Excel file</vt:lpstr>
      <vt:lpstr>Conversion between types</vt:lpstr>
      <vt:lpstr>Loops</vt:lpstr>
      <vt:lpstr>Conditioning and loops</vt:lpstr>
      <vt:lpstr>Random number generation</vt:lpstr>
      <vt:lpstr>Using a function</vt:lpstr>
      <vt:lpstr>Writing your own functions</vt:lpstr>
      <vt:lpstr>Graphical procedures</vt:lpstr>
      <vt:lpstr>Graphical parameters</vt:lpstr>
      <vt:lpstr>Graphical parametes</vt:lpstr>
      <vt:lpstr>Some more examples</vt:lpstr>
      <vt:lpstr>More about 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Oleg</dc:creator>
  <cp:lastModifiedBy>Oleg Sysoev</cp:lastModifiedBy>
  <cp:revision>588</cp:revision>
  <dcterms:created xsi:type="dcterms:W3CDTF">2008-10-17T08:20:23Z</dcterms:created>
  <dcterms:modified xsi:type="dcterms:W3CDTF">2022-11-01T12:24:51Z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0x010100298B838B1D395C46B230F564133917A4</vt:lpwstr>
  </property>
</Properties>
</file>