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39"/>
  </p:notesMasterIdLst>
  <p:sldIdLst>
    <p:sldId id="256" r:id="rId2"/>
    <p:sldId id="289" r:id="rId3"/>
    <p:sldId id="288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8" r:id="rId12"/>
    <p:sldId id="299" r:id="rId13"/>
    <p:sldId id="297" r:id="rId14"/>
    <p:sldId id="300" r:id="rId15"/>
    <p:sldId id="321" r:id="rId16"/>
    <p:sldId id="322" r:id="rId17"/>
    <p:sldId id="323" r:id="rId18"/>
    <p:sldId id="301" r:id="rId19"/>
    <p:sldId id="326" r:id="rId20"/>
    <p:sldId id="325" r:id="rId21"/>
    <p:sldId id="334" r:id="rId22"/>
    <p:sldId id="335" r:id="rId23"/>
    <p:sldId id="338" r:id="rId24"/>
    <p:sldId id="336" r:id="rId25"/>
    <p:sldId id="337" r:id="rId26"/>
    <p:sldId id="339" r:id="rId27"/>
    <p:sldId id="328" r:id="rId28"/>
    <p:sldId id="329" r:id="rId29"/>
    <p:sldId id="327" r:id="rId30"/>
    <p:sldId id="315" r:id="rId31"/>
    <p:sldId id="316" r:id="rId32"/>
    <p:sldId id="343" r:id="rId33"/>
    <p:sldId id="332" r:id="rId34"/>
    <p:sldId id="333" r:id="rId35"/>
    <p:sldId id="302" r:id="rId36"/>
    <p:sldId id="330" r:id="rId37"/>
    <p:sldId id="331" r:id="rId38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7" autoAdjust="0"/>
  </p:normalViewPr>
  <p:slideViewPr>
    <p:cSldViewPr>
      <p:cViewPr varScale="1">
        <p:scale>
          <a:sx n="106" d="100"/>
          <a:sy n="106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11/1/2023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0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56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BF2CB4-761B-4BF8-ADAE-309A87B15EF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46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DA09A81-C022-4231-8872-99A464F4C764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88BC-B386-49ED-8BB3-1FCAF3CE93F8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BB1AE-A689-4386-8E80-451D02475A50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083D5-8492-4BEE-8C68-7DFD1491CBDD}" type="datetime1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C322A-FA83-4AA2-A09D-0CBB07B528AF}" type="datetime1">
              <a:rPr lang="sv-SE" smtClean="0"/>
              <a:t>2023-11-01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5E55B-A258-4B18-8C95-CE2EAD8CBB49}" type="datetime1">
              <a:rPr lang="sv-SE" smtClean="0"/>
              <a:t>2023-11-01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4A3A3-C67C-4FA5-B408-BE229986D0AC}" type="datetime1">
              <a:rPr lang="sv-SE" smtClean="0"/>
              <a:t>2023-11-01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177CD-5386-452D-9A05-4441E21A2CAA}" type="datetime1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8FCC7-D6F9-49AB-8AC8-7968262D404A}" type="datetime1">
              <a:rPr lang="sv-SE" smtClean="0"/>
              <a:t>2023-11-01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98308-94EF-420F-8322-3F4D2FF449FA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C8448-7734-48A8-B5FB-5C7A65C7FE40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A8B8979-3CB6-4C22-BEED-3A919778F1FD}" type="datetime1">
              <a:rPr lang="sv-SE" smtClean="0"/>
              <a:t>2023-11-01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1470025"/>
          </a:xfrm>
        </p:spPr>
        <p:txBody>
          <a:bodyPr/>
          <a:lstStyle/>
          <a:p>
            <a:pPr eaLnBrk="1" hangingPunct="1"/>
            <a:r>
              <a:rPr lang="sv-SE" altLang="sv-SE" sz="4800" dirty="0"/>
              <a:t>Basic </a:t>
            </a:r>
            <a:r>
              <a:rPr lang="sv-SE" altLang="sv-SE" sz="4800" dirty="0" err="1"/>
              <a:t>concepts</a:t>
            </a:r>
            <a:endParaRPr lang="sv-SE" altLang="sv-SE" sz="4800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 dirty="0"/>
              <a:t> 1a</a:t>
            </a:r>
          </a:p>
          <a:p>
            <a:pPr algn="l" eaLnBrk="1" hangingPunct="1"/>
            <a:endParaRPr lang="sv-SE" altLang="sv-SE" sz="2000" dirty="0"/>
          </a:p>
          <a:p>
            <a:pPr eaLnBrk="1" hangingPunct="1"/>
            <a:r>
              <a:rPr lang="sv-SE" altLang="sv-SE" sz="2000" dirty="0"/>
              <a:t>Course </a:t>
            </a:r>
            <a:r>
              <a:rPr lang="sv-SE" altLang="sv-SE" sz="2000" dirty="0" err="1"/>
              <a:t>leader</a:t>
            </a:r>
            <a:r>
              <a:rPr lang="sv-SE" altLang="sv-SE" sz="2000" dirty="0"/>
              <a:t>: Oleg Sysoev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Course </a:t>
            </a:r>
            <a:r>
              <a:rPr lang="sv-SE" dirty="0" err="1"/>
              <a:t>topics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Block 1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Basic concepts in machine learning.  Software for  ML. Classification and regression</a:t>
            </a:r>
          </a:p>
          <a:p>
            <a:r>
              <a:rPr lang="en-US" dirty="0"/>
              <a:t>Dimensionality reduction and model selection</a:t>
            </a:r>
          </a:p>
          <a:p>
            <a:r>
              <a:rPr lang="en-US" dirty="0"/>
              <a:t>Kernel methods (SVM) and neural networks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Block 2</a:t>
            </a:r>
          </a:p>
          <a:p>
            <a:r>
              <a:rPr lang="en-US" dirty="0"/>
              <a:t>Mixture  models and ensemble methods 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229696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Course </a:t>
            </a:r>
            <a:r>
              <a:rPr lang="sv-SE" dirty="0" err="1"/>
              <a:t>organization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" y="1600199"/>
            <a:ext cx="8435280" cy="5213177"/>
          </a:xfrm>
        </p:spPr>
        <p:txBody>
          <a:bodyPr>
            <a:normAutofit fontScale="92500" lnSpcReduction="10000"/>
          </a:bodyPr>
          <a:lstStyle/>
          <a:p>
            <a:r>
              <a:rPr lang="sv-SE" sz="2000" dirty="0"/>
              <a:t>1 </a:t>
            </a:r>
            <a:r>
              <a:rPr lang="sv-SE" sz="2000" dirty="0" err="1"/>
              <a:t>topic</a:t>
            </a:r>
            <a:r>
              <a:rPr lang="sv-SE" sz="2000" dirty="0"/>
              <a:t>= 3-4 </a:t>
            </a:r>
            <a:r>
              <a:rPr lang="sv-SE" sz="2000" dirty="0" err="1"/>
              <a:t>lectures</a:t>
            </a:r>
            <a:r>
              <a:rPr lang="sv-SE" sz="2000" dirty="0"/>
              <a:t> (campus) +1 </a:t>
            </a:r>
            <a:r>
              <a:rPr lang="sv-SE" sz="2000" dirty="0" err="1"/>
              <a:t>lab</a:t>
            </a:r>
            <a:r>
              <a:rPr lang="sv-SE" sz="2000" dirty="0"/>
              <a:t> (2h* 3, campus)+</a:t>
            </a:r>
            <a:r>
              <a:rPr lang="sv-SE" sz="2000" dirty="0" err="1"/>
              <a:t>seminar</a:t>
            </a:r>
            <a:r>
              <a:rPr lang="sv-SE" sz="2000" dirty="0"/>
              <a:t> (zoom)</a:t>
            </a:r>
          </a:p>
          <a:p>
            <a:endParaRPr lang="sv-SE" sz="2000" dirty="0"/>
          </a:p>
          <a:p>
            <a:r>
              <a:rPr lang="sv-SE" sz="2000" dirty="0"/>
              <a:t>Course given as </a:t>
            </a:r>
          </a:p>
          <a:p>
            <a:pPr lvl="1"/>
            <a:r>
              <a:rPr lang="sv-SE" sz="1600" dirty="0"/>
              <a:t>732A99 (9 ECTS): Block 1+Block 2</a:t>
            </a:r>
          </a:p>
          <a:p>
            <a:pPr lvl="1"/>
            <a:r>
              <a:rPr lang="sv-SE" sz="1600" dirty="0"/>
              <a:t>732A68 (9 ECTS): Block 1+Block 2</a:t>
            </a:r>
          </a:p>
          <a:p>
            <a:pPr lvl="1"/>
            <a:r>
              <a:rPr lang="sv-SE" sz="1600" dirty="0"/>
              <a:t>TDDE01 (6 ECTS): Block 1</a:t>
            </a:r>
          </a:p>
          <a:p>
            <a:endParaRPr lang="sv-SE" sz="2000" dirty="0"/>
          </a:p>
          <a:p>
            <a:r>
              <a:rPr lang="sv-SE" sz="2000" b="1" dirty="0" err="1">
                <a:solidFill>
                  <a:srgbClr val="0070C0"/>
                </a:solidFill>
              </a:rPr>
              <a:t>Labs</a:t>
            </a:r>
            <a:endParaRPr lang="sv-SE" sz="2000" b="1" dirty="0">
              <a:solidFill>
                <a:srgbClr val="0070C0"/>
              </a:solidFill>
            </a:endParaRPr>
          </a:p>
          <a:p>
            <a:pPr lvl="1"/>
            <a:r>
              <a:rPr lang="sv-SE" sz="1600" dirty="0"/>
              <a:t>Sign-</a:t>
            </a:r>
            <a:r>
              <a:rPr lang="sv-SE" sz="1600" dirty="0" err="1"/>
              <a:t>up</a:t>
            </a:r>
            <a:r>
              <a:rPr lang="sv-SE" sz="1600" dirty="0"/>
              <a:t> at LISAM, </a:t>
            </a:r>
            <a:r>
              <a:rPr lang="sv-SE" sz="1600" b="1" dirty="0" err="1"/>
              <a:t>exactly</a:t>
            </a:r>
            <a:r>
              <a:rPr lang="sv-SE" sz="1600" b="1" dirty="0"/>
              <a:t> 3 persons</a:t>
            </a:r>
            <a:r>
              <a:rPr lang="sv-SE" sz="1600" dirty="0"/>
              <a:t>! (</a:t>
            </a:r>
            <a:r>
              <a:rPr lang="sv-SE" sz="1600" dirty="0" err="1"/>
              <a:t>otherwise</a:t>
            </a:r>
            <a:r>
              <a:rPr lang="sv-SE" sz="1600" dirty="0"/>
              <a:t> </a:t>
            </a:r>
            <a:r>
              <a:rPr lang="sv-SE" sz="1600" dirty="0" err="1"/>
              <a:t>group</a:t>
            </a:r>
            <a:r>
              <a:rPr lang="sv-SE" sz="1600" dirty="0"/>
              <a:t> </a:t>
            </a:r>
            <a:r>
              <a:rPr lang="sv-SE" sz="1600" dirty="0" err="1"/>
              <a:t>may</a:t>
            </a:r>
            <a:r>
              <a:rPr lang="sv-SE" sz="1600" dirty="0"/>
              <a:t> be split)</a:t>
            </a:r>
          </a:p>
          <a:p>
            <a:pPr lvl="1"/>
            <a:r>
              <a:rPr lang="sv-SE" sz="1600" dirty="0" err="1"/>
              <a:t>Takes</a:t>
            </a:r>
            <a:r>
              <a:rPr lang="sv-SE" sz="1600" dirty="0"/>
              <a:t> </a:t>
            </a:r>
            <a:r>
              <a:rPr lang="sv-SE" sz="1600" dirty="0" err="1"/>
              <a:t>around</a:t>
            </a:r>
            <a:r>
              <a:rPr lang="sv-SE" sz="1600" dirty="0"/>
              <a:t> 8h , </a:t>
            </a:r>
            <a:r>
              <a:rPr lang="sv-SE" sz="1600" dirty="0" err="1"/>
              <a:t>group</a:t>
            </a:r>
            <a:r>
              <a:rPr lang="sv-SE" sz="1600" dirty="0"/>
              <a:t> </a:t>
            </a:r>
            <a:r>
              <a:rPr lang="sv-SE" sz="1600" dirty="0" err="1"/>
              <a:t>report</a:t>
            </a:r>
            <a:endParaRPr lang="sv-SE" sz="1600" dirty="0"/>
          </a:p>
          <a:p>
            <a:pPr lvl="1"/>
            <a:r>
              <a:rPr lang="sv-SE" sz="1600" dirty="0" err="1"/>
              <a:t>Published</a:t>
            </a:r>
            <a:r>
              <a:rPr lang="sv-SE" sz="1600" dirty="0"/>
              <a:t> a </a:t>
            </a:r>
            <a:r>
              <a:rPr lang="sv-SE" sz="1600" dirty="0" err="1"/>
              <a:t>day</a:t>
            </a:r>
            <a:r>
              <a:rPr lang="sv-SE" sz="1600" dirty="0"/>
              <a:t> in </a:t>
            </a:r>
            <a:r>
              <a:rPr lang="sv-SE" sz="1600" dirty="0" err="1"/>
              <a:t>advance</a:t>
            </a:r>
            <a:r>
              <a:rPr lang="sv-SE" sz="1600" dirty="0"/>
              <a:t> – try </a:t>
            </a:r>
            <a:r>
              <a:rPr lang="sv-SE" sz="1600" dirty="0" err="1"/>
              <a:t>doing</a:t>
            </a:r>
            <a:r>
              <a:rPr lang="sv-SE" sz="1600" dirty="0"/>
              <a:t> </a:t>
            </a:r>
            <a:r>
              <a:rPr lang="sv-SE" sz="1600" dirty="0" err="1"/>
              <a:t>before</a:t>
            </a:r>
            <a:r>
              <a:rPr lang="sv-SE" sz="1600" dirty="0"/>
              <a:t> </a:t>
            </a:r>
            <a:r>
              <a:rPr lang="sv-SE" sz="1600" dirty="0" err="1"/>
              <a:t>attending</a:t>
            </a:r>
            <a:r>
              <a:rPr lang="sv-SE" sz="1600" dirty="0"/>
              <a:t> the </a:t>
            </a:r>
            <a:r>
              <a:rPr lang="sv-SE" sz="1600" dirty="0" err="1"/>
              <a:t>first</a:t>
            </a:r>
            <a:r>
              <a:rPr lang="sv-SE" sz="1600" dirty="0"/>
              <a:t> </a:t>
            </a:r>
            <a:r>
              <a:rPr lang="sv-SE" sz="1600" dirty="0" err="1"/>
              <a:t>lab</a:t>
            </a:r>
            <a:r>
              <a:rPr lang="sv-SE" sz="1600" dirty="0"/>
              <a:t> session!</a:t>
            </a:r>
          </a:p>
          <a:p>
            <a:pPr lvl="1"/>
            <a:r>
              <a:rPr lang="sv-SE" sz="1600" b="1" dirty="0">
                <a:solidFill>
                  <a:srgbClr val="FF0000"/>
                </a:solidFill>
              </a:rPr>
              <a:t>Statement </a:t>
            </a:r>
            <a:r>
              <a:rPr lang="sv-SE" sz="1600" b="1" dirty="0" err="1">
                <a:solidFill>
                  <a:srgbClr val="FF0000"/>
                </a:solidFill>
              </a:rPr>
              <a:t>of</a:t>
            </a:r>
            <a:r>
              <a:rPr lang="sv-SE" sz="1600" b="1" dirty="0">
                <a:solidFill>
                  <a:srgbClr val="FF0000"/>
                </a:solidFill>
              </a:rPr>
              <a:t> </a:t>
            </a:r>
            <a:r>
              <a:rPr lang="sv-SE" sz="1600" b="1" dirty="0" err="1">
                <a:solidFill>
                  <a:srgbClr val="FF0000"/>
                </a:solidFill>
              </a:rPr>
              <a:t>Contribution</a:t>
            </a:r>
            <a:r>
              <a:rPr lang="sv-SE" sz="1600" b="1" dirty="0">
                <a:solidFill>
                  <a:srgbClr val="FF0000"/>
                </a:solidFill>
              </a:rPr>
              <a:t>: </a:t>
            </a:r>
            <a:r>
              <a:rPr lang="sv-SE" sz="1600" dirty="0" err="1"/>
              <a:t>describe</a:t>
            </a:r>
            <a:r>
              <a:rPr lang="sv-SE" sz="1600" dirty="0"/>
              <a:t> </a:t>
            </a:r>
            <a:r>
              <a:rPr lang="sv-SE" sz="1600" dirty="0" err="1"/>
              <a:t>clearly</a:t>
            </a:r>
            <a:r>
              <a:rPr lang="sv-SE" sz="1600" dirty="0"/>
              <a:t> </a:t>
            </a:r>
            <a:r>
              <a:rPr lang="sv-SE" sz="1600" dirty="0" err="1"/>
              <a:t>how</a:t>
            </a:r>
            <a:r>
              <a:rPr lang="sv-SE" sz="1600" dirty="0"/>
              <a:t> </a:t>
            </a:r>
            <a:r>
              <a:rPr lang="sv-SE" sz="1600" dirty="0" err="1"/>
              <a:t>each</a:t>
            </a:r>
            <a:r>
              <a:rPr lang="sv-SE" sz="1600" dirty="0"/>
              <a:t> </a:t>
            </a:r>
            <a:r>
              <a:rPr lang="sv-SE" sz="1600" dirty="0" err="1"/>
              <a:t>member</a:t>
            </a:r>
            <a:r>
              <a:rPr lang="sv-SE" sz="1600" dirty="0"/>
              <a:t> </a:t>
            </a:r>
            <a:r>
              <a:rPr lang="sv-SE" sz="1600" dirty="0" err="1"/>
              <a:t>contributed</a:t>
            </a:r>
            <a:r>
              <a:rPr lang="sv-SE" sz="1600" dirty="0"/>
              <a:t> to the </a:t>
            </a:r>
            <a:r>
              <a:rPr lang="sv-SE" sz="1600" dirty="0" err="1"/>
              <a:t>group</a:t>
            </a:r>
            <a:r>
              <a:rPr lang="sv-SE" sz="1600" dirty="0"/>
              <a:t> </a:t>
            </a:r>
            <a:r>
              <a:rPr lang="sv-SE" sz="1600" dirty="0" err="1"/>
              <a:t>report</a:t>
            </a:r>
            <a:r>
              <a:rPr lang="sv-SE" sz="1600" dirty="0"/>
              <a:t> (</a:t>
            </a:r>
            <a:r>
              <a:rPr lang="sv-SE" sz="1600" dirty="0" err="1"/>
              <a:t>what</a:t>
            </a:r>
            <a:r>
              <a:rPr lang="sv-SE" sz="1600" dirty="0"/>
              <a:t> </a:t>
            </a:r>
            <a:r>
              <a:rPr lang="sv-SE" sz="1600" dirty="0" err="1"/>
              <a:t>exactly</a:t>
            </a:r>
            <a:r>
              <a:rPr lang="sv-SE" sz="1600" dirty="0"/>
              <a:t> </a:t>
            </a:r>
            <a:r>
              <a:rPr lang="sv-SE" sz="1600" dirty="0" err="1"/>
              <a:t>was</a:t>
            </a:r>
            <a:r>
              <a:rPr lang="sv-SE" sz="1600" dirty="0"/>
              <a:t> </a:t>
            </a:r>
            <a:r>
              <a:rPr lang="sv-SE" sz="1600" dirty="0" err="1"/>
              <a:t>done</a:t>
            </a:r>
            <a:r>
              <a:rPr lang="sv-SE" sz="1600" dirty="0"/>
              <a:t> by </a:t>
            </a:r>
            <a:r>
              <a:rPr lang="sv-SE" sz="1600" dirty="0" err="1"/>
              <a:t>each</a:t>
            </a:r>
            <a:r>
              <a:rPr lang="sv-SE" sz="1600" dirty="0"/>
              <a:t> person). </a:t>
            </a:r>
            <a:r>
              <a:rPr lang="sv-SE" sz="1600" dirty="0" err="1"/>
              <a:t>Without</a:t>
            </a:r>
            <a:r>
              <a:rPr lang="sv-SE" sz="1600" dirty="0"/>
              <a:t> it </a:t>
            </a:r>
            <a:r>
              <a:rPr lang="sv-SE" sz="1600" dirty="0" err="1"/>
              <a:t>lab</a:t>
            </a:r>
            <a:r>
              <a:rPr lang="sv-SE" sz="1600" dirty="0"/>
              <a:t> is </a:t>
            </a:r>
            <a:r>
              <a:rPr lang="sv-SE" sz="1600" dirty="0" err="1"/>
              <a:t>automatically</a:t>
            </a:r>
            <a:r>
              <a:rPr lang="sv-SE" sz="1600" dirty="0"/>
              <a:t> </a:t>
            </a:r>
            <a:r>
              <a:rPr lang="sv-SE" sz="1600" dirty="0" err="1"/>
              <a:t>failed</a:t>
            </a:r>
            <a:r>
              <a:rPr lang="sv-SE" sz="1600" dirty="0"/>
              <a:t>.</a:t>
            </a:r>
          </a:p>
          <a:p>
            <a:pPr lvl="1"/>
            <a:r>
              <a:rPr lang="sv-SE" sz="1600" dirty="0" err="1"/>
              <a:t>Offline</a:t>
            </a:r>
            <a:r>
              <a:rPr lang="sv-SE" sz="1600" dirty="0"/>
              <a:t> short </a:t>
            </a:r>
            <a:r>
              <a:rPr lang="sv-SE" sz="1600" dirty="0" err="1"/>
              <a:t>question</a:t>
            </a:r>
            <a:r>
              <a:rPr lang="sv-SE" sz="1600" dirty="0"/>
              <a:t> </a:t>
            </a:r>
            <a:r>
              <a:rPr lang="sv-SE" sz="1600" dirty="0" err="1"/>
              <a:t>answering</a:t>
            </a:r>
            <a:r>
              <a:rPr lang="sv-SE" sz="1600" dirty="0"/>
              <a:t> on LISAM</a:t>
            </a:r>
          </a:p>
          <a:p>
            <a:pPr lvl="1"/>
            <a:r>
              <a:rPr lang="sv-SE" sz="1600" dirty="0"/>
              <a:t>Deadlines</a:t>
            </a:r>
          </a:p>
          <a:p>
            <a:pPr lvl="1"/>
            <a:r>
              <a:rPr lang="sv-SE" sz="1600" dirty="0"/>
              <a:t>To pass </a:t>
            </a:r>
            <a:r>
              <a:rPr lang="sv-SE" sz="1600" dirty="0" err="1"/>
              <a:t>exam</a:t>
            </a:r>
            <a:r>
              <a:rPr lang="sv-SE" sz="1600" dirty="0"/>
              <a:t>, </a:t>
            </a:r>
            <a:r>
              <a:rPr lang="sv-SE" sz="1600" b="1" dirty="0" err="1"/>
              <a:t>each</a:t>
            </a:r>
            <a:r>
              <a:rPr lang="sv-SE" sz="1600" b="1" dirty="0"/>
              <a:t> student </a:t>
            </a:r>
            <a:r>
              <a:rPr lang="sv-SE" sz="1600" b="1" dirty="0" err="1"/>
              <a:t>needs</a:t>
            </a:r>
            <a:r>
              <a:rPr lang="sv-SE" sz="1600" b="1" dirty="0"/>
              <a:t> to </a:t>
            </a:r>
            <a:r>
              <a:rPr lang="sv-SE" sz="1600" b="1" dirty="0" err="1"/>
              <a:t>have</a:t>
            </a:r>
            <a:r>
              <a:rPr lang="sv-SE" sz="1600" b="1" dirty="0"/>
              <a:t> </a:t>
            </a:r>
            <a:r>
              <a:rPr lang="sv-SE" sz="1600" b="1" dirty="0" err="1"/>
              <a:t>experience</a:t>
            </a:r>
            <a:r>
              <a:rPr lang="sv-SE" sz="1600" b="1" dirty="0"/>
              <a:t> </a:t>
            </a:r>
            <a:r>
              <a:rPr lang="sv-SE" sz="1600" b="1" dirty="0" err="1"/>
              <a:t>of</a:t>
            </a:r>
            <a:r>
              <a:rPr lang="sv-SE" sz="1600" b="1" dirty="0"/>
              <a:t> </a:t>
            </a:r>
            <a:r>
              <a:rPr lang="sv-SE" sz="1600" b="1" dirty="0" err="1"/>
              <a:t>solving</a:t>
            </a:r>
            <a:r>
              <a:rPr lang="sv-SE" sz="1600" b="1" dirty="0"/>
              <a:t> all </a:t>
            </a:r>
            <a:r>
              <a:rPr lang="sv-SE" sz="1600" b="1" dirty="0" err="1"/>
              <a:t>lab</a:t>
            </a:r>
            <a:r>
              <a:rPr lang="sv-SE" sz="1600" b="1" dirty="0"/>
              <a:t> tasks </a:t>
            </a:r>
            <a:r>
              <a:rPr lang="sv-SE" sz="1600" dirty="0">
                <a:sym typeface="Wingdings" panose="05000000000000000000" pitchFamily="2" charset="2"/>
              </a:rPr>
              <a:t> make sure to try all tasks </a:t>
            </a:r>
            <a:r>
              <a:rPr lang="sv-SE" sz="1600" dirty="0" err="1">
                <a:sym typeface="Wingdings" panose="05000000000000000000" pitchFamily="2" charset="2"/>
              </a:rPr>
              <a:t>before</a:t>
            </a:r>
            <a:r>
              <a:rPr lang="sv-SE" sz="1600" dirty="0">
                <a:sym typeface="Wingdings" panose="05000000000000000000" pitchFamily="2" charset="2"/>
              </a:rPr>
              <a:t> the </a:t>
            </a:r>
            <a:r>
              <a:rPr lang="sv-SE" sz="1600" dirty="0" err="1">
                <a:sym typeface="Wingdings" panose="05000000000000000000" pitchFamily="2" charset="2"/>
              </a:rPr>
              <a:t>exam</a:t>
            </a:r>
            <a:r>
              <a:rPr lang="sv-SE" sz="1600" dirty="0">
                <a:sym typeface="Wingdings" panose="05000000000000000000" pitchFamily="2" charset="2"/>
              </a:rPr>
              <a:t>!</a:t>
            </a:r>
            <a:endParaRPr lang="sv-SE" sz="1600" dirty="0"/>
          </a:p>
          <a:p>
            <a:pPr lvl="1"/>
            <a:r>
              <a:rPr lang="sv-SE" sz="1600" dirty="0"/>
              <a:t>Submission via LISAM</a:t>
            </a:r>
          </a:p>
          <a:p>
            <a:pPr lvl="1"/>
            <a:endParaRPr lang="sv-SE" sz="1600" dirty="0">
              <a:solidFill>
                <a:srgbClr val="FF0000"/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102138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Course </a:t>
            </a:r>
            <a:r>
              <a:rPr lang="sv-SE" dirty="0" err="1"/>
              <a:t>organization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v-SE" dirty="0" err="1">
                <a:solidFill>
                  <a:srgbClr val="0070C0"/>
                </a:solidFill>
              </a:rPr>
              <a:t>Lectures</a:t>
            </a:r>
            <a:endParaRPr lang="sv-SE" dirty="0">
              <a:solidFill>
                <a:srgbClr val="0070C0"/>
              </a:solidFill>
            </a:endParaRPr>
          </a:p>
          <a:p>
            <a:pPr lvl="1"/>
            <a:r>
              <a:rPr lang="sv-SE" dirty="0" err="1"/>
              <a:t>Available</a:t>
            </a:r>
            <a:r>
              <a:rPr lang="sv-SE" dirty="0"/>
              <a:t> as PowerPoint or PDF, </a:t>
            </a:r>
            <a:r>
              <a:rPr lang="sv-SE" dirty="0" err="1"/>
              <a:t>normally</a:t>
            </a:r>
            <a:r>
              <a:rPr lang="sv-SE" dirty="0"/>
              <a:t> at LISAM</a:t>
            </a:r>
          </a:p>
          <a:p>
            <a:pPr lvl="2"/>
            <a:endParaRPr lang="sv-SE" dirty="0"/>
          </a:p>
          <a:p>
            <a:r>
              <a:rPr lang="sv-SE" dirty="0" err="1">
                <a:solidFill>
                  <a:srgbClr val="0070C0"/>
                </a:solidFill>
              </a:rPr>
              <a:t>Tutorials</a:t>
            </a:r>
            <a:r>
              <a:rPr lang="sv-SE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sv-SE" dirty="0" err="1"/>
              <a:t>Topic</a:t>
            </a:r>
            <a:r>
              <a:rPr lang="sv-SE" dirty="0"/>
              <a:t> 1 and 2 block 1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tutorials</a:t>
            </a:r>
            <a:r>
              <a:rPr lang="sv-SE" dirty="0"/>
              <a:t> = </a:t>
            </a:r>
            <a:r>
              <a:rPr lang="sv-SE" dirty="0" err="1"/>
              <a:t>basic</a:t>
            </a:r>
            <a:r>
              <a:rPr lang="sv-SE" dirty="0"/>
              <a:t> </a:t>
            </a:r>
            <a:r>
              <a:rPr lang="sv-SE" dirty="0" err="1"/>
              <a:t>exercises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answers</a:t>
            </a:r>
            <a:r>
              <a:rPr lang="sv-SE" dirty="0"/>
              <a:t>. Go </a:t>
            </a:r>
            <a:r>
              <a:rPr lang="sv-SE" dirty="0" err="1"/>
              <a:t>through</a:t>
            </a:r>
            <a:r>
              <a:rPr lang="sv-SE" dirty="0"/>
              <a:t> </a:t>
            </a:r>
            <a:r>
              <a:rPr lang="sv-SE" b="1" dirty="0" err="1"/>
              <a:t>before</a:t>
            </a:r>
            <a:r>
              <a:rPr lang="sv-SE" dirty="0"/>
              <a:t> the </a:t>
            </a:r>
            <a:r>
              <a:rPr lang="sv-SE" dirty="0" err="1"/>
              <a:t>respective</a:t>
            </a:r>
            <a:r>
              <a:rPr lang="sv-SE" dirty="0"/>
              <a:t> </a:t>
            </a:r>
            <a:r>
              <a:rPr lang="sv-SE" dirty="0" err="1"/>
              <a:t>lab</a:t>
            </a:r>
            <a:r>
              <a:rPr lang="sv-SE" dirty="0"/>
              <a:t>!</a:t>
            </a:r>
          </a:p>
          <a:p>
            <a:pPr lvl="1"/>
            <a:endParaRPr lang="sv-SE" dirty="0"/>
          </a:p>
          <a:p>
            <a:r>
              <a:rPr lang="sv-SE" dirty="0" err="1">
                <a:solidFill>
                  <a:srgbClr val="0070C0"/>
                </a:solidFill>
              </a:rPr>
              <a:t>Seminars</a:t>
            </a:r>
            <a:endParaRPr lang="sv-SE" dirty="0">
              <a:solidFill>
                <a:srgbClr val="0070C0"/>
              </a:solidFill>
            </a:endParaRPr>
          </a:p>
          <a:p>
            <a:pPr lvl="1"/>
            <a:r>
              <a:rPr lang="sv-SE" dirty="0" err="1"/>
              <a:t>Obligatory</a:t>
            </a:r>
            <a:r>
              <a:rPr lang="sv-SE" dirty="0"/>
              <a:t> </a:t>
            </a:r>
            <a:r>
              <a:rPr lang="sv-SE" dirty="0" err="1"/>
              <a:t>attendance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all </a:t>
            </a:r>
            <a:r>
              <a:rPr lang="sv-SE" dirty="0" err="1"/>
              <a:t>seminars</a:t>
            </a:r>
            <a:endParaRPr lang="sv-SE" dirty="0"/>
          </a:p>
          <a:p>
            <a:pPr lvl="1"/>
            <a:r>
              <a:rPr lang="sv-SE" dirty="0"/>
              <a:t>Zoom</a:t>
            </a:r>
          </a:p>
          <a:p>
            <a:pPr lvl="1"/>
            <a:r>
              <a:rPr lang="sv-SE" dirty="0"/>
              <a:t>Speaker and opponent </a:t>
            </a:r>
            <a:r>
              <a:rPr lang="sv-SE" dirty="0" err="1"/>
              <a:t>groups</a:t>
            </a:r>
            <a:endParaRPr lang="sv-SE" dirty="0"/>
          </a:p>
          <a:p>
            <a:pPr lvl="1"/>
            <a:r>
              <a:rPr lang="sv-SE" dirty="0" err="1"/>
              <a:t>Discussion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latest</a:t>
            </a:r>
            <a:r>
              <a:rPr lang="sv-SE" dirty="0"/>
              <a:t> </a:t>
            </a:r>
            <a:r>
              <a:rPr lang="sv-SE" dirty="0" err="1"/>
              <a:t>lab</a:t>
            </a:r>
            <a:endParaRPr lang="sv-SE" dirty="0"/>
          </a:p>
          <a:p>
            <a:pPr lvl="1"/>
            <a:r>
              <a:rPr lang="sv-SE" dirty="0"/>
              <a:t>Presentation </a:t>
            </a:r>
            <a:r>
              <a:rPr lang="sv-SE" dirty="0" err="1"/>
              <a:t>schedule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published</a:t>
            </a:r>
            <a:r>
              <a:rPr lang="sv-SE" dirty="0"/>
              <a:t> on LISAM (Seminars.PDF)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406164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Course </a:t>
            </a:r>
            <a:r>
              <a:rPr lang="sv-SE" dirty="0" err="1"/>
              <a:t>organization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" y="1600200"/>
            <a:ext cx="4402832" cy="4525963"/>
          </a:xfrm>
        </p:spPr>
        <p:txBody>
          <a:bodyPr>
            <a:normAutofit lnSpcReduction="10000"/>
          </a:bodyPr>
          <a:lstStyle/>
          <a:p>
            <a:r>
              <a:rPr lang="sv-SE" dirty="0">
                <a:solidFill>
                  <a:srgbClr val="0070C0"/>
                </a:solidFill>
              </a:rPr>
              <a:t>Examination</a:t>
            </a:r>
          </a:p>
          <a:p>
            <a:pPr lvl="1"/>
            <a:r>
              <a:rPr lang="sv-SE" dirty="0" err="1"/>
              <a:t>laboratory</a:t>
            </a:r>
            <a:r>
              <a:rPr lang="sv-SE" dirty="0"/>
              <a:t> part + computer-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exam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Lecture</a:t>
            </a:r>
            <a:r>
              <a:rPr lang="sv-SE" dirty="0"/>
              <a:t> 1b is ’Basic </a:t>
            </a:r>
            <a:r>
              <a:rPr lang="sv-SE" dirty="0" err="1"/>
              <a:t>Statistics</a:t>
            </a:r>
            <a:r>
              <a:rPr lang="sv-SE" dirty="0"/>
              <a:t>’</a:t>
            </a:r>
          </a:p>
          <a:p>
            <a:endParaRPr lang="sv-SE" dirty="0"/>
          </a:p>
          <a:p>
            <a:r>
              <a:rPr lang="sv-SE" dirty="0" err="1"/>
              <a:t>Lecture</a:t>
            </a:r>
            <a:r>
              <a:rPr lang="sv-SE" dirty="0"/>
              <a:t> 1c is ’</a:t>
            </a:r>
            <a:r>
              <a:rPr lang="sv-SE" dirty="0" err="1"/>
              <a:t>Introduction</a:t>
            </a:r>
            <a:r>
              <a:rPr lang="sv-SE" dirty="0"/>
              <a:t> to R’ 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204864"/>
            <a:ext cx="3810000" cy="2540000"/>
          </a:xfrm>
          <a:prstGeom prst="rect">
            <a:avLst/>
          </a:prstGeom>
        </p:spPr>
      </p:pic>
      <p:sp>
        <p:nvSpPr>
          <p:cNvPr id="6" name="textruta 5"/>
          <p:cNvSpPr txBox="1"/>
          <p:nvPr/>
        </p:nvSpPr>
        <p:spPr>
          <a:xfrm>
            <a:off x="5563344" y="4781217"/>
            <a:ext cx="34667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85000"/>
                  </a:schemeClr>
                </a:solidFill>
              </a:rPr>
              <a:t>http://www.swagseduction.com/wp-content/uploads/2014/11/stressful.jpg</a:t>
            </a:r>
          </a:p>
        </p:txBody>
      </p:sp>
    </p:spTree>
    <p:extLst>
      <p:ext uri="{BB962C8B-B14F-4D97-AF65-F5344CB8AC3E}">
        <p14:creationId xmlns:p14="http://schemas.microsoft.com/office/powerpoint/2010/main" val="20485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What</a:t>
            </a:r>
            <a:r>
              <a:rPr lang="sv-SE" dirty="0"/>
              <a:t> is </a:t>
            </a:r>
            <a:r>
              <a:rPr lang="sv-SE" dirty="0" err="1"/>
              <a:t>Machine</a:t>
            </a:r>
            <a:r>
              <a:rPr lang="sv-SE" dirty="0"/>
              <a:t> Learning ?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700" marR="41275">
              <a:lnSpc>
                <a:spcPct val="102600"/>
              </a:lnSpc>
            </a:pPr>
            <a:r>
              <a:rPr lang="en-US" i="1" spc="-15" dirty="0">
                <a:latin typeface="Book Antiqua"/>
                <a:cs typeface="Book Antiqua"/>
              </a:rPr>
              <a:t>Machine </a:t>
            </a:r>
            <a:r>
              <a:rPr lang="en-US" i="1" spc="-30" dirty="0">
                <a:latin typeface="Book Antiqua"/>
                <a:cs typeface="Book Antiqua"/>
              </a:rPr>
              <a:t>learning </a:t>
            </a:r>
            <a:r>
              <a:rPr lang="en-US" i="1" spc="-35" dirty="0">
                <a:latin typeface="Book Antiqua"/>
                <a:cs typeface="Book Antiqua"/>
              </a:rPr>
              <a:t>is </a:t>
            </a:r>
            <a:r>
              <a:rPr lang="en-US" i="1" spc="25" dirty="0">
                <a:latin typeface="Book Antiqua"/>
                <a:cs typeface="Book Antiqua"/>
              </a:rPr>
              <a:t>a </a:t>
            </a:r>
            <a:r>
              <a:rPr lang="en-US" i="1" spc="-10" dirty="0">
                <a:latin typeface="Book Antiqua"/>
                <a:cs typeface="Book Antiqua"/>
              </a:rPr>
              <a:t>subfield </a:t>
            </a:r>
            <a:r>
              <a:rPr lang="en-US" i="1" spc="35" dirty="0">
                <a:latin typeface="Book Antiqua"/>
                <a:cs typeface="Book Antiqua"/>
              </a:rPr>
              <a:t>of </a:t>
            </a:r>
            <a:r>
              <a:rPr lang="en-US" b="1" i="1" spc="30" dirty="0">
                <a:cs typeface="Calibri"/>
              </a:rPr>
              <a:t>computer science </a:t>
            </a:r>
            <a:r>
              <a:rPr lang="en-US" i="1" spc="15" dirty="0">
                <a:latin typeface="Book Antiqua"/>
                <a:cs typeface="Book Antiqua"/>
              </a:rPr>
              <a:t>that </a:t>
            </a:r>
            <a:r>
              <a:rPr lang="en-US" i="1" spc="-5" dirty="0">
                <a:latin typeface="Book Antiqua"/>
                <a:cs typeface="Book Antiqua"/>
              </a:rPr>
              <a:t>evolved  </a:t>
            </a:r>
            <a:r>
              <a:rPr lang="en-US" i="1" dirty="0">
                <a:latin typeface="Book Antiqua"/>
                <a:cs typeface="Book Antiqua"/>
              </a:rPr>
              <a:t>from </a:t>
            </a:r>
            <a:r>
              <a:rPr lang="en-US" i="1" spc="20" dirty="0">
                <a:latin typeface="Book Antiqua"/>
                <a:cs typeface="Book Antiqua"/>
              </a:rPr>
              <a:t>the </a:t>
            </a:r>
            <a:r>
              <a:rPr lang="en-US" i="1" spc="-25" dirty="0">
                <a:latin typeface="Book Antiqua"/>
                <a:cs typeface="Book Antiqua"/>
              </a:rPr>
              <a:t>study </a:t>
            </a:r>
            <a:r>
              <a:rPr lang="en-US" i="1" spc="35" dirty="0">
                <a:latin typeface="Book Antiqua"/>
                <a:cs typeface="Book Antiqua"/>
              </a:rPr>
              <a:t>of </a:t>
            </a:r>
            <a:r>
              <a:rPr lang="en-US" b="1" i="1" spc="25" dirty="0">
                <a:solidFill>
                  <a:srgbClr val="0000FF"/>
                </a:solidFill>
                <a:cs typeface="Calibri"/>
              </a:rPr>
              <a:t>pattern recognition </a:t>
            </a:r>
            <a:r>
              <a:rPr lang="en-US" i="1" spc="-5" dirty="0">
                <a:latin typeface="Book Antiqua"/>
                <a:cs typeface="Book Antiqua"/>
              </a:rPr>
              <a:t>and computational  </a:t>
            </a:r>
            <a:r>
              <a:rPr lang="en-US" i="1" spc="-30" dirty="0">
                <a:latin typeface="Book Antiqua"/>
                <a:cs typeface="Book Antiqua"/>
              </a:rPr>
              <a:t>learning  </a:t>
            </a:r>
            <a:r>
              <a:rPr lang="en-US" i="1" spc="-5" dirty="0">
                <a:latin typeface="Book Antiqua"/>
                <a:cs typeface="Book Antiqua"/>
              </a:rPr>
              <a:t>theory </a:t>
            </a:r>
            <a:r>
              <a:rPr lang="en-US" i="1" spc="-55" dirty="0">
                <a:latin typeface="Book Antiqua"/>
                <a:cs typeface="Book Antiqua"/>
              </a:rPr>
              <a:t>in  </a:t>
            </a:r>
            <a:r>
              <a:rPr lang="en-US" b="1" i="1" spc="15" dirty="0">
                <a:solidFill>
                  <a:srgbClr val="0000FF"/>
                </a:solidFill>
                <a:cs typeface="Calibri"/>
              </a:rPr>
              <a:t>artificial</a:t>
            </a:r>
            <a:r>
              <a:rPr lang="en-US" b="1" i="1" spc="80" dirty="0">
                <a:solidFill>
                  <a:srgbClr val="0000FF"/>
                </a:solidFill>
                <a:cs typeface="Calibri"/>
              </a:rPr>
              <a:t> </a:t>
            </a:r>
            <a:r>
              <a:rPr lang="en-US" b="1" i="1" spc="20" dirty="0">
                <a:solidFill>
                  <a:srgbClr val="0000FF"/>
                </a:solidFill>
                <a:cs typeface="Calibri"/>
              </a:rPr>
              <a:t>intelligence</a:t>
            </a:r>
            <a:r>
              <a:rPr lang="en-US" i="1" spc="20" dirty="0">
                <a:latin typeface="Book Antiqua"/>
                <a:cs typeface="Book Antiqua"/>
              </a:rPr>
              <a:t>.</a:t>
            </a:r>
            <a:endParaRPr lang="en-US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</a:pPr>
            <a:r>
              <a:rPr lang="en-US" i="1" spc="-15" dirty="0">
                <a:latin typeface="Book Antiqua"/>
                <a:cs typeface="Book Antiqua"/>
              </a:rPr>
              <a:t>Machine </a:t>
            </a:r>
            <a:r>
              <a:rPr lang="en-US" i="1" spc="-30" dirty="0">
                <a:latin typeface="Book Antiqua"/>
                <a:cs typeface="Book Antiqua"/>
              </a:rPr>
              <a:t>learning </a:t>
            </a:r>
            <a:r>
              <a:rPr lang="en-US" i="1" spc="-10" dirty="0">
                <a:latin typeface="Book Antiqua"/>
                <a:cs typeface="Book Antiqua"/>
              </a:rPr>
              <a:t>explores </a:t>
            </a:r>
            <a:r>
              <a:rPr lang="en-US" i="1" spc="20" dirty="0">
                <a:latin typeface="Book Antiqua"/>
                <a:cs typeface="Book Antiqua"/>
              </a:rPr>
              <a:t>the </a:t>
            </a:r>
            <a:r>
              <a:rPr lang="en-US" i="1" spc="-25" dirty="0">
                <a:latin typeface="Book Antiqua"/>
                <a:cs typeface="Book Antiqua"/>
              </a:rPr>
              <a:t>study </a:t>
            </a:r>
            <a:r>
              <a:rPr lang="en-US" i="1" spc="-5" dirty="0">
                <a:latin typeface="Book Antiqua"/>
                <a:cs typeface="Book Antiqua"/>
              </a:rPr>
              <a:t>and </a:t>
            </a:r>
            <a:r>
              <a:rPr lang="en-US" i="1" spc="-10" dirty="0">
                <a:latin typeface="Book Antiqua"/>
                <a:cs typeface="Book Antiqua"/>
              </a:rPr>
              <a:t>construction </a:t>
            </a:r>
            <a:r>
              <a:rPr lang="en-US" i="1" spc="30" dirty="0">
                <a:latin typeface="Book Antiqua"/>
                <a:cs typeface="Book Antiqua"/>
              </a:rPr>
              <a:t>of  </a:t>
            </a:r>
            <a:r>
              <a:rPr lang="en-US" b="1" i="1" spc="20" dirty="0">
                <a:solidFill>
                  <a:srgbClr val="0000FF"/>
                </a:solidFill>
                <a:cs typeface="Calibri"/>
              </a:rPr>
              <a:t>algorithms </a:t>
            </a:r>
            <a:r>
              <a:rPr lang="en-US" i="1" spc="15" dirty="0">
                <a:latin typeface="Book Antiqua"/>
                <a:cs typeface="Book Antiqua"/>
              </a:rPr>
              <a:t>that </a:t>
            </a:r>
            <a:r>
              <a:rPr lang="en-US" i="1" dirty="0">
                <a:latin typeface="Book Antiqua"/>
                <a:cs typeface="Book Antiqua"/>
              </a:rPr>
              <a:t>can </a:t>
            </a:r>
            <a:r>
              <a:rPr lang="en-US" b="1" i="1" spc="5" dirty="0">
                <a:solidFill>
                  <a:srgbClr val="0000FF"/>
                </a:solidFill>
                <a:cs typeface="Calibri"/>
              </a:rPr>
              <a:t>learn </a:t>
            </a:r>
            <a:r>
              <a:rPr lang="en-US" i="1" dirty="0">
                <a:latin typeface="Book Antiqua"/>
                <a:cs typeface="Book Antiqua"/>
              </a:rPr>
              <a:t>from </a:t>
            </a:r>
            <a:r>
              <a:rPr lang="en-US" i="1" spc="-5" dirty="0">
                <a:latin typeface="Book Antiqua"/>
                <a:cs typeface="Book Antiqua"/>
              </a:rPr>
              <a:t>and </a:t>
            </a:r>
            <a:r>
              <a:rPr lang="en-US" i="1" spc="20" dirty="0">
                <a:latin typeface="Book Antiqua"/>
                <a:cs typeface="Book Antiqua"/>
              </a:rPr>
              <a:t>make </a:t>
            </a:r>
            <a:r>
              <a:rPr lang="en-US" b="1" i="1" spc="25" dirty="0">
                <a:solidFill>
                  <a:srgbClr val="0000FF"/>
                </a:solidFill>
                <a:cs typeface="Calibri"/>
              </a:rPr>
              <a:t>predictions </a:t>
            </a:r>
            <a:r>
              <a:rPr lang="en-US" i="1" spc="-5" dirty="0">
                <a:latin typeface="Book Antiqua"/>
                <a:cs typeface="Book Antiqua"/>
              </a:rPr>
              <a:t>on </a:t>
            </a:r>
            <a:r>
              <a:rPr lang="en-US" b="1" i="1" spc="15" dirty="0">
                <a:solidFill>
                  <a:srgbClr val="0000FF"/>
                </a:solidFill>
                <a:cs typeface="Calibri"/>
              </a:rPr>
              <a:t>data</a:t>
            </a:r>
            <a:r>
              <a:rPr lang="en-US" i="1" spc="15" dirty="0">
                <a:latin typeface="Book Antiqua"/>
                <a:cs typeface="Book Antiqua"/>
              </a:rPr>
              <a:t>.  </a:t>
            </a:r>
            <a:r>
              <a:rPr lang="en-US" i="1" spc="-10" dirty="0">
                <a:latin typeface="Book Antiqua"/>
                <a:cs typeface="Book Antiqua"/>
              </a:rPr>
              <a:t>Such algorithms </a:t>
            </a:r>
            <a:r>
              <a:rPr lang="en-US" i="1" spc="20" dirty="0">
                <a:latin typeface="Book Antiqua"/>
                <a:cs typeface="Book Antiqua"/>
              </a:rPr>
              <a:t>operate </a:t>
            </a:r>
            <a:r>
              <a:rPr lang="en-US" i="1" spc="-20" dirty="0">
                <a:latin typeface="Book Antiqua"/>
                <a:cs typeface="Book Antiqua"/>
              </a:rPr>
              <a:t>by </a:t>
            </a:r>
            <a:r>
              <a:rPr lang="en-US" i="1" spc="-30" dirty="0">
                <a:latin typeface="Book Antiqua"/>
                <a:cs typeface="Book Antiqua"/>
              </a:rPr>
              <a:t>building </a:t>
            </a:r>
            <a:r>
              <a:rPr lang="en-US" i="1" spc="25" dirty="0">
                <a:latin typeface="Book Antiqua"/>
                <a:cs typeface="Book Antiqua"/>
              </a:rPr>
              <a:t>a </a:t>
            </a:r>
            <a:r>
              <a:rPr lang="en-US" i="1" spc="15" dirty="0">
                <a:latin typeface="Book Antiqua"/>
                <a:cs typeface="Book Antiqua"/>
              </a:rPr>
              <a:t>model </a:t>
            </a:r>
            <a:r>
              <a:rPr lang="en-US" i="1" dirty="0">
                <a:latin typeface="Book Antiqua"/>
                <a:cs typeface="Book Antiqua"/>
              </a:rPr>
              <a:t>from example </a:t>
            </a:r>
            <a:r>
              <a:rPr lang="en-US" i="1" spc="-30" dirty="0">
                <a:latin typeface="Book Antiqua"/>
                <a:cs typeface="Book Antiqua"/>
              </a:rPr>
              <a:t>inputs  </a:t>
            </a:r>
            <a:r>
              <a:rPr lang="en-US" i="1" spc="-55" dirty="0">
                <a:latin typeface="Book Antiqua"/>
                <a:cs typeface="Book Antiqua"/>
              </a:rPr>
              <a:t>in </a:t>
            </a:r>
            <a:r>
              <a:rPr lang="en-US" i="1" spc="-10" dirty="0">
                <a:latin typeface="Book Antiqua"/>
                <a:cs typeface="Book Antiqua"/>
              </a:rPr>
              <a:t>order </a:t>
            </a:r>
            <a:r>
              <a:rPr lang="en-US" i="1" spc="35" dirty="0">
                <a:latin typeface="Book Antiqua"/>
                <a:cs typeface="Book Antiqua"/>
              </a:rPr>
              <a:t>to </a:t>
            </a:r>
            <a:r>
              <a:rPr lang="en-US" i="1" spc="20" dirty="0">
                <a:latin typeface="Book Antiqua"/>
                <a:cs typeface="Book Antiqua"/>
              </a:rPr>
              <a:t>make </a:t>
            </a:r>
            <a:r>
              <a:rPr lang="en-US" i="1" spc="-15" dirty="0">
                <a:latin typeface="Book Antiqua"/>
                <a:cs typeface="Book Antiqua"/>
              </a:rPr>
              <a:t>data-driven </a:t>
            </a:r>
            <a:r>
              <a:rPr lang="en-US" i="1" spc="-10" dirty="0">
                <a:latin typeface="Book Antiqua"/>
                <a:cs typeface="Book Antiqua"/>
              </a:rPr>
              <a:t>predictions </a:t>
            </a:r>
            <a:r>
              <a:rPr lang="en-US" i="1" spc="-20" dirty="0">
                <a:latin typeface="Book Antiqua"/>
                <a:cs typeface="Book Antiqua"/>
              </a:rPr>
              <a:t>or </a:t>
            </a:r>
            <a:r>
              <a:rPr lang="en-US" b="1" i="1" spc="25" dirty="0">
                <a:solidFill>
                  <a:srgbClr val="0000FF"/>
                </a:solidFill>
                <a:cs typeface="Calibri"/>
              </a:rPr>
              <a:t>decisions</a:t>
            </a:r>
            <a:r>
              <a:rPr lang="en-US" i="1" spc="25" dirty="0">
                <a:latin typeface="Book Antiqua"/>
                <a:cs typeface="Book Antiqua"/>
              </a:rPr>
              <a:t>, </a:t>
            </a:r>
            <a:r>
              <a:rPr lang="en-US" i="1" spc="-5" dirty="0">
                <a:latin typeface="Book Antiqua"/>
                <a:cs typeface="Book Antiqua"/>
              </a:rPr>
              <a:t>rather than  </a:t>
            </a:r>
            <a:r>
              <a:rPr lang="en-US" i="1" spc="-25" dirty="0">
                <a:latin typeface="Book Antiqua"/>
                <a:cs typeface="Book Antiqua"/>
              </a:rPr>
              <a:t>following  strictly  </a:t>
            </a:r>
            <a:r>
              <a:rPr lang="en-US" i="1" dirty="0">
                <a:latin typeface="Book Antiqua"/>
                <a:cs typeface="Book Antiqua"/>
              </a:rPr>
              <a:t>static </a:t>
            </a:r>
            <a:r>
              <a:rPr lang="en-US" i="1" spc="-10" dirty="0">
                <a:latin typeface="Book Antiqua"/>
                <a:cs typeface="Book Antiqua"/>
              </a:rPr>
              <a:t>program</a:t>
            </a:r>
            <a:r>
              <a:rPr lang="en-US" i="1" spc="-15" dirty="0">
                <a:latin typeface="Book Antiqua"/>
                <a:cs typeface="Book Antiqua"/>
              </a:rPr>
              <a:t> </a:t>
            </a:r>
            <a:r>
              <a:rPr lang="en-US" i="1" spc="-20" dirty="0">
                <a:latin typeface="Book Antiqua"/>
                <a:cs typeface="Book Antiqua"/>
              </a:rPr>
              <a:t>instructions.</a:t>
            </a:r>
            <a:endParaRPr lang="en-US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4000" dirty="0">
              <a:latin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spc="-45" dirty="0">
                <a:solidFill>
                  <a:srgbClr val="0000FF"/>
                </a:solidFill>
                <a:latin typeface="Book Antiqua"/>
                <a:cs typeface="Book Antiqua"/>
              </a:rPr>
              <a:t>Wikipedia  </a:t>
            </a:r>
            <a:r>
              <a:rPr lang="en-US" sz="2400" spc="15" dirty="0">
                <a:solidFill>
                  <a:srgbClr val="0000FF"/>
                </a:solidFill>
                <a:latin typeface="Book Antiqua"/>
                <a:cs typeface="Book Antiqua"/>
              </a:rPr>
              <a:t>(Oct </a:t>
            </a:r>
            <a:r>
              <a:rPr lang="en-US" sz="2400" spc="10" dirty="0">
                <a:solidFill>
                  <a:srgbClr val="0000FF"/>
                </a:solidFill>
                <a:latin typeface="Book Antiqua"/>
                <a:cs typeface="Book Antiqua"/>
              </a:rPr>
              <a:t>15,</a:t>
            </a:r>
            <a:r>
              <a:rPr lang="en-US" sz="2400" spc="60" dirty="0">
                <a:solidFill>
                  <a:srgbClr val="0000FF"/>
                </a:solidFill>
                <a:latin typeface="Book Antiqua"/>
                <a:cs typeface="Book Antiqua"/>
              </a:rPr>
              <a:t> </a:t>
            </a:r>
            <a:r>
              <a:rPr lang="en-US" sz="2400" spc="15" dirty="0">
                <a:solidFill>
                  <a:srgbClr val="0000FF"/>
                </a:solidFill>
                <a:latin typeface="Book Antiqua"/>
                <a:cs typeface="Book Antiqua"/>
              </a:rPr>
              <a:t>2016).</a:t>
            </a:r>
            <a:endParaRPr lang="en-US" sz="2400" dirty="0">
              <a:latin typeface="Book Antiqua"/>
              <a:cs typeface="Book Antiqua"/>
            </a:endParaRPr>
          </a:p>
          <a:p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291288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Machine</a:t>
            </a:r>
            <a:r>
              <a:rPr lang="sv-SE" dirty="0"/>
              <a:t> Learning and </a:t>
            </a:r>
            <a:r>
              <a:rPr lang="sv-SE" dirty="0" err="1"/>
              <a:t>Statistics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69265" marR="5080" indent="-457200">
              <a:lnSpc>
                <a:spcPct val="102600"/>
              </a:lnSpc>
            </a:pPr>
            <a:r>
              <a:rPr lang="en-US" spc="-35" dirty="0">
                <a:cs typeface="Tahoma"/>
              </a:rPr>
              <a:t>ML=</a:t>
            </a:r>
            <a:r>
              <a:rPr lang="en-US" b="1" spc="20" dirty="0">
                <a:cs typeface="Calibri"/>
              </a:rPr>
              <a:t>intersection </a:t>
            </a:r>
            <a:r>
              <a:rPr lang="en-US" sz="2600" spc="-40" dirty="0">
                <a:cs typeface="Tahoma"/>
              </a:rPr>
              <a:t>of</a:t>
            </a:r>
            <a:r>
              <a:rPr lang="en-US" spc="-40" dirty="0">
                <a:cs typeface="Tahoma"/>
              </a:rPr>
              <a:t> </a:t>
            </a:r>
            <a:r>
              <a:rPr lang="en-US" b="1" spc="25" dirty="0">
                <a:solidFill>
                  <a:srgbClr val="0000FF"/>
                </a:solidFill>
                <a:cs typeface="Calibri"/>
              </a:rPr>
              <a:t>computer </a:t>
            </a:r>
            <a:r>
              <a:rPr lang="en-US" b="1" spc="15" dirty="0">
                <a:solidFill>
                  <a:srgbClr val="0000FF"/>
                </a:solidFill>
                <a:cs typeface="Calibri"/>
              </a:rPr>
              <a:t>science</a:t>
            </a:r>
            <a:r>
              <a:rPr lang="en-US" spc="15" dirty="0">
                <a:cs typeface="Tahoma"/>
              </a:rPr>
              <a:t>,  </a:t>
            </a:r>
            <a:r>
              <a:rPr lang="en-US" b="1" spc="30" dirty="0">
                <a:solidFill>
                  <a:srgbClr val="0000FF"/>
                </a:solidFill>
                <a:cs typeface="Calibri"/>
              </a:rPr>
              <a:t>statistics </a:t>
            </a:r>
            <a:r>
              <a:rPr lang="en-US" sz="2600" spc="-55" dirty="0">
                <a:cs typeface="Tahoma"/>
              </a:rPr>
              <a:t>and</a:t>
            </a:r>
            <a:r>
              <a:rPr lang="en-US" spc="-55" dirty="0">
                <a:cs typeface="Tahoma"/>
              </a:rPr>
              <a:t> </a:t>
            </a:r>
            <a:r>
              <a:rPr lang="en-US" b="1" spc="20" dirty="0">
                <a:solidFill>
                  <a:srgbClr val="0000FF"/>
                </a:solidFill>
                <a:cs typeface="Calibri"/>
              </a:rPr>
              <a:t>artificial </a:t>
            </a:r>
            <a:r>
              <a:rPr lang="en-US" b="1" spc="15" dirty="0">
                <a:solidFill>
                  <a:srgbClr val="0000FF"/>
                </a:solidFill>
                <a:cs typeface="Calibri"/>
              </a:rPr>
              <a:t>intelligence</a:t>
            </a:r>
            <a:r>
              <a:rPr lang="en-US" spc="15" dirty="0">
                <a:cs typeface="Tahoma"/>
              </a:rPr>
              <a:t>.</a:t>
            </a:r>
          </a:p>
          <a:p>
            <a:pPr marL="869315" marR="5080" lvl="1" indent="-457200">
              <a:lnSpc>
                <a:spcPct val="102600"/>
              </a:lnSpc>
            </a:pPr>
            <a:r>
              <a:rPr lang="en-US" spc="15" dirty="0">
                <a:cs typeface="Tahoma"/>
              </a:rPr>
              <a:t> Related:</a:t>
            </a:r>
            <a:r>
              <a:rPr lang="en-US" spc="-20" dirty="0">
                <a:cs typeface="Tahoma"/>
              </a:rPr>
              <a:t> </a:t>
            </a:r>
            <a:r>
              <a:rPr lang="en-US" b="1" spc="30" dirty="0">
                <a:cs typeface="Calibri"/>
              </a:rPr>
              <a:t>data </a:t>
            </a:r>
            <a:r>
              <a:rPr lang="en-US" b="1" spc="20" dirty="0">
                <a:cs typeface="Calibri"/>
              </a:rPr>
              <a:t>mining</a:t>
            </a:r>
            <a:r>
              <a:rPr lang="en-US" spc="20" dirty="0">
                <a:cs typeface="Tahoma"/>
              </a:rPr>
              <a:t>, </a:t>
            </a:r>
            <a:r>
              <a:rPr lang="en-US" b="1" spc="10" dirty="0">
                <a:cs typeface="Calibri"/>
              </a:rPr>
              <a:t>knowledge  </a:t>
            </a:r>
            <a:r>
              <a:rPr lang="en-US" b="1" spc="20" dirty="0">
                <a:cs typeface="Calibri"/>
              </a:rPr>
              <a:t>discovery </a:t>
            </a:r>
            <a:r>
              <a:rPr lang="en-US" sz="2200" spc="-55" dirty="0">
                <a:cs typeface="Tahoma"/>
              </a:rPr>
              <a:t>and</a:t>
            </a:r>
            <a:r>
              <a:rPr lang="en-US" spc="-55" dirty="0">
                <a:cs typeface="Tahoma"/>
              </a:rPr>
              <a:t> </a:t>
            </a:r>
            <a:r>
              <a:rPr lang="en-US" b="1" spc="30" dirty="0">
                <a:cs typeface="Calibri"/>
              </a:rPr>
              <a:t>data </a:t>
            </a:r>
            <a:r>
              <a:rPr lang="en-US" b="1" spc="15" dirty="0">
                <a:cs typeface="Calibri"/>
              </a:rPr>
              <a:t>science</a:t>
            </a:r>
            <a:r>
              <a:rPr lang="en-US" spc="15" dirty="0">
                <a:cs typeface="Tahoma"/>
              </a:rPr>
              <a:t>.</a:t>
            </a:r>
          </a:p>
          <a:p>
            <a:pPr marL="469265" marR="5080" indent="-457200">
              <a:lnSpc>
                <a:spcPct val="102600"/>
              </a:lnSpc>
            </a:pPr>
            <a:endParaRPr lang="en-US" dirty="0">
              <a:cs typeface="Tahoma"/>
            </a:endParaRPr>
          </a:p>
          <a:p>
            <a:pPr marL="469265" marR="181610" indent="-457200">
              <a:lnSpc>
                <a:spcPct val="102600"/>
              </a:lnSpc>
              <a:spcBef>
                <a:spcPts val="545"/>
              </a:spcBef>
            </a:pPr>
            <a:r>
              <a:rPr lang="en-US" spc="-35" dirty="0">
                <a:cs typeface="Tahoma"/>
              </a:rPr>
              <a:t>ML </a:t>
            </a:r>
            <a:r>
              <a:rPr lang="en-US" sz="2900" spc="-80" dirty="0">
                <a:cs typeface="Tahoma"/>
              </a:rPr>
              <a:t>often uses </a:t>
            </a:r>
            <a:r>
              <a:rPr lang="en-US" b="1" spc="25" dirty="0">
                <a:solidFill>
                  <a:srgbClr val="0000FF"/>
                </a:solidFill>
                <a:cs typeface="Calibri"/>
              </a:rPr>
              <a:t>statistical </a:t>
            </a:r>
            <a:r>
              <a:rPr lang="en-US" b="1" spc="25" dirty="0">
                <a:cs typeface="Calibri"/>
              </a:rPr>
              <a:t>(probabilistic) </a:t>
            </a:r>
            <a:r>
              <a:rPr lang="en-US" b="1" spc="25" dirty="0">
                <a:solidFill>
                  <a:srgbClr val="0000FF"/>
                </a:solidFill>
                <a:cs typeface="Calibri"/>
              </a:rPr>
              <a:t>models </a:t>
            </a:r>
            <a:r>
              <a:rPr lang="en-US" b="1" spc="25" dirty="0">
                <a:cs typeface="Calibri"/>
              </a:rPr>
              <a:t>for  </a:t>
            </a:r>
            <a:r>
              <a:rPr lang="en-US" b="1" spc="30" dirty="0">
                <a:cs typeface="Calibri"/>
              </a:rPr>
              <a:t>analyzing </a:t>
            </a:r>
            <a:r>
              <a:rPr lang="en-US" b="1" spc="30" dirty="0">
                <a:solidFill>
                  <a:srgbClr val="0000FF"/>
                </a:solidFill>
                <a:cs typeface="Calibri"/>
              </a:rPr>
              <a:t>data </a:t>
            </a:r>
            <a:r>
              <a:rPr lang="en-US" spc="-35" dirty="0">
                <a:cs typeface="Tahoma"/>
              </a:rPr>
              <a:t>.</a:t>
            </a:r>
          </a:p>
          <a:p>
            <a:pPr marL="869315" marR="181610" lvl="1" indent="-457200">
              <a:lnSpc>
                <a:spcPct val="102600"/>
              </a:lnSpc>
              <a:spcBef>
                <a:spcPts val="545"/>
              </a:spcBef>
            </a:pPr>
            <a:r>
              <a:rPr lang="en-US" spc="-35" dirty="0">
                <a:cs typeface="Tahoma"/>
              </a:rPr>
              <a:t> </a:t>
            </a:r>
            <a:r>
              <a:rPr lang="en-US" spc="-20" dirty="0">
                <a:cs typeface="Tahoma"/>
              </a:rPr>
              <a:t>Data </a:t>
            </a:r>
            <a:r>
              <a:rPr lang="en-US" spc="-45" dirty="0">
                <a:cs typeface="Tahoma"/>
              </a:rPr>
              <a:t>mining </a:t>
            </a:r>
            <a:r>
              <a:rPr lang="en-US" spc="-55" dirty="0">
                <a:cs typeface="Tahoma"/>
              </a:rPr>
              <a:t>and </a:t>
            </a:r>
            <a:r>
              <a:rPr lang="en-US" spc="-60" dirty="0">
                <a:cs typeface="Tahoma"/>
              </a:rPr>
              <a:t>knowledge </a:t>
            </a:r>
            <a:r>
              <a:rPr lang="en-US" spc="-50" dirty="0">
                <a:cs typeface="Tahoma"/>
              </a:rPr>
              <a:t>discovery tend </a:t>
            </a:r>
            <a:r>
              <a:rPr lang="en-US" spc="-20" dirty="0">
                <a:cs typeface="Tahoma"/>
              </a:rPr>
              <a:t>to </a:t>
            </a:r>
            <a:r>
              <a:rPr lang="en-US" spc="-80" dirty="0">
                <a:cs typeface="Tahoma"/>
              </a:rPr>
              <a:t>use  </a:t>
            </a:r>
            <a:r>
              <a:rPr lang="en-US" spc="-65" dirty="0">
                <a:cs typeface="Tahoma"/>
              </a:rPr>
              <a:t>less </a:t>
            </a:r>
            <a:r>
              <a:rPr lang="en-US" spc="-50" dirty="0">
                <a:cs typeface="Tahoma"/>
              </a:rPr>
              <a:t>rigorous, </a:t>
            </a:r>
            <a:r>
              <a:rPr lang="en-US" spc="-30" dirty="0">
                <a:cs typeface="Tahoma"/>
              </a:rPr>
              <a:t>but </a:t>
            </a:r>
            <a:r>
              <a:rPr lang="en-US" spc="-45" dirty="0">
                <a:cs typeface="Tahoma"/>
              </a:rPr>
              <a:t>often </a:t>
            </a:r>
            <a:r>
              <a:rPr lang="en-US" spc="-50" dirty="0">
                <a:cs typeface="Tahoma"/>
              </a:rPr>
              <a:t>effective, </a:t>
            </a:r>
            <a:r>
              <a:rPr lang="en-US" spc="90" dirty="0">
                <a:cs typeface="Tahoma"/>
              </a:rPr>
              <a:t> </a:t>
            </a:r>
            <a:r>
              <a:rPr lang="en-US" spc="-40" dirty="0">
                <a:cs typeface="Tahoma"/>
              </a:rPr>
              <a:t>algorithms.</a:t>
            </a:r>
          </a:p>
          <a:p>
            <a:pPr marL="869315" marR="181610" lvl="1" indent="-457200">
              <a:lnSpc>
                <a:spcPct val="102600"/>
              </a:lnSpc>
              <a:spcBef>
                <a:spcPts val="545"/>
              </a:spcBef>
            </a:pPr>
            <a:r>
              <a:rPr lang="en-US" spc="-40" dirty="0">
                <a:cs typeface="Tahoma"/>
              </a:rPr>
              <a:t>ML is not a discovery of a hidden information (Data Mining)</a:t>
            </a:r>
            <a:endParaRPr lang="en-US" dirty="0">
              <a:cs typeface="Tahoma"/>
            </a:endParaRPr>
          </a:p>
          <a:p>
            <a:pPr marL="469265" marR="42545" indent="-457200">
              <a:lnSpc>
                <a:spcPct val="102600"/>
              </a:lnSpc>
              <a:spcBef>
                <a:spcPts val="545"/>
              </a:spcBef>
            </a:pPr>
            <a:endParaRPr lang="en-US" spc="-35" dirty="0">
              <a:cs typeface="Tahoma"/>
            </a:endParaRPr>
          </a:p>
          <a:p>
            <a:pPr marL="469265" marR="42545" indent="-457200">
              <a:lnSpc>
                <a:spcPct val="102600"/>
              </a:lnSpc>
              <a:spcBef>
                <a:spcPts val="545"/>
              </a:spcBef>
            </a:pPr>
            <a:r>
              <a:rPr lang="en-US" spc="-35" dirty="0">
                <a:cs typeface="Tahoma"/>
              </a:rPr>
              <a:t>ML vs Statistics: </a:t>
            </a:r>
            <a:r>
              <a:rPr lang="en-US" spc="-30" dirty="0">
                <a:cs typeface="Tahoma"/>
              </a:rPr>
              <a:t>ML has</a:t>
            </a:r>
            <a:r>
              <a:rPr lang="en-US" spc="-70" dirty="0">
                <a:cs typeface="Tahoma"/>
              </a:rPr>
              <a:t> </a:t>
            </a:r>
            <a:r>
              <a:rPr lang="en-US" spc="-60" dirty="0">
                <a:cs typeface="Tahoma"/>
              </a:rPr>
              <a:t>a </a:t>
            </a:r>
            <a:r>
              <a:rPr lang="en-US" b="1" spc="10" dirty="0">
                <a:cs typeface="Calibri"/>
              </a:rPr>
              <a:t>heavier </a:t>
            </a:r>
            <a:r>
              <a:rPr lang="en-US" b="1" spc="30" dirty="0">
                <a:cs typeface="Calibri"/>
              </a:rPr>
              <a:t>focus  </a:t>
            </a:r>
            <a:r>
              <a:rPr lang="en-US" b="1" spc="15" dirty="0">
                <a:cs typeface="Calibri"/>
              </a:rPr>
              <a:t>on </a:t>
            </a:r>
            <a:r>
              <a:rPr lang="en-US" b="1" spc="15" dirty="0">
                <a:solidFill>
                  <a:srgbClr val="0000FF"/>
                </a:solidFill>
                <a:cs typeface="Calibri"/>
              </a:rPr>
              <a:t>prediction </a:t>
            </a:r>
            <a:r>
              <a:rPr lang="en-US" spc="-35" dirty="0">
                <a:cs typeface="Tahoma"/>
              </a:rPr>
              <a:t>, </a:t>
            </a:r>
            <a:r>
              <a:rPr lang="en-US" spc="-55" dirty="0">
                <a:cs typeface="Tahoma"/>
              </a:rPr>
              <a:t>and </a:t>
            </a:r>
            <a:r>
              <a:rPr lang="en-US" spc="-65" dirty="0">
                <a:cs typeface="Tahoma"/>
              </a:rPr>
              <a:t>lesser </a:t>
            </a:r>
            <a:r>
              <a:rPr lang="en-US" spc="-60" dirty="0">
                <a:cs typeface="Tahoma"/>
              </a:rPr>
              <a:t>on </a:t>
            </a:r>
            <a:r>
              <a:rPr lang="en-US" spc="-15" dirty="0">
                <a:cs typeface="Tahoma"/>
              </a:rPr>
              <a:t> </a:t>
            </a:r>
            <a:r>
              <a:rPr lang="en-US" spc="-35" dirty="0">
                <a:cs typeface="Tahoma"/>
              </a:rPr>
              <a:t>interpretation.</a:t>
            </a:r>
          </a:p>
          <a:p>
            <a:pPr marL="469265" marR="124460" indent="-457200">
              <a:lnSpc>
                <a:spcPct val="102600"/>
              </a:lnSpc>
              <a:spcBef>
                <a:spcPts val="545"/>
              </a:spcBef>
            </a:pPr>
            <a:endParaRPr lang="en-US" spc="-35" dirty="0">
              <a:cs typeface="Tahoma"/>
            </a:endParaRPr>
          </a:p>
          <a:p>
            <a:pPr marL="469265" marR="124460" indent="-457200">
              <a:lnSpc>
                <a:spcPct val="102600"/>
              </a:lnSpc>
              <a:spcBef>
                <a:spcPts val="545"/>
              </a:spcBef>
            </a:pPr>
            <a:r>
              <a:rPr lang="en-US" spc="-35" dirty="0">
                <a:cs typeface="Tahoma"/>
              </a:rPr>
              <a:t>ML applications </a:t>
            </a:r>
            <a:r>
              <a:rPr lang="en-US" spc="-45" dirty="0">
                <a:cs typeface="Tahoma"/>
              </a:rPr>
              <a:t>often </a:t>
            </a:r>
            <a:r>
              <a:rPr lang="en-US" spc="-50" dirty="0">
                <a:cs typeface="Tahoma"/>
              </a:rPr>
              <a:t>involve </a:t>
            </a:r>
            <a:r>
              <a:rPr lang="en-US" spc="-55" dirty="0">
                <a:cs typeface="Tahoma"/>
              </a:rPr>
              <a:t>large </a:t>
            </a:r>
            <a:r>
              <a:rPr lang="en-US" spc="-60" dirty="0">
                <a:cs typeface="Tahoma"/>
              </a:rPr>
              <a:t>sets</a:t>
            </a:r>
            <a:r>
              <a:rPr lang="en-US" spc="15" dirty="0">
                <a:cs typeface="Tahoma"/>
              </a:rPr>
              <a:t> </a:t>
            </a:r>
            <a:r>
              <a:rPr lang="en-US" spc="15" dirty="0">
                <a:cs typeface="Tahoma"/>
                <a:sym typeface="Wingdings" panose="05000000000000000000" pitchFamily="2" charset="2"/>
              </a:rPr>
              <a:t></a:t>
            </a:r>
            <a:r>
              <a:rPr lang="en-US" b="1" spc="25" dirty="0">
                <a:solidFill>
                  <a:srgbClr val="0000FF"/>
                </a:solidFill>
                <a:cs typeface="Calibri"/>
              </a:rPr>
              <a:t>computational </a:t>
            </a:r>
            <a:r>
              <a:rPr lang="en-US" b="1" spc="20" dirty="0">
                <a:solidFill>
                  <a:srgbClr val="0000FF"/>
                </a:solidFill>
                <a:cs typeface="Calibri"/>
              </a:rPr>
              <a:t>complexity </a:t>
            </a:r>
            <a:r>
              <a:rPr lang="en-US" spc="-40" dirty="0">
                <a:cs typeface="Tahoma"/>
              </a:rPr>
              <a:t>of algorithms is </a:t>
            </a:r>
            <a:r>
              <a:rPr lang="en-US" spc="-30" dirty="0">
                <a:cs typeface="Tahoma"/>
              </a:rPr>
              <a:t>important.</a:t>
            </a:r>
          </a:p>
          <a:p>
            <a:pPr marL="869315" marR="124460" lvl="1" indent="-457200">
              <a:lnSpc>
                <a:spcPct val="102600"/>
              </a:lnSpc>
              <a:spcBef>
                <a:spcPts val="545"/>
              </a:spcBef>
            </a:pPr>
            <a:r>
              <a:rPr lang="en-US" spc="-30" dirty="0">
                <a:cs typeface="Tahoma"/>
              </a:rPr>
              <a:t>Statistics often does not care about runtime</a:t>
            </a:r>
          </a:p>
          <a:p>
            <a:pPr marL="469265" marR="124460" indent="-457200">
              <a:lnSpc>
                <a:spcPct val="102600"/>
              </a:lnSpc>
              <a:spcBef>
                <a:spcPts val="545"/>
              </a:spcBef>
            </a:pP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4468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?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" y="1600200"/>
            <a:ext cx="5842992" cy="4525963"/>
          </a:xfrm>
        </p:spPr>
        <p:txBody>
          <a:bodyPr>
            <a:normAutofit/>
          </a:bodyPr>
          <a:lstStyle/>
          <a:p>
            <a:r>
              <a:rPr lang="en-US" sz="1800" spc="-20" dirty="0">
                <a:cs typeface="Tahoma"/>
              </a:rPr>
              <a:t>Probability </a:t>
            </a:r>
            <a:r>
              <a:rPr lang="en-US" sz="1800" spc="-55" dirty="0">
                <a:cs typeface="Tahoma"/>
              </a:rPr>
              <a:t>models and </a:t>
            </a:r>
            <a:r>
              <a:rPr lang="en-US" sz="1800" spc="-25" dirty="0">
                <a:cs typeface="Tahoma"/>
              </a:rPr>
              <a:t>statistical </a:t>
            </a:r>
            <a:r>
              <a:rPr lang="en-US" sz="1800" spc="-55" dirty="0">
                <a:cs typeface="Tahoma"/>
              </a:rPr>
              <a:t>inference </a:t>
            </a:r>
            <a:r>
              <a:rPr lang="en-US" sz="1800" spc="-50" dirty="0">
                <a:cs typeface="Tahoma"/>
              </a:rPr>
              <a:t>provide </a:t>
            </a:r>
            <a:r>
              <a:rPr lang="en-US" sz="1800" spc="-60" dirty="0">
                <a:cs typeface="Tahoma"/>
              </a:rPr>
              <a:t>a </a:t>
            </a:r>
            <a:r>
              <a:rPr lang="en-US" sz="1800" spc="105" dirty="0">
                <a:cs typeface="Tahoma"/>
              </a:rPr>
              <a:t> </a:t>
            </a:r>
            <a:r>
              <a:rPr lang="en-US" sz="1800" b="1" spc="5" dirty="0">
                <a:cs typeface="Calibri"/>
              </a:rPr>
              <a:t>framework</a:t>
            </a:r>
            <a:endParaRPr lang="en-US" sz="1800" spc="5" dirty="0">
              <a:cs typeface="Tahoma"/>
            </a:endParaRPr>
          </a:p>
          <a:p>
            <a:pPr>
              <a:spcBef>
                <a:spcPts val="930"/>
              </a:spcBef>
            </a:pPr>
            <a:endParaRPr lang="en-US" sz="1800" spc="55" dirty="0">
              <a:cs typeface="Tahoma"/>
            </a:endParaRPr>
          </a:p>
          <a:p>
            <a:pPr>
              <a:spcBef>
                <a:spcPts val="930"/>
              </a:spcBef>
            </a:pPr>
            <a:r>
              <a:rPr lang="en-US" sz="1800" spc="55" dirty="0">
                <a:cs typeface="Tahoma"/>
              </a:rPr>
              <a:t>A </a:t>
            </a:r>
            <a:r>
              <a:rPr lang="en-US" sz="1800" spc="-40" dirty="0">
                <a:cs typeface="Tahoma"/>
              </a:rPr>
              <a:t>principled </a:t>
            </a:r>
            <a:r>
              <a:rPr lang="en-US" sz="1800" b="1" spc="-5" dirty="0">
                <a:cs typeface="Calibri"/>
              </a:rPr>
              <a:t>way  </a:t>
            </a:r>
            <a:r>
              <a:rPr lang="en-US" sz="1800" b="1" spc="25" dirty="0">
                <a:cs typeface="Calibri"/>
              </a:rPr>
              <a:t>to  think </a:t>
            </a:r>
            <a:r>
              <a:rPr lang="en-US" sz="1800" spc="-35" dirty="0">
                <a:cs typeface="Tahoma"/>
              </a:rPr>
              <a:t>about </a:t>
            </a:r>
            <a:r>
              <a:rPr lang="en-US" sz="1800" spc="-55" dirty="0">
                <a:cs typeface="Tahoma"/>
              </a:rPr>
              <a:t>any problem </a:t>
            </a:r>
            <a:r>
              <a:rPr lang="en-US" sz="1800" spc="-30" dirty="0">
                <a:cs typeface="Tahoma"/>
              </a:rPr>
              <a:t>in </a:t>
            </a:r>
            <a:r>
              <a:rPr lang="en-US" sz="1800" spc="-55" dirty="0">
                <a:cs typeface="Tahoma"/>
              </a:rPr>
              <a:t>machine </a:t>
            </a:r>
            <a:r>
              <a:rPr lang="en-US" sz="1800" spc="-20" dirty="0">
                <a:cs typeface="Tahoma"/>
              </a:rPr>
              <a:t> </a:t>
            </a:r>
            <a:r>
              <a:rPr lang="en-US" sz="1800" spc="-50" dirty="0">
                <a:cs typeface="Tahoma"/>
              </a:rPr>
              <a:t>learning</a:t>
            </a:r>
          </a:p>
          <a:p>
            <a:pPr lvl="1">
              <a:spcBef>
                <a:spcPts val="930"/>
              </a:spcBef>
            </a:pPr>
            <a:r>
              <a:rPr lang="en-US" sz="1600" spc="-50" dirty="0">
                <a:cs typeface="Tahoma"/>
              </a:rPr>
              <a:t>Probabilistic model </a:t>
            </a:r>
            <a:r>
              <a:rPr lang="en-US" sz="1600" spc="-50" dirty="0">
                <a:cs typeface="Tahoma"/>
                <a:sym typeface="Wingdings" panose="05000000000000000000" pitchFamily="2" charset="2"/>
              </a:rPr>
              <a:t>Estimation Prediction</a:t>
            </a:r>
            <a:endParaRPr lang="en-US" sz="1600" spc="-50" dirty="0">
              <a:cs typeface="Tahoma"/>
            </a:endParaRPr>
          </a:p>
          <a:p>
            <a:pPr>
              <a:spcBef>
                <a:spcPts val="930"/>
              </a:spcBef>
            </a:pPr>
            <a:endParaRPr lang="en-US" sz="1800" dirty="0">
              <a:cs typeface="Tahoma"/>
            </a:endParaRPr>
          </a:p>
          <a:p>
            <a:pPr marL="297815" marR="513715" indent="-285750">
              <a:lnSpc>
                <a:spcPct val="102600"/>
              </a:lnSpc>
              <a:spcBef>
                <a:spcPts val="894"/>
              </a:spcBef>
            </a:pPr>
            <a:r>
              <a:rPr lang="en-US" sz="1800" spc="-20" dirty="0">
                <a:cs typeface="Tahoma"/>
              </a:rPr>
              <a:t>Probabilistic </a:t>
            </a:r>
            <a:r>
              <a:rPr lang="en-US" sz="1800" spc="-55" dirty="0">
                <a:cs typeface="Tahoma"/>
              </a:rPr>
              <a:t>models </a:t>
            </a:r>
            <a:r>
              <a:rPr lang="en-US" sz="1800" b="1" spc="25" dirty="0">
                <a:cs typeface="Calibri"/>
              </a:rPr>
              <a:t>quantify </a:t>
            </a:r>
            <a:r>
              <a:rPr lang="en-US" sz="1800" b="1" spc="20" dirty="0">
                <a:cs typeface="Calibri"/>
              </a:rPr>
              <a:t>uncertainties</a:t>
            </a:r>
            <a:r>
              <a:rPr lang="en-US" sz="1800" spc="20" dirty="0">
                <a:cs typeface="Tahoma"/>
              </a:rPr>
              <a:t>. </a:t>
            </a:r>
            <a:endParaRPr lang="en-US" sz="1800" spc="-45" dirty="0">
              <a:cs typeface="Tahoma"/>
            </a:endParaRPr>
          </a:p>
          <a:p>
            <a:pPr lvl="1"/>
            <a:r>
              <a:rPr lang="en-US" sz="1600" dirty="0">
                <a:cs typeface="Times New Roman"/>
              </a:rPr>
              <a:t>Deterministic answers may often be inappropriate</a:t>
            </a:r>
          </a:p>
          <a:p>
            <a:endParaRPr lang="sv-SE" sz="1800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2357117"/>
            <a:ext cx="1969441" cy="1969441"/>
          </a:xfrm>
          <a:prstGeom prst="rect">
            <a:avLst/>
          </a:prstGeom>
        </p:spPr>
      </p:pic>
      <p:sp>
        <p:nvSpPr>
          <p:cNvPr id="6" name="textruta 5"/>
          <p:cNvSpPr txBox="1"/>
          <p:nvPr/>
        </p:nvSpPr>
        <p:spPr>
          <a:xfrm>
            <a:off x="5940151" y="4509120"/>
            <a:ext cx="3265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i="1" dirty="0"/>
              <a:t>The </a:t>
            </a:r>
            <a:r>
              <a:rPr lang="sv-SE" i="1" dirty="0" err="1"/>
              <a:t>currency</a:t>
            </a:r>
            <a:r>
              <a:rPr lang="sv-SE" i="1" dirty="0"/>
              <a:t> </a:t>
            </a:r>
            <a:r>
              <a:rPr lang="sv-SE" i="1" dirty="0" err="1"/>
              <a:t>exchange</a:t>
            </a:r>
            <a:r>
              <a:rPr lang="sv-SE" i="1" dirty="0"/>
              <a:t> rate </a:t>
            </a:r>
            <a:r>
              <a:rPr lang="sv-SE" i="1" dirty="0" err="1"/>
              <a:t>tomorrow</a:t>
            </a:r>
            <a:r>
              <a:rPr lang="sv-SE" i="1" dirty="0"/>
              <a:t> </a:t>
            </a:r>
            <a:r>
              <a:rPr lang="sv-SE" i="1" dirty="0" err="1"/>
              <a:t>will</a:t>
            </a:r>
            <a:r>
              <a:rPr lang="sv-SE" i="1" dirty="0"/>
              <a:t> be 10.41!</a:t>
            </a:r>
          </a:p>
        </p:txBody>
      </p:sp>
      <p:sp>
        <p:nvSpPr>
          <p:cNvPr id="7" name="Rektangel 6"/>
          <p:cNvSpPr/>
          <p:nvPr/>
        </p:nvSpPr>
        <p:spPr>
          <a:xfrm>
            <a:off x="6756052" y="4302740"/>
            <a:ext cx="163378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600" dirty="0">
                <a:solidFill>
                  <a:schemeClr val="bg1">
                    <a:lumMod val="85000"/>
                  </a:schemeClr>
                </a:solidFill>
              </a:rPr>
              <a:t>http://lolnada.org/t/src/1454993210255.jpg</a:t>
            </a:r>
          </a:p>
        </p:txBody>
      </p:sp>
    </p:spTree>
    <p:extLst>
      <p:ext uri="{BB962C8B-B14F-4D97-AF65-F5344CB8AC3E}">
        <p14:creationId xmlns:p14="http://schemas.microsoft.com/office/powerpoint/2010/main" val="330083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Why</a:t>
            </a:r>
            <a:r>
              <a:rPr lang="sv-SE" dirty="0"/>
              <a:t> </a:t>
            </a:r>
            <a:r>
              <a:rPr lang="sv-SE" dirty="0" err="1"/>
              <a:t>probability</a:t>
            </a:r>
            <a:r>
              <a:rPr lang="sv-SE" dirty="0"/>
              <a:t> </a:t>
            </a:r>
            <a:r>
              <a:rPr lang="sv-SE" dirty="0" err="1"/>
              <a:t>models</a:t>
            </a:r>
            <a:r>
              <a:rPr lang="sv-SE" dirty="0"/>
              <a:t>?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204470" indent="0">
              <a:lnSpc>
                <a:spcPct val="102600"/>
              </a:lnSpc>
              <a:spcBef>
                <a:spcPts val="880"/>
              </a:spcBef>
              <a:buNone/>
            </a:pPr>
            <a:endParaRPr lang="en-US" sz="2400" i="1" spc="-45" dirty="0">
              <a:latin typeface="Book Antiqua"/>
              <a:cs typeface="Book Antiqua"/>
            </a:endParaRPr>
          </a:p>
          <a:p>
            <a:pPr marL="0" marR="204470" indent="0">
              <a:lnSpc>
                <a:spcPct val="102600"/>
              </a:lnSpc>
              <a:spcBef>
                <a:spcPts val="880"/>
              </a:spcBef>
              <a:buNone/>
            </a:pPr>
            <a:endParaRPr lang="en-US" sz="2400" i="1" spc="-45" dirty="0">
              <a:latin typeface="Book Antiqua"/>
              <a:cs typeface="Book Antiqua"/>
            </a:endParaRPr>
          </a:p>
          <a:p>
            <a:pPr marL="0" marR="204470" indent="0">
              <a:lnSpc>
                <a:spcPct val="102600"/>
              </a:lnSpc>
              <a:spcBef>
                <a:spcPts val="880"/>
              </a:spcBef>
              <a:buNone/>
            </a:pPr>
            <a:r>
              <a:rPr lang="en-US" sz="2400" i="1" spc="-45" dirty="0">
                <a:latin typeface="Book Antiqua"/>
                <a:cs typeface="Book Antiqua"/>
              </a:rPr>
              <a:t>As </a:t>
            </a:r>
            <a:r>
              <a:rPr lang="en-US" sz="2400" i="1" spc="10" dirty="0">
                <a:latin typeface="Book Antiqua"/>
                <a:cs typeface="Book Antiqua"/>
              </a:rPr>
              <a:t>robotics </a:t>
            </a:r>
            <a:r>
              <a:rPr lang="en-US" sz="2400" i="1" spc="-35" dirty="0">
                <a:latin typeface="Book Antiqua"/>
                <a:cs typeface="Book Antiqua"/>
              </a:rPr>
              <a:t>is </a:t>
            </a:r>
            <a:r>
              <a:rPr lang="en-US" sz="2400" i="1" spc="-30" dirty="0">
                <a:latin typeface="Book Antiqua"/>
                <a:cs typeface="Book Antiqua"/>
              </a:rPr>
              <a:t>now </a:t>
            </a:r>
            <a:r>
              <a:rPr lang="en-US" sz="2400" i="1" spc="-25" dirty="0">
                <a:latin typeface="Book Antiqua"/>
                <a:cs typeface="Book Antiqua"/>
              </a:rPr>
              <a:t>moving </a:t>
            </a:r>
            <a:r>
              <a:rPr lang="en-US" sz="2400" i="1" spc="-10" dirty="0">
                <a:latin typeface="Book Antiqua"/>
                <a:cs typeface="Book Antiqua"/>
              </a:rPr>
              <a:t>into </a:t>
            </a:r>
            <a:r>
              <a:rPr lang="en-US" sz="2400" i="1" spc="20" dirty="0">
                <a:latin typeface="Book Antiqua"/>
                <a:cs typeface="Book Antiqua"/>
              </a:rPr>
              <a:t>the </a:t>
            </a:r>
            <a:r>
              <a:rPr lang="en-US" sz="2400" i="1" spc="15" dirty="0">
                <a:latin typeface="Book Antiqua"/>
                <a:cs typeface="Book Antiqua"/>
              </a:rPr>
              <a:t>open </a:t>
            </a:r>
            <a:r>
              <a:rPr lang="en-US" sz="2400" i="1" spc="-25" dirty="0">
                <a:latin typeface="Book Antiqua"/>
                <a:cs typeface="Book Antiqua"/>
              </a:rPr>
              <a:t>world, </a:t>
            </a:r>
            <a:r>
              <a:rPr lang="en-US" sz="2400" i="1" spc="20" dirty="0">
                <a:latin typeface="Book Antiqua"/>
                <a:cs typeface="Book Antiqua"/>
              </a:rPr>
              <a:t>the </a:t>
            </a:r>
            <a:r>
              <a:rPr lang="en-US" sz="2400" i="1" spc="-20" dirty="0">
                <a:latin typeface="Book Antiqua"/>
                <a:cs typeface="Book Antiqua"/>
              </a:rPr>
              <a:t>issue </a:t>
            </a:r>
            <a:r>
              <a:rPr lang="en-US" sz="2400" i="1" spc="30" dirty="0">
                <a:latin typeface="Book Antiqua"/>
                <a:cs typeface="Book Antiqua"/>
              </a:rPr>
              <a:t>of  </a:t>
            </a:r>
            <a:r>
              <a:rPr lang="en-US" sz="2000" b="1" i="1" spc="-10" dirty="0">
                <a:solidFill>
                  <a:srgbClr val="0000FF"/>
                </a:solidFill>
                <a:latin typeface="Book Antiqua"/>
                <a:cs typeface="Book Antiqua"/>
              </a:rPr>
              <a:t>uncertainty </a:t>
            </a:r>
            <a:r>
              <a:rPr lang="en-US" sz="2400" i="1" spc="5" dirty="0">
                <a:latin typeface="Book Antiqua"/>
                <a:cs typeface="Book Antiqua"/>
              </a:rPr>
              <a:t>has </a:t>
            </a:r>
            <a:r>
              <a:rPr lang="en-US" sz="2400" i="1" spc="40" dirty="0">
                <a:latin typeface="Book Antiqua"/>
                <a:cs typeface="Book Antiqua"/>
              </a:rPr>
              <a:t>become </a:t>
            </a:r>
            <a:r>
              <a:rPr lang="en-US" sz="2400" i="1" spc="25" dirty="0">
                <a:latin typeface="Book Antiqua"/>
                <a:cs typeface="Book Antiqua"/>
              </a:rPr>
              <a:t>a </a:t>
            </a:r>
            <a:r>
              <a:rPr lang="en-US" sz="2400" i="1" spc="-10" dirty="0">
                <a:latin typeface="Book Antiqua"/>
                <a:cs typeface="Book Antiqua"/>
              </a:rPr>
              <a:t>major </a:t>
            </a:r>
            <a:r>
              <a:rPr lang="en-US" sz="2400" i="1" spc="-25" dirty="0">
                <a:latin typeface="Book Antiqua"/>
                <a:cs typeface="Book Antiqua"/>
              </a:rPr>
              <a:t>stumbling </a:t>
            </a:r>
            <a:r>
              <a:rPr lang="en-US" sz="2400" i="1" spc="25" dirty="0">
                <a:latin typeface="Book Antiqua"/>
                <a:cs typeface="Book Antiqua"/>
              </a:rPr>
              <a:t>block </a:t>
            </a:r>
            <a:r>
              <a:rPr lang="en-US" sz="2400" i="1" spc="-10" dirty="0">
                <a:latin typeface="Book Antiqua"/>
                <a:cs typeface="Book Antiqua"/>
              </a:rPr>
              <a:t>for </a:t>
            </a:r>
            <a:r>
              <a:rPr lang="en-US" sz="2400" i="1" spc="20" dirty="0">
                <a:latin typeface="Book Antiqua"/>
                <a:cs typeface="Book Antiqua"/>
              </a:rPr>
              <a:t>the </a:t>
            </a:r>
            <a:r>
              <a:rPr lang="en-US" sz="2400" i="1" spc="-15" dirty="0">
                <a:latin typeface="Book Antiqua"/>
                <a:cs typeface="Book Antiqua"/>
              </a:rPr>
              <a:t>design </a:t>
            </a:r>
            <a:r>
              <a:rPr lang="en-US" sz="2400" i="1" spc="30" dirty="0">
                <a:latin typeface="Book Antiqua"/>
                <a:cs typeface="Book Antiqua"/>
              </a:rPr>
              <a:t>of  </a:t>
            </a:r>
            <a:r>
              <a:rPr lang="en-US" sz="2400" i="1" spc="15" dirty="0">
                <a:latin typeface="Book Antiqua"/>
                <a:cs typeface="Book Antiqua"/>
              </a:rPr>
              <a:t>capable </a:t>
            </a:r>
            <a:r>
              <a:rPr lang="en-US" sz="2400" i="1" spc="25" dirty="0">
                <a:latin typeface="Book Antiqua"/>
                <a:cs typeface="Book Antiqua"/>
              </a:rPr>
              <a:t>robot </a:t>
            </a:r>
            <a:r>
              <a:rPr lang="en-US" sz="2400" i="1" spc="-5" dirty="0">
                <a:latin typeface="Book Antiqua"/>
                <a:cs typeface="Book Antiqua"/>
              </a:rPr>
              <a:t>systems. </a:t>
            </a:r>
            <a:r>
              <a:rPr lang="en-US" sz="2400" i="1" spc="-30" dirty="0">
                <a:latin typeface="Book Antiqua"/>
                <a:cs typeface="Book Antiqua"/>
              </a:rPr>
              <a:t>Managing </a:t>
            </a:r>
            <a:r>
              <a:rPr lang="en-US" sz="2400" i="1" spc="-25" dirty="0">
                <a:latin typeface="Book Antiqua"/>
                <a:cs typeface="Book Antiqua"/>
              </a:rPr>
              <a:t>uncertainty </a:t>
            </a:r>
            <a:r>
              <a:rPr lang="en-US" sz="2400" i="1" spc="-35" dirty="0">
                <a:latin typeface="Book Antiqua"/>
                <a:cs typeface="Book Antiqua"/>
              </a:rPr>
              <a:t>is </a:t>
            </a:r>
            <a:r>
              <a:rPr lang="en-US" sz="2400" i="1" spc="-10" dirty="0">
                <a:latin typeface="Book Antiqua"/>
                <a:cs typeface="Book Antiqua"/>
              </a:rPr>
              <a:t>possibly </a:t>
            </a:r>
            <a:r>
              <a:rPr lang="en-US" sz="2400" i="1" spc="20" dirty="0">
                <a:latin typeface="Book Antiqua"/>
                <a:cs typeface="Book Antiqua"/>
              </a:rPr>
              <a:t>the </a:t>
            </a:r>
            <a:r>
              <a:rPr lang="en-US" sz="2400" i="1" spc="10" dirty="0">
                <a:latin typeface="Book Antiqua"/>
                <a:cs typeface="Book Antiqua"/>
              </a:rPr>
              <a:t>most  </a:t>
            </a:r>
            <a:r>
              <a:rPr lang="en-US" sz="2400" i="1" spc="-5" dirty="0">
                <a:latin typeface="Book Antiqua"/>
                <a:cs typeface="Book Antiqua"/>
              </a:rPr>
              <a:t>important </a:t>
            </a:r>
            <a:r>
              <a:rPr lang="en-US" sz="2400" i="1" spc="10" dirty="0">
                <a:latin typeface="Book Antiqua"/>
                <a:cs typeface="Book Antiqua"/>
              </a:rPr>
              <a:t>step </a:t>
            </a:r>
            <a:r>
              <a:rPr lang="en-US" sz="2400" i="1" spc="-20" dirty="0">
                <a:latin typeface="Book Antiqua"/>
                <a:cs typeface="Book Antiqua"/>
              </a:rPr>
              <a:t>towards </a:t>
            </a:r>
            <a:r>
              <a:rPr lang="en-US" sz="2400" i="1" dirty="0">
                <a:latin typeface="Book Antiqua"/>
                <a:cs typeface="Book Antiqua"/>
              </a:rPr>
              <a:t>robust </a:t>
            </a:r>
            <a:r>
              <a:rPr lang="en-US" sz="2400" i="1" spc="-20" dirty="0">
                <a:latin typeface="Book Antiqua"/>
                <a:cs typeface="Book Antiqua"/>
              </a:rPr>
              <a:t>real-world </a:t>
            </a:r>
            <a:r>
              <a:rPr lang="en-US" sz="2400" i="1" spc="25" dirty="0">
                <a:latin typeface="Book Antiqua"/>
                <a:cs typeface="Book Antiqua"/>
              </a:rPr>
              <a:t>robot   </a:t>
            </a:r>
            <a:r>
              <a:rPr lang="en-US" sz="2400" i="1" spc="-5" dirty="0">
                <a:latin typeface="Book Antiqua"/>
                <a:cs typeface="Book Antiqua"/>
              </a:rPr>
              <a:t>systems.</a:t>
            </a:r>
            <a:endParaRPr lang="en-US" sz="2400" dirty="0">
              <a:latin typeface="Book Antiqua"/>
              <a:cs typeface="Book Antiqua"/>
            </a:endParaRPr>
          </a:p>
          <a:p>
            <a:pPr marL="0" indent="0">
              <a:lnSpc>
                <a:spcPct val="100000"/>
              </a:lnSpc>
              <a:spcBef>
                <a:spcPts val="535"/>
              </a:spcBef>
              <a:buNone/>
            </a:pPr>
            <a:r>
              <a:rPr lang="en-US" sz="1400" i="1" spc="50" dirty="0">
                <a:latin typeface="Book Antiqua"/>
                <a:cs typeface="Book Antiqua"/>
              </a:rPr>
              <a:t>    from </a:t>
            </a:r>
            <a:r>
              <a:rPr lang="en-US" sz="1400" i="1" spc="65" dirty="0">
                <a:latin typeface="Book Antiqua"/>
                <a:cs typeface="Book Antiqua"/>
              </a:rPr>
              <a:t>the </a:t>
            </a:r>
            <a:r>
              <a:rPr lang="en-US" sz="1400" i="1" spc="85" dirty="0">
                <a:latin typeface="Book Antiqua"/>
                <a:cs typeface="Book Antiqua"/>
              </a:rPr>
              <a:t>book </a:t>
            </a:r>
            <a:r>
              <a:rPr lang="en-US" sz="1400" i="1" spc="35" dirty="0">
                <a:latin typeface="Book Antiqua"/>
                <a:cs typeface="Book Antiqua"/>
              </a:rPr>
              <a:t>Probabilistic </a:t>
            </a:r>
            <a:r>
              <a:rPr lang="en-US" sz="1400" i="1" spc="60" dirty="0">
                <a:latin typeface="Book Antiqua"/>
                <a:cs typeface="Book Antiqua"/>
              </a:rPr>
              <a:t>Robotics </a:t>
            </a:r>
            <a:r>
              <a:rPr lang="en-US" sz="1400" i="1" spc="40" dirty="0">
                <a:latin typeface="Book Antiqua"/>
                <a:cs typeface="Book Antiqua"/>
              </a:rPr>
              <a:t>by </a:t>
            </a:r>
            <a:r>
              <a:rPr lang="en-US" sz="1400" i="1" spc="45" dirty="0" err="1">
                <a:latin typeface="Book Antiqua"/>
                <a:cs typeface="Book Antiqua"/>
              </a:rPr>
              <a:t>Thrun</a:t>
            </a:r>
            <a:r>
              <a:rPr lang="en-US" sz="1400" i="1" spc="45" dirty="0">
                <a:latin typeface="Book Antiqua"/>
                <a:cs typeface="Book Antiqua"/>
              </a:rPr>
              <a:t> </a:t>
            </a:r>
            <a:r>
              <a:rPr lang="en-US" sz="1400" i="1" spc="65" dirty="0">
                <a:latin typeface="Book Antiqua"/>
                <a:cs typeface="Book Antiqua"/>
              </a:rPr>
              <a:t>et  </a:t>
            </a:r>
            <a:r>
              <a:rPr lang="en-US" sz="1400" i="1" spc="35" dirty="0">
                <a:latin typeface="Book Antiqua"/>
                <a:cs typeface="Book Antiqua"/>
              </a:rPr>
              <a:t>al.</a:t>
            </a:r>
            <a:endParaRPr lang="en-US" sz="1400" dirty="0">
              <a:latin typeface="Book Antiqua"/>
              <a:cs typeface="Book Antiqua"/>
            </a:endParaRP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195247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classifying</a:t>
            </a:r>
            <a:r>
              <a:rPr lang="sv-SE" dirty="0"/>
              <a:t> </a:t>
            </a:r>
            <a:r>
              <a:rPr lang="sv-SE" dirty="0" err="1"/>
              <a:t>hadwritten</a:t>
            </a:r>
            <a:r>
              <a:rPr lang="sv-SE" dirty="0"/>
              <a:t> </a:t>
            </a:r>
            <a:r>
              <a:rPr lang="sv-SE" dirty="0" err="1"/>
              <a:t>digits</a:t>
            </a: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object 3"/>
          <p:cNvSpPr/>
          <p:nvPr/>
        </p:nvSpPr>
        <p:spPr>
          <a:xfrm>
            <a:off x="2483768" y="2348880"/>
            <a:ext cx="3744416" cy="3456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624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classifying</a:t>
            </a:r>
            <a:r>
              <a:rPr lang="sv-SE" dirty="0"/>
              <a:t> </a:t>
            </a:r>
            <a:r>
              <a:rPr lang="sv-SE" dirty="0" err="1"/>
              <a:t>hadwritten</a:t>
            </a:r>
            <a:r>
              <a:rPr lang="sv-SE" dirty="0"/>
              <a:t> </a:t>
            </a:r>
            <a:r>
              <a:rPr lang="sv-SE" dirty="0" err="1"/>
              <a:t>digits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spc="40" dirty="0">
                <a:solidFill>
                  <a:srgbClr val="0000FF"/>
                </a:solidFill>
                <a:cs typeface="Calibri"/>
              </a:rPr>
              <a:t>Training </a:t>
            </a:r>
            <a:r>
              <a:rPr lang="en-US" sz="2800" spc="-50" dirty="0">
                <a:latin typeface="Tahoma"/>
                <a:cs typeface="Tahoma"/>
              </a:rPr>
              <a:t>data:  </a:t>
            </a:r>
            <a:r>
              <a:rPr lang="en-US" sz="2800" spc="-60" dirty="0">
                <a:latin typeface="Tahoma"/>
                <a:cs typeface="Tahoma"/>
              </a:rPr>
              <a:t>60000</a:t>
            </a:r>
            <a:r>
              <a:rPr lang="en-US" sz="2800" spc="-100" dirty="0">
                <a:latin typeface="Tahoma"/>
                <a:cs typeface="Tahoma"/>
              </a:rPr>
              <a:t> </a:t>
            </a:r>
            <a:r>
              <a:rPr lang="en-US" sz="2800" spc="-60" dirty="0">
                <a:latin typeface="Tahoma"/>
                <a:cs typeface="Tahoma"/>
              </a:rPr>
              <a:t>images.</a:t>
            </a:r>
            <a:endParaRPr lang="en-US" sz="28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330"/>
              </a:spcBef>
              <a:buNone/>
            </a:pPr>
            <a:r>
              <a:rPr lang="en-US" sz="2800" b="1" spc="50" dirty="0">
                <a:solidFill>
                  <a:srgbClr val="0000FF"/>
                </a:solidFill>
                <a:cs typeface="Calibri"/>
              </a:rPr>
              <a:t>Test </a:t>
            </a:r>
            <a:r>
              <a:rPr lang="en-US" sz="2800" spc="-50" dirty="0">
                <a:latin typeface="Tahoma"/>
                <a:cs typeface="Tahoma"/>
              </a:rPr>
              <a:t>data:  </a:t>
            </a:r>
            <a:r>
              <a:rPr lang="en-US" sz="2800" spc="-60" dirty="0">
                <a:latin typeface="Tahoma"/>
                <a:cs typeface="Tahoma"/>
              </a:rPr>
              <a:t>10000</a:t>
            </a:r>
            <a:r>
              <a:rPr lang="en-US" sz="2800" spc="-130" dirty="0">
                <a:latin typeface="Tahoma"/>
                <a:cs typeface="Tahoma"/>
              </a:rPr>
              <a:t> </a:t>
            </a:r>
            <a:r>
              <a:rPr lang="en-US" sz="2800" spc="-60" dirty="0">
                <a:latin typeface="Tahoma"/>
                <a:cs typeface="Tahoma"/>
              </a:rPr>
              <a:t>images.</a:t>
            </a:r>
            <a:endParaRPr lang="en-US" sz="2800" dirty="0">
              <a:latin typeface="Tahoma"/>
              <a:cs typeface="Tahoma"/>
            </a:endParaRPr>
          </a:p>
          <a:p>
            <a:pPr marL="12065" marR="5080" indent="0">
              <a:lnSpc>
                <a:spcPct val="102600"/>
              </a:lnSpc>
              <a:spcBef>
                <a:spcPts val="300"/>
              </a:spcBef>
              <a:buNone/>
            </a:pPr>
            <a:r>
              <a:rPr lang="en-US" sz="2800" b="1" spc="15" dirty="0">
                <a:solidFill>
                  <a:srgbClr val="0000FF"/>
                </a:solidFill>
                <a:cs typeface="Calibri"/>
              </a:rPr>
              <a:t>Features</a:t>
            </a:r>
            <a:r>
              <a:rPr lang="en-US" sz="2800" spc="15" dirty="0">
                <a:latin typeface="Tahoma"/>
                <a:cs typeface="Tahoma"/>
              </a:rPr>
              <a:t>: </a:t>
            </a:r>
            <a:r>
              <a:rPr lang="en-US" sz="2800" spc="-40" dirty="0">
                <a:latin typeface="Tahoma"/>
                <a:cs typeface="Tahoma"/>
              </a:rPr>
              <a:t>intensities </a:t>
            </a:r>
            <a:r>
              <a:rPr lang="en-US" sz="2800" spc="-45" dirty="0">
                <a:latin typeface="Tahoma"/>
                <a:cs typeface="Tahoma"/>
              </a:rPr>
              <a:t>(0-255, </a:t>
            </a:r>
            <a:r>
              <a:rPr lang="en-US" sz="2800" spc="-55" dirty="0">
                <a:latin typeface="Tahoma"/>
                <a:cs typeface="Tahoma"/>
              </a:rPr>
              <a:t>scaled </a:t>
            </a:r>
            <a:r>
              <a:rPr lang="en-US" sz="2800" spc="-20" dirty="0">
                <a:latin typeface="Tahoma"/>
                <a:cs typeface="Tahoma"/>
              </a:rPr>
              <a:t>to </a:t>
            </a:r>
            <a:r>
              <a:rPr lang="en-US" sz="2800" spc="-45" dirty="0">
                <a:latin typeface="Tahoma"/>
                <a:cs typeface="Tahoma"/>
              </a:rPr>
              <a:t>0-1) </a:t>
            </a:r>
            <a:r>
              <a:rPr lang="en-US" sz="2800" spc="-30" dirty="0">
                <a:latin typeface="Tahoma"/>
                <a:cs typeface="Tahoma"/>
              </a:rPr>
              <a:t>in </a:t>
            </a:r>
            <a:r>
              <a:rPr lang="en-US" sz="2800" spc="-50" dirty="0">
                <a:latin typeface="Tahoma"/>
                <a:cs typeface="Tahoma"/>
              </a:rPr>
              <a:t>the  </a:t>
            </a:r>
            <a:r>
              <a:rPr lang="en-US" sz="2800" spc="-60" dirty="0">
                <a:latin typeface="Tahoma"/>
                <a:cs typeface="Tahoma"/>
              </a:rPr>
              <a:t>28 </a:t>
            </a:r>
            <a:r>
              <a:rPr lang="en-US" i="1" spc="-5" dirty="0">
                <a:latin typeface="Meiryo"/>
                <a:cs typeface="Meiryo"/>
              </a:rPr>
              <a:t>× </a:t>
            </a:r>
            <a:r>
              <a:rPr lang="en-US" sz="2800" spc="-60" dirty="0">
                <a:latin typeface="Tahoma"/>
                <a:cs typeface="Tahoma"/>
              </a:rPr>
              <a:t>28 </a:t>
            </a:r>
            <a:r>
              <a:rPr lang="en-US" spc="5" dirty="0">
                <a:latin typeface="Lucida Sans Unicode"/>
                <a:cs typeface="Lucida Sans Unicode"/>
              </a:rPr>
              <a:t>= </a:t>
            </a:r>
            <a:r>
              <a:rPr lang="en-US" sz="2800" spc="-60" dirty="0">
                <a:latin typeface="Tahoma"/>
                <a:cs typeface="Tahoma"/>
              </a:rPr>
              <a:t>784 </a:t>
            </a:r>
            <a:r>
              <a:rPr lang="en-US" sz="2800" spc="-50" dirty="0">
                <a:latin typeface="Tahoma"/>
                <a:cs typeface="Tahoma"/>
              </a:rPr>
              <a:t>pixels </a:t>
            </a:r>
            <a:r>
              <a:rPr lang="en-US" sz="2800" spc="-65" dirty="0">
                <a:latin typeface="Tahoma"/>
                <a:cs typeface="Tahoma"/>
              </a:rPr>
              <a:t>as </a:t>
            </a:r>
            <a:r>
              <a:rPr lang="en-US" sz="2800" spc="-50" dirty="0">
                <a:latin typeface="Tahoma"/>
                <a:cs typeface="Tahoma"/>
              </a:rPr>
              <a:t>features</a:t>
            </a:r>
            <a:r>
              <a:rPr lang="en-US" sz="2800" spc="-45" dirty="0">
                <a:latin typeface="Tahoma"/>
                <a:cs typeface="Tahoma"/>
              </a:rPr>
              <a:t>.</a:t>
            </a:r>
            <a:endParaRPr lang="en-US" sz="2800" dirty="0">
              <a:latin typeface="Tahoma"/>
              <a:cs typeface="Tahoma"/>
            </a:endParaRPr>
          </a:p>
          <a:p>
            <a:pPr marL="0" indent="0">
              <a:lnSpc>
                <a:spcPct val="100000"/>
              </a:lnSpc>
              <a:spcBef>
                <a:spcPts val="330"/>
              </a:spcBef>
              <a:buNone/>
            </a:pPr>
            <a:endParaRPr lang="en-US" sz="2800" b="1" spc="25" dirty="0">
              <a:solidFill>
                <a:srgbClr val="0000FF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330"/>
              </a:spcBef>
              <a:buNone/>
            </a:pPr>
            <a:r>
              <a:rPr lang="en-US" sz="2800" b="1" spc="25" dirty="0">
                <a:solidFill>
                  <a:srgbClr val="0000FF"/>
                </a:solidFill>
                <a:cs typeface="Calibri"/>
              </a:rPr>
              <a:t>Methods: </a:t>
            </a:r>
          </a:p>
          <a:p>
            <a:pPr>
              <a:spcBef>
                <a:spcPts val="330"/>
              </a:spcBef>
            </a:pPr>
            <a:r>
              <a:rPr lang="en-US" sz="2800" spc="25" dirty="0">
                <a:cs typeface="Calibri"/>
              </a:rPr>
              <a:t>Multinomial classification with LASSO regularization</a:t>
            </a:r>
          </a:p>
          <a:p>
            <a:pPr>
              <a:spcBef>
                <a:spcPts val="330"/>
              </a:spcBef>
            </a:pPr>
            <a:r>
              <a:rPr lang="en-US" sz="2800" spc="25" dirty="0">
                <a:cs typeface="Calibri"/>
              </a:rPr>
              <a:t>Support vector machines</a:t>
            </a:r>
          </a:p>
          <a:p>
            <a:pPr>
              <a:spcBef>
                <a:spcPts val="330"/>
              </a:spcBef>
            </a:pPr>
            <a:r>
              <a:rPr lang="en-US" sz="2800" spc="25" dirty="0">
                <a:cs typeface="Calibri"/>
              </a:rPr>
              <a:t>Neural Networks (deep?)</a:t>
            </a:r>
            <a:endParaRPr lang="en-US" sz="2800" spc="15" dirty="0">
              <a:cs typeface="Calibri"/>
            </a:endParaRPr>
          </a:p>
          <a:p>
            <a:pPr marL="0" indent="0">
              <a:buNone/>
            </a:pPr>
            <a:endParaRPr lang="sv-SE" sz="2800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691105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4000" dirty="0" err="1"/>
              <a:t>Example</a:t>
            </a:r>
            <a:r>
              <a:rPr lang="sv-SE" sz="4000" dirty="0"/>
              <a:t>: </a:t>
            </a:r>
            <a:r>
              <a:rPr lang="sv-SE" sz="4000" dirty="0" err="1"/>
              <a:t>classifying</a:t>
            </a:r>
            <a:r>
              <a:rPr lang="sv-SE" sz="4000" dirty="0"/>
              <a:t> </a:t>
            </a:r>
            <a:r>
              <a:rPr lang="sv-SE" sz="4000" dirty="0" err="1"/>
              <a:t>hadwritten</a:t>
            </a:r>
            <a:r>
              <a:rPr lang="sv-SE" sz="4000" dirty="0"/>
              <a:t> </a:t>
            </a:r>
            <a:r>
              <a:rPr lang="sv-SE" sz="4000" dirty="0" err="1"/>
              <a:t>digits</a:t>
            </a:r>
            <a:endParaRPr lang="sv-SE" sz="40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Confusion</a:t>
            </a:r>
            <a:r>
              <a:rPr lang="sv-SE" dirty="0"/>
              <a:t> matrix</a:t>
            </a: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object 3"/>
          <p:cNvSpPr/>
          <p:nvPr/>
        </p:nvSpPr>
        <p:spPr>
          <a:xfrm>
            <a:off x="2483768" y="2924944"/>
            <a:ext cx="4320480" cy="2376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ruta 5"/>
          <p:cNvSpPr txBox="1"/>
          <p:nvPr/>
        </p:nvSpPr>
        <p:spPr>
          <a:xfrm>
            <a:off x="1763688" y="2906648"/>
            <a:ext cx="432048" cy="255454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sv-SE" sz="3200" dirty="0">
                <a:solidFill>
                  <a:schemeClr val="bg1"/>
                </a:solidFill>
              </a:rPr>
              <a:t>TRUTH</a:t>
            </a:r>
          </a:p>
        </p:txBody>
      </p:sp>
      <p:sp>
        <p:nvSpPr>
          <p:cNvPr id="7" name="textruta 6"/>
          <p:cNvSpPr txBox="1"/>
          <p:nvPr/>
        </p:nvSpPr>
        <p:spPr>
          <a:xfrm>
            <a:off x="3152770" y="2321873"/>
            <a:ext cx="2867030" cy="58477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sv-SE" sz="3200" dirty="0">
                <a:solidFill>
                  <a:schemeClr val="bg1"/>
                </a:solidFill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3721950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z="4000" dirty="0" err="1"/>
              <a:t>Example</a:t>
            </a:r>
            <a:r>
              <a:rPr lang="sv-SE" sz="4000" dirty="0"/>
              <a:t>: </a:t>
            </a:r>
            <a:r>
              <a:rPr lang="sv-SE" sz="4000" dirty="0" err="1"/>
              <a:t>smartfone</a:t>
            </a:r>
            <a:r>
              <a:rPr lang="sv-SE" sz="4000" dirty="0"/>
              <a:t> </a:t>
            </a:r>
            <a:r>
              <a:rPr lang="sv-SE" sz="4000" dirty="0" err="1"/>
              <a:t>typing</a:t>
            </a:r>
            <a:r>
              <a:rPr lang="sv-SE" sz="4000" dirty="0"/>
              <a:t> </a:t>
            </a:r>
            <a:r>
              <a:rPr lang="sv-SE" sz="4000" dirty="0" err="1"/>
              <a:t>predictions</a:t>
            </a:r>
            <a:endParaRPr lang="sv-SE" sz="4000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668403"/>
            <a:ext cx="2498610" cy="44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8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Example</a:t>
            </a:r>
            <a:r>
              <a:rPr lang="sv-SE" dirty="0"/>
              <a:t>: </a:t>
            </a:r>
            <a:r>
              <a:rPr lang="sv-SE" dirty="0" err="1"/>
              <a:t>smartfone</a:t>
            </a:r>
            <a:r>
              <a:rPr lang="sv-SE" dirty="0"/>
              <a:t> </a:t>
            </a:r>
            <a:r>
              <a:rPr lang="sv-SE" dirty="0" err="1"/>
              <a:t>typing</a:t>
            </a:r>
            <a:r>
              <a:rPr lang="sv-SE" dirty="0"/>
              <a:t> </a:t>
            </a:r>
            <a:r>
              <a:rPr lang="sv-SE" dirty="0" err="1"/>
              <a:t>predictions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Markov Model of the sentence and Bayes theorem: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Intuition: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𝑝𝑒𝑟𝑠𝑜𝑛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𝑖𝑛𝑡𝑒𝑙𝑙𝑖𝑔𝑒𝑛𝑡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𝑡𝑟𝑒𝑒</m:t>
                        </m:r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𝑖𝑛𝑡𝑒𝑙𝑙𝑖𝑔𝑒𝑛𝑡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=0.0001</m:t>
                    </m:r>
                  </m:oMath>
                </a14:m>
                <a:endParaRPr lang="sv-SE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Probability for sentence depends only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How to compute ? Investigate a lot of data!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𝑐𝑎𝑠𝑒𝑠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𝑓𝑜𝑙𝑙𝑜𝑤𝑠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𝑐𝑎𝑠𝑒𝑠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practice, more advanced model used</a:t>
                </a:r>
              </a:p>
              <a:p>
                <a:pPr lvl="1"/>
                <a:r>
                  <a:rPr lang="en-US" dirty="0"/>
                  <a:t>Neural networks for ex.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textruta 4"/>
          <p:cNvSpPr txBox="1"/>
          <p:nvPr/>
        </p:nvSpPr>
        <p:spPr>
          <a:xfrm>
            <a:off x="4860032" y="292494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Highest</a:t>
            </a:r>
            <a:r>
              <a:rPr lang="sv-SE" dirty="0">
                <a:solidFill>
                  <a:srgbClr val="7030A0"/>
                </a:solidFill>
              </a:rPr>
              <a:t> P(?|Donald) ?</a:t>
            </a:r>
          </a:p>
        </p:txBody>
      </p:sp>
    </p:spTree>
    <p:extLst>
      <p:ext uri="{BB962C8B-B14F-4D97-AF65-F5344CB8AC3E}">
        <p14:creationId xmlns:p14="http://schemas.microsoft.com/office/powerpoint/2010/main" val="189165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4000500" y="4572000"/>
            <a:ext cx="1857375" cy="100012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 err="1"/>
              <a:t>Model</a:t>
            </a:r>
            <a:r>
              <a:rPr lang="sv-SE" dirty="0"/>
              <a:t>(?,?,?,...)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000500" y="4572000"/>
            <a:ext cx="1857375" cy="100012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 err="1"/>
              <a:t>Model</a:t>
            </a:r>
            <a:r>
              <a:rPr lang="sv-SE" dirty="0"/>
              <a:t>(</a:t>
            </a:r>
            <a:r>
              <a:rPr lang="sv-SE" dirty="0" err="1"/>
              <a:t>a,b,c</a:t>
            </a:r>
            <a:r>
              <a:rPr lang="sv-SE" dirty="0"/>
              <a:t>,...)</a:t>
            </a:r>
          </a:p>
        </p:txBody>
      </p:sp>
      <p:sp>
        <p:nvSpPr>
          <p:cNvPr id="1024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/>
              <a:t>Types of learning</a:t>
            </a:r>
          </a:p>
        </p:txBody>
      </p:sp>
      <p:sp>
        <p:nvSpPr>
          <p:cNvPr id="1024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v-SE" sz="2200" b="1" dirty="0">
                <a:solidFill>
                  <a:srgbClr val="C00000"/>
                </a:solidFill>
              </a:rPr>
              <a:t>Supervised learning </a:t>
            </a:r>
            <a:r>
              <a:rPr lang="en-US" altLang="sv-SE" sz="2200" dirty="0"/>
              <a:t>(classification, regression)</a:t>
            </a:r>
          </a:p>
          <a:p>
            <a:pPr lvl="1" eaLnBrk="1" hangingPunct="1"/>
            <a:r>
              <a:rPr lang="en-US" altLang="sv-SE" sz="2200" dirty="0"/>
              <a:t>Compute parameters from data</a:t>
            </a:r>
          </a:p>
          <a:p>
            <a:pPr lvl="1" eaLnBrk="1" hangingPunct="1"/>
            <a:r>
              <a:rPr lang="en-US" altLang="sv-SE" sz="2200" dirty="0"/>
              <a:t>Given features of a new object, predict target (generalize beyond seen training data)</a:t>
            </a:r>
          </a:p>
          <a:p>
            <a:pPr lvl="1" eaLnBrk="1" hangingPunct="1"/>
            <a:r>
              <a:rPr lang="en-US" sz="2400" b="1" spc="15" dirty="0">
                <a:solidFill>
                  <a:srgbClr val="0000FF"/>
                </a:solidFill>
                <a:cs typeface="Calibri"/>
              </a:rPr>
              <a:t>Classification</a:t>
            </a:r>
            <a:r>
              <a:rPr lang="en-US" altLang="sv-SE" sz="2200" dirty="0"/>
              <a:t> (Y=categorical), </a:t>
            </a:r>
            <a:r>
              <a:rPr lang="en-US" sz="2400" b="1" spc="15" dirty="0">
                <a:solidFill>
                  <a:srgbClr val="0000FF"/>
                </a:solidFill>
                <a:cs typeface="Calibri"/>
              </a:rPr>
              <a:t>Regression</a:t>
            </a:r>
            <a:r>
              <a:rPr lang="en-US" altLang="sv-SE" sz="2200" dirty="0"/>
              <a:t> (Y=continuous)</a:t>
            </a:r>
          </a:p>
          <a:p>
            <a:pPr eaLnBrk="1" hangingPunct="1"/>
            <a:r>
              <a:rPr lang="en-US" altLang="sv-SE" sz="2000" dirty="0"/>
              <a:t>Most of ML models: Neural Nets, Decision Trees, Support Vector Machines, Bayesian nets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071563" y="4357688"/>
            <a:ext cx="2071687" cy="7858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/>
              <a:t>Dataset</a:t>
            </a:r>
            <a:endParaRPr lang="sv-SE" dirty="0"/>
          </a:p>
          <a:p>
            <a:pPr algn="ctr">
              <a:defRPr/>
            </a:pPr>
            <a:r>
              <a:rPr lang="sv-SE" b="1" dirty="0"/>
              <a:t>{X</a:t>
            </a:r>
            <a:r>
              <a:rPr lang="sv-SE" sz="1600" b="1" dirty="0"/>
              <a:t>i</a:t>
            </a:r>
            <a:r>
              <a:rPr lang="sv-SE" b="1" dirty="0"/>
              <a:t>, Y</a:t>
            </a:r>
            <a:r>
              <a:rPr lang="sv-SE" sz="1600" b="1" dirty="0"/>
              <a:t>i</a:t>
            </a:r>
            <a:r>
              <a:rPr lang="sv-SE" b="1" dirty="0"/>
              <a:t>}</a:t>
            </a:r>
          </a:p>
        </p:txBody>
      </p:sp>
      <p:cxnSp>
        <p:nvCxnSpPr>
          <p:cNvPr id="7" name="Прямая со стрелкой 6"/>
          <p:cNvCxnSpPr>
            <a:endCxn id="5" idx="1"/>
          </p:cNvCxnSpPr>
          <p:nvPr/>
        </p:nvCxnSpPr>
        <p:spPr>
          <a:xfrm>
            <a:off x="3143250" y="4857750"/>
            <a:ext cx="857250" cy="2143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29125" y="3929063"/>
            <a:ext cx="790947" cy="357187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x*,?</a:t>
            </a:r>
          </a:p>
        </p:txBody>
      </p:sp>
      <p:cxnSp>
        <p:nvCxnSpPr>
          <p:cNvPr id="14" name="Прямая соединительная линия 13"/>
          <p:cNvCxnSpPr>
            <a:cxnSpLocks/>
            <a:stCxn id="12" idx="4"/>
            <a:endCxn id="5" idx="0"/>
          </p:cNvCxnSpPr>
          <p:nvPr/>
        </p:nvCxnSpPr>
        <p:spPr>
          <a:xfrm>
            <a:off x="4824599" y="4286250"/>
            <a:ext cx="104589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5" idx="3"/>
          </p:cNvCxnSpPr>
          <p:nvPr/>
        </p:nvCxnSpPr>
        <p:spPr>
          <a:xfrm>
            <a:off x="5857875" y="5072063"/>
            <a:ext cx="1214438" cy="142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/>
          <p:cNvSpPr/>
          <p:nvPr/>
        </p:nvSpPr>
        <p:spPr>
          <a:xfrm>
            <a:off x="7143750" y="5000625"/>
            <a:ext cx="1100658" cy="428625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x*,y*</a:t>
            </a:r>
          </a:p>
        </p:txBody>
      </p:sp>
    </p:spTree>
    <p:extLst>
      <p:ext uri="{BB962C8B-B14F-4D97-AF65-F5344CB8AC3E}">
        <p14:creationId xmlns:p14="http://schemas.microsoft.com/office/powerpoint/2010/main" val="114994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Types of learning</a:t>
            </a:r>
          </a:p>
        </p:txBody>
      </p:sp>
      <p:sp>
        <p:nvSpPr>
          <p:cNvPr id="11267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v-SE" sz="2200" dirty="0">
                <a:solidFill>
                  <a:srgbClr val="C00000"/>
                </a:solidFill>
              </a:rPr>
              <a:t>Unsupervised learning (</a:t>
            </a:r>
            <a:r>
              <a:rPr lang="en-US" altLang="sv-SE" sz="2200" dirty="0">
                <a:solidFill>
                  <a:srgbClr val="C00000"/>
                </a:solidFill>
                <a:sym typeface="Wingdings" panose="05000000000000000000" pitchFamily="2" charset="2"/>
              </a:rPr>
              <a:t>Data Mining)</a:t>
            </a:r>
            <a:endParaRPr lang="en-US" altLang="sv-SE" sz="2200" dirty="0"/>
          </a:p>
          <a:p>
            <a:pPr lvl="1" eaLnBrk="1" hangingPunct="1"/>
            <a:r>
              <a:rPr lang="en-US" altLang="sv-SE" sz="2200" dirty="0"/>
              <a:t>No target</a:t>
            </a:r>
          </a:p>
          <a:p>
            <a:pPr lvl="1" eaLnBrk="1" hangingPunct="1"/>
            <a:r>
              <a:rPr lang="en-US" altLang="sv-SE" sz="2200" dirty="0"/>
              <a:t> Aim is to extract interesting information about</a:t>
            </a:r>
          </a:p>
          <a:p>
            <a:pPr lvl="2" eaLnBrk="1" hangingPunct="1"/>
            <a:r>
              <a:rPr lang="en-US" altLang="sv-SE" sz="1900" dirty="0"/>
              <a:t>Relations of parameters to each other</a:t>
            </a:r>
          </a:p>
          <a:p>
            <a:pPr lvl="2" eaLnBrk="1" hangingPunct="1"/>
            <a:r>
              <a:rPr lang="en-US" altLang="sv-SE" sz="1900" dirty="0"/>
              <a:t>Grouping of objects</a:t>
            </a:r>
          </a:p>
          <a:p>
            <a:pPr marL="0" indent="0" eaLnBrk="1" hangingPunct="1">
              <a:buNone/>
            </a:pPr>
            <a:r>
              <a:rPr lang="en-US" altLang="sv-SE" sz="2400" dirty="0">
                <a:solidFill>
                  <a:srgbClr val="C00000"/>
                </a:solidFill>
              </a:rPr>
              <a:t>Ex</a:t>
            </a:r>
            <a:r>
              <a:rPr lang="en-US" altLang="sv-SE" sz="2400" dirty="0"/>
              <a:t>: clustering, density estimation, association analysis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2214563" y="4286250"/>
            <a:ext cx="3429000" cy="1500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sv-SE" dirty="0"/>
              <a:t>x1&lt;-&gt; x2&lt;-&gt; x3...</a:t>
            </a:r>
          </a:p>
        </p:txBody>
      </p:sp>
    </p:spTree>
    <p:extLst>
      <p:ext uri="{BB962C8B-B14F-4D97-AF65-F5344CB8AC3E}">
        <p14:creationId xmlns:p14="http://schemas.microsoft.com/office/powerpoint/2010/main" val="4048025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Types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learning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355"/>
              </a:spcBef>
            </a:pPr>
            <a:r>
              <a:rPr lang="en-US" b="1" spc="20" dirty="0">
                <a:solidFill>
                  <a:srgbClr val="C00000"/>
                </a:solidFill>
                <a:cs typeface="Calibri"/>
              </a:rPr>
              <a:t>Semi-supervised</a:t>
            </a:r>
            <a:r>
              <a:rPr lang="en-US" spc="20" dirty="0">
                <a:cs typeface="Tahoma"/>
              </a:rPr>
              <a:t>: </a:t>
            </a:r>
            <a:r>
              <a:rPr lang="en-US" spc="-45" dirty="0">
                <a:cs typeface="Tahoma"/>
              </a:rPr>
              <a:t>targets </a:t>
            </a:r>
            <a:r>
              <a:rPr lang="en-US" spc="-70" dirty="0">
                <a:cs typeface="Tahoma"/>
              </a:rPr>
              <a:t>are </a:t>
            </a:r>
            <a:r>
              <a:rPr lang="en-US" spc="-60" dirty="0">
                <a:cs typeface="Tahoma"/>
              </a:rPr>
              <a:t>known </a:t>
            </a:r>
            <a:r>
              <a:rPr lang="en-US" spc="-45" dirty="0">
                <a:cs typeface="Tahoma"/>
              </a:rPr>
              <a:t>only </a:t>
            </a:r>
            <a:r>
              <a:rPr lang="en-US" spc="-50" dirty="0">
                <a:cs typeface="Tahoma"/>
              </a:rPr>
              <a:t>for </a:t>
            </a:r>
            <a:r>
              <a:rPr lang="en-US" spc="-75" dirty="0">
                <a:cs typeface="Tahoma"/>
              </a:rPr>
              <a:t>some </a:t>
            </a:r>
            <a:r>
              <a:rPr lang="en-US" spc="-30" dirty="0">
                <a:cs typeface="Tahoma"/>
              </a:rPr>
              <a:t> </a:t>
            </a:r>
            <a:r>
              <a:rPr lang="en-US" spc="-50" dirty="0">
                <a:cs typeface="Tahoma"/>
              </a:rPr>
              <a:t>observations.</a:t>
            </a:r>
          </a:p>
          <a:p>
            <a:pPr>
              <a:spcBef>
                <a:spcPts val="355"/>
              </a:spcBef>
            </a:pPr>
            <a:endParaRPr lang="en-US" dirty="0">
              <a:cs typeface="Tahoma"/>
            </a:endParaRPr>
          </a:p>
          <a:p>
            <a:pPr>
              <a:spcBef>
                <a:spcPts val="140"/>
              </a:spcBef>
            </a:pPr>
            <a:r>
              <a:rPr lang="en-US" b="1" spc="35" dirty="0">
                <a:solidFill>
                  <a:srgbClr val="C00000"/>
                </a:solidFill>
                <a:cs typeface="Calibri"/>
              </a:rPr>
              <a:t>Active  </a:t>
            </a:r>
            <a:r>
              <a:rPr lang="en-US" b="1" spc="10" dirty="0">
                <a:solidFill>
                  <a:srgbClr val="C00000"/>
                </a:solidFill>
                <a:cs typeface="Calibri"/>
              </a:rPr>
              <a:t>learning</a:t>
            </a:r>
            <a:r>
              <a:rPr lang="en-US" spc="10" dirty="0">
                <a:cs typeface="Tahoma"/>
              </a:rPr>
              <a:t>. </a:t>
            </a:r>
            <a:r>
              <a:rPr lang="en-US" spc="-40" dirty="0">
                <a:cs typeface="Tahoma"/>
              </a:rPr>
              <a:t>Strategies </a:t>
            </a:r>
            <a:r>
              <a:rPr lang="en-US" spc="-50" dirty="0">
                <a:cs typeface="Tahoma"/>
              </a:rPr>
              <a:t>for </a:t>
            </a:r>
            <a:r>
              <a:rPr lang="en-US" spc="-45" dirty="0">
                <a:cs typeface="Tahoma"/>
              </a:rPr>
              <a:t>deciding which </a:t>
            </a:r>
            <a:r>
              <a:rPr lang="en-US" spc="-55" dirty="0">
                <a:cs typeface="Tahoma"/>
              </a:rPr>
              <a:t>observations </a:t>
            </a:r>
            <a:r>
              <a:rPr lang="en-US" spc="-20" dirty="0">
                <a:cs typeface="Tahoma"/>
              </a:rPr>
              <a:t>to </a:t>
            </a:r>
            <a:r>
              <a:rPr lang="en-US" spc="-40" dirty="0">
                <a:cs typeface="Tahoma"/>
              </a:rPr>
              <a:t>label</a:t>
            </a:r>
          </a:p>
          <a:p>
            <a:pPr>
              <a:spcBef>
                <a:spcPts val="355"/>
              </a:spcBef>
            </a:pPr>
            <a:endParaRPr lang="en-US" dirty="0">
              <a:cs typeface="Tahoma"/>
            </a:endParaRPr>
          </a:p>
          <a:p>
            <a:pPr>
              <a:spcBef>
                <a:spcPts val="140"/>
              </a:spcBef>
            </a:pPr>
            <a:r>
              <a:rPr lang="en-US" b="1" spc="35" dirty="0">
                <a:solidFill>
                  <a:srgbClr val="C00000"/>
                </a:solidFill>
                <a:cs typeface="Calibri"/>
              </a:rPr>
              <a:t>Reinforcement learning</a:t>
            </a:r>
            <a:r>
              <a:rPr lang="en-US" spc="10" dirty="0">
                <a:cs typeface="Tahoma"/>
              </a:rPr>
              <a:t>. </a:t>
            </a:r>
            <a:r>
              <a:rPr lang="sv-SE" spc="-40" dirty="0" err="1">
                <a:cs typeface="Tahoma"/>
              </a:rPr>
              <a:t>Find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suitable</a:t>
            </a:r>
            <a:r>
              <a:rPr lang="sv-SE" spc="-40" dirty="0">
                <a:cs typeface="Tahoma"/>
              </a:rPr>
              <a:t> actions to </a:t>
            </a:r>
            <a:r>
              <a:rPr lang="sv-SE" spc="-40" dirty="0" err="1">
                <a:cs typeface="Tahoma"/>
              </a:rPr>
              <a:t>maximize</a:t>
            </a:r>
            <a:r>
              <a:rPr lang="sv-SE" spc="-40" dirty="0">
                <a:cs typeface="Tahoma"/>
              </a:rPr>
              <a:t> the </a:t>
            </a:r>
            <a:r>
              <a:rPr lang="sv-SE" spc="-40" dirty="0" err="1">
                <a:cs typeface="Tahoma"/>
              </a:rPr>
              <a:t>reward</a:t>
            </a:r>
            <a:r>
              <a:rPr lang="sv-SE" spc="-40" dirty="0">
                <a:cs typeface="Tahoma"/>
              </a:rPr>
              <a:t>.  </a:t>
            </a:r>
            <a:r>
              <a:rPr lang="sv-SE" spc="-40" dirty="0" err="1">
                <a:cs typeface="Tahoma"/>
              </a:rPr>
              <a:t>True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targets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are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discovered</a:t>
            </a:r>
            <a:r>
              <a:rPr lang="sv-SE" spc="-40" dirty="0">
                <a:cs typeface="Tahoma"/>
              </a:rPr>
              <a:t> by trial and </a:t>
            </a:r>
            <a:r>
              <a:rPr lang="sv-SE" spc="-40" dirty="0" err="1">
                <a:cs typeface="Tahoma"/>
              </a:rPr>
              <a:t>error</a:t>
            </a:r>
            <a:r>
              <a:rPr lang="sv-SE" spc="-40" dirty="0">
                <a:cs typeface="Tahoma"/>
              </a:rPr>
              <a:t>. (ex. </a:t>
            </a:r>
            <a:r>
              <a:rPr lang="sv-SE" spc="-40" dirty="0" err="1">
                <a:cs typeface="Tahoma"/>
              </a:rPr>
              <a:t>ChatGPT</a:t>
            </a:r>
            <a:r>
              <a:rPr lang="sv-SE" spc="-40" dirty="0">
                <a:cs typeface="Tahoma"/>
              </a:rPr>
              <a:t>)</a:t>
            </a:r>
          </a:p>
          <a:p>
            <a:pPr>
              <a:spcBef>
                <a:spcPts val="140"/>
              </a:spcBef>
            </a:pPr>
            <a:endParaRPr lang="sv-SE" spc="-40" dirty="0">
              <a:cs typeface="Tahoma"/>
            </a:endParaRPr>
          </a:p>
          <a:p>
            <a:pPr>
              <a:spcBef>
                <a:spcPts val="140"/>
              </a:spcBef>
            </a:pPr>
            <a:r>
              <a:rPr lang="sv-SE" b="1" spc="-40" dirty="0">
                <a:solidFill>
                  <a:srgbClr val="C00000"/>
                </a:solidFill>
                <a:cs typeface="Tahoma"/>
              </a:rPr>
              <a:t>Transfer </a:t>
            </a:r>
            <a:r>
              <a:rPr lang="sv-SE" b="1" spc="-40" dirty="0" err="1">
                <a:solidFill>
                  <a:srgbClr val="C00000"/>
                </a:solidFill>
                <a:cs typeface="Tahoma"/>
              </a:rPr>
              <a:t>learning</a:t>
            </a:r>
            <a:r>
              <a:rPr lang="sv-SE" b="1" spc="-40" dirty="0">
                <a:solidFill>
                  <a:srgbClr val="C00000"/>
                </a:solidFill>
                <a:cs typeface="Tahoma"/>
              </a:rPr>
              <a:t>: </a:t>
            </a:r>
            <a:r>
              <a:rPr lang="sv-SE" spc="-40" dirty="0" err="1">
                <a:cs typeface="Tahoma"/>
              </a:rPr>
              <a:t>use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knowledge</a:t>
            </a:r>
            <a:r>
              <a:rPr lang="sv-SE" spc="-40" dirty="0">
                <a:cs typeface="Tahoma"/>
              </a:rPr>
              <a:t> from </a:t>
            </a:r>
            <a:r>
              <a:rPr lang="sv-SE" spc="-40" dirty="0" err="1">
                <a:cs typeface="Tahoma"/>
              </a:rPr>
              <a:t>some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domain</a:t>
            </a:r>
            <a:r>
              <a:rPr lang="sv-SE" spc="-40" dirty="0">
                <a:cs typeface="Tahoma"/>
              </a:rPr>
              <a:t> to </a:t>
            </a:r>
            <a:r>
              <a:rPr lang="sv-SE" spc="-40" dirty="0" err="1">
                <a:cs typeface="Tahoma"/>
              </a:rPr>
              <a:t>train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better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models</a:t>
            </a:r>
            <a:r>
              <a:rPr lang="sv-SE" spc="-40" dirty="0">
                <a:cs typeface="Tahoma"/>
              </a:rPr>
              <a:t> in a </a:t>
            </a:r>
            <a:r>
              <a:rPr lang="sv-SE" spc="-40" dirty="0" err="1">
                <a:cs typeface="Tahoma"/>
              </a:rPr>
              <a:t>similar</a:t>
            </a:r>
            <a:r>
              <a:rPr lang="sv-SE" spc="-40" dirty="0">
                <a:cs typeface="Tahoma"/>
              </a:rPr>
              <a:t> </a:t>
            </a:r>
            <a:r>
              <a:rPr lang="sv-SE" spc="-40" dirty="0" err="1">
                <a:cs typeface="Tahoma"/>
              </a:rPr>
              <a:t>domain</a:t>
            </a:r>
            <a:endParaRPr lang="sv-SE" dirty="0"/>
          </a:p>
          <a:p>
            <a:pPr>
              <a:spcBef>
                <a:spcPts val="140"/>
              </a:spcBef>
            </a:pP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1149973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Basic ML </a:t>
            </a:r>
            <a:r>
              <a:rPr lang="sv-SE" dirty="0" err="1"/>
              <a:t>ingridients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F1AF9"/>
                    </a:solidFill>
                  </a:rPr>
                  <a:t>Data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𝛵</m:t>
                    </m:r>
                  </m:oMath>
                </a14:m>
                <a:r>
                  <a:rPr lang="sv-SE" sz="2400" dirty="0"/>
                  <a:t>: observations (</a:t>
                </a:r>
                <a:r>
                  <a:rPr lang="sv-SE" sz="2400" dirty="0" err="1"/>
                  <a:t>cases</a:t>
                </a:r>
                <a:r>
                  <a:rPr lang="sv-SE" sz="2400" dirty="0"/>
                  <a:t>)</a:t>
                </a:r>
              </a:p>
              <a:p>
                <a:pPr lvl="1"/>
                <a:r>
                  <a:rPr lang="sv-SE" sz="2000" dirty="0"/>
                  <a:t>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,.. 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sv-SE" sz="2000" b="0" dirty="0"/>
              </a:p>
              <a:p>
                <a:pPr lvl="1"/>
                <a:r>
                  <a:rPr lang="sv-SE" sz="2000" dirty="0"/>
                  <a:t>Targets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sv-SE" sz="2000" b="0" dirty="0"/>
              </a:p>
              <a:p>
                <a:pPr lvl="1"/>
                <a:endParaRPr lang="sv-SE" sz="2000" dirty="0"/>
              </a:p>
              <a:p>
                <a:r>
                  <a:rPr lang="sv-SE" sz="2400" b="1" dirty="0" err="1">
                    <a:solidFill>
                      <a:srgbClr val="0F1AF9"/>
                    </a:solidFill>
                  </a:rPr>
                  <a:t>Mathematical</a:t>
                </a:r>
                <a:r>
                  <a:rPr lang="sv-SE" sz="2400" b="1" dirty="0">
                    <a:solidFill>
                      <a:srgbClr val="0F1AF9"/>
                    </a:solidFill>
                  </a:rPr>
                  <a:t> </a:t>
                </a:r>
                <a:r>
                  <a:rPr lang="sv-SE" sz="2400" b="1" dirty="0" err="1">
                    <a:solidFill>
                      <a:srgbClr val="0F1AF9"/>
                    </a:solidFill>
                  </a:rPr>
                  <a:t>Model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| 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sv-SE" sz="2400" b="0" dirty="0"/>
                  <a:t> 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sz="2400" b="0" dirty="0"/>
              </a:p>
              <a:p>
                <a:pPr lvl="1"/>
                <a:r>
                  <a:rPr lang="sv-SE" sz="2000" b="0" dirty="0" err="1"/>
                  <a:t>Example</a:t>
                </a:r>
                <a:r>
                  <a:rPr lang="sv-SE" sz="2000" b="0" dirty="0"/>
                  <a:t>: </a:t>
                </a:r>
                <a:r>
                  <a:rPr lang="sv-SE" sz="2000" b="0" dirty="0" err="1"/>
                  <a:t>Linear</a:t>
                </a:r>
                <a:r>
                  <a:rPr lang="sv-SE" sz="2000" b="0" dirty="0"/>
                  <a:t> regression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000" b="0" i="0" smtClean="0">
                        <a:latin typeface="Cambria Math" panose="02040503050406030204" pitchFamily="18" charset="0"/>
                        <a:sym typeface="Symbol" pitchFamily="18" charset="2"/>
                      </a:rPr>
                      <m:t>p</m:t>
                    </m:r>
                    <m:d>
                      <m:dPr>
                        <m:ctrlPr>
                          <a:rPr lang="sv-SE" sz="200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𝑦</m:t>
                        </m:r>
                      </m:e>
                      <m:e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,</m:t>
                        </m:r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𝑜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 </m:t>
                        </m:r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 </m:t>
                        </m:r>
                        <m:sSup>
                          <m:sSup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sv-SE" sz="2000" b="0" i="1" smtClean="0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sv-SE" sz="2000" i="1">
                        <a:latin typeface="Cambria Math"/>
                        <a:sym typeface="Symbol" pitchFamily="18" charset="2"/>
                      </a:rPr>
                      <m:t>=</m:t>
                    </m:r>
                    <m:r>
                      <a:rPr lang="sv-SE" sz="2000" i="1">
                        <a:latin typeface="Cambria Math"/>
                        <a:sym typeface="Symbol" pitchFamily="18" charset="2"/>
                      </a:rPr>
                      <m:t>𝑁</m:t>
                    </m:r>
                    <m:d>
                      <m:dPr>
                        <m:ctrlPr>
                          <a:rPr lang="sv-SE" sz="2000" i="1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0</m:t>
                            </m:r>
                          </m:sub>
                        </m:sSub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+</m:t>
                        </m:r>
                        <m:sSub>
                          <m:sSub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b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1</m:t>
                            </m:r>
                          </m:sub>
                        </m:sSub>
                        <m:r>
                          <a:rPr lang="sv-SE" sz="2000" i="1">
                            <a:latin typeface="Cambria Math"/>
                            <a:sym typeface="Symbol" pitchFamily="18" charset="2"/>
                          </a:rPr>
                          <m:t>𝑥</m:t>
                        </m:r>
                        <m:r>
                          <a:rPr lang="sv-SE" sz="2000" b="1" i="1">
                            <a:latin typeface="Cambria Math"/>
                            <a:sym typeface="Symbol" pitchFamily="18" charset="2"/>
                          </a:rPr>
                          <m:t>, </m:t>
                        </m:r>
                        <m:sSup>
                          <m:sSupPr>
                            <m:ctrlPr>
                              <a:rPr lang="sv-SE" sz="2000" i="1">
                                <a:latin typeface="Cambria Math" panose="02040503050406030204" pitchFamily="18" charset="0"/>
                                <a:sym typeface="Symbol" pitchFamily="18" charset="2"/>
                              </a:rPr>
                            </m:ctrlPr>
                          </m:sSupPr>
                          <m:e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𝜎</m:t>
                            </m:r>
                          </m:e>
                          <m:sup>
                            <m:r>
                              <a:rPr lang="sv-SE" sz="2000" i="1">
                                <a:latin typeface="Cambria Math"/>
                                <a:sym typeface="Symbol" pitchFamily="18" charset="2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sv-SE" sz="2000" b="0" dirty="0"/>
              </a:p>
              <a:p>
                <a:pPr lvl="1"/>
                <a:endParaRPr lang="sv-SE" sz="2000" b="0" dirty="0"/>
              </a:p>
              <a:p>
                <a:r>
                  <a:rPr lang="sv-SE" sz="2400" b="1" dirty="0">
                    <a:solidFill>
                      <a:srgbClr val="0F1AF9"/>
                    </a:solidFill>
                  </a:rPr>
                  <a:t>Learning </a:t>
                </a:r>
                <a:r>
                  <a:rPr lang="sv-SE" sz="2400" b="1" dirty="0" err="1">
                    <a:solidFill>
                      <a:srgbClr val="0F1AF9"/>
                    </a:solidFill>
                  </a:rPr>
                  <a:t>algorithm</a:t>
                </a:r>
                <a:r>
                  <a:rPr lang="sv-SE" sz="2400" b="1" dirty="0">
                    <a:solidFill>
                      <a:srgbClr val="0F1AF9"/>
                    </a:solidFill>
                  </a:rPr>
                  <a:t> </a:t>
                </a:r>
                <a:r>
                  <a:rPr lang="sv-SE" sz="2400" dirty="0"/>
                  <a:t>(</a:t>
                </a:r>
                <a:r>
                  <a:rPr lang="sv-SE" sz="2400" dirty="0" err="1"/>
                  <a:t>data</a:t>
                </a:r>
                <a:r>
                  <a:rPr lang="sv-SE" sz="2400" dirty="0" err="1">
                    <a:sym typeface="Wingdings" panose="05000000000000000000" pitchFamily="2" charset="2"/>
                  </a:rPr>
                  <a:t>get</a:t>
                </a:r>
                <a:r>
                  <a:rPr lang="sv-SE" sz="2400" dirty="0">
                    <a:sym typeface="Wingdings" panose="05000000000000000000" pitchFamily="2" charset="2"/>
                  </a:rPr>
                  <a:t>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</m:acc>
                  </m:oMath>
                </a14:m>
                <a:r>
                  <a:rPr lang="sv-SE" sz="2400" dirty="0"/>
                  <a:t> 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sv-SE" sz="2400" dirty="0"/>
                  <a:t> )</a:t>
                </a:r>
              </a:p>
              <a:p>
                <a:pPr lvl="1"/>
                <a:r>
                  <a:rPr lang="sv-SE" sz="2000" dirty="0"/>
                  <a:t>Maximum </a:t>
                </a:r>
                <a:r>
                  <a:rPr lang="sv-SE" sz="2000" dirty="0" err="1"/>
                  <a:t>likelihood</a:t>
                </a:r>
                <a:r>
                  <a:rPr lang="sv-SE" sz="2000" dirty="0"/>
                  <a:t>, </a:t>
                </a:r>
                <a:r>
                  <a:rPr lang="sv-SE" sz="2000" dirty="0" err="1"/>
                  <a:t>Bayesian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estimation</a:t>
                </a:r>
                <a:r>
                  <a:rPr lang="sv-SE" sz="2000" dirty="0"/>
                  <a:t>…</a:t>
                </a:r>
              </a:p>
              <a:p>
                <a:endParaRPr lang="sv-SE" sz="2400" dirty="0"/>
              </a:p>
              <a:p>
                <a:r>
                  <a:rPr lang="sv-SE" sz="2400" b="1" dirty="0" err="1">
                    <a:solidFill>
                      <a:srgbClr val="0F1AF9"/>
                    </a:solidFill>
                  </a:rPr>
                  <a:t>Prediction</a:t>
                </a:r>
                <a:r>
                  <a:rPr lang="sv-SE" sz="2400" dirty="0"/>
                  <a:t> </a:t>
                </a:r>
                <a:r>
                  <a:rPr lang="sv-SE" sz="2400" dirty="0" err="1"/>
                  <a:t>of</a:t>
                </a:r>
                <a:r>
                  <a:rPr lang="sv-SE" sz="2400" dirty="0"/>
                  <a:t> new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sv-SE" sz="2400" dirty="0"/>
                  <a:t> by </a:t>
                </a:r>
                <a:r>
                  <a:rPr lang="sv-SE" sz="2400" dirty="0" err="1"/>
                  <a:t>using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fitted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model</a:t>
                </a:r>
                <a:endParaRPr lang="sv-SE" sz="2400" dirty="0"/>
              </a:p>
            </p:txBody>
          </p:sp>
        </mc:Choice>
        <mc:Fallback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 b="-10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539680"/>
                  </p:ext>
                </p:extLst>
              </p:nvPr>
            </p:nvGraphicFramePr>
            <p:xfrm>
              <a:off x="5084420" y="1682135"/>
              <a:ext cx="362406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6016">
                      <a:extLst>
                        <a:ext uri="{9D8B030D-6E8A-4147-A177-3AD203B41FA5}">
                          <a16:colId xmlns:a16="http://schemas.microsoft.com/office/drawing/2014/main" val="2761139198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131809531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3121050123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29610338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sv-SE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07641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762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9271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29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539680"/>
                  </p:ext>
                </p:extLst>
              </p:nvPr>
            </p:nvGraphicFramePr>
            <p:xfrm>
              <a:off x="5084420" y="1682135"/>
              <a:ext cx="362406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6016">
                      <a:extLst>
                        <a:ext uri="{9D8B030D-6E8A-4147-A177-3AD203B41FA5}">
                          <a16:colId xmlns:a16="http://schemas.microsoft.com/office/drawing/2014/main" val="2761139198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131809531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3121050123"/>
                        </a:ext>
                      </a:extLst>
                    </a:gridCol>
                    <a:gridCol w="906016">
                      <a:extLst>
                        <a:ext uri="{9D8B030D-6E8A-4147-A177-3AD203B41FA5}">
                          <a16:colId xmlns:a16="http://schemas.microsoft.com/office/drawing/2014/main" val="29610338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3"/>
                          <a:stretch>
                            <a:fillRect l="-100671" t="-8197" r="-20201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3"/>
                          <a:stretch>
                            <a:fillRect l="-202027" t="-8197" r="-10337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685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07641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8762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9271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sv-SE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30296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06876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Types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 sets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6131024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800" b="1" spc="15" dirty="0">
                    <a:solidFill>
                      <a:srgbClr val="0000FF"/>
                    </a:solidFill>
                    <a:cs typeface="Calibri"/>
                  </a:rPr>
                  <a:t>Training data </a:t>
                </a:r>
                <a:r>
                  <a:rPr lang="sv-SE" sz="2800" dirty="0"/>
                  <a:t>(</a:t>
                </a:r>
                <a:r>
                  <a:rPr lang="sv-SE" sz="2800" dirty="0" err="1"/>
                  <a:t>training</a:t>
                </a:r>
                <a:r>
                  <a:rPr lang="sv-SE" sz="2800" dirty="0"/>
                  <a:t> set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sv-SE" sz="2800" b="0" i="0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sv-SE" sz="2800" dirty="0"/>
                  <a:t>): </a:t>
                </a:r>
                <a:r>
                  <a:rPr lang="sv-SE" sz="2800" dirty="0" err="1"/>
                  <a:t>used</a:t>
                </a:r>
                <a:r>
                  <a:rPr lang="sv-SE" sz="2800" dirty="0"/>
                  <a:t> for </a:t>
                </a:r>
                <a:r>
                  <a:rPr lang="sv-SE" sz="2800" dirty="0" err="1"/>
                  <a:t>learning</a:t>
                </a:r>
                <a:r>
                  <a:rPr lang="sv-SE" sz="2800" dirty="0"/>
                  <a:t> the </a:t>
                </a:r>
                <a:r>
                  <a:rPr lang="sv-SE" sz="2800" dirty="0" err="1"/>
                  <a:t>model</a:t>
                </a:r>
                <a:endParaRPr lang="sv-SE" sz="2800" dirty="0"/>
              </a:p>
              <a:p>
                <a:pPr lvl="1"/>
                <a:r>
                  <a:rPr lang="sv-SE" sz="2400" dirty="0" err="1"/>
                  <a:t>Supervised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learning</a:t>
                </a:r>
                <a:r>
                  <a:rPr lang="sv-SE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400" dirty="0"/>
                  <a:t> in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sv-SE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estimated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using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0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endParaRPr lang="sv-SE" sz="2400" dirty="0"/>
              </a:p>
              <a:p>
                <a:pPr lvl="1"/>
                <a:endParaRPr lang="sv-SE" sz="2400" dirty="0"/>
              </a:p>
              <a:p>
                <a:r>
                  <a:rPr lang="en-US" sz="2800" b="1" spc="15" dirty="0">
                    <a:solidFill>
                      <a:srgbClr val="0000FF"/>
                    </a:solidFill>
                    <a:cs typeface="Calibri"/>
                  </a:rPr>
                  <a:t>Test data </a:t>
                </a:r>
                <a:r>
                  <a:rPr lang="sv-SE" sz="2800" dirty="0"/>
                  <a:t>(test set T*): </a:t>
                </a:r>
                <a:r>
                  <a:rPr lang="sv-SE" sz="2800" dirty="0" err="1"/>
                  <a:t>used</a:t>
                </a:r>
                <a:r>
                  <a:rPr lang="sv-SE" sz="2800" dirty="0"/>
                  <a:t> for </a:t>
                </a:r>
                <a:r>
                  <a:rPr lang="sv-SE" sz="2800" dirty="0" err="1"/>
                  <a:t>predictions</a:t>
                </a:r>
                <a:endParaRPr lang="sv-SE" sz="2800" dirty="0"/>
              </a:p>
              <a:p>
                <a:pPr lvl="1"/>
                <a:r>
                  <a:rPr lang="sv-SE" sz="2400" dirty="0" err="1"/>
                  <a:t>Supervised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learning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estimate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v-SE" sz="2400" dirty="0"/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sv-SE" sz="2400" b="0" i="1" spc="15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sv-SE" sz="2400" b="0" i="1" spc="15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pc="15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sz="2400" b="0" i="1" spc="15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acc>
                  </m:oMath>
                </a14:m>
                <a:r>
                  <a:rPr lang="sv-SE" sz="2400" dirty="0"/>
                  <a:t> for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sv-SE" sz="24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sv-SE" sz="2400" b="1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6131024" cy="4525963"/>
              </a:xfrm>
              <a:blipFill>
                <a:blip r:embed="rId2"/>
                <a:stretch>
                  <a:fillRect l="-1789" t="-1348" r="-636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graphicFrame>
        <p:nvGraphicFramePr>
          <p:cNvPr id="5" name="Tabel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53885"/>
              </p:ext>
            </p:extLst>
          </p:nvPr>
        </p:nvGraphicFramePr>
        <p:xfrm>
          <a:off x="6588224" y="2060848"/>
          <a:ext cx="1600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456">
                  <a:extLst>
                    <a:ext uri="{9D8B030D-6E8A-4147-A177-3AD203B41FA5}">
                      <a16:colId xmlns:a16="http://schemas.microsoft.com/office/drawing/2014/main" val="2082496997"/>
                    </a:ext>
                  </a:extLst>
                </a:gridCol>
                <a:gridCol w="743744">
                  <a:extLst>
                    <a:ext uri="{9D8B030D-6E8A-4147-A177-3AD203B41FA5}">
                      <a16:colId xmlns:a16="http://schemas.microsoft.com/office/drawing/2014/main" val="1934317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0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 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04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729824"/>
                  </a:ext>
                </a:extLst>
              </a:tr>
            </a:tbl>
          </a:graphicData>
        </a:graphic>
      </p:graphicFrame>
      <p:graphicFrame>
        <p:nvGraphicFramePr>
          <p:cNvPr id="6" name="Tabel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32368"/>
              </p:ext>
            </p:extLst>
          </p:nvPr>
        </p:nvGraphicFramePr>
        <p:xfrm>
          <a:off x="6598848" y="4437112"/>
          <a:ext cx="1600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456">
                  <a:extLst>
                    <a:ext uri="{9D8B030D-6E8A-4147-A177-3AD203B41FA5}">
                      <a16:colId xmlns:a16="http://schemas.microsoft.com/office/drawing/2014/main" val="2082496997"/>
                    </a:ext>
                  </a:extLst>
                </a:gridCol>
                <a:gridCol w="743744">
                  <a:extLst>
                    <a:ext uri="{9D8B030D-6E8A-4147-A177-3AD203B41FA5}">
                      <a16:colId xmlns:a16="http://schemas.microsoft.com/office/drawing/2014/main" val="1934317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0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04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729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90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Logistic</a:t>
            </a:r>
            <a:r>
              <a:rPr lang="sv-SE" dirty="0"/>
              <a:t>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F1AF9"/>
                    </a:solidFill>
                  </a:rPr>
                  <a:t>Data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𝑆𝑝𝑎𝑚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𝑁𝑜𝑡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=#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𝑤𝑜𝑟𝑑</m:t>
                    </m:r>
                  </m:oMath>
                </a14:m>
                <a:endParaRPr lang="sv-SE" sz="2400" dirty="0"/>
              </a:p>
              <a:p>
                <a:r>
                  <a:rPr lang="sv-SE" sz="2400" b="1" dirty="0" err="1">
                    <a:solidFill>
                      <a:srgbClr val="0F1AF9"/>
                    </a:solidFill>
                  </a:rPr>
                  <a:t>Model</a:t>
                </a:r>
                <a:r>
                  <a:rPr lang="sv-SE" sz="2400" dirty="0"/>
                  <a:t>: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sv-SE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sv-S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v-SE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sv-SE" sz="2400" dirty="0"/>
              </a:p>
              <a:p>
                <a:r>
                  <a:rPr lang="sv-SE" sz="2400" b="1" dirty="0">
                    <a:solidFill>
                      <a:srgbClr val="0F1AF9"/>
                    </a:solidFill>
                  </a:rPr>
                  <a:t>Learning </a:t>
                </a:r>
                <a:r>
                  <a:rPr lang="sv-SE" sz="2400" b="1" dirty="0" err="1">
                    <a:solidFill>
                      <a:srgbClr val="0F1AF9"/>
                    </a:solidFill>
                  </a:rPr>
                  <a:t>algorithm</a:t>
                </a:r>
                <a:r>
                  <a:rPr lang="sv-SE" sz="2400" dirty="0"/>
                  <a:t>: maximum </a:t>
                </a:r>
                <a:r>
                  <a:rPr lang="sv-SE" sz="2400" dirty="0" err="1"/>
                  <a:t>likelihood</a:t>
                </a:r>
                <a:r>
                  <a:rPr lang="sv-SE" sz="2400" dirty="0"/>
                  <a:t> </a:t>
                </a:r>
              </a:p>
              <a:p>
                <a:r>
                  <a:rPr lang="sv-SE" sz="2400" b="1" dirty="0" err="1">
                    <a:solidFill>
                      <a:srgbClr val="0F1AF9"/>
                    </a:solidFill>
                  </a:rPr>
                  <a:t>Prediction</a:t>
                </a:r>
                <a:r>
                  <a:rPr lang="sv-SE" sz="2400" dirty="0"/>
                  <a:t> : 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</m:e>
                    </m:d>
                    <m:r>
                      <a:rPr lang="sv-SE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𝑠𝑝𝑎𝑚</m:t>
                        </m:r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e>
                    </m:d>
                  </m:oMath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884406"/>
            <a:ext cx="3070899" cy="2654506"/>
          </a:xfrm>
          <a:prstGeom prst="rect">
            <a:avLst/>
          </a:prstGeom>
        </p:spPr>
      </p:pic>
      <p:pic>
        <p:nvPicPr>
          <p:cNvPr id="5" name="Bildobjekt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081262"/>
            <a:ext cx="3081627" cy="2319116"/>
          </a:xfrm>
          <a:prstGeom prst="rect">
            <a:avLst/>
          </a:prstGeom>
        </p:spPr>
      </p:pic>
      <p:sp>
        <p:nvSpPr>
          <p:cNvPr id="8" name="textruta 7"/>
          <p:cNvSpPr txBox="1"/>
          <p:nvPr/>
        </p:nvSpPr>
        <p:spPr>
          <a:xfrm>
            <a:off x="1691680" y="3701843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We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can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also</a:t>
            </a:r>
            <a:r>
              <a:rPr lang="sv-SE" dirty="0">
                <a:solidFill>
                  <a:srgbClr val="7030A0"/>
                </a:solidFill>
              </a:rPr>
              <a:t> make </a:t>
            </a:r>
            <a:r>
              <a:rPr lang="sv-SE" dirty="0" err="1">
                <a:solidFill>
                  <a:srgbClr val="7030A0"/>
                </a:solidFill>
              </a:rPr>
              <a:t>point</a:t>
            </a:r>
            <a:r>
              <a:rPr lang="sv-SE" dirty="0">
                <a:solidFill>
                  <a:srgbClr val="7030A0"/>
                </a:solidFill>
              </a:rPr>
              <a:t> </a:t>
            </a:r>
            <a:r>
              <a:rPr lang="sv-SE" dirty="0" err="1">
                <a:solidFill>
                  <a:srgbClr val="7030A0"/>
                </a:solidFill>
              </a:rPr>
              <a:t>predictions</a:t>
            </a:r>
            <a:r>
              <a:rPr lang="sv-SE" dirty="0">
                <a:solidFill>
                  <a:srgbClr val="7030A0"/>
                </a:solidFill>
              </a:rPr>
              <a:t>  -</a:t>
            </a:r>
            <a:r>
              <a:rPr lang="sv-SE" dirty="0" err="1">
                <a:solidFill>
                  <a:srgbClr val="7030A0"/>
                </a:solidFill>
              </a:rPr>
              <a:t>how</a:t>
            </a:r>
            <a:r>
              <a:rPr lang="sv-SE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38006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E63659D-A017-44DB-A33B-4B3A7832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neighbor</a:t>
            </a:r>
            <a:r>
              <a:rPr lang="sv-SE" dirty="0"/>
              <a:t> </a:t>
            </a:r>
            <a:r>
              <a:rPr lang="sv-SE" dirty="0" err="1"/>
              <a:t>model</a:t>
            </a:r>
            <a:r>
              <a:rPr lang="sv-SE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1C29F9E-D0FC-4650-AEA1-BAEE4256E5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562600" cy="4525963"/>
              </a:xfrm>
            </p:spPr>
            <p:txBody>
              <a:bodyPr/>
              <a:lstStyle/>
              <a:p>
                <a:r>
                  <a:rPr lang="sv-SE" sz="2800" dirty="0"/>
                  <a:t>Can be </a:t>
                </a:r>
                <a:r>
                  <a:rPr lang="sv-SE" sz="2800" dirty="0" err="1"/>
                  <a:t>classification</a:t>
                </a:r>
                <a:r>
                  <a:rPr lang="sv-SE" sz="2800" dirty="0"/>
                  <a:t> or regression</a:t>
                </a:r>
              </a:p>
              <a:p>
                <a:endParaRPr lang="sv-SE" sz="2800" dirty="0"/>
              </a:p>
              <a:p>
                <a:r>
                  <a:rPr lang="sv-SE" sz="2800" dirty="0"/>
                  <a:t>Basic </a:t>
                </a:r>
                <a:r>
                  <a:rPr lang="sv-SE" sz="2800" dirty="0" err="1"/>
                  <a:t>idea</a:t>
                </a:r>
                <a:r>
                  <a:rPr lang="sv-SE" sz="2800" dirty="0"/>
                  <a:t>: </a:t>
                </a:r>
              </a:p>
              <a:p>
                <a:pPr lvl="1"/>
                <a:r>
                  <a:rPr lang="sv-SE" sz="2400" dirty="0"/>
                  <a:t>For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sv-SE" sz="2400" dirty="0"/>
                  <a:t>, </a:t>
                </a:r>
                <a:r>
                  <a:rPr lang="sv-SE" sz="2400" dirty="0" err="1"/>
                  <a:t>find</a:t>
                </a:r>
                <a:r>
                  <a:rPr lang="sv-SE" sz="2400" dirty="0"/>
                  <a:t> K </a:t>
                </a:r>
                <a:r>
                  <a:rPr lang="sv-SE" sz="2400" dirty="0" err="1"/>
                  <a:t>nearest</a:t>
                </a:r>
                <a:r>
                  <a:rPr lang="sv-SE" sz="2400" dirty="0"/>
                  <a:t> observations</a:t>
                </a:r>
              </a:p>
              <a:p>
                <a:pPr lvl="1"/>
                <a:r>
                  <a:rPr lang="sv-SE" sz="2400" dirty="0" err="1"/>
                  <a:t>Classification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majority</a:t>
                </a:r>
                <a:r>
                  <a:rPr lang="sv-SE" sz="2400" dirty="0"/>
                  <a:t> </a:t>
                </a:r>
                <a:r>
                  <a:rPr lang="sv-SE" sz="2400" dirty="0" err="1"/>
                  <a:t>voting</a:t>
                </a:r>
                <a:endParaRPr lang="sv-SE" sz="2400" dirty="0"/>
              </a:p>
              <a:p>
                <a:pPr lvl="1"/>
                <a:r>
                  <a:rPr lang="sv-SE" sz="2400" dirty="0"/>
                  <a:t>Regression: </a:t>
                </a:r>
                <a:r>
                  <a:rPr lang="sv-SE" sz="2400" dirty="0" err="1"/>
                  <a:t>compute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mean</a:t>
                </a:r>
                <a:endParaRPr lang="sv-SE" sz="2400" dirty="0"/>
              </a:p>
              <a:p>
                <a:pPr lvl="1"/>
                <a:endParaRPr lang="sv-SE" sz="2400" dirty="0"/>
              </a:p>
              <a:p>
                <a:r>
                  <a:rPr lang="sv-SE" sz="2800" dirty="0"/>
                  <a:t>K is </a:t>
                </a:r>
                <a:r>
                  <a:rPr lang="sv-SE" sz="2800" dirty="0" err="1"/>
                  <a:t>called</a:t>
                </a:r>
                <a:r>
                  <a:rPr lang="sv-SE" sz="2800" dirty="0"/>
                  <a:t> </a:t>
                </a:r>
                <a:r>
                  <a:rPr lang="sv-SE" sz="2800" b="1" dirty="0">
                    <a:solidFill>
                      <a:srgbClr val="0F1AF9"/>
                    </a:solidFill>
                  </a:rPr>
                  <a:t>hyperparameter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31C29F9E-D0FC-4650-AEA1-BAEE4256E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562600" cy="4525963"/>
              </a:xfrm>
              <a:blipFill>
                <a:blip r:embed="rId2"/>
                <a:stretch>
                  <a:fillRect l="-1972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59FE2A2-D5BD-4729-899D-82852AFB7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8B71300-935A-408C-A89A-1D24B0C0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301081"/>
            <a:ext cx="3505200" cy="312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ruta 5">
                <a:extLst>
                  <a:ext uri="{FF2B5EF4-FFF2-40B4-BE49-F238E27FC236}">
                    <a16:creationId xmlns:a16="http://schemas.microsoft.com/office/drawing/2014/main" id="{868982C8-733D-4B9A-AF07-C06E732984D9}"/>
                  </a:ext>
                </a:extLst>
              </p:cNvPr>
              <p:cNvSpPr txBox="1"/>
              <p:nvPr/>
            </p:nvSpPr>
            <p:spPr>
              <a:xfrm>
                <a:off x="7452320" y="4221088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6" name="textruta 5">
                <a:extLst>
                  <a:ext uri="{FF2B5EF4-FFF2-40B4-BE49-F238E27FC236}">
                    <a16:creationId xmlns:a16="http://schemas.microsoft.com/office/drawing/2014/main" id="{868982C8-733D-4B9A-AF07-C06E73298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20" y="4221088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453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F1A7976-6053-4C19-A959-283C5DB4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neighbor</a:t>
            </a:r>
            <a:r>
              <a:rPr lang="sv-SE" dirty="0"/>
              <a:t> </a:t>
            </a:r>
            <a:r>
              <a:rPr lang="sv-SE" dirty="0" err="1"/>
              <a:t>algorithm</a:t>
            </a:r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E190D55-0A9F-46EF-B9A2-72D9CAB7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F3F7DF18-3E78-4D15-905D-97BD691AA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45" y="1988840"/>
            <a:ext cx="8380855" cy="337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8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EA4B7D-18BD-49C1-914D-40390FCF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neighbor</a:t>
            </a:r>
            <a:r>
              <a:rPr lang="sv-SE" dirty="0"/>
              <a:t>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ACAC0CD-FCE6-48CA-B6F5-80BCBDD532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b="1" dirty="0">
                    <a:solidFill>
                      <a:srgbClr val="0F1AF9"/>
                    </a:solidFill>
                  </a:rPr>
                  <a:t>Data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b="0" i="0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sv-SE" b="0" dirty="0"/>
              </a:p>
              <a:p>
                <a:r>
                  <a:rPr lang="sv-SE" b="1" dirty="0" err="1">
                    <a:solidFill>
                      <a:srgbClr val="0F1AF9"/>
                    </a:solidFill>
                  </a:rPr>
                  <a:t>Model</a:t>
                </a:r>
                <a:r>
                  <a:rPr lang="sv-SE" dirty="0"/>
                  <a:t>: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sv-SE" dirty="0"/>
                  <a:t> same </a:t>
                </a:r>
                <a:r>
                  <a:rPr lang="sv-SE" dirty="0" err="1"/>
                  <a:t>size</a:t>
                </a:r>
                <a:r>
                  <a:rPr lang="sv-SE" dirty="0"/>
                  <a:t> as T</a:t>
                </a:r>
              </a:p>
              <a:p>
                <a:r>
                  <a:rPr lang="sv-SE" b="1" dirty="0">
                    <a:solidFill>
                      <a:srgbClr val="0F1AF9"/>
                    </a:solidFill>
                  </a:rPr>
                  <a:t>Learning </a:t>
                </a:r>
                <a:r>
                  <a:rPr lang="sv-SE" b="1" dirty="0" err="1">
                    <a:solidFill>
                      <a:srgbClr val="0F1AF9"/>
                    </a:solidFill>
                  </a:rPr>
                  <a:t>algorithm</a:t>
                </a:r>
                <a:r>
                  <a:rPr lang="sv-SE" dirty="0"/>
                  <a:t>: Set W=T, </a:t>
                </a:r>
                <a:r>
                  <a:rPr lang="sv-SE" dirty="0" err="1"/>
                  <a:t>compute</a:t>
                </a:r>
                <a:r>
                  <a:rPr lang="sv-SE" dirty="0"/>
                  <a:t> </a:t>
                </a:r>
                <a:r>
                  <a:rPr lang="sv-SE" dirty="0" err="1"/>
                  <a:t>distances</a:t>
                </a:r>
                <a:r>
                  <a:rPr lang="sv-SE" dirty="0"/>
                  <a:t> in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sv-SE" dirty="0"/>
              </a:p>
              <a:p>
                <a:r>
                  <a:rPr lang="sv-SE" b="1" dirty="0" err="1">
                    <a:solidFill>
                      <a:srgbClr val="0F1AF9"/>
                    </a:solidFill>
                  </a:rPr>
                  <a:t>Prediction</a:t>
                </a:r>
                <a:r>
                  <a:rPr lang="sv-SE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sv-S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𝑀𝑎𝑗𝑜𝑟𝑖𝑡𝑦𝑉𝑜𝑡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b>
                        </m:sSub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ACAC0CD-FCE6-48CA-B6F5-80BCBDD532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7F576D6-4384-4FCE-8583-E7FC778C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305917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10BBA7-B2B5-413A-82EB-8D1314F4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neigbor</a:t>
            </a:r>
            <a:r>
              <a:rPr lang="sv-SE" dirty="0"/>
              <a:t> </a:t>
            </a:r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03EDBA0-A9D1-4AA9-B535-FD7280246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Classification</a:t>
            </a:r>
            <a:endParaRPr lang="sv-SE" sz="2400" dirty="0"/>
          </a:p>
          <a:p>
            <a:pPr lvl="1"/>
            <a:r>
              <a:rPr lang="sv-SE" sz="2000" dirty="0"/>
              <a:t>Music data, x1=</a:t>
            </a:r>
            <a:r>
              <a:rPr lang="sv-SE" sz="2000" dirty="0" err="1"/>
              <a:t>song</a:t>
            </a:r>
            <a:r>
              <a:rPr lang="sv-SE" sz="2000" dirty="0"/>
              <a:t> </a:t>
            </a:r>
            <a:r>
              <a:rPr lang="sv-SE" sz="2000" dirty="0" err="1"/>
              <a:t>length</a:t>
            </a:r>
            <a:r>
              <a:rPr lang="sv-SE" sz="2000" dirty="0"/>
              <a:t>, x2=a signal </a:t>
            </a:r>
            <a:r>
              <a:rPr lang="sv-SE" sz="2000" dirty="0" err="1"/>
              <a:t>processing</a:t>
            </a:r>
            <a:r>
              <a:rPr lang="sv-SE" sz="2000" dirty="0"/>
              <a:t> </a:t>
            </a:r>
            <a:r>
              <a:rPr lang="sv-SE" sz="2000" dirty="0" err="1"/>
              <a:t>characteristic</a:t>
            </a:r>
            <a:endParaRPr lang="sv-SE" sz="2000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0B5FF91-1211-4A9A-9A22-E46D0124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C1F132FD-633D-41E4-89C0-3F374FD93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85" y="2636912"/>
            <a:ext cx="7953468" cy="288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56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C163B7B-FB39-4CFD-A3B7-E96F0BBC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neighbor</a:t>
            </a:r>
            <a:r>
              <a:rPr lang="sv-SE" dirty="0"/>
              <a:t> </a:t>
            </a:r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DBFB07B-9931-4485-B969-8FEB9057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/>
              <a:t>Regression</a:t>
            </a:r>
          </a:p>
          <a:p>
            <a:pPr lvl="1"/>
            <a:r>
              <a:rPr lang="sv-SE" sz="2000" dirty="0"/>
              <a:t>Car data: x1 speed </a:t>
            </a:r>
            <a:r>
              <a:rPr lang="sv-SE" sz="2000" dirty="0" err="1"/>
              <a:t>when</a:t>
            </a:r>
            <a:r>
              <a:rPr lang="sv-SE" sz="2000" dirty="0"/>
              <a:t> </a:t>
            </a:r>
            <a:r>
              <a:rPr lang="sv-SE" sz="2000" dirty="0" err="1"/>
              <a:t>brake</a:t>
            </a:r>
            <a:r>
              <a:rPr lang="sv-SE" sz="2000" dirty="0"/>
              <a:t> signal given, x2 </a:t>
            </a:r>
            <a:r>
              <a:rPr lang="sv-SE" sz="2000" dirty="0" err="1"/>
              <a:t>distance</a:t>
            </a:r>
            <a:r>
              <a:rPr lang="sv-SE" sz="2000" dirty="0"/>
              <a:t> </a:t>
            </a:r>
            <a:r>
              <a:rPr lang="sv-SE" sz="2000" dirty="0" err="1"/>
              <a:t>until</a:t>
            </a:r>
            <a:r>
              <a:rPr lang="sv-SE" sz="2000" dirty="0"/>
              <a:t> full stop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E5D75C7-4265-4CFC-B08B-80D4DBDC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 dirty="0"/>
              <a:t>732A99/TDDE01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0A1CA4B3-29F3-4BD2-B029-1F52DFDB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2" y="2852936"/>
            <a:ext cx="7867195" cy="2650902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DB1E8799-82F6-4B0C-872D-8FA1EB93D379}"/>
              </a:ext>
            </a:extLst>
          </p:cNvPr>
          <p:cNvSpPr txBox="1"/>
          <p:nvPr/>
        </p:nvSpPr>
        <p:spPr>
          <a:xfrm>
            <a:off x="1489589" y="5770851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>
                <a:solidFill>
                  <a:srgbClr val="7030A0"/>
                </a:solidFill>
              </a:rPr>
              <a:t>How</a:t>
            </a:r>
            <a:r>
              <a:rPr lang="sv-SE" dirty="0">
                <a:solidFill>
                  <a:srgbClr val="7030A0"/>
                </a:solidFill>
              </a:rPr>
              <a:t> to </a:t>
            </a:r>
            <a:r>
              <a:rPr lang="sv-SE" dirty="0" err="1">
                <a:solidFill>
                  <a:srgbClr val="7030A0"/>
                </a:solidFill>
              </a:rPr>
              <a:t>choose</a:t>
            </a:r>
            <a:r>
              <a:rPr lang="sv-SE" dirty="0">
                <a:solidFill>
                  <a:srgbClr val="7030A0"/>
                </a:solidFill>
              </a:rPr>
              <a:t> K?</a:t>
            </a:r>
          </a:p>
        </p:txBody>
      </p:sp>
    </p:spTree>
    <p:extLst>
      <p:ext uri="{BB962C8B-B14F-4D97-AF65-F5344CB8AC3E}">
        <p14:creationId xmlns:p14="http://schemas.microsoft.com/office/powerpoint/2010/main" val="126431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1A33382-DE02-480A-969B-ECFD2B36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K-</a:t>
            </a:r>
            <a:r>
              <a:rPr lang="sv-SE" dirty="0" err="1"/>
              <a:t>nearest</a:t>
            </a:r>
            <a:r>
              <a:rPr lang="sv-SE" dirty="0"/>
              <a:t> </a:t>
            </a:r>
            <a:r>
              <a:rPr lang="sv-SE" dirty="0" err="1"/>
              <a:t>neighbor</a:t>
            </a:r>
            <a:r>
              <a:rPr lang="sv-SE" dirty="0"/>
              <a:t> </a:t>
            </a:r>
            <a:r>
              <a:rPr lang="sv-SE" dirty="0" err="1"/>
              <a:t>model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A275DB4-E78E-4B10-9246-D5ECB1D9FF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b="1" dirty="0">
                    <a:solidFill>
                      <a:srgbClr val="0F1AF9"/>
                    </a:solidFill>
                  </a:rPr>
                  <a:t>Feature </a:t>
                </a:r>
                <a:r>
                  <a:rPr lang="sv-SE" sz="2400" b="1" dirty="0" err="1">
                    <a:solidFill>
                      <a:srgbClr val="0F1AF9"/>
                    </a:solidFill>
                  </a:rPr>
                  <a:t>preprocessing</a:t>
                </a:r>
                <a:r>
                  <a:rPr lang="sv-SE" sz="2400" dirty="0"/>
                  <a:t>: </a:t>
                </a:r>
                <a:r>
                  <a:rPr lang="sv-SE" sz="2400" dirty="0" err="1"/>
                  <a:t>scaling</a:t>
                </a:r>
                <a:endParaRPr lang="sv-SE" sz="2400" dirty="0"/>
              </a:p>
              <a:p>
                <a:pPr lvl="1"/>
                <a:r>
                  <a:rPr lang="sv-SE" sz="2000" dirty="0" err="1"/>
                  <a:t>Important</a:t>
                </a:r>
                <a:r>
                  <a:rPr lang="sv-SE" sz="2000" dirty="0"/>
                  <a:t>, for ex </a:t>
                </a:r>
                <a:r>
                  <a:rPr lang="sv-SE" sz="2000" dirty="0" err="1"/>
                  <a:t>when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defining</a:t>
                </a:r>
                <a:r>
                  <a:rPr lang="sv-SE" sz="2000" dirty="0"/>
                  <a:t> </a:t>
                </a:r>
                <a:r>
                  <a:rPr lang="sv-SE" sz="2000" dirty="0" err="1"/>
                  <a:t>distance</a:t>
                </a:r>
                <a:endParaRPr lang="sv-SE" sz="2000" dirty="0"/>
              </a:p>
              <a:p>
                <a:pPr lvl="1"/>
                <a:r>
                  <a:rPr lang="sv-SE" sz="2000" dirty="0" err="1"/>
                  <a:t>Usual</a:t>
                </a:r>
                <a:r>
                  <a:rPr lang="sv-SE" sz="2000" dirty="0"/>
                  <a:t> </a:t>
                </a:r>
                <a:r>
                  <a:rPr lang="sv-SE" sz="2000" dirty="0" err="1"/>
                  <a:t>preprocessing</a:t>
                </a:r>
                <a:r>
                  <a:rPr lang="sv-SE" sz="20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| 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=1,…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𝑠𝑡𝑑</m:t>
                        </m:r>
                        <m:d>
                          <m:dPr>
                            <m:ctrlP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=1,…</m:t>
                            </m:r>
                            <m:r>
                              <a:rPr lang="sv-S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endParaRPr lang="sv-SE" sz="2000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1A275DB4-E78E-4B10-9246-D5ECB1D9F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2C10DEF-0BBE-4FA9-A37A-DF1322092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 dirty="0"/>
              <a:t>732A99/TDDE01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2B3D2010-3383-4EC2-AE1A-8D63AEFCA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7" y="3429000"/>
            <a:ext cx="3888432" cy="3074230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70909845-E51D-4F15-9E9C-1FA172803F7F}"/>
              </a:ext>
            </a:extLst>
          </p:cNvPr>
          <p:cNvSpPr txBox="1"/>
          <p:nvPr/>
        </p:nvSpPr>
        <p:spPr>
          <a:xfrm>
            <a:off x="2409311" y="5589240"/>
            <a:ext cx="1538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dirty="0"/>
              <a:t>X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99B7F6F8-2A31-40B7-B9CD-628884719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85" y="3210658"/>
            <a:ext cx="4069113" cy="3115318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3FC7BDC1-4751-49CE-A5FC-7207B2B33D91}"/>
              </a:ext>
            </a:extLst>
          </p:cNvPr>
          <p:cNvSpPr txBox="1"/>
          <p:nvPr/>
        </p:nvSpPr>
        <p:spPr>
          <a:xfrm>
            <a:off x="6948264" y="3724681"/>
            <a:ext cx="1538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sv-S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71211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68"/>
          <p:cNvSpPr/>
          <p:nvPr/>
        </p:nvSpPr>
        <p:spPr>
          <a:xfrm>
            <a:off x="285750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70" name="Прямая со стрелкой 69"/>
          <p:cNvCxnSpPr/>
          <p:nvPr/>
        </p:nvCxnSpPr>
        <p:spPr>
          <a:xfrm rot="5400000" flipH="1" flipV="1">
            <a:off x="-1035844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Прямая со стрелкой 70"/>
          <p:cNvCxnSpPr/>
          <p:nvPr/>
        </p:nvCxnSpPr>
        <p:spPr>
          <a:xfrm>
            <a:off x="571500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Овал 71"/>
          <p:cNvSpPr/>
          <p:nvPr/>
        </p:nvSpPr>
        <p:spPr>
          <a:xfrm>
            <a:off x="2928938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3" name="Овал 72"/>
          <p:cNvSpPr/>
          <p:nvPr/>
        </p:nvSpPr>
        <p:spPr>
          <a:xfrm>
            <a:off x="121443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4" name="Овал 73"/>
          <p:cNvSpPr/>
          <p:nvPr/>
        </p:nvSpPr>
        <p:spPr>
          <a:xfrm>
            <a:off x="2643188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5" name="Овал 74"/>
          <p:cNvSpPr/>
          <p:nvPr/>
        </p:nvSpPr>
        <p:spPr>
          <a:xfrm>
            <a:off x="2500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6" name="Овал 75"/>
          <p:cNvSpPr/>
          <p:nvPr/>
        </p:nvSpPr>
        <p:spPr>
          <a:xfrm>
            <a:off x="928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7" name="Овал 76"/>
          <p:cNvSpPr/>
          <p:nvPr/>
        </p:nvSpPr>
        <p:spPr>
          <a:xfrm>
            <a:off x="714375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8" name="Овал 77"/>
          <p:cNvSpPr/>
          <p:nvPr/>
        </p:nvSpPr>
        <p:spPr>
          <a:xfrm>
            <a:off x="2286000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79" name="Овал 78"/>
          <p:cNvSpPr/>
          <p:nvPr/>
        </p:nvSpPr>
        <p:spPr>
          <a:xfrm>
            <a:off x="2214563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0" name="Овал 79"/>
          <p:cNvSpPr/>
          <p:nvPr/>
        </p:nvSpPr>
        <p:spPr>
          <a:xfrm>
            <a:off x="207168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1" name="Овал 80"/>
          <p:cNvSpPr/>
          <p:nvPr/>
        </p:nvSpPr>
        <p:spPr>
          <a:xfrm>
            <a:off x="1428750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2" name="Овал 81"/>
          <p:cNvSpPr/>
          <p:nvPr/>
        </p:nvSpPr>
        <p:spPr>
          <a:xfrm>
            <a:off x="1857375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3" name="Овал 82"/>
          <p:cNvSpPr/>
          <p:nvPr/>
        </p:nvSpPr>
        <p:spPr>
          <a:xfrm>
            <a:off x="1643063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6401" name="Заголовок 8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Overfitting</a:t>
            </a:r>
          </a:p>
        </p:txBody>
      </p:sp>
      <p:sp>
        <p:nvSpPr>
          <p:cNvPr id="18449" name="Содержимое 2"/>
          <p:cNvSpPr>
            <a:spLocks noGrp="1"/>
          </p:cNvSpPr>
          <p:nvPr>
            <p:ph idx="1"/>
          </p:nvPr>
        </p:nvSpPr>
        <p:spPr>
          <a:xfrm>
            <a:off x="428626" y="1772816"/>
            <a:ext cx="7715250" cy="798934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Which model feels appropriate?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dirty="0"/>
          </a:p>
        </p:txBody>
      </p:sp>
      <p:sp>
        <p:nvSpPr>
          <p:cNvPr id="84" name="Footer Placeholder 8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sp>
        <p:nvSpPr>
          <p:cNvPr id="9" name="Овал 8"/>
          <p:cNvSpPr/>
          <p:nvPr/>
        </p:nvSpPr>
        <p:spPr>
          <a:xfrm>
            <a:off x="3714750" y="39290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11" name="Овал 10"/>
          <p:cNvSpPr/>
          <p:nvPr/>
        </p:nvSpPr>
        <p:spPr>
          <a:xfrm>
            <a:off x="3429000" y="4357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12" name="Овал 11"/>
          <p:cNvSpPr/>
          <p:nvPr/>
        </p:nvSpPr>
        <p:spPr>
          <a:xfrm>
            <a:off x="3286125" y="478631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6215063" y="2786063"/>
            <a:ext cx="2786062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 rot="5400000" flipH="1" flipV="1">
            <a:off x="4894263" y="4535488"/>
            <a:ext cx="321468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6500813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Овал 26"/>
          <p:cNvSpPr/>
          <p:nvPr/>
        </p:nvSpPr>
        <p:spPr>
          <a:xfrm>
            <a:off x="8858250" y="40005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28" name="Овал 27"/>
          <p:cNvSpPr/>
          <p:nvPr/>
        </p:nvSpPr>
        <p:spPr>
          <a:xfrm>
            <a:off x="714375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29" name="Овал 28"/>
          <p:cNvSpPr/>
          <p:nvPr/>
        </p:nvSpPr>
        <p:spPr>
          <a:xfrm>
            <a:off x="8572500" y="4429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0" name="Овал 29"/>
          <p:cNvSpPr/>
          <p:nvPr/>
        </p:nvSpPr>
        <p:spPr>
          <a:xfrm>
            <a:off x="842962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1" name="Овал 30"/>
          <p:cNvSpPr/>
          <p:nvPr/>
        </p:nvSpPr>
        <p:spPr>
          <a:xfrm>
            <a:off x="685800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2" name="Овал 31"/>
          <p:cNvSpPr/>
          <p:nvPr/>
        </p:nvSpPr>
        <p:spPr>
          <a:xfrm>
            <a:off x="6643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3" name="Овал 32"/>
          <p:cNvSpPr/>
          <p:nvPr/>
        </p:nvSpPr>
        <p:spPr>
          <a:xfrm>
            <a:off x="8215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4" name="Овал 33"/>
          <p:cNvSpPr/>
          <p:nvPr/>
        </p:nvSpPr>
        <p:spPr>
          <a:xfrm>
            <a:off x="8143875" y="521493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5" name="Овал 34"/>
          <p:cNvSpPr/>
          <p:nvPr/>
        </p:nvSpPr>
        <p:spPr>
          <a:xfrm>
            <a:off x="800100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6" name="Овал 35"/>
          <p:cNvSpPr/>
          <p:nvPr/>
        </p:nvSpPr>
        <p:spPr>
          <a:xfrm>
            <a:off x="7358063" y="57150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7" name="Овал 36"/>
          <p:cNvSpPr/>
          <p:nvPr/>
        </p:nvSpPr>
        <p:spPr>
          <a:xfrm>
            <a:off x="7786688" y="550068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38" name="Овал 37"/>
          <p:cNvSpPr/>
          <p:nvPr/>
        </p:nvSpPr>
        <p:spPr>
          <a:xfrm>
            <a:off x="7572375" y="5572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54" name="Прямоугольник 53"/>
          <p:cNvSpPr/>
          <p:nvPr/>
        </p:nvSpPr>
        <p:spPr>
          <a:xfrm>
            <a:off x="3286125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cxnSp>
        <p:nvCxnSpPr>
          <p:cNvPr id="55" name="Прямая со стрелкой 54"/>
          <p:cNvCxnSpPr/>
          <p:nvPr/>
        </p:nvCxnSpPr>
        <p:spPr>
          <a:xfrm rot="5400000" flipH="1" flipV="1">
            <a:off x="1964531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>
            <a:off x="3571875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Овал 56"/>
          <p:cNvSpPr/>
          <p:nvPr/>
        </p:nvSpPr>
        <p:spPr>
          <a:xfrm>
            <a:off x="5929313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58" name="Овал 57"/>
          <p:cNvSpPr/>
          <p:nvPr/>
        </p:nvSpPr>
        <p:spPr>
          <a:xfrm>
            <a:off x="421481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59" name="Овал 58"/>
          <p:cNvSpPr/>
          <p:nvPr/>
        </p:nvSpPr>
        <p:spPr>
          <a:xfrm>
            <a:off x="5643563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0" name="Овал 59"/>
          <p:cNvSpPr/>
          <p:nvPr/>
        </p:nvSpPr>
        <p:spPr>
          <a:xfrm>
            <a:off x="5500688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1" name="Овал 60"/>
          <p:cNvSpPr/>
          <p:nvPr/>
        </p:nvSpPr>
        <p:spPr>
          <a:xfrm>
            <a:off x="3929063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2" name="Овал 61"/>
          <p:cNvSpPr/>
          <p:nvPr/>
        </p:nvSpPr>
        <p:spPr>
          <a:xfrm>
            <a:off x="371475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3" name="Овал 62"/>
          <p:cNvSpPr/>
          <p:nvPr/>
        </p:nvSpPr>
        <p:spPr>
          <a:xfrm>
            <a:off x="528637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4" name="Овал 63"/>
          <p:cNvSpPr/>
          <p:nvPr/>
        </p:nvSpPr>
        <p:spPr>
          <a:xfrm>
            <a:off x="5214938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5" name="Овал 64"/>
          <p:cNvSpPr/>
          <p:nvPr/>
        </p:nvSpPr>
        <p:spPr>
          <a:xfrm>
            <a:off x="507206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6" name="Овал 65"/>
          <p:cNvSpPr/>
          <p:nvPr/>
        </p:nvSpPr>
        <p:spPr>
          <a:xfrm>
            <a:off x="4429125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7" name="Овал 66"/>
          <p:cNvSpPr/>
          <p:nvPr/>
        </p:nvSpPr>
        <p:spPr>
          <a:xfrm>
            <a:off x="4857750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68" name="Овал 67"/>
          <p:cNvSpPr/>
          <p:nvPr/>
        </p:nvSpPr>
        <p:spPr>
          <a:xfrm>
            <a:off x="4643438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cxnSp>
        <p:nvCxnSpPr>
          <p:cNvPr id="85" name="Прямая соединительная линия 84"/>
          <p:cNvCxnSpPr>
            <a:endCxn id="69" idx="3"/>
          </p:cNvCxnSpPr>
          <p:nvPr/>
        </p:nvCxnSpPr>
        <p:spPr>
          <a:xfrm flipV="1">
            <a:off x="714375" y="4500563"/>
            <a:ext cx="2357438" cy="1571625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1" name="Полилиния 90"/>
          <p:cNvSpPr/>
          <p:nvPr/>
        </p:nvSpPr>
        <p:spPr>
          <a:xfrm>
            <a:off x="3736975" y="3848100"/>
            <a:ext cx="2312988" cy="2035175"/>
          </a:xfrm>
          <a:custGeom>
            <a:avLst/>
            <a:gdLst>
              <a:gd name="connsiteX0" fmla="*/ 0 w 2312505"/>
              <a:gd name="connsiteY0" fmla="*/ 2036417 h 2036417"/>
              <a:gd name="connsiteX1" fmla="*/ 1364974 w 2312505"/>
              <a:gd name="connsiteY1" fmla="*/ 1506330 h 2036417"/>
              <a:gd name="connsiteX2" fmla="*/ 2173357 w 2312505"/>
              <a:gd name="connsiteY2" fmla="*/ 220869 h 2036417"/>
              <a:gd name="connsiteX3" fmla="*/ 2199861 w 2312505"/>
              <a:gd name="connsiteY3" fmla="*/ 181113 h 2036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2505" h="2036417">
                <a:moveTo>
                  <a:pt x="0" y="2036417"/>
                </a:moveTo>
                <a:cubicBezTo>
                  <a:pt x="501374" y="1922669"/>
                  <a:pt x="1002748" y="1808921"/>
                  <a:pt x="1364974" y="1506330"/>
                </a:cubicBezTo>
                <a:cubicBezTo>
                  <a:pt x="1727200" y="1203739"/>
                  <a:pt x="2034209" y="441738"/>
                  <a:pt x="2173357" y="220869"/>
                </a:cubicBezTo>
                <a:cubicBezTo>
                  <a:pt x="2312505" y="0"/>
                  <a:pt x="2256183" y="90556"/>
                  <a:pt x="2199861" y="181113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92" name="Полилиния 91"/>
          <p:cNvSpPr/>
          <p:nvPr/>
        </p:nvSpPr>
        <p:spPr>
          <a:xfrm>
            <a:off x="6665913" y="3927475"/>
            <a:ext cx="2273300" cy="1995488"/>
          </a:xfrm>
          <a:custGeom>
            <a:avLst/>
            <a:gdLst>
              <a:gd name="connsiteX0" fmla="*/ 0 w 2272749"/>
              <a:gd name="connsiteY0" fmla="*/ 1970156 h 1996660"/>
              <a:gd name="connsiteX1" fmla="*/ 238540 w 2272749"/>
              <a:gd name="connsiteY1" fmla="*/ 1956904 h 1996660"/>
              <a:gd name="connsiteX2" fmla="*/ 530087 w 2272749"/>
              <a:gd name="connsiteY2" fmla="*/ 1731617 h 1996660"/>
              <a:gd name="connsiteX3" fmla="*/ 742122 w 2272749"/>
              <a:gd name="connsiteY3" fmla="*/ 1824382 h 1996660"/>
              <a:gd name="connsiteX4" fmla="*/ 927653 w 2272749"/>
              <a:gd name="connsiteY4" fmla="*/ 1678609 h 1996660"/>
              <a:gd name="connsiteX5" fmla="*/ 1166192 w 2272749"/>
              <a:gd name="connsiteY5" fmla="*/ 1612348 h 1996660"/>
              <a:gd name="connsiteX6" fmla="*/ 1378227 w 2272749"/>
              <a:gd name="connsiteY6" fmla="*/ 1744869 h 1996660"/>
              <a:gd name="connsiteX7" fmla="*/ 1590261 w 2272749"/>
              <a:gd name="connsiteY7" fmla="*/ 976243 h 1996660"/>
              <a:gd name="connsiteX8" fmla="*/ 1802296 w 2272749"/>
              <a:gd name="connsiteY8" fmla="*/ 989496 h 1996660"/>
              <a:gd name="connsiteX9" fmla="*/ 1948070 w 2272749"/>
              <a:gd name="connsiteY9" fmla="*/ 538922 h 1996660"/>
              <a:gd name="connsiteX10" fmla="*/ 2226366 w 2272749"/>
              <a:gd name="connsiteY10" fmla="*/ 75096 h 1996660"/>
              <a:gd name="connsiteX11" fmla="*/ 2226366 w 2272749"/>
              <a:gd name="connsiteY11" fmla="*/ 88348 h 1996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72749" h="1996660">
                <a:moveTo>
                  <a:pt x="0" y="1970156"/>
                </a:moveTo>
                <a:cubicBezTo>
                  <a:pt x="75096" y="1983408"/>
                  <a:pt x="150192" y="1996660"/>
                  <a:pt x="238540" y="1956904"/>
                </a:cubicBezTo>
                <a:cubicBezTo>
                  <a:pt x="326888" y="1917148"/>
                  <a:pt x="446157" y="1753704"/>
                  <a:pt x="530087" y="1731617"/>
                </a:cubicBezTo>
                <a:cubicBezTo>
                  <a:pt x="614017" y="1709530"/>
                  <a:pt x="675861" y="1833217"/>
                  <a:pt x="742122" y="1824382"/>
                </a:cubicBezTo>
                <a:cubicBezTo>
                  <a:pt x="808383" y="1815547"/>
                  <a:pt x="856975" y="1713948"/>
                  <a:pt x="927653" y="1678609"/>
                </a:cubicBezTo>
                <a:cubicBezTo>
                  <a:pt x="998331" y="1643270"/>
                  <a:pt x="1091096" y="1601305"/>
                  <a:pt x="1166192" y="1612348"/>
                </a:cubicBezTo>
                <a:cubicBezTo>
                  <a:pt x="1241288" y="1623391"/>
                  <a:pt x="1307549" y="1850886"/>
                  <a:pt x="1378227" y="1744869"/>
                </a:cubicBezTo>
                <a:cubicBezTo>
                  <a:pt x="1448905" y="1638852"/>
                  <a:pt x="1519583" y="1102138"/>
                  <a:pt x="1590261" y="976243"/>
                </a:cubicBezTo>
                <a:cubicBezTo>
                  <a:pt x="1660939" y="850348"/>
                  <a:pt x="1742661" y="1062383"/>
                  <a:pt x="1802296" y="989496"/>
                </a:cubicBezTo>
                <a:cubicBezTo>
                  <a:pt x="1861931" y="916609"/>
                  <a:pt x="1877392" y="691322"/>
                  <a:pt x="1948070" y="538922"/>
                </a:cubicBezTo>
                <a:cubicBezTo>
                  <a:pt x="2018748" y="386522"/>
                  <a:pt x="2179983" y="150192"/>
                  <a:pt x="2226366" y="75096"/>
                </a:cubicBezTo>
                <a:cubicBezTo>
                  <a:pt x="2272749" y="0"/>
                  <a:pt x="2249557" y="44174"/>
                  <a:pt x="2226366" y="88348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 dirty="0"/>
          </a:p>
        </p:txBody>
      </p:sp>
      <p:sp>
        <p:nvSpPr>
          <p:cNvPr id="93" name="TextBox 92"/>
          <p:cNvSpPr txBox="1"/>
          <p:nvPr/>
        </p:nvSpPr>
        <p:spPr>
          <a:xfrm>
            <a:off x="785813" y="3071813"/>
            <a:ext cx="2130425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Easy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few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72250" y="3071813"/>
            <a:ext cx="228600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Complex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model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,</a:t>
            </a:r>
          </a:p>
          <a:p>
            <a:pPr>
              <a:defRPr/>
            </a:pPr>
            <a:r>
              <a:rPr lang="sv-SE" b="1" dirty="0" err="1">
                <a:solidFill>
                  <a:schemeClr val="bg2">
                    <a:lumMod val="25000"/>
                  </a:schemeClr>
                </a:solidFill>
              </a:rPr>
              <a:t>many</a:t>
            </a:r>
            <a:r>
              <a:rPr lang="sv-SE" b="1" dirty="0">
                <a:solidFill>
                  <a:schemeClr val="bg2">
                    <a:lumMod val="25000"/>
                  </a:schemeClr>
                </a:solidFill>
              </a:rPr>
              <a:t> parameters</a:t>
            </a:r>
          </a:p>
        </p:txBody>
      </p:sp>
    </p:spTree>
    <p:extLst>
      <p:ext uri="{BB962C8B-B14F-4D97-AF65-F5344CB8AC3E}">
        <p14:creationId xmlns:p14="http://schemas.microsoft.com/office/powerpoint/2010/main" val="1914729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Overfitting</a:t>
            </a:r>
          </a:p>
        </p:txBody>
      </p:sp>
      <p:sp>
        <p:nvSpPr>
          <p:cNvPr id="98" name="Footer Placeholder 9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5750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5" name="Прямая со стрелкой 4"/>
          <p:cNvCxnSpPr/>
          <p:nvPr/>
        </p:nvCxnSpPr>
        <p:spPr>
          <a:xfrm rot="5400000" flipH="1" flipV="1">
            <a:off x="-1035844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571500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2928938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8" name="Овал 7"/>
          <p:cNvSpPr/>
          <p:nvPr/>
        </p:nvSpPr>
        <p:spPr>
          <a:xfrm>
            <a:off x="121443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9" name="Овал 8"/>
          <p:cNvSpPr/>
          <p:nvPr/>
        </p:nvSpPr>
        <p:spPr>
          <a:xfrm>
            <a:off x="2643188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0" name="Овал 9"/>
          <p:cNvSpPr/>
          <p:nvPr/>
        </p:nvSpPr>
        <p:spPr>
          <a:xfrm>
            <a:off x="2500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1" name="Овал 10"/>
          <p:cNvSpPr/>
          <p:nvPr/>
        </p:nvSpPr>
        <p:spPr>
          <a:xfrm>
            <a:off x="928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2" name="Овал 11"/>
          <p:cNvSpPr/>
          <p:nvPr/>
        </p:nvSpPr>
        <p:spPr>
          <a:xfrm>
            <a:off x="714375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3" name="Овал 12"/>
          <p:cNvSpPr/>
          <p:nvPr/>
        </p:nvSpPr>
        <p:spPr>
          <a:xfrm>
            <a:off x="2286000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4" name="Овал 13"/>
          <p:cNvSpPr/>
          <p:nvPr/>
        </p:nvSpPr>
        <p:spPr>
          <a:xfrm>
            <a:off x="2214563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5" name="Овал 14"/>
          <p:cNvSpPr/>
          <p:nvPr/>
        </p:nvSpPr>
        <p:spPr>
          <a:xfrm>
            <a:off x="2071688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6" name="Овал 15"/>
          <p:cNvSpPr/>
          <p:nvPr/>
        </p:nvSpPr>
        <p:spPr>
          <a:xfrm>
            <a:off x="1428750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7" name="Овал 16"/>
          <p:cNvSpPr/>
          <p:nvPr/>
        </p:nvSpPr>
        <p:spPr>
          <a:xfrm>
            <a:off x="1857375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8" name="Овал 17"/>
          <p:cNvSpPr/>
          <p:nvPr/>
        </p:nvSpPr>
        <p:spPr>
          <a:xfrm>
            <a:off x="1643063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19" name="Овал 18"/>
          <p:cNvSpPr/>
          <p:nvPr/>
        </p:nvSpPr>
        <p:spPr>
          <a:xfrm>
            <a:off x="3714750" y="39290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0" name="Овал 19"/>
          <p:cNvSpPr/>
          <p:nvPr/>
        </p:nvSpPr>
        <p:spPr>
          <a:xfrm>
            <a:off x="3429000" y="4357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1" name="Овал 20"/>
          <p:cNvSpPr/>
          <p:nvPr/>
        </p:nvSpPr>
        <p:spPr>
          <a:xfrm>
            <a:off x="3286125" y="478631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2" name="Прямоугольник 21"/>
          <p:cNvSpPr/>
          <p:nvPr/>
        </p:nvSpPr>
        <p:spPr>
          <a:xfrm>
            <a:off x="6215063" y="2786063"/>
            <a:ext cx="2786062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23" name="Прямая со стрелкой 22"/>
          <p:cNvCxnSpPr/>
          <p:nvPr/>
        </p:nvCxnSpPr>
        <p:spPr>
          <a:xfrm rot="5400000" flipH="1" flipV="1">
            <a:off x="4894263" y="4535488"/>
            <a:ext cx="3214687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6500813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858250" y="40005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6" name="Овал 25"/>
          <p:cNvSpPr/>
          <p:nvPr/>
        </p:nvSpPr>
        <p:spPr>
          <a:xfrm>
            <a:off x="714375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7" name="Овал 26"/>
          <p:cNvSpPr/>
          <p:nvPr/>
        </p:nvSpPr>
        <p:spPr>
          <a:xfrm>
            <a:off x="8572500" y="4429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8" name="Овал 27"/>
          <p:cNvSpPr/>
          <p:nvPr/>
        </p:nvSpPr>
        <p:spPr>
          <a:xfrm>
            <a:off x="842962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29" name="Овал 28"/>
          <p:cNvSpPr/>
          <p:nvPr/>
        </p:nvSpPr>
        <p:spPr>
          <a:xfrm>
            <a:off x="685800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0" name="Овал 29"/>
          <p:cNvSpPr/>
          <p:nvPr/>
        </p:nvSpPr>
        <p:spPr>
          <a:xfrm>
            <a:off x="6643688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1" name="Овал 30"/>
          <p:cNvSpPr/>
          <p:nvPr/>
        </p:nvSpPr>
        <p:spPr>
          <a:xfrm>
            <a:off x="8215313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2" name="Овал 31"/>
          <p:cNvSpPr/>
          <p:nvPr/>
        </p:nvSpPr>
        <p:spPr>
          <a:xfrm>
            <a:off x="8143875" y="521493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3" name="Овал 32"/>
          <p:cNvSpPr/>
          <p:nvPr/>
        </p:nvSpPr>
        <p:spPr>
          <a:xfrm>
            <a:off x="8001000" y="5643563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4" name="Овал 33"/>
          <p:cNvSpPr/>
          <p:nvPr/>
        </p:nvSpPr>
        <p:spPr>
          <a:xfrm>
            <a:off x="7358063" y="57150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5" name="Овал 34"/>
          <p:cNvSpPr/>
          <p:nvPr/>
        </p:nvSpPr>
        <p:spPr>
          <a:xfrm>
            <a:off x="7786688" y="550068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6" name="Овал 35"/>
          <p:cNvSpPr/>
          <p:nvPr/>
        </p:nvSpPr>
        <p:spPr>
          <a:xfrm>
            <a:off x="7572375" y="557212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37" name="Прямоугольник 36"/>
          <p:cNvSpPr/>
          <p:nvPr/>
        </p:nvSpPr>
        <p:spPr>
          <a:xfrm>
            <a:off x="3286125" y="2786063"/>
            <a:ext cx="2786063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38" name="Прямая со стрелкой 37"/>
          <p:cNvCxnSpPr/>
          <p:nvPr/>
        </p:nvCxnSpPr>
        <p:spPr>
          <a:xfrm rot="5400000" flipH="1" flipV="1">
            <a:off x="1964531" y="4536282"/>
            <a:ext cx="32146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3571875" y="6143625"/>
            <a:ext cx="242887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5929313" y="400050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1" name="Овал 40"/>
          <p:cNvSpPr/>
          <p:nvPr/>
        </p:nvSpPr>
        <p:spPr>
          <a:xfrm>
            <a:off x="421481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2" name="Овал 41"/>
          <p:cNvSpPr/>
          <p:nvPr/>
        </p:nvSpPr>
        <p:spPr>
          <a:xfrm>
            <a:off x="5643563" y="4429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3" name="Овал 42"/>
          <p:cNvSpPr/>
          <p:nvPr/>
        </p:nvSpPr>
        <p:spPr>
          <a:xfrm>
            <a:off x="5500688" y="4857750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4" name="Овал 43"/>
          <p:cNvSpPr/>
          <p:nvPr/>
        </p:nvSpPr>
        <p:spPr>
          <a:xfrm>
            <a:off x="3929063" y="585787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5" name="Овал 44"/>
          <p:cNvSpPr/>
          <p:nvPr/>
        </p:nvSpPr>
        <p:spPr>
          <a:xfrm>
            <a:off x="3714750" y="5857875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6" name="Овал 45"/>
          <p:cNvSpPr/>
          <p:nvPr/>
        </p:nvSpPr>
        <p:spPr>
          <a:xfrm>
            <a:off x="5286375" y="485775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7" name="Овал 46"/>
          <p:cNvSpPr/>
          <p:nvPr/>
        </p:nvSpPr>
        <p:spPr>
          <a:xfrm>
            <a:off x="5214938" y="5214938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8" name="Овал 47"/>
          <p:cNvSpPr/>
          <p:nvPr/>
        </p:nvSpPr>
        <p:spPr>
          <a:xfrm>
            <a:off x="5072063" y="5643563"/>
            <a:ext cx="71437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49" name="Овал 48"/>
          <p:cNvSpPr/>
          <p:nvPr/>
        </p:nvSpPr>
        <p:spPr>
          <a:xfrm>
            <a:off x="4429125" y="5715000"/>
            <a:ext cx="71438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0" name="Овал 49"/>
          <p:cNvSpPr/>
          <p:nvPr/>
        </p:nvSpPr>
        <p:spPr>
          <a:xfrm>
            <a:off x="4857750" y="5500688"/>
            <a:ext cx="71438" cy="714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1" name="Овал 50"/>
          <p:cNvSpPr/>
          <p:nvPr/>
        </p:nvSpPr>
        <p:spPr>
          <a:xfrm>
            <a:off x="4643438" y="5572125"/>
            <a:ext cx="71437" cy="714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cxnSp>
        <p:nvCxnSpPr>
          <p:cNvPr id="52" name="Прямая соединительная линия 51"/>
          <p:cNvCxnSpPr>
            <a:endCxn id="4" idx="3"/>
          </p:cNvCxnSpPr>
          <p:nvPr/>
        </p:nvCxnSpPr>
        <p:spPr>
          <a:xfrm flipV="1">
            <a:off x="714375" y="4500563"/>
            <a:ext cx="2357438" cy="1571625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3" name="Полилиния 52"/>
          <p:cNvSpPr/>
          <p:nvPr/>
        </p:nvSpPr>
        <p:spPr>
          <a:xfrm>
            <a:off x="3736975" y="3848100"/>
            <a:ext cx="2312988" cy="2035175"/>
          </a:xfrm>
          <a:custGeom>
            <a:avLst/>
            <a:gdLst>
              <a:gd name="connsiteX0" fmla="*/ 0 w 2312505"/>
              <a:gd name="connsiteY0" fmla="*/ 2036417 h 2036417"/>
              <a:gd name="connsiteX1" fmla="*/ 1364974 w 2312505"/>
              <a:gd name="connsiteY1" fmla="*/ 1506330 h 2036417"/>
              <a:gd name="connsiteX2" fmla="*/ 2173357 w 2312505"/>
              <a:gd name="connsiteY2" fmla="*/ 220869 h 2036417"/>
              <a:gd name="connsiteX3" fmla="*/ 2199861 w 2312505"/>
              <a:gd name="connsiteY3" fmla="*/ 181113 h 2036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2505" h="2036417">
                <a:moveTo>
                  <a:pt x="0" y="2036417"/>
                </a:moveTo>
                <a:cubicBezTo>
                  <a:pt x="501374" y="1922669"/>
                  <a:pt x="1002748" y="1808921"/>
                  <a:pt x="1364974" y="1506330"/>
                </a:cubicBezTo>
                <a:cubicBezTo>
                  <a:pt x="1727200" y="1203739"/>
                  <a:pt x="2034209" y="441738"/>
                  <a:pt x="2173357" y="220869"/>
                </a:cubicBezTo>
                <a:cubicBezTo>
                  <a:pt x="2312505" y="0"/>
                  <a:pt x="2256183" y="90556"/>
                  <a:pt x="2199861" y="181113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sp>
        <p:nvSpPr>
          <p:cNvPr id="54" name="Полилиния 53"/>
          <p:cNvSpPr/>
          <p:nvPr/>
        </p:nvSpPr>
        <p:spPr>
          <a:xfrm>
            <a:off x="6665913" y="3927475"/>
            <a:ext cx="2273300" cy="1995488"/>
          </a:xfrm>
          <a:custGeom>
            <a:avLst/>
            <a:gdLst>
              <a:gd name="connsiteX0" fmla="*/ 0 w 2272749"/>
              <a:gd name="connsiteY0" fmla="*/ 1970156 h 1996660"/>
              <a:gd name="connsiteX1" fmla="*/ 238540 w 2272749"/>
              <a:gd name="connsiteY1" fmla="*/ 1956904 h 1996660"/>
              <a:gd name="connsiteX2" fmla="*/ 530087 w 2272749"/>
              <a:gd name="connsiteY2" fmla="*/ 1731617 h 1996660"/>
              <a:gd name="connsiteX3" fmla="*/ 742122 w 2272749"/>
              <a:gd name="connsiteY3" fmla="*/ 1824382 h 1996660"/>
              <a:gd name="connsiteX4" fmla="*/ 927653 w 2272749"/>
              <a:gd name="connsiteY4" fmla="*/ 1678609 h 1996660"/>
              <a:gd name="connsiteX5" fmla="*/ 1166192 w 2272749"/>
              <a:gd name="connsiteY5" fmla="*/ 1612348 h 1996660"/>
              <a:gd name="connsiteX6" fmla="*/ 1378227 w 2272749"/>
              <a:gd name="connsiteY6" fmla="*/ 1744869 h 1996660"/>
              <a:gd name="connsiteX7" fmla="*/ 1590261 w 2272749"/>
              <a:gd name="connsiteY7" fmla="*/ 976243 h 1996660"/>
              <a:gd name="connsiteX8" fmla="*/ 1802296 w 2272749"/>
              <a:gd name="connsiteY8" fmla="*/ 989496 h 1996660"/>
              <a:gd name="connsiteX9" fmla="*/ 1948070 w 2272749"/>
              <a:gd name="connsiteY9" fmla="*/ 538922 h 1996660"/>
              <a:gd name="connsiteX10" fmla="*/ 2226366 w 2272749"/>
              <a:gd name="connsiteY10" fmla="*/ 75096 h 1996660"/>
              <a:gd name="connsiteX11" fmla="*/ 2226366 w 2272749"/>
              <a:gd name="connsiteY11" fmla="*/ 88348 h 1996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72749" h="1996660">
                <a:moveTo>
                  <a:pt x="0" y="1970156"/>
                </a:moveTo>
                <a:cubicBezTo>
                  <a:pt x="75096" y="1983408"/>
                  <a:pt x="150192" y="1996660"/>
                  <a:pt x="238540" y="1956904"/>
                </a:cubicBezTo>
                <a:cubicBezTo>
                  <a:pt x="326888" y="1917148"/>
                  <a:pt x="446157" y="1753704"/>
                  <a:pt x="530087" y="1731617"/>
                </a:cubicBezTo>
                <a:cubicBezTo>
                  <a:pt x="614017" y="1709530"/>
                  <a:pt x="675861" y="1833217"/>
                  <a:pt x="742122" y="1824382"/>
                </a:cubicBezTo>
                <a:cubicBezTo>
                  <a:pt x="808383" y="1815547"/>
                  <a:pt x="856975" y="1713948"/>
                  <a:pt x="927653" y="1678609"/>
                </a:cubicBezTo>
                <a:cubicBezTo>
                  <a:pt x="998331" y="1643270"/>
                  <a:pt x="1091096" y="1601305"/>
                  <a:pt x="1166192" y="1612348"/>
                </a:cubicBezTo>
                <a:cubicBezTo>
                  <a:pt x="1241288" y="1623391"/>
                  <a:pt x="1307549" y="1850886"/>
                  <a:pt x="1378227" y="1744869"/>
                </a:cubicBezTo>
                <a:cubicBezTo>
                  <a:pt x="1448905" y="1638852"/>
                  <a:pt x="1519583" y="1102138"/>
                  <a:pt x="1590261" y="976243"/>
                </a:cubicBezTo>
                <a:cubicBezTo>
                  <a:pt x="1660939" y="850348"/>
                  <a:pt x="1742661" y="1062383"/>
                  <a:pt x="1802296" y="989496"/>
                </a:cubicBezTo>
                <a:cubicBezTo>
                  <a:pt x="1861931" y="916609"/>
                  <a:pt x="1877392" y="691322"/>
                  <a:pt x="1948070" y="538922"/>
                </a:cubicBezTo>
                <a:cubicBezTo>
                  <a:pt x="2018748" y="386522"/>
                  <a:pt x="2179983" y="150192"/>
                  <a:pt x="2226366" y="75096"/>
                </a:cubicBezTo>
                <a:cubicBezTo>
                  <a:pt x="2272749" y="0"/>
                  <a:pt x="2249557" y="44174"/>
                  <a:pt x="2226366" y="88348"/>
                </a:cubicBezTo>
              </a:path>
            </a:pathLst>
          </a:cu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sv-SE"/>
          </a:p>
        </p:txBody>
      </p:sp>
      <p:grpSp>
        <p:nvGrpSpPr>
          <p:cNvPr id="17467" name="Группа 121"/>
          <p:cNvGrpSpPr>
            <a:grpSpLocks/>
          </p:cNvGrpSpPr>
          <p:nvPr/>
        </p:nvGrpSpPr>
        <p:grpSpPr bwMode="auto">
          <a:xfrm>
            <a:off x="3714750" y="3786188"/>
            <a:ext cx="2214563" cy="2143125"/>
            <a:chOff x="3714744" y="3786190"/>
            <a:chExt cx="2214578" cy="2143140"/>
          </a:xfrm>
        </p:grpSpPr>
        <p:sp>
          <p:nvSpPr>
            <p:cNvPr id="110" name="Овал 109"/>
            <p:cNvSpPr/>
            <p:nvPr/>
          </p:nvSpPr>
          <p:spPr>
            <a:xfrm>
              <a:off x="5643570" y="464344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1" name="Овал 110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2" name="Овал 111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3" name="Овал 112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4" name="Овал 113"/>
            <p:cNvSpPr/>
            <p:nvPr/>
          </p:nvSpPr>
          <p:spPr>
            <a:xfrm>
              <a:off x="5072066" y="5286387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5" name="Овал 114"/>
            <p:cNvSpPr/>
            <p:nvPr/>
          </p:nvSpPr>
          <p:spPr>
            <a:xfrm>
              <a:off x="464343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6" name="Овал 115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7" name="Овал 116"/>
            <p:cNvSpPr/>
            <p:nvPr/>
          </p:nvSpPr>
          <p:spPr>
            <a:xfrm>
              <a:off x="4214810" y="5857891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8" name="Овал 117"/>
            <p:cNvSpPr/>
            <p:nvPr/>
          </p:nvSpPr>
          <p:spPr>
            <a:xfrm>
              <a:off x="5214942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19" name="Овал 118"/>
            <p:cNvSpPr/>
            <p:nvPr/>
          </p:nvSpPr>
          <p:spPr>
            <a:xfrm>
              <a:off x="4786314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20" name="Овал 119"/>
            <p:cNvSpPr/>
            <p:nvPr/>
          </p:nvSpPr>
          <p:spPr>
            <a:xfrm>
              <a:off x="392905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21" name="Овал 120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grpSp>
        <p:nvGrpSpPr>
          <p:cNvPr id="17468" name="Группа 135"/>
          <p:cNvGrpSpPr>
            <a:grpSpLocks/>
          </p:cNvGrpSpPr>
          <p:nvPr/>
        </p:nvGrpSpPr>
        <p:grpSpPr bwMode="auto">
          <a:xfrm>
            <a:off x="6643688" y="3786188"/>
            <a:ext cx="2214562" cy="2143125"/>
            <a:chOff x="3714744" y="3786190"/>
            <a:chExt cx="2214578" cy="2143140"/>
          </a:xfrm>
        </p:grpSpPr>
        <p:sp>
          <p:nvSpPr>
            <p:cNvPr id="137" name="Овал 136"/>
            <p:cNvSpPr/>
            <p:nvPr/>
          </p:nvSpPr>
          <p:spPr>
            <a:xfrm>
              <a:off x="5643570" y="464344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38" name="Овал 137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39" name="Овал 138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0" name="Овал 139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1" name="Овал 140"/>
            <p:cNvSpPr/>
            <p:nvPr/>
          </p:nvSpPr>
          <p:spPr>
            <a:xfrm>
              <a:off x="5072066" y="5286387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2" name="Овал 141"/>
            <p:cNvSpPr/>
            <p:nvPr/>
          </p:nvSpPr>
          <p:spPr>
            <a:xfrm>
              <a:off x="4643438" y="5715015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3" name="Овал 142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4" name="Овал 143"/>
            <p:cNvSpPr/>
            <p:nvPr/>
          </p:nvSpPr>
          <p:spPr>
            <a:xfrm>
              <a:off x="4214810" y="5857891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5" name="Овал 144"/>
            <p:cNvSpPr/>
            <p:nvPr/>
          </p:nvSpPr>
          <p:spPr>
            <a:xfrm>
              <a:off x="5214942" y="535782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6" name="Овал 145"/>
            <p:cNvSpPr/>
            <p:nvPr/>
          </p:nvSpPr>
          <p:spPr>
            <a:xfrm>
              <a:off x="4786314" y="5357826"/>
              <a:ext cx="71439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7" name="Овал 146"/>
            <p:cNvSpPr/>
            <p:nvPr/>
          </p:nvSpPr>
          <p:spPr>
            <a:xfrm>
              <a:off x="3929058" y="5715015"/>
              <a:ext cx="71439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48" name="Овал 147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grpSp>
        <p:nvGrpSpPr>
          <p:cNvPr id="17469" name="Группа 148"/>
          <p:cNvGrpSpPr>
            <a:grpSpLocks/>
          </p:cNvGrpSpPr>
          <p:nvPr/>
        </p:nvGrpSpPr>
        <p:grpSpPr bwMode="auto">
          <a:xfrm>
            <a:off x="714375" y="3786188"/>
            <a:ext cx="2214563" cy="2143125"/>
            <a:chOff x="3714744" y="3786190"/>
            <a:chExt cx="2214578" cy="2143140"/>
          </a:xfrm>
        </p:grpSpPr>
        <p:sp>
          <p:nvSpPr>
            <p:cNvPr id="150" name="Овал 149"/>
            <p:cNvSpPr/>
            <p:nvPr/>
          </p:nvSpPr>
          <p:spPr>
            <a:xfrm>
              <a:off x="5643570" y="464344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1" name="Овал 150"/>
            <p:cNvSpPr/>
            <p:nvPr/>
          </p:nvSpPr>
          <p:spPr>
            <a:xfrm>
              <a:off x="5857884" y="3786190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2" name="Овал 151"/>
            <p:cNvSpPr/>
            <p:nvPr/>
          </p:nvSpPr>
          <p:spPr>
            <a:xfrm>
              <a:off x="5429256" y="4714883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3" name="Овал 152"/>
            <p:cNvSpPr/>
            <p:nvPr/>
          </p:nvSpPr>
          <p:spPr>
            <a:xfrm>
              <a:off x="5286380" y="5072074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4" name="Овал 153"/>
            <p:cNvSpPr/>
            <p:nvPr/>
          </p:nvSpPr>
          <p:spPr>
            <a:xfrm>
              <a:off x="5072066" y="5286387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5" name="Овал 154"/>
            <p:cNvSpPr/>
            <p:nvPr/>
          </p:nvSpPr>
          <p:spPr>
            <a:xfrm>
              <a:off x="464343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6" name="Овал 155"/>
            <p:cNvSpPr/>
            <p:nvPr/>
          </p:nvSpPr>
          <p:spPr>
            <a:xfrm>
              <a:off x="4429124" y="5500702"/>
              <a:ext cx="71438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7" name="Овал 156"/>
            <p:cNvSpPr/>
            <p:nvPr/>
          </p:nvSpPr>
          <p:spPr>
            <a:xfrm>
              <a:off x="4214810" y="5857891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8" name="Овал 157"/>
            <p:cNvSpPr/>
            <p:nvPr/>
          </p:nvSpPr>
          <p:spPr>
            <a:xfrm>
              <a:off x="5214942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59" name="Овал 158"/>
            <p:cNvSpPr/>
            <p:nvPr/>
          </p:nvSpPr>
          <p:spPr>
            <a:xfrm>
              <a:off x="4786314" y="5357826"/>
              <a:ext cx="71437" cy="71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60" name="Овал 159"/>
            <p:cNvSpPr/>
            <p:nvPr/>
          </p:nvSpPr>
          <p:spPr>
            <a:xfrm>
              <a:off x="3929058" y="5715015"/>
              <a:ext cx="71437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  <p:sp>
          <p:nvSpPr>
            <p:cNvPr id="161" name="Овал 160"/>
            <p:cNvSpPr/>
            <p:nvPr/>
          </p:nvSpPr>
          <p:spPr>
            <a:xfrm>
              <a:off x="3714744" y="5857891"/>
              <a:ext cx="71438" cy="714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sv-SE"/>
            </a:p>
          </p:txBody>
        </p:sp>
      </p:grpSp>
      <p:sp>
        <p:nvSpPr>
          <p:cNvPr id="162" name="TextBox 161"/>
          <p:cNvSpPr txBox="1"/>
          <p:nvPr/>
        </p:nvSpPr>
        <p:spPr>
          <a:xfrm>
            <a:off x="3828638" y="3147910"/>
            <a:ext cx="1935162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sv-SE" dirty="0"/>
              <a:t>Best </a:t>
            </a:r>
            <a:r>
              <a:rPr lang="sv-SE" dirty="0" err="1"/>
              <a:t>prediction</a:t>
            </a:r>
            <a:r>
              <a:rPr lang="sv-SE" dirty="0"/>
              <a:t>!</a:t>
            </a:r>
          </a:p>
        </p:txBody>
      </p:sp>
      <p:sp>
        <p:nvSpPr>
          <p:cNvPr id="2" name="textruta 1"/>
          <p:cNvSpPr txBox="1"/>
          <p:nvPr/>
        </p:nvSpPr>
        <p:spPr>
          <a:xfrm>
            <a:off x="714375" y="1916832"/>
            <a:ext cx="630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Now</a:t>
            </a:r>
            <a:r>
              <a:rPr lang="sv-SE" dirty="0"/>
              <a:t> new data from the same process</a:t>
            </a:r>
          </a:p>
        </p:txBody>
      </p:sp>
    </p:spTree>
    <p:extLst>
      <p:ext uri="{BB962C8B-B14F-4D97-AF65-F5344CB8AC3E}">
        <p14:creationId xmlns:p14="http://schemas.microsoft.com/office/powerpoint/2010/main" val="3250522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Overfitting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Observed</a:t>
            </a:r>
            <a:r>
              <a:rPr lang="sv-SE" dirty="0"/>
              <a:t>: </a:t>
            </a: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24" name="Bildobjekt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249132"/>
            <a:ext cx="5867452" cy="410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458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selection</a:t>
            </a:r>
            <a:endParaRPr lang="sv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sv-SE" dirty="0"/>
                  <a:t>Given </a:t>
                </a:r>
                <a:r>
                  <a:rPr lang="sv-SE" dirty="0" err="1"/>
                  <a:t>several</a:t>
                </a:r>
                <a:r>
                  <a:rPr lang="sv-SE" dirty="0"/>
                  <a:t>  </a:t>
                </a:r>
                <a:r>
                  <a:rPr lang="sv-SE" dirty="0" err="1"/>
                  <a:t>models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sv-SE" b="0" dirty="0"/>
              </a:p>
              <a:p>
                <a:r>
                  <a:rPr lang="sv-SE" dirty="0" err="1"/>
                  <a:t>Divide</a:t>
                </a:r>
                <a:r>
                  <a:rPr lang="sv-SE" dirty="0"/>
                  <a:t> data set </a:t>
                </a:r>
                <a:r>
                  <a:rPr lang="sv-SE" dirty="0" err="1"/>
                  <a:t>into</a:t>
                </a:r>
                <a:r>
                  <a:rPr lang="sv-SE" dirty="0"/>
                  <a:t> </a:t>
                </a:r>
                <a:r>
                  <a:rPr lang="en-US" b="1" spc="15" dirty="0">
                    <a:solidFill>
                      <a:srgbClr val="0000FF"/>
                    </a:solidFill>
                    <a:cs typeface="Calibri"/>
                  </a:rPr>
                  <a:t>training</a:t>
                </a:r>
                <a:r>
                  <a:rPr lang="sv-SE" dirty="0"/>
                  <a:t> and </a:t>
                </a:r>
                <a:r>
                  <a:rPr lang="en-US" b="1" spc="15" dirty="0">
                    <a:solidFill>
                      <a:srgbClr val="0000FF"/>
                    </a:solidFill>
                  </a:rPr>
                  <a:t>test</a:t>
                </a:r>
                <a:r>
                  <a:rPr lang="sv-SE" dirty="0"/>
                  <a:t> data</a:t>
                </a:r>
              </a:p>
              <a:p>
                <a:endParaRPr lang="sv-SE" dirty="0"/>
              </a:p>
              <a:p>
                <a:r>
                  <a:rPr lang="sv-SE" dirty="0"/>
                  <a:t>Fit </a:t>
                </a:r>
                <a:r>
                  <a:rPr lang="sv-SE" dirty="0" err="1"/>
                  <a:t>models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dirty="0"/>
                  <a:t> to </a:t>
                </a:r>
                <a:r>
                  <a:rPr lang="sv-SE" dirty="0" err="1"/>
                  <a:t>training</a:t>
                </a:r>
                <a:r>
                  <a:rPr lang="sv-SE" dirty="0"/>
                  <a:t> </a:t>
                </a:r>
                <a:r>
                  <a:rPr lang="sv-SE" dirty="0" err="1"/>
                  <a:t>data</a:t>
                </a:r>
                <a:r>
                  <a:rPr lang="sv-SE" dirty="0" err="1">
                    <a:sym typeface="Wingdings" panose="05000000000000000000" pitchFamily="2" charset="2"/>
                  </a:rPr>
                  <a:t>get</a:t>
                </a:r>
                <a:r>
                  <a:rPr lang="sv-SE" dirty="0">
                    <a:sym typeface="Wingdings" panose="05000000000000000000" pitchFamily="2" charset="2"/>
                  </a:rPr>
                  <a:t> parameter </a:t>
                </a:r>
                <a:r>
                  <a:rPr lang="sv-SE" dirty="0" err="1">
                    <a:sym typeface="Wingdings" panose="05000000000000000000" pitchFamily="2" charset="2"/>
                  </a:rPr>
                  <a:t>values</a:t>
                </a:r>
                <a:endParaRPr lang="sv-SE" dirty="0">
                  <a:sym typeface="Wingdings" panose="05000000000000000000" pitchFamily="2" charset="2"/>
                </a:endParaRPr>
              </a:p>
              <a:p>
                <a:r>
                  <a:rPr lang="sv-SE" dirty="0" err="1">
                    <a:sym typeface="Wingdings" panose="05000000000000000000" pitchFamily="2" charset="2"/>
                  </a:rPr>
                  <a:t>Use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estimated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models</a:t>
                </a:r>
                <a:r>
                  <a:rPr lang="sv-SE" dirty="0">
                    <a:sym typeface="Wingdings" panose="05000000000000000000" pitchFamily="2" charset="2"/>
                  </a:rPr>
                  <a:t> to </a:t>
                </a:r>
                <a:r>
                  <a:rPr lang="sv-SE" dirty="0" err="1">
                    <a:sym typeface="Wingdings" panose="05000000000000000000" pitchFamily="2" charset="2"/>
                  </a:rPr>
                  <a:t>predict</a:t>
                </a:r>
                <a:r>
                  <a:rPr lang="sv-SE" dirty="0">
                    <a:sym typeface="Wingdings" panose="05000000000000000000" pitchFamily="2" charset="2"/>
                  </a:rPr>
                  <a:t> test data and </a:t>
                </a:r>
                <a:r>
                  <a:rPr lang="sv-SE" dirty="0" err="1">
                    <a:sym typeface="Wingdings" panose="05000000000000000000" pitchFamily="2" charset="2"/>
                  </a:rPr>
                  <a:t>compare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en-US" b="1" spc="15" dirty="0">
                    <a:solidFill>
                      <a:srgbClr val="0000FF"/>
                    </a:solidFill>
                  </a:rPr>
                  <a:t>test errors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d>
                      <m:dPr>
                        <m:ctrlPr>
                          <a:rPr lang="sv-S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𝑀</m:t>
                            </m:r>
                          </m:e>
                          <m:sub>
                            <m:r>
                              <a:rPr lang="sv-SE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</m:t>
                    </m:r>
                    <m:r>
                      <a:rPr lang="sv-S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sv-S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sv-SE" dirty="0">
                  <a:sym typeface="Wingdings" panose="05000000000000000000" pitchFamily="2" charset="2"/>
                </a:endParaRPr>
              </a:p>
              <a:p>
                <a:r>
                  <a:rPr lang="sv-SE" dirty="0" err="1">
                    <a:sym typeface="Wingdings" panose="05000000000000000000" pitchFamily="2" charset="2"/>
                  </a:rPr>
                  <a:t>Model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with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lowest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prediction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error</a:t>
                </a:r>
                <a:r>
                  <a:rPr lang="sv-SE" dirty="0">
                    <a:sym typeface="Wingdings" panose="05000000000000000000" pitchFamily="2" charset="2"/>
                  </a:rPr>
                  <a:t> is best</a:t>
                </a:r>
              </a:p>
              <a:p>
                <a:endParaRPr lang="sv-SE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sv-SE" dirty="0" err="1">
                    <a:solidFill>
                      <a:srgbClr val="C00000"/>
                    </a:solidFill>
                    <a:sym typeface="Wingdings" panose="05000000000000000000" pitchFamily="2" charset="2"/>
                  </a:rPr>
                  <a:t>Comment</a:t>
                </a:r>
                <a:r>
                  <a:rPr lang="sv-SE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:</a:t>
                </a:r>
              </a:p>
              <a:p>
                <a:r>
                  <a:rPr lang="sv-SE" dirty="0">
                    <a:sym typeface="Wingdings" panose="05000000000000000000" pitchFamily="2" charset="2"/>
                  </a:rPr>
                  <a:t>Approach </a:t>
                </a:r>
                <a:r>
                  <a:rPr lang="sv-SE" dirty="0" err="1">
                    <a:sym typeface="Wingdings" panose="05000000000000000000" pitchFamily="2" charset="2"/>
                  </a:rPr>
                  <a:t>works</a:t>
                </a:r>
                <a:r>
                  <a:rPr lang="sv-SE" dirty="0">
                    <a:sym typeface="Wingdings" panose="05000000000000000000" pitchFamily="2" charset="2"/>
                  </a:rPr>
                  <a:t> </a:t>
                </a:r>
                <a:r>
                  <a:rPr lang="sv-SE" dirty="0" err="1">
                    <a:sym typeface="Wingdings" panose="05000000000000000000" pitchFamily="2" charset="2"/>
                  </a:rPr>
                  <a:t>well</a:t>
                </a:r>
                <a:r>
                  <a:rPr lang="sv-SE" dirty="0">
                    <a:sym typeface="Wingdings" panose="05000000000000000000" pitchFamily="2" charset="2"/>
                  </a:rPr>
                  <a:t> for moderate/</a:t>
                </a:r>
                <a:r>
                  <a:rPr lang="sv-SE" dirty="0" err="1">
                    <a:sym typeface="Wingdings" panose="05000000000000000000" pitchFamily="2" charset="2"/>
                  </a:rPr>
                  <a:t>large</a:t>
                </a:r>
                <a:r>
                  <a:rPr lang="sv-SE" dirty="0">
                    <a:sym typeface="Wingdings" panose="05000000000000000000" pitchFamily="2" charset="2"/>
                  </a:rPr>
                  <a:t> data</a:t>
                </a:r>
              </a:p>
              <a:p>
                <a:endParaRPr lang="sv-SE" dirty="0"/>
              </a:p>
              <a:p>
                <a:endParaRPr lang="sv-SE" dirty="0"/>
              </a:p>
            </p:txBody>
          </p:sp>
        </mc:Choice>
        <mc:Fallback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156" b="-2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259855" y="2539182"/>
            <a:ext cx="3024113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sv-S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 dirty="0" err="1"/>
              <a:t>Training</a:t>
            </a:r>
            <a:endParaRPr lang="en-US" altLang="sv-SE" sz="2000" dirty="0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283968" y="2539182"/>
            <a:ext cx="2808363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sv-S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</p:spTree>
    <p:extLst>
      <p:ext uri="{BB962C8B-B14F-4D97-AF65-F5344CB8AC3E}">
        <p14:creationId xmlns:p14="http://schemas.microsoft.com/office/powerpoint/2010/main" val="845264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v-SE" dirty="0"/>
              <a:t>Holdout method</a:t>
            </a:r>
          </a:p>
        </p:txBody>
      </p:sp>
      <p:sp>
        <p:nvSpPr>
          <p:cNvPr id="18435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sv-SE" dirty="0"/>
              <a:t>Divide into training, validation and test sets</a:t>
            </a:r>
          </a:p>
          <a:p>
            <a:pPr eaLnBrk="1" hangingPunct="1"/>
            <a:endParaRPr lang="en-US" altLang="sv-SE" dirty="0"/>
          </a:p>
          <a:p>
            <a:pPr eaLnBrk="1" hangingPunct="1"/>
            <a:endParaRPr lang="en-US" altLang="sv-SE" dirty="0"/>
          </a:p>
          <a:p>
            <a:pPr eaLnBrk="1" hangingPunct="1"/>
            <a:r>
              <a:rPr lang="en-US" altLang="sv-SE" dirty="0"/>
              <a:t>Choose proportions in some way</a:t>
            </a:r>
          </a:p>
          <a:p>
            <a:pPr eaLnBrk="1" hangingPunct="1"/>
            <a:endParaRPr lang="en-US" altLang="sv-SE" dirty="0"/>
          </a:p>
          <a:p>
            <a:pPr eaLnBrk="1" hangingPunct="1"/>
            <a:r>
              <a:rPr lang="en-US" altLang="sv-SE" dirty="0"/>
              <a:t>Test set is used to test a performance on a new data</a:t>
            </a:r>
          </a:p>
          <a:p>
            <a:pPr eaLnBrk="1" hangingPunct="1"/>
            <a:endParaRPr lang="en-US" altLang="sv-SE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1692275" y="2565400"/>
            <a:ext cx="2232025" cy="406400"/>
          </a:xfrm>
          <a:prstGeom prst="rect">
            <a:avLst/>
          </a:prstGeom>
          <a:solidFill>
            <a:srgbClr val="CC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Training</a:t>
            </a:r>
            <a:endParaRPr lang="en-US" altLang="sv-SE" sz="2000"/>
          </a:p>
        </p:txBody>
      </p:sp>
      <p:sp>
        <p:nvSpPr>
          <p:cNvPr id="18438" name="Text Box 7"/>
          <p:cNvSpPr txBox="1">
            <a:spLocks noChangeArrowheads="1"/>
          </p:cNvSpPr>
          <p:nvPr/>
        </p:nvSpPr>
        <p:spPr bwMode="auto">
          <a:xfrm>
            <a:off x="3924300" y="2565400"/>
            <a:ext cx="1800225" cy="406400"/>
          </a:xfrm>
          <a:prstGeom prst="rect">
            <a:avLst/>
          </a:prstGeom>
          <a:solidFill>
            <a:srgbClr val="FFFFCC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Validation</a:t>
            </a:r>
            <a:endParaRPr lang="en-US" altLang="sv-SE" sz="2000"/>
          </a:p>
        </p:txBody>
      </p:sp>
      <p:sp>
        <p:nvSpPr>
          <p:cNvPr id="18439" name="Text Box 8"/>
          <p:cNvSpPr txBox="1">
            <a:spLocks noChangeArrowheads="1"/>
          </p:cNvSpPr>
          <p:nvPr/>
        </p:nvSpPr>
        <p:spPr bwMode="auto">
          <a:xfrm>
            <a:off x="5724525" y="2565400"/>
            <a:ext cx="1800225" cy="406400"/>
          </a:xfrm>
          <a:prstGeom prst="rect">
            <a:avLst/>
          </a:prstGeom>
          <a:solidFill>
            <a:srgbClr val="CCFFFF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sv-SE" altLang="sv-SE" sz="2000"/>
              <a:t>Test</a:t>
            </a:r>
            <a:endParaRPr lang="en-US" altLang="sv-SE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4735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Holdout</a:t>
            </a:r>
            <a:r>
              <a:rPr lang="sv-SE" dirty="0"/>
              <a:t>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to</a:t>
            </a:r>
            <a:r>
              <a:rPr lang="sv-SE" sz="2400" dirty="0"/>
              <a:t> partition </a:t>
            </a:r>
            <a:r>
              <a:rPr lang="sv-SE" sz="2400" dirty="0" err="1"/>
              <a:t>into</a:t>
            </a:r>
            <a:r>
              <a:rPr lang="sv-SE" sz="2400" dirty="0"/>
              <a:t> </a:t>
            </a:r>
            <a:r>
              <a:rPr lang="sv-SE" sz="2400" dirty="0" err="1"/>
              <a:t>train</a:t>
            </a:r>
            <a:r>
              <a:rPr lang="sv-SE" sz="2400" dirty="0"/>
              <a:t>/test?</a:t>
            </a:r>
          </a:p>
          <a:p>
            <a:pPr lvl="1"/>
            <a:r>
              <a:rPr lang="sv-SE" sz="2000" dirty="0" err="1">
                <a:solidFill>
                  <a:srgbClr val="FF0000"/>
                </a:solidFill>
              </a:rPr>
              <a:t>Use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set.seed</a:t>
            </a:r>
            <a:r>
              <a:rPr lang="sv-SE" sz="2000" dirty="0">
                <a:solidFill>
                  <a:srgbClr val="FF0000"/>
                </a:solidFill>
              </a:rPr>
              <a:t>(12345) in the </a:t>
            </a:r>
            <a:r>
              <a:rPr lang="sv-SE" sz="2000" dirty="0" err="1">
                <a:solidFill>
                  <a:srgbClr val="FF0000"/>
                </a:solidFill>
              </a:rPr>
              <a:t>labs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to</a:t>
            </a:r>
            <a:r>
              <a:rPr lang="sv-SE" sz="2000" dirty="0">
                <a:solidFill>
                  <a:srgbClr val="FF0000"/>
                </a:solidFill>
              </a:rPr>
              <a:t> get </a:t>
            </a:r>
            <a:r>
              <a:rPr lang="sv-SE" sz="2000" dirty="0" err="1">
                <a:solidFill>
                  <a:srgbClr val="FF0000"/>
                </a:solidFill>
              </a:rPr>
              <a:t>identical</a:t>
            </a:r>
            <a:r>
              <a:rPr lang="sv-SE" sz="2000" dirty="0">
                <a:solidFill>
                  <a:srgbClr val="FF0000"/>
                </a:solidFill>
              </a:rPr>
              <a:t> </a:t>
            </a:r>
            <a:r>
              <a:rPr lang="sv-SE" sz="2000" dirty="0" err="1">
                <a:solidFill>
                  <a:srgbClr val="FF0000"/>
                </a:solidFill>
              </a:rPr>
              <a:t>results</a:t>
            </a:r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pPr lvl="1"/>
            <a:endParaRPr lang="sv-SE" sz="2000" dirty="0">
              <a:solidFill>
                <a:srgbClr val="FF0000"/>
              </a:solidFill>
            </a:endParaRPr>
          </a:p>
          <a:p>
            <a:r>
              <a:rPr lang="sv-SE" sz="2400" dirty="0" err="1"/>
              <a:t>How</a:t>
            </a:r>
            <a:r>
              <a:rPr lang="sv-SE" sz="2400" dirty="0"/>
              <a:t> </a:t>
            </a:r>
            <a:r>
              <a:rPr lang="sv-SE" sz="2400" dirty="0" err="1"/>
              <a:t>to</a:t>
            </a:r>
            <a:r>
              <a:rPr lang="sv-SE" sz="2400" dirty="0"/>
              <a:t> partition </a:t>
            </a:r>
            <a:r>
              <a:rPr lang="sv-SE" sz="2400" dirty="0" err="1"/>
              <a:t>into</a:t>
            </a:r>
            <a:r>
              <a:rPr lang="sv-SE" sz="2400" dirty="0"/>
              <a:t> </a:t>
            </a:r>
            <a:r>
              <a:rPr lang="sv-SE" sz="2400" dirty="0" err="1"/>
              <a:t>train</a:t>
            </a:r>
            <a:r>
              <a:rPr lang="sv-SE" sz="2400" dirty="0"/>
              <a:t>/valid/test?</a:t>
            </a:r>
          </a:p>
          <a:p>
            <a:pPr lvl="1"/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B2DAB0-3E44-4037-BFD8-EC40824E78A2}" type="slidenum">
              <a:rPr lang="sv-SE" smtClean="0"/>
              <a:pPr>
                <a:defRPr/>
              </a:pPr>
              <a:t>32</a:t>
            </a:fld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1475656" y="2420888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(data)[1]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(n*0.7)) 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=data[id,]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test=data[-id,]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9672" y="393305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(data)[1]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(n*0.4)) 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=data[id,] 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id1=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setdiff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id)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id2=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(id1,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(n*0.3))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valid=data[id2,]</a:t>
            </a:r>
          </a:p>
          <a:p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id3=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setdiff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(id1,id2)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test=data[id3,] </a:t>
            </a:r>
          </a:p>
        </p:txBody>
      </p:sp>
    </p:spTree>
    <p:extLst>
      <p:ext uri="{BB962C8B-B14F-4D97-AF65-F5344CB8AC3E}">
        <p14:creationId xmlns:p14="http://schemas.microsoft.com/office/powerpoint/2010/main" val="449480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Typical</a:t>
            </a:r>
            <a:r>
              <a:rPr lang="sv-SE" dirty="0"/>
              <a:t> </a:t>
            </a:r>
            <a:r>
              <a:rPr lang="sv-SE" dirty="0" err="1"/>
              <a:t>error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Regression, </a:t>
                </a:r>
                <a:r>
                  <a:rPr lang="en-US" sz="2400" b="1" spc="15" dirty="0">
                    <a:solidFill>
                      <a:srgbClr val="0000FF"/>
                    </a:solidFill>
                    <a:cs typeface="Calibri"/>
                  </a:rPr>
                  <a:t>MSE </a:t>
                </a:r>
                <a:r>
                  <a:rPr lang="sv-SE" sz="240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sv-SE" sz="2400" dirty="0"/>
              </a:p>
              <a:p>
                <a:r>
                  <a:rPr lang="sv-SE" sz="2400" dirty="0" err="1"/>
                  <a:t>Classification</a:t>
                </a:r>
                <a:r>
                  <a:rPr lang="sv-SE" sz="2400" dirty="0"/>
                  <a:t>, </a:t>
                </a:r>
                <a:r>
                  <a:rPr lang="en-US" sz="2400" b="1" spc="15" dirty="0">
                    <a:solidFill>
                      <a:srgbClr val="0000FF"/>
                    </a:solidFill>
                    <a:cs typeface="Calibri"/>
                  </a:rPr>
                  <a:t>misclassification rate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sv-SE" sz="2400" dirty="0"/>
              </a:p>
              <a:p>
                <a:r>
                  <a:rPr lang="sv-SE" sz="2400" dirty="0" err="1"/>
                  <a:t>Classification</a:t>
                </a:r>
                <a:r>
                  <a:rPr lang="sv-SE" sz="2400" dirty="0"/>
                  <a:t>, cross-</a:t>
                </a:r>
                <a:r>
                  <a:rPr lang="sv-SE" sz="2400" dirty="0" err="1"/>
                  <a:t>entropy</a:t>
                </a:r>
                <a:r>
                  <a:rPr lang="sv-SE" sz="2400" dirty="0"/>
                  <a:t> for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sv-SE" sz="2400" dirty="0"/>
                  <a:t> </a:t>
                </a:r>
                <a:r>
                  <a:rPr lang="sv-SE" sz="2400" dirty="0" err="1"/>
                  <a:t>classes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sv-S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̂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d>
                            <m:d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sv-SE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sv-SE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sv-SE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739129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types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>
            <a:normAutofit lnSpcReduction="10000"/>
          </a:bodyPr>
          <a:lstStyle/>
          <a:p>
            <a:r>
              <a:rPr lang="sv-SE" dirty="0"/>
              <a:t>Parametric </a:t>
            </a:r>
            <a:r>
              <a:rPr lang="sv-SE" dirty="0" err="1"/>
              <a:t>models</a:t>
            </a:r>
            <a:endParaRPr lang="sv-SE" dirty="0"/>
          </a:p>
          <a:p>
            <a:pPr lvl="1"/>
            <a:r>
              <a:rPr lang="sv-SE" sz="2400" dirty="0" err="1"/>
              <a:t>Have</a:t>
            </a:r>
            <a:r>
              <a:rPr lang="sv-SE" sz="2400" dirty="0"/>
              <a:t> </a:t>
            </a:r>
            <a:r>
              <a:rPr lang="sv-SE" sz="2400" dirty="0" err="1"/>
              <a:t>certain</a:t>
            </a:r>
            <a:r>
              <a:rPr lang="sv-SE" sz="2400" dirty="0"/>
              <a:t> </a:t>
            </a:r>
            <a:r>
              <a:rPr lang="sv-SE" sz="2400" dirty="0" err="1"/>
              <a:t>number</a:t>
            </a:r>
            <a:r>
              <a:rPr lang="sv-SE" sz="2400" dirty="0"/>
              <a:t> </a:t>
            </a:r>
            <a:r>
              <a:rPr lang="sv-SE" sz="2400" dirty="0" err="1"/>
              <a:t>of</a:t>
            </a:r>
            <a:r>
              <a:rPr lang="sv-SE" sz="2400" dirty="0"/>
              <a:t> parameters </a:t>
            </a:r>
            <a:r>
              <a:rPr lang="sv-SE" sz="2400" dirty="0" err="1"/>
              <a:t>independently</a:t>
            </a:r>
            <a:r>
              <a:rPr lang="sv-SE" sz="2400" dirty="0"/>
              <a:t> </a:t>
            </a:r>
            <a:r>
              <a:rPr lang="sv-SE" sz="2400" dirty="0" err="1"/>
              <a:t>of</a:t>
            </a:r>
            <a:r>
              <a:rPr lang="sv-SE" sz="2400" dirty="0"/>
              <a:t> the </a:t>
            </a:r>
            <a:r>
              <a:rPr lang="sv-SE" sz="2400" dirty="0" err="1"/>
              <a:t>size</a:t>
            </a:r>
            <a:r>
              <a:rPr lang="sv-SE" sz="2400" dirty="0"/>
              <a:t> </a:t>
            </a:r>
            <a:r>
              <a:rPr lang="sv-SE" sz="2400" dirty="0" err="1"/>
              <a:t>of</a:t>
            </a:r>
            <a:r>
              <a:rPr lang="sv-SE" sz="2400" dirty="0"/>
              <a:t> </a:t>
            </a:r>
            <a:r>
              <a:rPr lang="sv-SE" sz="2400" dirty="0" err="1"/>
              <a:t>training</a:t>
            </a:r>
            <a:r>
              <a:rPr lang="sv-SE" sz="2400" dirty="0"/>
              <a:t> data</a:t>
            </a:r>
          </a:p>
          <a:p>
            <a:pPr lvl="1"/>
            <a:r>
              <a:rPr lang="sv-SE" sz="2400" dirty="0" err="1"/>
              <a:t>Assumption</a:t>
            </a:r>
            <a:r>
              <a:rPr lang="sv-SE" sz="2400" dirty="0"/>
              <a:t> </a:t>
            </a:r>
            <a:r>
              <a:rPr lang="sv-SE" sz="2400" dirty="0" err="1"/>
              <a:t>about</a:t>
            </a:r>
            <a:r>
              <a:rPr lang="sv-SE" sz="2400" dirty="0"/>
              <a:t> </a:t>
            </a:r>
            <a:r>
              <a:rPr lang="sv-SE" sz="2400" dirty="0" err="1"/>
              <a:t>of</a:t>
            </a:r>
            <a:r>
              <a:rPr lang="sv-SE" sz="2400" dirty="0"/>
              <a:t> the data distribution</a:t>
            </a:r>
          </a:p>
          <a:p>
            <a:pPr lvl="1"/>
            <a:r>
              <a:rPr lang="sv-SE" sz="2400" dirty="0"/>
              <a:t>Ex: </a:t>
            </a:r>
            <a:r>
              <a:rPr lang="sv-SE" sz="2400" dirty="0" err="1"/>
              <a:t>logistic</a:t>
            </a:r>
            <a:r>
              <a:rPr lang="sv-SE" sz="2400" dirty="0"/>
              <a:t> regression</a:t>
            </a:r>
          </a:p>
          <a:p>
            <a:r>
              <a:rPr lang="sv-SE" dirty="0" err="1"/>
              <a:t>Nonparametric</a:t>
            </a:r>
            <a:r>
              <a:rPr lang="sv-SE" dirty="0"/>
              <a:t> </a:t>
            </a:r>
            <a:r>
              <a:rPr lang="sv-SE" dirty="0" err="1"/>
              <a:t>models</a:t>
            </a:r>
            <a:endParaRPr lang="sv-SE" dirty="0"/>
          </a:p>
          <a:p>
            <a:pPr lvl="1"/>
            <a:r>
              <a:rPr lang="sv-SE" sz="2000" dirty="0" err="1"/>
              <a:t>Number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parameters (</a:t>
            </a:r>
            <a:r>
              <a:rPr lang="sv-SE" sz="2000" dirty="0" err="1"/>
              <a:t>complexity</a:t>
            </a:r>
            <a:r>
              <a:rPr lang="sv-SE" sz="2000" dirty="0"/>
              <a:t>) </a:t>
            </a:r>
            <a:r>
              <a:rPr lang="sv-SE" sz="2000" dirty="0" err="1"/>
              <a:t>changes</a:t>
            </a:r>
            <a:r>
              <a:rPr lang="sv-SE" sz="2000" dirty="0"/>
              <a:t> </a:t>
            </a:r>
            <a:r>
              <a:rPr lang="sv-SE" sz="2000" dirty="0" err="1"/>
              <a:t>with</a:t>
            </a:r>
            <a:r>
              <a:rPr lang="sv-SE" sz="2000" dirty="0"/>
              <a:t> </a:t>
            </a:r>
            <a:r>
              <a:rPr lang="sv-SE" sz="2000" dirty="0" err="1"/>
              <a:t>training</a:t>
            </a:r>
            <a:r>
              <a:rPr lang="sv-SE" sz="2000" dirty="0"/>
              <a:t> data</a:t>
            </a:r>
          </a:p>
          <a:p>
            <a:pPr lvl="2"/>
            <a:r>
              <a:rPr lang="sv-SE" sz="1600" dirty="0" err="1"/>
              <a:t>Example</a:t>
            </a:r>
            <a:r>
              <a:rPr lang="sv-SE" sz="1600" dirty="0"/>
              <a:t>: K-NN </a:t>
            </a:r>
            <a:r>
              <a:rPr lang="sv-SE" sz="1600" dirty="0" err="1"/>
              <a:t>classifier</a:t>
            </a:r>
            <a:endParaRPr lang="sv-SE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814683"/>
            <a:ext cx="2606246" cy="219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946" y="4293096"/>
            <a:ext cx="2545684" cy="215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9006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Curse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dimensionality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</p:spPr>
            <p:txBody>
              <a:bodyPr/>
              <a:lstStyle/>
              <a:p>
                <a:r>
                  <a:rPr lang="sv-SE" sz="2400" dirty="0"/>
                  <a:t>Given data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sv-SE" sz="2400" dirty="0"/>
                  <a:t>:</a:t>
                </a:r>
              </a:p>
              <a:p>
                <a:pPr lvl="1"/>
                <a:r>
                  <a:rPr lang="sv-SE" sz="2000" dirty="0"/>
                  <a:t>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i="1">
                        <a:latin typeface="Cambria Math" panose="02040503050406030204" pitchFamily="18" charset="0"/>
                      </a:rPr>
                      <m:t>,.. </m:t>
                    </m:r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sv-SE" sz="2000" dirty="0"/>
              </a:p>
              <a:p>
                <a:pPr lvl="1"/>
                <a:r>
                  <a:rPr lang="sv-SE" sz="2000" dirty="0"/>
                  <a:t>Targets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sv-S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sv-SE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sv-SE" dirty="0"/>
              </a:p>
              <a:p>
                <a:r>
                  <a:rPr lang="sv-SE" sz="2800" dirty="0"/>
                  <a:t>When </a:t>
                </a:r>
                <a14:m>
                  <m:oMath xmlns:m="http://schemas.openxmlformats.org/officeDocument/2006/math">
                    <m:r>
                      <a:rPr lang="sv-SE" sz="2800" i="1">
                        <a:latin typeface="Cambria Math"/>
                      </a:rPr>
                      <m:t>𝑝</m:t>
                    </m:r>
                  </m:oMath>
                </a14:m>
                <a:r>
                  <a:rPr lang="sv-SE" sz="2800" dirty="0"/>
                  <a:t> increases models </a:t>
                </a:r>
                <a:r>
                  <a:rPr lang="sv-SE" sz="2800" dirty="0" err="1"/>
                  <a:t>using</a:t>
                </a:r>
                <a:r>
                  <a:rPr lang="sv-SE" sz="2800" dirty="0"/>
                  <a:t> ”</a:t>
                </a:r>
                <a:r>
                  <a:rPr lang="sv-SE" sz="2800" dirty="0" err="1"/>
                  <a:t>proximity</a:t>
                </a:r>
                <a:r>
                  <a:rPr lang="sv-SE" sz="2800" dirty="0"/>
                  <a:t>” </a:t>
                </a:r>
                <a:r>
                  <a:rPr lang="sv-SE" sz="2800" dirty="0" err="1"/>
                  <a:t>measures</a:t>
                </a:r>
                <a:r>
                  <a:rPr lang="sv-SE" sz="2800" dirty="0"/>
                  <a:t> </a:t>
                </a:r>
                <a:r>
                  <a:rPr lang="sv-SE" sz="2800" dirty="0" err="1"/>
                  <a:t>work</a:t>
                </a:r>
                <a:r>
                  <a:rPr lang="sv-SE" sz="2800" dirty="0"/>
                  <a:t> </a:t>
                </a:r>
                <a:r>
                  <a:rPr lang="sv-SE" sz="2800" dirty="0" err="1"/>
                  <a:t>badly</a:t>
                </a:r>
                <a:endParaRPr lang="sv-SE" sz="2800" dirty="0"/>
              </a:p>
              <a:p>
                <a:r>
                  <a:rPr lang="sv-SE" sz="2800" dirty="0" err="1">
                    <a:solidFill>
                      <a:srgbClr val="C00000"/>
                    </a:solidFill>
                  </a:rPr>
                  <a:t>Curse</a:t>
                </a:r>
                <a:r>
                  <a:rPr lang="sv-SE" sz="2800" dirty="0">
                    <a:solidFill>
                      <a:srgbClr val="C00000"/>
                    </a:solidFill>
                  </a:rPr>
                  <a:t> </a:t>
                </a:r>
                <a:r>
                  <a:rPr lang="sv-SE" sz="2800" dirty="0" err="1">
                    <a:solidFill>
                      <a:srgbClr val="C00000"/>
                    </a:solidFill>
                  </a:rPr>
                  <a:t>of</a:t>
                </a:r>
                <a:r>
                  <a:rPr lang="sv-SE" sz="2800" dirty="0">
                    <a:solidFill>
                      <a:srgbClr val="C00000"/>
                    </a:solidFill>
                  </a:rPr>
                  <a:t> </a:t>
                </a:r>
                <a:r>
                  <a:rPr lang="sv-SE" sz="2800" dirty="0" err="1">
                    <a:solidFill>
                      <a:srgbClr val="C00000"/>
                    </a:solidFill>
                  </a:rPr>
                  <a:t>dimensionality</a:t>
                </a:r>
                <a:r>
                  <a:rPr lang="sv-SE" sz="2800" dirty="0"/>
                  <a:t>: A </a:t>
                </a:r>
                <a:r>
                  <a:rPr lang="sv-SE" sz="2800" dirty="0" err="1"/>
                  <a:t>point</a:t>
                </a:r>
                <a:r>
                  <a:rPr lang="sv-SE" sz="2800" dirty="0"/>
                  <a:t> has no ”</a:t>
                </a:r>
                <a:r>
                  <a:rPr lang="sv-SE" sz="2800" dirty="0" err="1"/>
                  <a:t>near</a:t>
                </a:r>
                <a:r>
                  <a:rPr lang="sv-SE" sz="2800" dirty="0"/>
                  <a:t> </a:t>
                </a:r>
                <a:r>
                  <a:rPr lang="sv-SE" sz="2800" dirty="0" err="1"/>
                  <a:t>neighbors</a:t>
                </a:r>
                <a:r>
                  <a:rPr lang="sv-SE" sz="2800" dirty="0"/>
                  <a:t>” in </a:t>
                </a:r>
                <a:r>
                  <a:rPr lang="sv-SE" sz="2800" dirty="0" err="1"/>
                  <a:t>high</a:t>
                </a:r>
                <a:r>
                  <a:rPr lang="sv-SE" sz="2800" dirty="0"/>
                  <a:t> dimensions </a:t>
                </a:r>
                <a:r>
                  <a:rPr lang="sv-SE" sz="2800" dirty="0">
                    <a:sym typeface="Wingdings" panose="05000000000000000000" pitchFamily="2" charset="2"/>
                  </a:rPr>
                  <a:t> </a:t>
                </a:r>
                <a:r>
                  <a:rPr lang="sv-SE" sz="2800" dirty="0" err="1">
                    <a:sym typeface="Wingdings" panose="05000000000000000000" pitchFamily="2" charset="2"/>
                  </a:rPr>
                  <a:t>using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class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labels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of</a:t>
                </a:r>
                <a:r>
                  <a:rPr lang="sv-SE" sz="2800" dirty="0">
                    <a:sym typeface="Wingdings" panose="05000000000000000000" pitchFamily="2" charset="2"/>
                  </a:rPr>
                  <a:t> a </a:t>
                </a:r>
                <a:r>
                  <a:rPr lang="sv-SE" sz="2800" dirty="0" err="1">
                    <a:sym typeface="Wingdings" panose="05000000000000000000" pitchFamily="2" charset="2"/>
                  </a:rPr>
                  <a:t>neighbor</a:t>
                </a:r>
                <a:r>
                  <a:rPr lang="sv-SE" sz="2800" dirty="0">
                    <a:sym typeface="Wingdings" panose="05000000000000000000" pitchFamily="2" charset="2"/>
                  </a:rPr>
                  <a:t> </a:t>
                </a:r>
                <a:r>
                  <a:rPr lang="sv-SE" sz="2800" dirty="0" err="1">
                    <a:sym typeface="Wingdings" panose="05000000000000000000" pitchFamily="2" charset="2"/>
                  </a:rPr>
                  <a:t>can</a:t>
                </a:r>
                <a:r>
                  <a:rPr lang="sv-SE" sz="2800" dirty="0">
                    <a:sym typeface="Wingdings" panose="05000000000000000000" pitchFamily="2" charset="2"/>
                  </a:rPr>
                  <a:t> be </a:t>
                </a:r>
                <a:r>
                  <a:rPr lang="sv-SE" sz="2800" dirty="0" err="1">
                    <a:sym typeface="Wingdings" panose="05000000000000000000" pitchFamily="2" charset="2"/>
                  </a:rPr>
                  <a:t>misleadning</a:t>
                </a:r>
                <a:endParaRPr lang="sv-SE" sz="2800" dirty="0"/>
              </a:p>
              <a:p>
                <a:pPr lvl="1"/>
                <a:r>
                  <a:rPr lang="sv-SE" sz="2400" dirty="0" err="1"/>
                  <a:t>Distance-based</a:t>
                </a:r>
                <a:r>
                  <a:rPr lang="sv-SE" sz="2400" dirty="0"/>
                  <a:t> </a:t>
                </a:r>
                <a:r>
                  <a:rPr lang="sv-SE" sz="2400" dirty="0" err="1"/>
                  <a:t>methods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affected</a:t>
                </a:r>
                <a:endParaRPr lang="sv-SE" sz="2400" dirty="0"/>
              </a:p>
              <a:p>
                <a:pPr lvl="1"/>
                <a:endParaRPr lang="sv-SE" sz="2400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91264" cy="4525963"/>
              </a:xfrm>
              <a:blipFill>
                <a:blip r:embed="rId2"/>
                <a:stretch>
                  <a:fillRect l="-1324" t="-1078" r="-58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3565201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Curse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dimensionality</a:t>
            </a:r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5621"/>
            <a:ext cx="4765593" cy="2481440"/>
          </a:xfrm>
          <a:prstGeom prst="rect">
            <a:avLst/>
          </a:prstGeom>
        </p:spPr>
      </p:pic>
      <p:pic>
        <p:nvPicPr>
          <p:cNvPr id="7" name="Bildobjek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085621"/>
            <a:ext cx="2786864" cy="296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75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Curse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dimensionality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dirty="0"/>
                  <a:t>Hopeless? No!</a:t>
                </a:r>
              </a:p>
              <a:p>
                <a:endParaRPr lang="sv-SE" dirty="0"/>
              </a:p>
              <a:p>
                <a:r>
                  <a:rPr lang="sv-SE" dirty="0"/>
                  <a:t>Real data </a:t>
                </a:r>
                <a:r>
                  <a:rPr lang="sv-SE" dirty="0" err="1"/>
                  <a:t>normally</a:t>
                </a:r>
                <a:r>
                  <a:rPr lang="sv-SE" dirty="0"/>
                  <a:t> has </a:t>
                </a:r>
                <a:r>
                  <a:rPr lang="sv-SE" dirty="0" err="1"/>
                  <a:t>much</a:t>
                </a:r>
                <a:r>
                  <a:rPr lang="sv-SE" dirty="0"/>
                  <a:t> </a:t>
                </a:r>
                <a:r>
                  <a:rPr lang="sv-SE" dirty="0" err="1"/>
                  <a:t>lower</a:t>
                </a:r>
                <a:r>
                  <a:rPr lang="sv-SE" dirty="0"/>
                  <a:t> </a:t>
                </a:r>
                <a:r>
                  <a:rPr lang="sv-SE" dirty="0" err="1"/>
                  <a:t>effective</a:t>
                </a:r>
                <a:r>
                  <a:rPr lang="sv-SE" dirty="0"/>
                  <a:t> dimension</a:t>
                </a:r>
              </a:p>
              <a:p>
                <a:pPr lvl="1"/>
                <a:r>
                  <a:rPr lang="sv-SE" dirty="0" err="1"/>
                  <a:t>Dimensionality</a:t>
                </a:r>
                <a:r>
                  <a:rPr lang="sv-SE" dirty="0"/>
                  <a:t> </a:t>
                </a:r>
                <a:r>
                  <a:rPr lang="sv-SE" dirty="0" err="1"/>
                  <a:t>reduction</a:t>
                </a:r>
                <a:r>
                  <a:rPr lang="sv-SE" dirty="0"/>
                  <a:t> </a:t>
                </a:r>
                <a:r>
                  <a:rPr lang="sv-SE" dirty="0" err="1"/>
                  <a:t>techniques</a:t>
                </a:r>
                <a:endParaRPr lang="sv-SE" dirty="0"/>
              </a:p>
              <a:p>
                <a:pPr lvl="1"/>
                <a:endParaRPr lang="sv-SE" dirty="0"/>
              </a:p>
              <a:p>
                <a:r>
                  <a:rPr lang="sv-SE" dirty="0" err="1"/>
                  <a:t>Smoothness</a:t>
                </a:r>
                <a:r>
                  <a:rPr lang="sv-SE" dirty="0"/>
                  <a:t> </a:t>
                </a:r>
                <a:r>
                  <a:rPr lang="sv-SE" dirty="0" err="1"/>
                  <a:t>assumption</a:t>
                </a:r>
                <a:endParaRPr lang="sv-SE" dirty="0"/>
              </a:p>
              <a:p>
                <a:pPr lvl="1"/>
                <a:r>
                  <a:rPr lang="sv-SE" dirty="0"/>
                  <a:t> small </a:t>
                </a:r>
                <a:r>
                  <a:rPr lang="sv-SE" dirty="0" err="1"/>
                  <a:t>change</a:t>
                </a:r>
                <a:r>
                  <a:rPr lang="sv-SE" dirty="0"/>
                  <a:t> in </a:t>
                </a:r>
                <a:r>
                  <a:rPr lang="sv-SE" dirty="0" err="1"/>
                  <a:t>one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14:m>
                  <m:oMath xmlns:m="http://schemas.openxmlformats.org/officeDocument/2006/math">
                    <m:r>
                      <a:rPr lang="sv-S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sv-SE" dirty="0"/>
                  <a:t>’s </a:t>
                </a:r>
                <a:r>
                  <a:rPr lang="sv-SE" dirty="0" err="1"/>
                  <a:t>should</a:t>
                </a:r>
                <a:r>
                  <a:rPr lang="sv-SE" dirty="0"/>
                  <a:t> </a:t>
                </a:r>
                <a:r>
                  <a:rPr lang="sv-SE" dirty="0" err="1"/>
                  <a:t>lead</a:t>
                </a:r>
                <a:r>
                  <a:rPr lang="sv-SE" dirty="0"/>
                  <a:t> to small </a:t>
                </a:r>
                <a:r>
                  <a:rPr lang="sv-SE" dirty="0" err="1"/>
                  <a:t>change</a:t>
                </a:r>
                <a:r>
                  <a:rPr lang="sv-SE" dirty="0"/>
                  <a:t> in </a:t>
                </a:r>
                <a14:m>
                  <m:oMath xmlns:m="http://schemas.openxmlformats.org/officeDocument/2006/math"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sv-SE" dirty="0" err="1">
                    <a:sym typeface="Wingdings" panose="05000000000000000000" pitchFamily="2" charset="2"/>
                  </a:rPr>
                  <a:t>interpolation</a:t>
                </a:r>
                <a:endParaRPr lang="sv-SE" dirty="0"/>
              </a:p>
            </p:txBody>
          </p:sp>
        </mc:Choice>
        <mc:Fallback xmlns="">
          <p:sp>
            <p:nvSpPr>
              <p:cNvPr id="3" name="Platshållare för innehåll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b="-4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2331221966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9E6DBB69-A9BB-462D-98A2-B92CE8D1BA5C}"/>
</file>

<file path=customXml/itemProps2.xml><?xml version="1.0" encoding="utf-8"?>
<ds:datastoreItem xmlns:ds="http://schemas.openxmlformats.org/officeDocument/2006/customXml" ds:itemID="{174A1829-E1F3-477E-B574-68C14430F806}"/>
</file>

<file path=customXml/itemProps3.xml><?xml version="1.0" encoding="utf-8"?>
<ds:datastoreItem xmlns:ds="http://schemas.openxmlformats.org/officeDocument/2006/customXml" ds:itemID="{F387DB08-5961-4B70-AA50-4DF61358BADE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55844</TotalTime>
  <Words>1831</Words>
  <Application>Microsoft Office PowerPoint</Application>
  <PresentationFormat>On-screen Show (4:3)</PresentationFormat>
  <Paragraphs>346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Meiryo</vt:lpstr>
      <vt:lpstr>Arial</vt:lpstr>
      <vt:lpstr>Book Antiqua</vt:lpstr>
      <vt:lpstr>Calibri</vt:lpstr>
      <vt:lpstr>Cambria Math</vt:lpstr>
      <vt:lpstr>Consolas</vt:lpstr>
      <vt:lpstr>Lucida Sans Unicode</vt:lpstr>
      <vt:lpstr>Tahoma</vt:lpstr>
      <vt:lpstr>Times New Roman</vt:lpstr>
      <vt:lpstr>Wingdings 2</vt:lpstr>
      <vt:lpstr>mytheme</vt:lpstr>
      <vt:lpstr>Basic concepts</vt:lpstr>
      <vt:lpstr>Course topics</vt:lpstr>
      <vt:lpstr>Course organization</vt:lpstr>
      <vt:lpstr>Course organization</vt:lpstr>
      <vt:lpstr>Course organization</vt:lpstr>
      <vt:lpstr>What is Machine Learning ?</vt:lpstr>
      <vt:lpstr>Machine Learning and Statistics</vt:lpstr>
      <vt:lpstr>Why probability models?</vt:lpstr>
      <vt:lpstr>Why probability models?</vt:lpstr>
      <vt:lpstr>Example: classifying hadwritten digits</vt:lpstr>
      <vt:lpstr>Example: classifying hadwritten digits</vt:lpstr>
      <vt:lpstr>Example: classifying hadwritten digits</vt:lpstr>
      <vt:lpstr>Example: smartfone typing predictions</vt:lpstr>
      <vt:lpstr>Example: smartfone typing predictions</vt:lpstr>
      <vt:lpstr>Types of learning</vt:lpstr>
      <vt:lpstr>Types of learning</vt:lpstr>
      <vt:lpstr>Types of learning</vt:lpstr>
      <vt:lpstr>Basic ML ingridients</vt:lpstr>
      <vt:lpstr>Types of data sets</vt:lpstr>
      <vt:lpstr>Logistic regression</vt:lpstr>
      <vt:lpstr>K-nearest neighbor model </vt:lpstr>
      <vt:lpstr>K-nearest neighbor algorithm</vt:lpstr>
      <vt:lpstr>K-nearest neighbor model</vt:lpstr>
      <vt:lpstr>K-nearest neigbor example</vt:lpstr>
      <vt:lpstr>K-nearest neighbor example</vt:lpstr>
      <vt:lpstr>K-nearest neighbor model</vt:lpstr>
      <vt:lpstr>Overfitting</vt:lpstr>
      <vt:lpstr>Overfitting</vt:lpstr>
      <vt:lpstr>Overfitting</vt:lpstr>
      <vt:lpstr>Model selection</vt:lpstr>
      <vt:lpstr>Holdout method</vt:lpstr>
      <vt:lpstr>Holdout in R</vt:lpstr>
      <vt:lpstr>Typical error functions</vt:lpstr>
      <vt:lpstr>Model types</vt:lpstr>
      <vt:lpstr>Curse of dimensionality</vt:lpstr>
      <vt:lpstr>Curse of dimensionality</vt:lpstr>
      <vt:lpstr>Curse of dimensionality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749</cp:revision>
  <dcterms:created xsi:type="dcterms:W3CDTF">2008-10-17T08:20:23Z</dcterms:created>
  <dcterms:modified xsi:type="dcterms:W3CDTF">2023-11-01T08:32:58Z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