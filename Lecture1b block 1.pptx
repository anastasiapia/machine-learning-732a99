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8" r:id="rId1"/>
  </p:sldMasterIdLst>
  <p:notesMasterIdLst>
    <p:notesMasterId r:id="rId30"/>
  </p:notesMasterIdLst>
  <p:sldIdLst>
    <p:sldId id="256" r:id="rId2"/>
    <p:sldId id="258" r:id="rId3"/>
    <p:sldId id="309" r:id="rId4"/>
    <p:sldId id="259" r:id="rId5"/>
    <p:sldId id="261" r:id="rId6"/>
    <p:sldId id="260" r:id="rId7"/>
    <p:sldId id="263" r:id="rId8"/>
    <p:sldId id="264" r:id="rId9"/>
    <p:sldId id="265" r:id="rId10"/>
    <p:sldId id="304" r:id="rId11"/>
    <p:sldId id="306" r:id="rId12"/>
    <p:sldId id="266" r:id="rId13"/>
    <p:sldId id="267" r:id="rId14"/>
    <p:sldId id="268" r:id="rId15"/>
    <p:sldId id="269" r:id="rId16"/>
    <p:sldId id="270" r:id="rId17"/>
    <p:sldId id="271" r:id="rId18"/>
    <p:sldId id="274" r:id="rId19"/>
    <p:sldId id="307" r:id="rId20"/>
    <p:sldId id="290" r:id="rId21"/>
    <p:sldId id="292" r:id="rId22"/>
    <p:sldId id="302" r:id="rId23"/>
    <p:sldId id="310" r:id="rId24"/>
    <p:sldId id="293" r:id="rId25"/>
    <p:sldId id="308" r:id="rId26"/>
    <p:sldId id="294" r:id="rId27"/>
    <p:sldId id="295" r:id="rId28"/>
    <p:sldId id="276" r:id="rId29"/>
  </p:sldIdLst>
  <p:sldSz cx="9144000" cy="6858000" type="screen4x3"/>
  <p:notesSz cx="6858000" cy="9144000"/>
  <p:defaultTextStyle>
    <a:defPPr>
      <a:defRPr lang="sv-S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1" autoAdjust="0"/>
    <p:restoredTop sz="94667" autoAdjust="0"/>
  </p:normalViewPr>
  <p:slideViewPr>
    <p:cSldViewPr>
      <p:cViewPr varScale="1">
        <p:scale>
          <a:sx n="106" d="100"/>
          <a:sy n="106" d="100"/>
        </p:scale>
        <p:origin x="178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37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4ADB048-B6AA-4D22-B925-1E07B42FCC2F}" type="datetimeFigureOut">
              <a:rPr lang="en-US"/>
              <a:pPr>
                <a:defRPr/>
              </a:pPr>
              <a:t>11/2/2022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CBF2CB4-761B-4BF8-ADAE-309A87B15E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715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88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082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33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172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42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3985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9991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544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5565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2344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686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FFFF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ED150A7-5F95-4096-932B-1E618D79681A}" type="datetime1">
              <a:rPr lang="sv-SE" smtClean="0"/>
              <a:t>2022-11-02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E41135-FE25-4BB9-845D-2A6C9DB4D648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02590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CC9037-E85B-446D-9DB0-05E7ACF33B6B}" type="datetime1">
              <a:rPr lang="sv-SE" smtClean="0"/>
              <a:t>2022-11-02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B2DAB0-3E44-4037-BFD8-EC40824E78A2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13052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A89B51-6D50-49D8-B726-5E12DFD3504D}" type="datetime1">
              <a:rPr lang="sv-SE" smtClean="0"/>
              <a:t>2022-11-02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39442D-BF2B-4F0F-86BC-2E9B5D092FBD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34763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F0191E-B468-48EB-AD6E-7DD6A7E35C90}" type="datetime1">
              <a:rPr lang="sv-SE" smtClean="0"/>
              <a:t>2022-11-02</a:t>
            </a:fld>
            <a:endParaRPr lang="sv-S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143A0B-D25E-4CEE-9A8D-A89D71CA941C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07564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A0EDCE-942E-47F9-B782-067D8DBB2DC6}" type="datetime1">
              <a:rPr lang="sv-SE" smtClean="0"/>
              <a:t>2022-11-02</a:t>
            </a:fld>
            <a:endParaRPr lang="sv-SE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F4E0B-44E5-4E70-A00D-EAF82574E9B5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00689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037740-D2F5-423D-8234-0FCCA56F747A}" type="datetime1">
              <a:rPr lang="sv-SE" smtClean="0"/>
              <a:t>2022-11-02</a:t>
            </a:fld>
            <a:endParaRPr lang="sv-S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C2B8F3-1A8A-45D7-B8F3-C3176EA3727C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38903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977CE6-A233-437D-870B-DEF3E8D428C2}" type="datetime1">
              <a:rPr lang="sv-SE" smtClean="0"/>
              <a:t>2022-11-02</a:t>
            </a:fld>
            <a:endParaRPr lang="sv-SE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07C067-4760-4791-9AD9-243D3788801E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1656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A3FC47-E29B-4F75-9CF8-C3F944A4AC10}" type="datetime1">
              <a:rPr lang="sv-SE" smtClean="0"/>
              <a:t>2022-11-02</a:t>
            </a:fld>
            <a:endParaRPr lang="sv-S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FCB188-BE35-4DCB-B587-5780F2D8A2E3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77572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BA0EF-82D4-444D-85E5-4F7DC26203A9}" type="datetime1">
              <a:rPr lang="sv-SE" smtClean="0"/>
              <a:t>2022-11-02</a:t>
            </a:fld>
            <a:endParaRPr lang="sv-S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1C374-092E-49BD-9EFA-BFB4801F3599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51781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EF5EA7-8D97-4E8D-A6A8-E2B92C19FC8F}" type="datetime1">
              <a:rPr lang="sv-SE" smtClean="0"/>
              <a:t>2022-11-02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1788B-0916-4076-90CD-A11BF9C4C5F6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08143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0976C8-2711-46D4-ABBF-EFC5A47D13D9}" type="datetime1">
              <a:rPr lang="sv-SE" smtClean="0"/>
              <a:t>2022-11-02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2041AE-3DF6-4B42-A32B-B013DFED45FA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53700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v-SE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v-SE"/>
              <a:t>Click to edit Master text styles</a:t>
            </a:r>
          </a:p>
          <a:p>
            <a:pPr lvl="1"/>
            <a:r>
              <a:rPr lang="en-US" altLang="sv-SE"/>
              <a:t>Second level</a:t>
            </a:r>
          </a:p>
          <a:p>
            <a:pPr lvl="2"/>
            <a:r>
              <a:rPr lang="en-US" altLang="sv-SE"/>
              <a:t>Third level</a:t>
            </a:r>
          </a:p>
          <a:p>
            <a:pPr lvl="3"/>
            <a:r>
              <a:rPr lang="en-US" altLang="sv-SE"/>
              <a:t>Fourth level</a:t>
            </a:r>
          </a:p>
          <a:p>
            <a:pPr lvl="4"/>
            <a:r>
              <a:rPr lang="en-US" altLang="sv-SE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DE77898E-A241-476B-A6BD-2F5EE7E89B76}" type="datetime1">
              <a:rPr lang="sv-SE" smtClean="0"/>
              <a:t>2022-11-02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53457A1C-DCE8-4055-B631-8BF35863A1EB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43" r:id="rId2"/>
    <p:sldLayoutId id="2147483944" r:id="rId3"/>
    <p:sldLayoutId id="2147483945" r:id="rId4"/>
    <p:sldLayoutId id="2147483946" r:id="rId5"/>
    <p:sldLayoutId id="2147483947" r:id="rId6"/>
    <p:sldLayoutId id="2147483948" r:id="rId7"/>
    <p:sldLayoutId id="2147483949" r:id="rId8"/>
    <p:sldLayoutId id="2147483950" r:id="rId9"/>
    <p:sldLayoutId id="2147483951" r:id="rId10"/>
    <p:sldLayoutId id="2147483952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40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en.wikipedia.org/wiki/Conjugate_prior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sv-SE" altLang="sv-SE" sz="4000" dirty="0"/>
              <a:t>Basics </a:t>
            </a:r>
            <a:r>
              <a:rPr lang="sv-SE" altLang="sv-SE" sz="4000" dirty="0" err="1"/>
              <a:t>of</a:t>
            </a:r>
            <a:r>
              <a:rPr lang="sv-SE" altLang="sv-SE" sz="4000" dirty="0"/>
              <a:t> </a:t>
            </a:r>
            <a:r>
              <a:rPr lang="sv-SE" altLang="sv-SE" sz="4000" dirty="0" err="1"/>
              <a:t>Statistics</a:t>
            </a:r>
            <a:endParaRPr lang="sv-SE" altLang="sv-SE" sz="4000" dirty="0"/>
          </a:p>
        </p:txBody>
      </p:sp>
      <p:sp>
        <p:nvSpPr>
          <p:cNvPr id="3075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sv-SE" altLang="sv-SE" dirty="0" err="1"/>
              <a:t>Lecture</a:t>
            </a:r>
            <a:r>
              <a:rPr lang="sv-SE" altLang="sv-SE" dirty="0"/>
              <a:t> 1b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E41135-FE25-4BB9-845D-2A6C9DB4D648}" type="slidenum">
              <a:rPr lang="sv-SE" smtClean="0"/>
              <a:pPr>
                <a:defRPr/>
              </a:pPr>
              <a:t>1</a:t>
            </a:fld>
            <a:endParaRPr lang="sv-S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Probability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sv-SE" dirty="0" err="1"/>
              <a:t>How</a:t>
            </a:r>
            <a:r>
              <a:rPr lang="sv-SE" dirty="0"/>
              <a:t> </a:t>
            </a:r>
            <a:r>
              <a:rPr lang="sv-SE" dirty="0" err="1"/>
              <a:t>likely</a:t>
            </a:r>
            <a:r>
              <a:rPr lang="sv-SE" dirty="0"/>
              <a:t> it is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some</a:t>
            </a:r>
            <a:r>
              <a:rPr lang="sv-SE" dirty="0"/>
              <a:t> event </a:t>
            </a:r>
            <a:r>
              <a:rPr lang="sv-SE" dirty="0" err="1"/>
              <a:t>will</a:t>
            </a:r>
            <a:r>
              <a:rPr lang="sv-SE" dirty="0"/>
              <a:t> </a:t>
            </a:r>
            <a:r>
              <a:rPr lang="sv-SE" dirty="0" err="1"/>
              <a:t>happen</a:t>
            </a:r>
            <a:r>
              <a:rPr lang="sv-SE" dirty="0"/>
              <a:t>?</a:t>
            </a:r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r>
              <a:rPr lang="sv-SE" b="1" dirty="0" err="1">
                <a:solidFill>
                  <a:srgbClr val="0070C0"/>
                </a:solidFill>
              </a:rPr>
              <a:t>Idea</a:t>
            </a:r>
            <a:r>
              <a:rPr lang="sv-SE" dirty="0"/>
              <a:t>:</a:t>
            </a:r>
          </a:p>
          <a:p>
            <a:r>
              <a:rPr lang="sv-SE" dirty="0"/>
              <a:t>Experiment</a:t>
            </a:r>
          </a:p>
          <a:p>
            <a:r>
              <a:rPr lang="sv-SE" dirty="0" err="1"/>
              <a:t>Outcomes</a:t>
            </a:r>
            <a:r>
              <a:rPr lang="sv-SE" dirty="0"/>
              <a:t> (</a:t>
            </a:r>
            <a:r>
              <a:rPr lang="sv-SE" dirty="0" err="1"/>
              <a:t>sample</a:t>
            </a:r>
            <a:r>
              <a:rPr lang="sv-SE" dirty="0"/>
              <a:t> </a:t>
            </a:r>
            <a:r>
              <a:rPr lang="sv-SE" dirty="0" err="1"/>
              <a:t>points</a:t>
            </a:r>
            <a:r>
              <a:rPr lang="sv-SE" dirty="0"/>
              <a:t>) O</a:t>
            </a:r>
            <a:r>
              <a:rPr lang="sv-SE" baseline="-25000" dirty="0"/>
              <a:t>1</a:t>
            </a:r>
            <a:r>
              <a:rPr lang="sv-SE" dirty="0"/>
              <a:t>, O</a:t>
            </a:r>
            <a:r>
              <a:rPr lang="sv-SE" baseline="-25000" dirty="0"/>
              <a:t>2</a:t>
            </a:r>
            <a:r>
              <a:rPr lang="sv-SE" dirty="0"/>
              <a:t>,… O</a:t>
            </a:r>
            <a:r>
              <a:rPr lang="sv-SE" baseline="-25000" dirty="0"/>
              <a:t>n </a:t>
            </a:r>
          </a:p>
          <a:p>
            <a:r>
              <a:rPr lang="sv-SE" dirty="0" err="1"/>
              <a:t>Sample</a:t>
            </a:r>
            <a:r>
              <a:rPr lang="sv-SE" dirty="0"/>
              <a:t> space </a:t>
            </a:r>
            <a:r>
              <a:rPr lang="el-GR" dirty="0"/>
              <a:t>Ω</a:t>
            </a:r>
            <a:endParaRPr lang="sv-SE" dirty="0"/>
          </a:p>
          <a:p>
            <a:r>
              <a:rPr lang="sv-SE" dirty="0"/>
              <a:t>Event A</a:t>
            </a:r>
          </a:p>
          <a:p>
            <a:r>
              <a:rPr lang="sv-SE" dirty="0" err="1"/>
              <a:t>Probability</a:t>
            </a:r>
            <a:r>
              <a:rPr lang="sv-SE" dirty="0"/>
              <a:t> </a:t>
            </a:r>
            <a:r>
              <a:rPr lang="sv-SE" dirty="0" err="1"/>
              <a:t>function</a:t>
            </a:r>
            <a:r>
              <a:rPr lang="sv-SE" dirty="0"/>
              <a:t> P: Events </a:t>
            </a:r>
            <a:r>
              <a:rPr lang="sv-SE" dirty="0">
                <a:sym typeface="Wingdings" pitchFamily="2" charset="2"/>
              </a:rPr>
              <a:t>[0,1]</a:t>
            </a:r>
          </a:p>
          <a:p>
            <a:endParaRPr lang="sv-SE" dirty="0">
              <a:sym typeface="Wingdings" pitchFamily="2" charset="2"/>
            </a:endParaRPr>
          </a:p>
          <a:p>
            <a:pPr marL="0" indent="0">
              <a:buNone/>
            </a:pPr>
            <a:endParaRPr lang="sv-S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F0B53-9592-4779-891F-997228E46E01}" type="slidenum">
              <a:rPr lang="sv-SE" smtClean="0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17531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EE2E19D-7B44-432C-961B-5C963853A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Probability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DA659FFC-0AA4-46E9-A9D8-CA1B978342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sv-SE" dirty="0">
                    <a:solidFill>
                      <a:srgbClr val="C00000"/>
                    </a:solidFill>
                    <a:sym typeface="Wingdings" pitchFamily="2" charset="2"/>
                  </a:rPr>
                  <a:t>Example</a:t>
                </a:r>
                <a:r>
                  <a:rPr lang="sv-SE" dirty="0">
                    <a:sym typeface="Wingdings" pitchFamily="2" charset="2"/>
                  </a:rPr>
                  <a:t>: </a:t>
                </a:r>
                <a:r>
                  <a:rPr lang="sv-SE" dirty="0"/>
                  <a:t>Tossing a </a:t>
                </a:r>
                <a:r>
                  <a:rPr lang="sv-SE" dirty="0" err="1"/>
                  <a:t>coin</a:t>
                </a:r>
                <a:r>
                  <a:rPr lang="sv-SE" dirty="0"/>
                  <a:t> </a:t>
                </a:r>
                <a:r>
                  <a:rPr lang="sv-SE" dirty="0" err="1"/>
                  <a:t>two</a:t>
                </a:r>
                <a:r>
                  <a:rPr lang="sv-SE" dirty="0"/>
                  <a:t> </a:t>
                </a:r>
                <a:r>
                  <a:rPr lang="sv-SE" dirty="0" err="1"/>
                  <a:t>times</a:t>
                </a:r>
                <a:endParaRPr lang="sv-SE" dirty="0"/>
              </a:p>
              <a:p>
                <a:endParaRPr lang="sv-SE" dirty="0"/>
              </a:p>
              <a:p>
                <a:endParaRPr lang="sv-SE" dirty="0"/>
              </a:p>
              <a:p>
                <a:endParaRPr lang="sv-SE" dirty="0"/>
              </a:p>
              <a:p>
                <a:pPr marL="0" indent="0">
                  <a:buNone/>
                </a:pPr>
                <a:r>
                  <a:rPr lang="sv-SE" dirty="0">
                    <a:solidFill>
                      <a:srgbClr val="C00000"/>
                    </a:solidFill>
                  </a:rPr>
                  <a:t>Example</a:t>
                </a:r>
                <a:r>
                  <a:rPr lang="sv-SE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sv-SE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sv-S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sv-S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sv-SE" dirty="0"/>
                  <a:t> </a:t>
                </a:r>
                <a:r>
                  <a:rPr lang="sv-SE" dirty="0" err="1"/>
                  <a:t>frequency</a:t>
                </a:r>
                <a:r>
                  <a:rPr lang="sv-SE" dirty="0"/>
                  <a:t> </a:t>
                </a:r>
                <a:r>
                  <a:rPr lang="sv-SE" dirty="0" err="1"/>
                  <a:t>of</a:t>
                </a:r>
                <a:r>
                  <a:rPr lang="sv-SE" dirty="0"/>
                  <a:t> </a:t>
                </a:r>
                <a:r>
                  <a:rPr lang="sv-SE" dirty="0" err="1"/>
                  <a:t>observing</a:t>
                </a:r>
                <a:r>
                  <a:rPr lang="sv-SE" dirty="0"/>
                  <a:t> A</a:t>
                </a:r>
              </a:p>
              <a:p>
                <a14:m>
                  <m:oMath xmlns:m="http://schemas.openxmlformats.org/officeDocument/2006/math">
                    <m:r>
                      <a:rPr lang="sv-SE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sv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sv-SE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sv-SE" dirty="0"/>
                  <a:t> frequency of </a:t>
                </a:r>
                <a:r>
                  <a:rPr lang="sv-SE" dirty="0" err="1"/>
                  <a:t>observing</a:t>
                </a:r>
                <a:r>
                  <a:rPr lang="sv-SE" dirty="0"/>
                  <a:t> A and B</a:t>
                </a:r>
              </a:p>
              <a:p>
                <a14:m>
                  <m:oMath xmlns:m="http://schemas.openxmlformats.org/officeDocument/2006/math">
                    <m:r>
                      <a:rPr lang="sv-SE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sv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sv-SE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sv-SE" dirty="0"/>
                  <a:t> frequency of </a:t>
                </a:r>
                <a:r>
                  <a:rPr lang="sv-SE" dirty="0" err="1"/>
                  <a:t>observing</a:t>
                </a:r>
                <a:r>
                  <a:rPr lang="sv-SE" dirty="0"/>
                  <a:t> B given A</a:t>
                </a:r>
              </a:p>
              <a:p>
                <a:endParaRPr lang="sv-SE" dirty="0"/>
              </a:p>
              <a:p>
                <a:endParaRPr lang="sv-SE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DA659FFC-0AA4-46E9-A9D8-CA1B978342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283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B6020984-02B7-4FAD-A379-F2602F4CF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7F7F439C-597E-4FA9-9247-2F788EE45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3</a:t>
            </a:fld>
            <a:endParaRPr lang="sv-SE"/>
          </a:p>
        </p:txBody>
      </p:sp>
      <p:pic>
        <p:nvPicPr>
          <p:cNvPr id="7" name="Picture 2" descr="http://cdn.toonvectors.com/images/35/10267/toonvectors-10267-940.jpg">
            <a:extLst>
              <a:ext uri="{FF2B5EF4-FFF2-40B4-BE49-F238E27FC236}">
                <a16:creationId xmlns:a16="http://schemas.microsoft.com/office/drawing/2014/main" id="{50656B4C-0A1E-4861-B061-528772AC9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2936" y="1600200"/>
            <a:ext cx="2212752" cy="2212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E3A86B0D-C1D5-4846-A44F-D8D2B7E5591F}"/>
              </a:ext>
            </a:extLst>
          </p:cNvPr>
          <p:cNvSpPr txBox="1"/>
          <p:nvPr/>
        </p:nvSpPr>
        <p:spPr>
          <a:xfrm>
            <a:off x="6372200" y="3950806"/>
            <a:ext cx="28778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600" dirty="0">
                <a:solidFill>
                  <a:schemeClr val="bg1">
                    <a:lumMod val="75000"/>
                  </a:schemeClr>
                </a:solidFill>
              </a:rPr>
              <a:t>http://cdn.toonvectors.com/images/35/10267/toonvectors-10267-940.jpg</a:t>
            </a:r>
          </a:p>
        </p:txBody>
      </p:sp>
    </p:spTree>
    <p:extLst>
      <p:ext uri="{BB962C8B-B14F-4D97-AF65-F5344CB8AC3E}">
        <p14:creationId xmlns:p14="http://schemas.microsoft.com/office/powerpoint/2010/main" val="849204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Properties</a:t>
            </a:r>
            <a:r>
              <a:rPr lang="sv-SE" dirty="0"/>
              <a:t> and 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sv-SE" dirty="0"/>
                  <a:t>One </a:t>
                </a:r>
                <a:r>
                  <a:rPr lang="sv-SE" dirty="0" err="1"/>
                  <a:t>can</a:t>
                </a:r>
                <a:r>
                  <a:rPr lang="sv-SE" dirty="0"/>
                  <a:t> </a:t>
                </a:r>
                <a:r>
                  <a:rPr lang="sv-SE" dirty="0" err="1"/>
                  <a:t>think</a:t>
                </a:r>
                <a:r>
                  <a:rPr lang="sv-SE" dirty="0"/>
                  <a:t> </a:t>
                </a:r>
                <a:r>
                  <a:rPr lang="sv-SE" dirty="0" err="1"/>
                  <a:t>of</a:t>
                </a:r>
                <a:r>
                  <a:rPr lang="sv-SE" dirty="0"/>
                  <a:t> events as sets</a:t>
                </a:r>
              </a:p>
              <a:p>
                <a:pPr lvl="1"/>
                <a:r>
                  <a:rPr lang="sv-SE" dirty="0"/>
                  <a:t>Set operations </a:t>
                </a:r>
                <a:r>
                  <a:rPr lang="sv-SE" dirty="0" err="1"/>
                  <a:t>are</a:t>
                </a:r>
                <a:r>
                  <a:rPr lang="sv-SE" dirty="0"/>
                  <a:t> </a:t>
                </a:r>
                <a:r>
                  <a:rPr lang="sv-SE" dirty="0" err="1"/>
                  <a:t>defined</a:t>
                </a:r>
                <a:r>
                  <a:rPr lang="sv-SE" dirty="0"/>
                  <a:t>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sv-SE" b="0" i="0" smtClean="0">
                        <a:latin typeface="Cambria Math"/>
                        <a:ea typeface="Cambria Math"/>
                      </a:rPr>
                      <m:t>A</m:t>
                    </m:r>
                    <m:r>
                      <a:rPr lang="sv-SE" b="0" i="1" smtClean="0">
                        <a:latin typeface="Cambria Math"/>
                        <a:ea typeface="Cambria Math"/>
                      </a:rPr>
                      <m:t>∪</m:t>
                    </m:r>
                    <m:r>
                      <a:rPr lang="sv-SE" b="0" i="1" smtClean="0">
                        <a:latin typeface="Cambria Math"/>
                        <a:ea typeface="Cambria Math"/>
                      </a:rPr>
                      <m:t>𝐵</m:t>
                    </m:r>
                    <m:r>
                      <a:rPr lang="sv-SE" b="0" i="1" smtClean="0">
                        <a:latin typeface="Cambria Math"/>
                        <a:ea typeface="Cambria Math"/>
                      </a:rPr>
                      <m:t>, </m:t>
                    </m:r>
                    <m:r>
                      <a:rPr lang="sv-SE" b="0" i="1" smtClean="0">
                        <a:latin typeface="Cambria Math"/>
                        <a:ea typeface="Cambria Math"/>
                      </a:rPr>
                      <m:t>𝐴</m:t>
                    </m:r>
                    <m:r>
                      <a:rPr lang="sv-SE" b="0" i="1" smtClean="0">
                        <a:latin typeface="Cambria Math"/>
                        <a:ea typeface="Cambria Math"/>
                      </a:rPr>
                      <m:t>∩</m:t>
                    </m:r>
                    <m:r>
                      <a:rPr lang="sv-SE" b="0" i="1" smtClean="0">
                        <a:latin typeface="Cambria Math"/>
                        <a:ea typeface="Cambria Math"/>
                      </a:rPr>
                      <m:t>𝐵</m:t>
                    </m:r>
                    <m:r>
                      <a:rPr lang="sv-SE" b="0" i="1" smtClean="0">
                        <a:latin typeface="Cambria Math"/>
                        <a:ea typeface="Cambria Math"/>
                      </a:rPr>
                      <m:t>,</m:t>
                    </m:r>
                    <m:acc>
                      <m:accPr>
                        <m:chr m:val="̅"/>
                        <m:ctrlPr>
                          <a:rPr lang="sv-SE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sv-SE" b="0" i="1" smtClean="0">
                            <a:latin typeface="Cambria Math"/>
                            <a:ea typeface="Cambria Math"/>
                          </a:rPr>
                          <m:t>𝐴</m:t>
                        </m:r>
                      </m:e>
                    </m:acc>
                    <m:r>
                      <a:rPr lang="sv-SE" b="0" i="1" smtClean="0">
                        <a:latin typeface="Cambria Math"/>
                      </a:rPr>
                      <m:t>\</m:t>
                    </m:r>
                    <m:r>
                      <a:rPr lang="sv-SE" b="0" i="1" smtClean="0">
                        <a:latin typeface="Cambria Math"/>
                      </a:rPr>
                      <m:t>𝐵</m:t>
                    </m:r>
                  </m:oMath>
                </a14:m>
                <a:endParaRPr lang="sv-SE" b="0" dirty="0"/>
              </a:p>
              <a:p>
                <a14:m>
                  <m:oMath xmlns:m="http://schemas.openxmlformats.org/officeDocument/2006/math">
                    <m:r>
                      <a:rPr lang="sv-SE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b="0" i="1" smtClean="0">
                            <a:latin typeface="Cambria Math"/>
                          </a:rPr>
                          <m:t>𝐴</m:t>
                        </m:r>
                        <m:r>
                          <a:rPr lang="sv-SE" b="0" i="1" smtClean="0">
                            <a:latin typeface="Cambria Math"/>
                            <a:ea typeface="Cambria Math"/>
                          </a:rPr>
                          <m:t>∪</m:t>
                        </m:r>
                        <m:r>
                          <a:rPr lang="sv-SE" b="0" i="1" smtClean="0">
                            <a:latin typeface="Cambria Math"/>
                            <a:ea typeface="Cambria Math"/>
                          </a:rPr>
                          <m:t>𝐵</m:t>
                        </m:r>
                      </m:e>
                    </m:d>
                    <m:r>
                      <a:rPr lang="sv-SE" b="0" i="1" smtClean="0">
                        <a:latin typeface="Cambria Math"/>
                      </a:rPr>
                      <m:t>=</m:t>
                    </m:r>
                    <m:r>
                      <a:rPr lang="sv-SE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b="0" i="1" smtClean="0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sv-SE" b="0" i="1" smtClean="0">
                        <a:latin typeface="Cambria Math"/>
                      </a:rPr>
                      <m:t>+</m:t>
                    </m:r>
                    <m:r>
                      <a:rPr lang="sv-SE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b="0" i="1" smtClean="0">
                            <a:latin typeface="Cambria Math"/>
                          </a:rPr>
                          <m:t>𝐵</m:t>
                        </m:r>
                      </m:e>
                    </m:d>
                  </m:oMath>
                </a14:m>
                <a:r>
                  <a:rPr lang="sv-SE" dirty="0"/>
                  <a:t> </a:t>
                </a:r>
                <a:r>
                  <a:rPr lang="sv-SE" dirty="0" err="1"/>
                  <a:t>if</a:t>
                </a:r>
                <a:r>
                  <a:rPr lang="sv-SE" dirty="0"/>
                  <a:t>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/>
                      </a:rPr>
                      <m:t>𝐴</m:t>
                    </m:r>
                    <m:r>
                      <a:rPr lang="sv-SE" b="0" i="1" smtClean="0">
                        <a:latin typeface="Cambria Math"/>
                        <a:ea typeface="Cambria Math"/>
                      </a:rPr>
                      <m:t>∩</m:t>
                    </m:r>
                    <m:r>
                      <a:rPr lang="sv-SE" b="0" i="1" smtClean="0">
                        <a:latin typeface="Cambria Math"/>
                        <a:ea typeface="Cambria Math"/>
                      </a:rPr>
                      <m:t>𝐵</m:t>
                    </m:r>
                    <m:r>
                      <a:rPr lang="sv-SE" b="0" i="1" smtClean="0">
                        <a:latin typeface="Cambria Math"/>
                        <a:ea typeface="Cambria Math"/>
                      </a:rPr>
                      <m:t>=∅</m:t>
                    </m:r>
                  </m:oMath>
                </a14:m>
                <a:endParaRPr lang="sv-SE" dirty="0"/>
              </a:p>
              <a:p>
                <a:endParaRPr lang="sv-SE" dirty="0">
                  <a:solidFill>
                    <a:srgbClr val="0070C0"/>
                  </a:solidFill>
                </a:endParaRPr>
              </a:p>
              <a:p>
                <a:r>
                  <a:rPr lang="sv-SE" dirty="0" err="1">
                    <a:solidFill>
                      <a:srgbClr val="0070C0"/>
                    </a:solidFill>
                  </a:rPr>
                  <a:t>Independence</a:t>
                </a:r>
                <a:r>
                  <a:rPr lang="sv-SE" dirty="0"/>
                  <a:t> </a:t>
                </a:r>
                <a14:m>
                  <m:oMath xmlns:m="http://schemas.openxmlformats.org/officeDocument/2006/math">
                    <m:r>
                      <a:rPr lang="sv-SE" i="1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sv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i="1">
                            <a:latin typeface="Cambria Math"/>
                          </a:rPr>
                          <m:t>𝐴</m:t>
                        </m:r>
                        <m:r>
                          <a:rPr lang="sv-SE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sv-SE" i="1">
                            <a:latin typeface="Cambria Math"/>
                            <a:ea typeface="Cambria Math"/>
                          </a:rPr>
                          <m:t>𝐵</m:t>
                        </m:r>
                      </m:e>
                    </m:d>
                    <m:r>
                      <a:rPr lang="sv-SE" i="1" smtClean="0">
                        <a:latin typeface="Cambria Math"/>
                        <a:ea typeface="Cambria Math"/>
                      </a:rPr>
                      <m:t>≡</m:t>
                    </m:r>
                    <m:r>
                      <a:rPr lang="sv-SE" b="0" i="1" smtClean="0">
                        <a:latin typeface="Cambria Math"/>
                        <a:ea typeface="Cambria Math"/>
                      </a:rPr>
                      <m:t>𝑃</m:t>
                    </m:r>
                    <m:r>
                      <a:rPr lang="sv-SE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sv-SE" b="0" i="1" smtClean="0">
                        <a:latin typeface="Cambria Math"/>
                        <a:ea typeface="Cambria Math"/>
                      </a:rPr>
                      <m:t>𝐴</m:t>
                    </m:r>
                    <m:r>
                      <a:rPr lang="sv-SE" i="1">
                        <a:latin typeface="Cambria Math"/>
                        <a:ea typeface="Cambria Math"/>
                      </a:rPr>
                      <m:t>∩</m:t>
                    </m:r>
                    <m:r>
                      <a:rPr lang="sv-SE" b="0" i="1" smtClean="0">
                        <a:latin typeface="Cambria Math"/>
                        <a:ea typeface="Cambria Math"/>
                      </a:rPr>
                      <m:t>𝐵</m:t>
                    </m:r>
                    <m:r>
                      <a:rPr lang="sv-SE" b="0" i="1" smtClean="0">
                        <a:latin typeface="Cambria Math"/>
                        <a:ea typeface="Cambria Math"/>
                      </a:rPr>
                      <m:t>)=</m:t>
                    </m:r>
                    <m:r>
                      <a:rPr lang="sv-SE" i="1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sv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i="1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sv-SE" i="1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sv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i="1">
                            <a:latin typeface="Cambria Math"/>
                          </a:rPr>
                          <m:t>𝐵</m:t>
                        </m:r>
                      </m:e>
                    </m:d>
                  </m:oMath>
                </a14:m>
                <a:endParaRPr lang="sv-SE" dirty="0"/>
              </a:p>
              <a:p>
                <a:pPr marL="0" indent="0">
                  <a:buNone/>
                </a:pPr>
                <a:endParaRPr lang="sv-SE" dirty="0"/>
              </a:p>
              <a:p>
                <a:r>
                  <a:rPr lang="sv-SE" dirty="0" err="1">
                    <a:solidFill>
                      <a:srgbClr val="0070C0"/>
                    </a:solidFill>
                  </a:rPr>
                  <a:t>Conditional</a:t>
                </a:r>
                <a:r>
                  <a:rPr lang="sv-SE" dirty="0">
                    <a:solidFill>
                      <a:srgbClr val="0070C0"/>
                    </a:solidFill>
                  </a:rPr>
                  <a:t> </a:t>
                </a:r>
                <a:r>
                  <a:rPr lang="sv-SE" dirty="0" err="1">
                    <a:solidFill>
                      <a:srgbClr val="0070C0"/>
                    </a:solidFill>
                  </a:rPr>
                  <a:t>probability</a:t>
                </a:r>
                <a:r>
                  <a:rPr lang="sv-SE" dirty="0">
                    <a:solidFill>
                      <a:srgbClr val="0070C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sv-SE" b="0" i="1" smtClean="0">
                        <a:solidFill>
                          <a:schemeClr val="tx1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sv-S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e>
                      <m:e>
                        <m:r>
                          <a:rPr lang="sv-SE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𝐵</m:t>
                        </m:r>
                      </m:e>
                    </m:d>
                    <m:r>
                      <a:rPr lang="sv-SE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sv-S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v-SE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𝑃</m:t>
                        </m:r>
                        <m:r>
                          <a:rPr lang="sv-SE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sv-SE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sv-SE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sv-SE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𝐵</m:t>
                        </m:r>
                        <m:r>
                          <a:rPr lang="sv-SE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sv-SE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𝑃</m:t>
                        </m:r>
                        <m:r>
                          <a:rPr lang="sv-SE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sv-SE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𝐵</m:t>
                        </m:r>
                        <m:r>
                          <a:rPr lang="sv-SE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endParaRPr lang="sv-SE" dirty="0">
                  <a:solidFill>
                    <a:srgbClr val="0070C0"/>
                  </a:solidFill>
                </a:endParaRPr>
              </a:p>
              <a:p>
                <a:pPr lvl="1"/>
                <a:endParaRPr lang="sv-SE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283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F0B53-9592-4779-891F-997228E46E01}" type="slidenum">
              <a:rPr lang="sv-SE" smtClean="0"/>
              <a:t>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38461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Bayes</a:t>
            </a:r>
            <a:r>
              <a:rPr lang="sv-SE" dirty="0"/>
              <a:t> </a:t>
            </a:r>
            <a:r>
              <a:rPr lang="sv-SE" dirty="0" err="1"/>
              <a:t>theorem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sv-SE" dirty="0" err="1">
                <a:solidFill>
                  <a:srgbClr val="C00000"/>
                </a:solidFill>
              </a:rPr>
              <a:t>Example</a:t>
            </a:r>
            <a:r>
              <a:rPr lang="sv-SE" dirty="0"/>
              <a:t>:</a:t>
            </a:r>
          </a:p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have</a:t>
            </a:r>
            <a:r>
              <a:rPr lang="sv-SE" dirty="0"/>
              <a:t> </a:t>
            </a:r>
            <a:r>
              <a:rPr lang="sv-SE" dirty="0" err="1"/>
              <a:t>constructed</a:t>
            </a:r>
            <a:r>
              <a:rPr lang="sv-SE" dirty="0"/>
              <a:t> spam filter </a:t>
            </a:r>
            <a:r>
              <a:rPr lang="sv-SE" dirty="0" err="1"/>
              <a:t>that</a:t>
            </a:r>
            <a:endParaRPr lang="sv-SE" dirty="0"/>
          </a:p>
          <a:p>
            <a:pPr lvl="1"/>
            <a:r>
              <a:rPr lang="sv-SE" dirty="0"/>
              <a:t> </a:t>
            </a:r>
            <a:r>
              <a:rPr lang="sv-SE" dirty="0" err="1"/>
              <a:t>identifies</a:t>
            </a:r>
            <a:r>
              <a:rPr lang="sv-SE" dirty="0"/>
              <a:t> spam mail as spam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probability</a:t>
            </a:r>
            <a:r>
              <a:rPr lang="sv-SE" dirty="0"/>
              <a:t> 0.95</a:t>
            </a:r>
          </a:p>
          <a:p>
            <a:pPr lvl="1"/>
            <a:r>
              <a:rPr lang="sv-SE" dirty="0" err="1"/>
              <a:t>Identifies</a:t>
            </a:r>
            <a:r>
              <a:rPr lang="sv-SE" dirty="0"/>
              <a:t> </a:t>
            </a:r>
            <a:r>
              <a:rPr lang="sv-SE" dirty="0" err="1"/>
              <a:t>usual</a:t>
            </a:r>
            <a:r>
              <a:rPr lang="sv-SE" dirty="0"/>
              <a:t> mail as spam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probability</a:t>
            </a:r>
            <a:r>
              <a:rPr lang="sv-SE" dirty="0"/>
              <a:t> 0.005</a:t>
            </a:r>
          </a:p>
          <a:p>
            <a:r>
              <a:rPr lang="sv-SE" dirty="0" err="1"/>
              <a:t>This</a:t>
            </a:r>
            <a:r>
              <a:rPr lang="sv-SE" dirty="0"/>
              <a:t> kind </a:t>
            </a:r>
            <a:r>
              <a:rPr lang="sv-SE" dirty="0" err="1"/>
              <a:t>of</a:t>
            </a:r>
            <a:r>
              <a:rPr lang="sv-SE" dirty="0"/>
              <a:t> spam </a:t>
            </a:r>
            <a:r>
              <a:rPr lang="sv-SE" dirty="0" err="1"/>
              <a:t>occurs</a:t>
            </a:r>
            <a:r>
              <a:rPr lang="sv-SE" dirty="0"/>
              <a:t> </a:t>
            </a:r>
            <a:r>
              <a:rPr lang="sv-SE" dirty="0" err="1"/>
              <a:t>once</a:t>
            </a:r>
            <a:r>
              <a:rPr lang="sv-SE" dirty="0"/>
              <a:t> in 100,000 mails</a:t>
            </a:r>
          </a:p>
          <a:p>
            <a:r>
              <a:rPr lang="sv-SE" dirty="0"/>
              <a:t>If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found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a letter is a spam, </a:t>
            </a:r>
            <a:r>
              <a:rPr lang="sv-SE" dirty="0" err="1"/>
              <a:t>what</a:t>
            </a:r>
            <a:r>
              <a:rPr lang="sv-SE" dirty="0"/>
              <a:t> is the </a:t>
            </a:r>
            <a:r>
              <a:rPr lang="sv-SE" dirty="0" err="1"/>
              <a:t>probability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it is </a:t>
            </a:r>
            <a:r>
              <a:rPr lang="sv-SE" dirty="0" err="1"/>
              <a:t>actually</a:t>
            </a:r>
            <a:r>
              <a:rPr lang="sv-SE" dirty="0"/>
              <a:t> a spam?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F0B53-9592-4779-891F-997228E46E01}" type="slidenum">
              <a:rPr lang="sv-SE" smtClean="0"/>
              <a:t>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65393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Bayes</a:t>
            </a:r>
            <a:r>
              <a:rPr lang="sv-SE" dirty="0"/>
              <a:t> </a:t>
            </a:r>
            <a:r>
              <a:rPr lang="sv-SE" dirty="0" err="1"/>
              <a:t>theorem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400" dirty="0"/>
                  <a:t>We </a:t>
                </a:r>
                <a:r>
                  <a:rPr lang="sv-SE" sz="2400" dirty="0" err="1"/>
                  <a:t>have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some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knowledge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about</a:t>
                </a:r>
                <a:r>
                  <a:rPr lang="sv-SE" sz="2400" dirty="0"/>
                  <a:t> event B</a:t>
                </a:r>
              </a:p>
              <a:p>
                <a:pPr lvl="1"/>
                <a:r>
                  <a:rPr lang="sv-SE" sz="2000" dirty="0">
                    <a:solidFill>
                      <a:srgbClr val="0070C0"/>
                    </a:solidFill>
                  </a:rPr>
                  <a:t>Prior </a:t>
                </a:r>
                <a:r>
                  <a:rPr lang="sv-SE" sz="2000" dirty="0" err="1">
                    <a:solidFill>
                      <a:srgbClr val="0070C0"/>
                    </a:solidFill>
                  </a:rPr>
                  <a:t>probability</a:t>
                </a:r>
                <a:r>
                  <a:rPr lang="sv-SE" sz="2000" dirty="0">
                    <a:solidFill>
                      <a:srgbClr val="0070C0"/>
                    </a:solidFill>
                  </a:rPr>
                  <a:t> </a:t>
                </a:r>
                <a:r>
                  <a:rPr lang="sv-SE" sz="2000" dirty="0"/>
                  <a:t>P(B) </a:t>
                </a:r>
                <a:r>
                  <a:rPr lang="sv-SE" sz="2000" dirty="0" err="1"/>
                  <a:t>of</a:t>
                </a:r>
                <a:r>
                  <a:rPr lang="sv-SE" sz="2000" dirty="0"/>
                  <a:t> B</a:t>
                </a:r>
              </a:p>
              <a:p>
                <a:r>
                  <a:rPr lang="sv-SE" sz="2400" dirty="0" err="1"/>
                  <a:t>We</a:t>
                </a:r>
                <a:r>
                  <a:rPr lang="sv-SE" sz="2400" dirty="0"/>
                  <a:t> get new information A</a:t>
                </a:r>
              </a:p>
              <a:p>
                <a:pPr lvl="1"/>
                <a:r>
                  <a:rPr lang="sv-SE" sz="2000" dirty="0"/>
                  <a:t>P(A)</a:t>
                </a:r>
              </a:p>
              <a:p>
                <a:pPr lvl="1"/>
                <a:r>
                  <a:rPr lang="sv-SE" sz="2000" dirty="0"/>
                  <a:t>P(A|B) </a:t>
                </a:r>
                <a:r>
                  <a:rPr lang="sv-SE" sz="2000" dirty="0" err="1"/>
                  <a:t>probability</a:t>
                </a:r>
                <a:r>
                  <a:rPr lang="sv-SE" sz="2000" dirty="0"/>
                  <a:t> </a:t>
                </a:r>
                <a:r>
                  <a:rPr lang="sv-SE" sz="2000" dirty="0" err="1"/>
                  <a:t>of</a:t>
                </a:r>
                <a:r>
                  <a:rPr lang="sv-SE" sz="2000" dirty="0"/>
                  <a:t> A </a:t>
                </a:r>
                <a:r>
                  <a:rPr lang="sv-SE" sz="2000" dirty="0" err="1"/>
                  <a:t>can</a:t>
                </a:r>
                <a:r>
                  <a:rPr lang="sv-SE" sz="2000" dirty="0"/>
                  <a:t> </a:t>
                </a:r>
                <a:r>
                  <a:rPr lang="sv-SE" sz="2000" dirty="0" err="1"/>
                  <a:t>occur</a:t>
                </a:r>
                <a:r>
                  <a:rPr lang="sv-SE" sz="2000" dirty="0"/>
                  <a:t> given B has </a:t>
                </a:r>
                <a:r>
                  <a:rPr lang="sv-SE" sz="2000" dirty="0" err="1"/>
                  <a:t>occured</a:t>
                </a:r>
                <a:endParaRPr lang="sv-SE" sz="2000" dirty="0"/>
              </a:p>
              <a:p>
                <a:r>
                  <a:rPr lang="sv-SE" sz="2400" dirty="0"/>
                  <a:t>New (</a:t>
                </a:r>
                <a:r>
                  <a:rPr lang="sv-SE" sz="2400" dirty="0" err="1"/>
                  <a:t>updated</a:t>
                </a:r>
                <a:r>
                  <a:rPr lang="sv-SE" sz="2400" dirty="0"/>
                  <a:t>) </a:t>
                </a:r>
                <a:r>
                  <a:rPr lang="sv-SE" sz="2400" dirty="0" err="1"/>
                  <a:t>knowledge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about</a:t>
                </a:r>
                <a:r>
                  <a:rPr lang="sv-SE" sz="2400" dirty="0"/>
                  <a:t> B</a:t>
                </a:r>
              </a:p>
              <a:p>
                <a:pPr lvl="1"/>
                <a:r>
                  <a:rPr lang="sv-SE" sz="2000" dirty="0"/>
                  <a:t>Posterior </a:t>
                </a:r>
                <a:r>
                  <a:rPr lang="sv-SE" sz="2000" dirty="0" err="1"/>
                  <a:t>probability</a:t>
                </a:r>
                <a:r>
                  <a:rPr lang="sv-SE" sz="2000" dirty="0"/>
                  <a:t> P(B|A)</a:t>
                </a:r>
              </a:p>
              <a:p>
                <a:pPr lvl="1"/>
                <a:endParaRPr lang="sv-SE" dirty="0"/>
              </a:p>
              <a:p>
                <a:pPr marL="571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b="0" i="1" smtClean="0">
                              <a:latin typeface="Cambria Math"/>
                            </a:rPr>
                            <m:t>𝐵</m:t>
                          </m:r>
                        </m:e>
                        <m:e>
                          <m:r>
                            <a:rPr lang="sv-SE" b="0" i="1" smtClean="0">
                              <a:latin typeface="Cambria Math"/>
                            </a:rPr>
                            <m:t>𝐴</m:t>
                          </m:r>
                        </m:e>
                      </m:d>
                      <m:r>
                        <a:rPr lang="sv-SE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  <m:e>
                              <m:r>
                                <a:rPr lang="sv-SE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</m:d>
                          <m:r>
                            <a:rPr lang="sv-SE" b="0" i="1" smtClean="0">
                              <a:latin typeface="Cambria Math"/>
                            </a:rPr>
                            <m:t>𝑃</m:t>
                          </m:r>
                          <m:r>
                            <a:rPr lang="sv-SE" b="0" i="1" smtClean="0">
                              <a:latin typeface="Cambria Math"/>
                            </a:rPr>
                            <m:t>(</m:t>
                          </m:r>
                          <m:r>
                            <a:rPr lang="sv-SE" b="0" i="1" smtClean="0">
                              <a:latin typeface="Cambria Math"/>
                            </a:rPr>
                            <m:t>𝐵</m:t>
                          </m:r>
                          <m:r>
                            <a:rPr lang="sv-SE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sv-SE" b="0" i="1" smtClean="0">
                              <a:latin typeface="Cambria Math"/>
                            </a:rPr>
                            <m:t>𝑃</m:t>
                          </m:r>
                          <m:r>
                            <a:rPr lang="sv-SE" b="0" i="1" smtClean="0">
                              <a:latin typeface="Cambria Math"/>
                            </a:rPr>
                            <m:t>(</m:t>
                          </m:r>
                          <m:r>
                            <a:rPr lang="sv-SE" b="0" i="1" smtClean="0">
                              <a:latin typeface="Cambria Math"/>
                            </a:rPr>
                            <m:t>𝐴</m:t>
                          </m:r>
                          <m:r>
                            <a:rPr lang="sv-SE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F0B53-9592-4779-891F-997228E46E01}" type="slidenum">
              <a:rPr lang="sv-SE" smtClean="0"/>
              <a:t>6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699977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Random</a:t>
            </a:r>
            <a:r>
              <a:rPr lang="sv-SE" dirty="0"/>
              <a:t> </a:t>
            </a:r>
            <a:r>
              <a:rPr lang="sv-SE" dirty="0" err="1"/>
              <a:t>variables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sv-SE" dirty="0" err="1"/>
                  <a:t>Instead</a:t>
                </a:r>
                <a:r>
                  <a:rPr lang="sv-SE" dirty="0"/>
                  <a:t> </a:t>
                </a:r>
                <a:r>
                  <a:rPr lang="sv-SE" dirty="0" err="1"/>
                  <a:t>of</a:t>
                </a:r>
                <a:r>
                  <a:rPr lang="sv-SE" dirty="0"/>
                  <a:t> </a:t>
                </a:r>
                <a:r>
                  <a:rPr lang="sv-SE" dirty="0" err="1"/>
                  <a:t>having</a:t>
                </a:r>
                <a:r>
                  <a:rPr lang="sv-SE" dirty="0"/>
                  <a:t> </a:t>
                </a:r>
                <a:r>
                  <a:rPr lang="sv-SE"/>
                  <a:t>outcomes, </a:t>
                </a:r>
                <a:r>
                  <a:rPr lang="sv-SE" dirty="0" err="1"/>
                  <a:t>we</a:t>
                </a:r>
                <a:r>
                  <a:rPr lang="sv-SE" dirty="0"/>
                  <a:t> </a:t>
                </a:r>
                <a:r>
                  <a:rPr lang="sv-SE" dirty="0" err="1"/>
                  <a:t>can</a:t>
                </a:r>
                <a:r>
                  <a:rPr lang="sv-SE" dirty="0"/>
                  <a:t> </a:t>
                </a:r>
                <a:r>
                  <a:rPr lang="sv-SE" dirty="0" err="1"/>
                  <a:t>have</a:t>
                </a:r>
                <a:r>
                  <a:rPr lang="sv-SE" dirty="0"/>
                  <a:t> a </a:t>
                </a:r>
                <a:r>
                  <a:rPr lang="sv-SE" dirty="0" err="1"/>
                  <a:t>variable</a:t>
                </a:r>
                <a:r>
                  <a:rPr lang="sv-SE" dirty="0"/>
                  <a:t> X:</a:t>
                </a:r>
              </a:p>
              <a:p>
                <a:pPr lvl="1"/>
                <a:r>
                  <a:rPr lang="sv-SE" dirty="0" err="1"/>
                  <a:t>Outcomes</a:t>
                </a:r>
                <a:r>
                  <a:rPr lang="sv-SE" dirty="0">
                    <a:sym typeface="Wingdings" pitchFamily="2" charset="2"/>
                  </a:rPr>
                  <a:t></a:t>
                </a:r>
                <a14:m>
                  <m:oMath xmlns:m="http://schemas.openxmlformats.org/officeDocument/2006/math">
                    <m:r>
                      <a:rPr lang="sv-SE" i="1" smtClean="0">
                        <a:latin typeface="Cambria Math"/>
                        <a:ea typeface="Cambria Math"/>
                        <a:sym typeface="Wingdings" pitchFamily="2" charset="2"/>
                      </a:rPr>
                      <m:t>ℝ</m:t>
                    </m:r>
                  </m:oMath>
                </a14:m>
                <a:r>
                  <a:rPr lang="sv-SE" dirty="0"/>
                  <a:t>  </a:t>
                </a:r>
                <a:r>
                  <a:rPr lang="sv-SE" dirty="0" err="1">
                    <a:solidFill>
                      <a:srgbClr val="0070C0"/>
                    </a:solidFill>
                  </a:rPr>
                  <a:t>Continuous</a:t>
                </a:r>
                <a:r>
                  <a:rPr lang="sv-SE" dirty="0">
                    <a:solidFill>
                      <a:srgbClr val="0070C0"/>
                    </a:solidFill>
                  </a:rPr>
                  <a:t> </a:t>
                </a:r>
                <a:r>
                  <a:rPr lang="sv-SE" dirty="0" err="1">
                    <a:solidFill>
                      <a:srgbClr val="0070C0"/>
                    </a:solidFill>
                  </a:rPr>
                  <a:t>random</a:t>
                </a:r>
                <a:r>
                  <a:rPr lang="sv-SE" dirty="0">
                    <a:solidFill>
                      <a:srgbClr val="0070C0"/>
                    </a:solidFill>
                  </a:rPr>
                  <a:t> </a:t>
                </a:r>
                <a:r>
                  <a:rPr lang="sv-SE" dirty="0" err="1">
                    <a:solidFill>
                      <a:srgbClr val="0070C0"/>
                    </a:solidFill>
                  </a:rPr>
                  <a:t>variables</a:t>
                </a:r>
                <a:endParaRPr lang="sv-SE" dirty="0">
                  <a:solidFill>
                    <a:srgbClr val="0070C0"/>
                  </a:solidFill>
                </a:endParaRPr>
              </a:p>
              <a:p>
                <a:pPr lvl="1"/>
                <a:r>
                  <a:rPr lang="sv-SE" dirty="0" err="1"/>
                  <a:t>Outcomes</a:t>
                </a:r>
                <a:r>
                  <a:rPr lang="sv-SE" dirty="0">
                    <a:sym typeface="Wingdings" pitchFamily="2" charset="2"/>
                  </a:rPr>
                  <a:t></a:t>
                </a:r>
                <a14:m>
                  <m:oMath xmlns:m="http://schemas.openxmlformats.org/officeDocument/2006/math">
                    <m:r>
                      <a:rPr lang="sv-SE" i="1" smtClean="0">
                        <a:latin typeface="Cambria Math"/>
                        <a:ea typeface="Cambria Math"/>
                        <a:sym typeface="Wingdings" pitchFamily="2" charset="2"/>
                      </a:rPr>
                      <m:t>ℕ</m:t>
                    </m:r>
                  </m:oMath>
                </a14:m>
                <a:r>
                  <a:rPr lang="sv-SE" dirty="0"/>
                  <a:t> </a:t>
                </a:r>
                <a:r>
                  <a:rPr lang="sv-SE" dirty="0" err="1">
                    <a:solidFill>
                      <a:srgbClr val="0070C0"/>
                    </a:solidFill>
                  </a:rPr>
                  <a:t>Discrete</a:t>
                </a:r>
                <a:r>
                  <a:rPr lang="sv-SE" dirty="0">
                    <a:solidFill>
                      <a:srgbClr val="0070C0"/>
                    </a:solidFill>
                  </a:rPr>
                  <a:t> </a:t>
                </a:r>
                <a:r>
                  <a:rPr lang="sv-SE" dirty="0" err="1">
                    <a:solidFill>
                      <a:srgbClr val="0070C0"/>
                    </a:solidFill>
                  </a:rPr>
                  <a:t>random</a:t>
                </a:r>
                <a:r>
                  <a:rPr lang="sv-SE" dirty="0">
                    <a:solidFill>
                      <a:srgbClr val="0070C0"/>
                    </a:solidFill>
                  </a:rPr>
                  <a:t> </a:t>
                </a:r>
                <a:r>
                  <a:rPr lang="sv-SE" dirty="0" err="1">
                    <a:solidFill>
                      <a:srgbClr val="0070C0"/>
                    </a:solidFill>
                  </a:rPr>
                  <a:t>variables</a:t>
                </a:r>
                <a:endParaRPr lang="sv-SE" dirty="0">
                  <a:solidFill>
                    <a:srgbClr val="0070C0"/>
                  </a:solidFill>
                </a:endParaRPr>
              </a:p>
              <a:p>
                <a:pPr lvl="1"/>
                <a:endParaRPr lang="sv-SE" dirty="0">
                  <a:solidFill>
                    <a:srgbClr val="0070C0"/>
                  </a:solidFill>
                </a:endParaRPr>
              </a:p>
              <a:p>
                <a:pPr marL="57150" indent="0">
                  <a:buNone/>
                </a:pPr>
                <a:r>
                  <a:rPr lang="sv-SE" dirty="0">
                    <a:solidFill>
                      <a:srgbClr val="C00000"/>
                    </a:solidFill>
                  </a:rPr>
                  <a:t>Examples:</a:t>
                </a:r>
              </a:p>
              <a:p>
                <a:pPr marL="514350" indent="-457200"/>
                <a:r>
                  <a:rPr lang="sv-SE" sz="2000" dirty="0"/>
                  <a:t>X={</a:t>
                </a:r>
                <a:r>
                  <a:rPr lang="sv-SE" sz="2000" dirty="0" err="1"/>
                  <a:t>amount</a:t>
                </a:r>
                <a:r>
                  <a:rPr lang="sv-SE" sz="2000" dirty="0"/>
                  <a:t> </a:t>
                </a:r>
                <a:r>
                  <a:rPr lang="sv-SE" sz="2000" dirty="0" err="1"/>
                  <a:t>of</a:t>
                </a:r>
                <a:r>
                  <a:rPr lang="sv-SE" sz="2000" dirty="0"/>
                  <a:t> </a:t>
                </a:r>
                <a:r>
                  <a:rPr lang="sv-SE" sz="2000" dirty="0" err="1"/>
                  <a:t>times</a:t>
                </a:r>
                <a:r>
                  <a:rPr lang="sv-SE" sz="2000" dirty="0"/>
                  <a:t> the </a:t>
                </a:r>
                <a:r>
                  <a:rPr lang="sv-SE" sz="2000" dirty="0" err="1"/>
                  <a:t>word</a:t>
                </a:r>
                <a:r>
                  <a:rPr lang="sv-SE" sz="2000" dirty="0"/>
                  <a:t> ”</a:t>
                </a:r>
                <a:r>
                  <a:rPr lang="sv-SE" sz="2000" dirty="0" err="1"/>
                  <a:t>crisis</a:t>
                </a:r>
                <a:r>
                  <a:rPr lang="sv-SE" sz="2000" dirty="0"/>
                  <a:t>” </a:t>
                </a:r>
                <a:r>
                  <a:rPr lang="sv-SE" sz="2000" dirty="0" err="1"/>
                  <a:t>can</a:t>
                </a:r>
                <a:r>
                  <a:rPr lang="sv-SE" sz="2000" dirty="0"/>
                  <a:t> be </a:t>
                </a:r>
                <a:r>
                  <a:rPr lang="sv-SE" sz="2000" dirty="0" err="1"/>
                  <a:t>found</a:t>
                </a:r>
                <a:r>
                  <a:rPr lang="sv-SE" sz="2000" dirty="0"/>
                  <a:t> in  </a:t>
                </a:r>
                <a:r>
                  <a:rPr lang="sv-SE" sz="2000" dirty="0" err="1"/>
                  <a:t>financial</a:t>
                </a:r>
                <a:r>
                  <a:rPr lang="sv-SE" sz="2000" dirty="0"/>
                  <a:t> </a:t>
                </a:r>
                <a:r>
                  <a:rPr lang="sv-SE" sz="2000" dirty="0" err="1"/>
                  <a:t>documents</a:t>
                </a:r>
                <a:r>
                  <a:rPr lang="sv-SE" sz="2000" dirty="0"/>
                  <a:t>}</a:t>
                </a:r>
              </a:p>
              <a:p>
                <a:pPr marL="914400" lvl="1" indent="-457200"/>
                <a:r>
                  <a:rPr lang="sv-SE" sz="1800" dirty="0"/>
                  <a:t>P(X=3)</a:t>
                </a:r>
              </a:p>
              <a:p>
                <a:pPr marL="514350" indent="-457200"/>
                <a:r>
                  <a:rPr lang="sv-SE" sz="2200" dirty="0"/>
                  <a:t>X={</a:t>
                </a:r>
                <a:r>
                  <a:rPr lang="sv-SE" sz="2200" dirty="0" err="1"/>
                  <a:t>Time</a:t>
                </a:r>
                <a:r>
                  <a:rPr lang="sv-SE" sz="2200" dirty="0"/>
                  <a:t> </a:t>
                </a:r>
                <a:r>
                  <a:rPr lang="sv-SE" sz="2200" dirty="0" err="1"/>
                  <a:t>to</a:t>
                </a:r>
                <a:r>
                  <a:rPr lang="sv-SE" sz="2200" dirty="0"/>
                  <a:t> </a:t>
                </a:r>
                <a:r>
                  <a:rPr lang="sv-SE" sz="2200" dirty="0" err="1"/>
                  <a:t>download</a:t>
                </a:r>
                <a:r>
                  <a:rPr lang="sv-SE" sz="2200" dirty="0"/>
                  <a:t> a </a:t>
                </a:r>
                <a:r>
                  <a:rPr lang="sv-SE" sz="2200" dirty="0" err="1"/>
                  <a:t>specific</a:t>
                </a:r>
                <a:r>
                  <a:rPr lang="sv-SE" sz="2200" dirty="0"/>
                  <a:t> </a:t>
                </a:r>
                <a:r>
                  <a:rPr lang="sv-SE" sz="2200" dirty="0" err="1"/>
                  <a:t>file</a:t>
                </a:r>
                <a:r>
                  <a:rPr lang="sv-SE" sz="2200" dirty="0"/>
                  <a:t> </a:t>
                </a:r>
                <a:r>
                  <a:rPr lang="sv-SE" sz="2200" dirty="0" err="1"/>
                  <a:t>to</a:t>
                </a:r>
                <a:r>
                  <a:rPr lang="sv-SE" sz="2200" dirty="0"/>
                  <a:t> a </a:t>
                </a:r>
                <a:r>
                  <a:rPr lang="sv-SE" sz="2200" dirty="0" err="1"/>
                  <a:t>specific</a:t>
                </a:r>
                <a:r>
                  <a:rPr lang="sv-SE" sz="2200" dirty="0"/>
                  <a:t> computer}</a:t>
                </a:r>
              </a:p>
              <a:p>
                <a:pPr marL="914400" lvl="1" indent="-457200"/>
                <a:r>
                  <a:rPr lang="sv-SE" sz="1800" dirty="0"/>
                  <a:t>P(X=0.36 min)</a:t>
                </a:r>
              </a:p>
              <a:p>
                <a:pPr marL="514350" indent="-457200"/>
                <a:endParaRPr lang="sv-SE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2830" b="-148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F0B53-9592-4779-891F-997228E46E01}" type="slidenum">
              <a:rPr lang="sv-SE" smtClean="0"/>
              <a:t>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44986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4402832" cy="4525963"/>
              </a:xfrm>
            </p:spPr>
            <p:txBody>
              <a:bodyPr>
                <a:normAutofit/>
              </a:bodyPr>
              <a:lstStyle/>
              <a:p>
                <a:r>
                  <a:rPr lang="sv-SE" sz="2400" dirty="0"/>
                  <a:t>Discrete</a:t>
                </a:r>
              </a:p>
              <a:p>
                <a:pPr lvl="1"/>
                <a:r>
                  <a:rPr lang="sv-SE" sz="2000" dirty="0" err="1"/>
                  <a:t>Probability</a:t>
                </a:r>
                <a:r>
                  <a:rPr lang="sv-SE" sz="2000" dirty="0"/>
                  <a:t> </a:t>
                </a:r>
                <a:r>
                  <a:rPr lang="sv-SE" sz="2000" dirty="0" err="1"/>
                  <a:t>mass</a:t>
                </a:r>
                <a:r>
                  <a:rPr lang="sv-SE" sz="2000" dirty="0"/>
                  <a:t> </a:t>
                </a:r>
                <a:r>
                  <a:rPr lang="sv-SE" sz="2000" dirty="0" err="1"/>
                  <a:t>function</a:t>
                </a:r>
                <a:r>
                  <a:rPr lang="sv-SE" sz="2000" dirty="0"/>
                  <a:t> P(x) for all </a:t>
                </a:r>
                <a:r>
                  <a:rPr lang="sv-SE" sz="2000" dirty="0" err="1"/>
                  <a:t>feasible</a:t>
                </a:r>
                <a:r>
                  <a:rPr lang="sv-SE" sz="2000" dirty="0"/>
                  <a:t> x</a:t>
                </a:r>
              </a:p>
              <a:p>
                <a:r>
                  <a:rPr lang="sv-SE" sz="2400" dirty="0" err="1"/>
                  <a:t>Coninuous</a:t>
                </a:r>
                <a:endParaRPr lang="sv-SE" sz="2400" dirty="0"/>
              </a:p>
              <a:p>
                <a:pPr lvl="1"/>
                <a:r>
                  <a:rPr lang="sv-SE" sz="2400" dirty="0" err="1"/>
                  <a:t>Probability</a:t>
                </a:r>
                <a:r>
                  <a:rPr lang="sv-SE" sz="2400" dirty="0"/>
                  <a:t> </a:t>
                </a:r>
                <a:r>
                  <a:rPr lang="sv-SE" sz="2400" dirty="0" err="1"/>
                  <a:t>density</a:t>
                </a:r>
                <a:r>
                  <a:rPr lang="sv-SE" sz="2400" dirty="0"/>
                  <a:t> </a:t>
                </a:r>
                <a:r>
                  <a:rPr lang="sv-SE" sz="2400" dirty="0" err="1"/>
                  <a:t>function</a:t>
                </a:r>
                <a:r>
                  <a:rPr lang="sv-SE" sz="2400" dirty="0"/>
                  <a:t> p(x)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sv-SE" sz="1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sv-S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1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sv-SE" sz="1800" i="1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sv-SE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sv-SE" sz="1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sv-SE" sz="1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sv-SE" sz="1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sv-SE" sz="1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sv-SE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sv-SE" sz="18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sv-SE" sz="1800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sv-SE" sz="18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sv-SE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sv-SE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sv-SE" sz="18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sv-SE" sz="1800" dirty="0"/>
              </a:p>
              <a:p>
                <a:pPr lvl="2"/>
                <a14:m>
                  <m:oMath xmlns:m="http://schemas.openxmlformats.org/officeDocument/2006/math">
                    <m:r>
                      <a:rPr lang="sv-SE" sz="1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sv-S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sv-SE" sz="1800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sv-SE" sz="1800" dirty="0"/>
                  <a:t>,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sv-SE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sv-SE" sz="1800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sv-SE" sz="1800" i="1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sv-SE" sz="18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sv-SE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sv-SE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sv-SE" sz="18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sv-SE" sz="18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sv-SE" sz="1800" dirty="0"/>
              </a:p>
              <a:p>
                <a:pPr lvl="2"/>
                <a:endParaRPr lang="sv-SE" sz="1200" dirty="0"/>
              </a:p>
              <a:p>
                <a:pPr lvl="1"/>
                <a:r>
                  <a:rPr lang="sv-SE" sz="2400" dirty="0" err="1"/>
                  <a:t>Cumulative</a:t>
                </a:r>
                <a:r>
                  <a:rPr lang="sv-SE" sz="2400" dirty="0"/>
                  <a:t> distribution </a:t>
                </a:r>
                <a:r>
                  <a:rPr lang="sv-SE" sz="2400" dirty="0" err="1"/>
                  <a:t>function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r>
                      <a:rPr lang="sv-SE" sz="1600" b="0" i="1" smtClean="0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sv-SE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1600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sv-SE" sz="1600" b="0" i="1" smtClean="0">
                        <a:latin typeface="Cambria Math"/>
                      </a:rPr>
                      <m:t>=</m:t>
                    </m:r>
                    <m:nary>
                      <m:naryPr>
                        <m:ctrlPr>
                          <a:rPr lang="sv-SE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sv-SE" sz="1600" b="0" i="1" smtClean="0"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sv-SE" sz="1600" b="0" i="1" smtClean="0">
                            <a:latin typeface="Cambria Math"/>
                          </a:rPr>
                          <m:t>𝑥</m:t>
                        </m:r>
                      </m:sup>
                      <m:e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sv-SE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sv-SE" sz="1600" b="0" i="1" smtClean="0">
                                <a:latin typeface="Cambria Math"/>
                              </a:rPr>
                              <m:t>𝑡</m:t>
                            </m:r>
                          </m:e>
                        </m:d>
                        <m:r>
                          <a:rPr lang="sv-SE" sz="1600" b="0" i="1" smtClean="0">
                            <a:latin typeface="Cambria Math"/>
                          </a:rPr>
                          <m:t>𝑑𝑡</m:t>
                        </m:r>
                      </m:e>
                    </m:nary>
                  </m:oMath>
                </a14:m>
                <a:endParaRPr lang="sv-SE" sz="1400" dirty="0"/>
              </a:p>
              <a:p>
                <a:pPr marL="457200" lvl="1" indent="0">
                  <a:buNone/>
                </a:pPr>
                <a:endParaRPr lang="sv-SE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402832" cy="4525963"/>
              </a:xfrm>
              <a:blipFill>
                <a:blip r:embed="rId2"/>
                <a:stretch>
                  <a:fillRect l="-1801" t="-1078" r="-1524" b="-9973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F0B53-9592-4779-891F-997228E46E01}" type="slidenum">
              <a:rPr lang="sv-SE" smtClean="0"/>
              <a:t>8</a:t>
            </a:fld>
            <a:endParaRPr lang="sv-SE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1608792"/>
            <a:ext cx="3090664" cy="2364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Bildobjekt 7">
            <a:extLst>
              <a:ext uri="{FF2B5EF4-FFF2-40B4-BE49-F238E27FC236}">
                <a16:creationId xmlns:a16="http://schemas.microsoft.com/office/drawing/2014/main" id="{F1137740-1123-458A-9EA1-03B735346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28" y="3990978"/>
            <a:ext cx="3090664" cy="238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036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Expected</a:t>
            </a:r>
            <a:r>
              <a:rPr lang="sv-SE" dirty="0"/>
              <a:t> </a:t>
            </a:r>
            <a:r>
              <a:rPr lang="sv-SE" dirty="0" err="1"/>
              <a:t>value</a:t>
            </a:r>
            <a:r>
              <a:rPr lang="sv-SE" dirty="0"/>
              <a:t> and </a:t>
            </a:r>
            <a:r>
              <a:rPr lang="sv-SE" dirty="0" err="1"/>
              <a:t>variance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dirty="0"/>
                  <a:t>Expected </a:t>
                </a:r>
                <a:r>
                  <a:rPr lang="sv-SE" dirty="0" err="1"/>
                  <a:t>value</a:t>
                </a:r>
                <a:r>
                  <a:rPr lang="sv-SE" dirty="0"/>
                  <a:t> = </a:t>
                </a:r>
                <a:r>
                  <a:rPr lang="sv-SE" dirty="0" err="1"/>
                  <a:t>mean</a:t>
                </a:r>
                <a:r>
                  <a:rPr lang="sv-SE" dirty="0"/>
                  <a:t> </a:t>
                </a:r>
                <a:r>
                  <a:rPr lang="sv-SE" dirty="0" err="1"/>
                  <a:t>value</a:t>
                </a:r>
                <a:endParaRPr lang="sv-SE" dirty="0"/>
              </a:p>
              <a:p>
                <a:pPr lvl="1"/>
                <a14:m>
                  <m:oMath xmlns:m="http://schemas.openxmlformats.org/officeDocument/2006/math">
                    <m:r>
                      <a:rPr lang="sv-SE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b="0" i="1" smtClean="0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sv-SE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sv-SE" b="0" i="1" smtClean="0">
                            <a:latin typeface="Cambria Math"/>
                          </a:rPr>
                          <m:t>𝑖</m:t>
                        </m:r>
                        <m:r>
                          <a:rPr lang="sv-SE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sv-SE" b="0" i="1" smtClean="0">
                            <a:latin typeface="Cambria Math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sv-SE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sv-SE" b="0" i="1" smtClean="0">
                            <a:latin typeface="Cambria Math"/>
                          </a:rPr>
                          <m:t>𝑃</m:t>
                        </m:r>
                        <m:r>
                          <a:rPr lang="sv-SE" b="0" i="1" smtClean="0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sv-SE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sv-SE" b="0" i="1" smtClean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sv-SE" b="0" dirty="0"/>
              </a:p>
              <a:p>
                <a:pPr lvl="1"/>
                <a14:m>
                  <m:oMath xmlns:m="http://schemas.openxmlformats.org/officeDocument/2006/math">
                    <m:r>
                      <a:rPr lang="sv-SE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b="0" i="1" smtClean="0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sv-SE" b="0" i="1" smtClean="0">
                        <a:latin typeface="Cambria Math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sv-SE" b="0" i="1" smtClean="0">
                            <a:latin typeface="Cambria Math"/>
                          </a:rPr>
                          <m:t>𝑋</m:t>
                        </m:r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sv-SE" b="0" i="1" smtClean="0">
                                <a:latin typeface="Cambria Math"/>
                              </a:rPr>
                              <m:t>𝑋</m:t>
                            </m:r>
                          </m:e>
                        </m:d>
                        <m:r>
                          <a:rPr lang="sv-SE" b="0" i="1" smtClean="0">
                            <a:latin typeface="Cambria Math"/>
                          </a:rPr>
                          <m:t>𝑑𝑋</m:t>
                        </m:r>
                      </m:e>
                    </m:nary>
                  </m:oMath>
                </a14:m>
                <a:endParaRPr lang="sv-SE" dirty="0"/>
              </a:p>
              <a:p>
                <a:endParaRPr lang="sv-SE" dirty="0"/>
              </a:p>
              <a:p>
                <a:r>
                  <a:rPr lang="sv-SE" dirty="0" err="1"/>
                  <a:t>Variance</a:t>
                </a:r>
                <a:r>
                  <a:rPr lang="sv-SE" dirty="0"/>
                  <a:t> </a:t>
                </a:r>
                <a:r>
                  <a:rPr lang="sv-SE" dirty="0" err="1"/>
                  <a:t>how</a:t>
                </a:r>
                <a:r>
                  <a:rPr lang="sv-SE" dirty="0"/>
                  <a:t> </a:t>
                </a:r>
                <a:r>
                  <a:rPr lang="sv-SE" dirty="0" err="1"/>
                  <a:t>much</a:t>
                </a:r>
                <a:r>
                  <a:rPr lang="sv-SE" dirty="0"/>
                  <a:t> </a:t>
                </a:r>
                <a:r>
                  <a:rPr lang="sv-SE" dirty="0" err="1"/>
                  <a:t>values</a:t>
                </a:r>
                <a:r>
                  <a:rPr lang="sv-SE" dirty="0"/>
                  <a:t> </a:t>
                </a:r>
                <a:r>
                  <a:rPr lang="sv-SE" dirty="0" err="1"/>
                  <a:t>of</a:t>
                </a:r>
                <a:r>
                  <a:rPr lang="sv-SE" dirty="0"/>
                  <a:t> </a:t>
                </a:r>
                <a:r>
                  <a:rPr lang="sv-SE" dirty="0" err="1"/>
                  <a:t>random</a:t>
                </a:r>
                <a:r>
                  <a:rPr lang="sv-SE" dirty="0"/>
                  <a:t> </a:t>
                </a:r>
                <a:r>
                  <a:rPr lang="sv-SE" dirty="0" err="1"/>
                  <a:t>variable</a:t>
                </a:r>
                <a:r>
                  <a:rPr lang="sv-SE" dirty="0"/>
                  <a:t> </a:t>
                </a:r>
                <a:r>
                  <a:rPr lang="sv-SE" dirty="0" err="1"/>
                  <a:t>can</a:t>
                </a:r>
                <a:r>
                  <a:rPr lang="sv-SE" dirty="0"/>
                  <a:t> </a:t>
                </a:r>
                <a:r>
                  <a:rPr lang="sv-SE" dirty="0" err="1"/>
                  <a:t>deviate</a:t>
                </a:r>
                <a:r>
                  <a:rPr lang="sv-SE" dirty="0"/>
                  <a:t> from </a:t>
                </a:r>
                <a:r>
                  <a:rPr lang="sv-SE" dirty="0" err="1"/>
                  <a:t>mean</a:t>
                </a:r>
                <a:r>
                  <a:rPr lang="sv-SE" dirty="0"/>
                  <a:t> </a:t>
                </a:r>
                <a:r>
                  <a:rPr lang="sv-SE" dirty="0" err="1"/>
                  <a:t>value</a:t>
                </a:r>
                <a:endParaRPr lang="sv-SE" dirty="0"/>
              </a:p>
              <a:p>
                <a:pPr lvl="1"/>
                <a14:m>
                  <m:oMath xmlns:m="http://schemas.openxmlformats.org/officeDocument/2006/math">
                    <m:r>
                      <a:rPr lang="sv-SE" b="0" i="1" smtClean="0">
                        <a:latin typeface="Cambria Math"/>
                      </a:rPr>
                      <m:t>𝑉𝑎𝑟</m:t>
                    </m:r>
                    <m:d>
                      <m:d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b="0" i="1" smtClean="0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sv-SE" b="0" i="1" smtClean="0">
                        <a:latin typeface="Cambria Math"/>
                      </a:rPr>
                      <m:t>=</m:t>
                    </m:r>
                    <m:r>
                      <a:rPr lang="sv-SE" b="0" i="1" smtClean="0">
                        <a:latin typeface="Cambria Math"/>
                      </a:rPr>
                      <m:t>𝐸</m:t>
                    </m:r>
                    <m:sSup>
                      <m:sSup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sv-SE" b="0" i="1" smtClean="0">
                                <a:latin typeface="Cambria Math"/>
                              </a:rPr>
                              <m:t>𝑋</m:t>
                            </m:r>
                            <m:r>
                              <a:rPr lang="sv-SE" b="0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sv-SE" b="0" i="1" smtClean="0">
                                <a:latin typeface="Cambria Math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sv-S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sv-SE" b="0" i="1" smtClean="0">
                                    <a:latin typeface="Cambria Math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sv-SE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sv-SE" b="0" i="1" smtClean="0">
                        <a:latin typeface="Cambria Math"/>
                      </a:rPr>
                      <m:t>=</m:t>
                    </m:r>
                    <m:r>
                      <a:rPr lang="sv-SE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sv-SE" b="0" i="1" smtClean="0">
                                <a:latin typeface="Cambria Math"/>
                              </a:rPr>
                              <m:t>𝑋</m:t>
                            </m:r>
                          </m:e>
                          <m:sup>
                            <m:r>
                              <a:rPr lang="sv-SE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sv-SE" b="0" i="1" smtClean="0">
                        <a:latin typeface="Cambria Math"/>
                      </a:rPr>
                      <m:t>−</m:t>
                    </m:r>
                    <m:r>
                      <a:rPr lang="sv-SE" b="0" i="1" smtClean="0">
                        <a:latin typeface="Cambria Math"/>
                      </a:rPr>
                      <m:t>𝐸</m:t>
                    </m:r>
                    <m:sSup>
                      <m:sSup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sv-SE" b="0" i="1" smtClean="0">
                                <a:latin typeface="Cambria Math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sv-SE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sv-SE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 r="-51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F0B53-9592-4779-891F-997228E46E01}" type="slidenum">
              <a:rPr lang="sv-SE" smtClean="0"/>
              <a:t>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80515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Probabilities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sv-SE" b="1" dirty="0">
                    <a:solidFill>
                      <a:srgbClr val="0070C0"/>
                    </a:solidFill>
                  </a:rPr>
                  <a:t>Laws </a:t>
                </a:r>
                <a:r>
                  <a:rPr lang="sv-SE" b="1" dirty="0" err="1">
                    <a:solidFill>
                      <a:srgbClr val="0070C0"/>
                    </a:solidFill>
                  </a:rPr>
                  <a:t>of</a:t>
                </a:r>
                <a:r>
                  <a:rPr lang="sv-SE" b="1" dirty="0">
                    <a:solidFill>
                      <a:srgbClr val="0070C0"/>
                    </a:solidFill>
                  </a:rPr>
                  <a:t> </a:t>
                </a:r>
                <a:r>
                  <a:rPr lang="sv-SE" b="1" dirty="0" err="1">
                    <a:solidFill>
                      <a:srgbClr val="0070C0"/>
                    </a:solidFill>
                  </a:rPr>
                  <a:t>probabilities</a:t>
                </a:r>
                <a:endParaRPr lang="sv-SE" b="1" dirty="0">
                  <a:solidFill>
                    <a:srgbClr val="0070C0"/>
                  </a:solidFill>
                </a:endParaRPr>
              </a:p>
              <a:p>
                <a:pPr lvl="1"/>
                <a:r>
                  <a:rPr lang="sv-SE" dirty="0" err="1"/>
                  <a:t>Sum</a:t>
                </a:r>
                <a:r>
                  <a:rPr lang="sv-SE" dirty="0"/>
                  <a:t> </a:t>
                </a:r>
                <a:r>
                  <a:rPr lang="sv-SE" dirty="0" err="1"/>
                  <a:t>rule</a:t>
                </a:r>
                <a:r>
                  <a:rPr lang="sv-SE" dirty="0"/>
                  <a:t> (</a:t>
                </a:r>
                <a:r>
                  <a:rPr lang="sv-SE" dirty="0" err="1"/>
                  <a:t>compute</a:t>
                </a:r>
                <a:r>
                  <a:rPr lang="sv-SE" dirty="0"/>
                  <a:t> </a:t>
                </a:r>
                <a:r>
                  <a:rPr lang="sv-SE" sz="3100" b="1" dirty="0">
                    <a:solidFill>
                      <a:srgbClr val="0000FF"/>
                    </a:solidFill>
                  </a:rPr>
                  <a:t>marginal</a:t>
                </a:r>
                <a:r>
                  <a:rPr lang="sv-SE" dirty="0"/>
                  <a:t> </a:t>
                </a:r>
                <a:r>
                  <a:rPr lang="sv-SE" dirty="0" err="1"/>
                  <a:t>probability</a:t>
                </a:r>
                <a:r>
                  <a:rPr lang="sv-SE" dirty="0"/>
                  <a:t>)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  <m:sup/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sv-SE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=∫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𝑑𝑌</m:t>
                      </m:r>
                    </m:oMath>
                  </m:oMathPara>
                </a14:m>
                <a:endParaRPr lang="sv-SE" dirty="0"/>
              </a:p>
              <a:p>
                <a:pPr lvl="1"/>
                <a:r>
                  <a:rPr lang="sv-SE" dirty="0"/>
                  <a:t>Product </a:t>
                </a:r>
                <a:r>
                  <a:rPr lang="sv-SE" dirty="0" err="1"/>
                  <a:t>rule</a:t>
                </a:r>
                <a:endParaRPr lang="sv-SE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sv-SE" dirty="0"/>
              </a:p>
              <a:p>
                <a:pPr marL="457200" lvl="1" indent="0">
                  <a:buNone/>
                </a:pPr>
                <a:endParaRPr lang="sv-SE" dirty="0"/>
              </a:p>
              <a:p>
                <a:pPr marL="457200" lvl="1" indent="0">
                  <a:buNone/>
                </a:pPr>
                <a:r>
                  <a:rPr lang="sv-SE" dirty="0"/>
                  <a:t>Combination 1: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sv-SE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  <m:sup/>
                        <m:e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sv-S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e>
                              <m:r>
                                <a:rPr lang="sv-SE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sv-SE" dirty="0"/>
                            <m:t> </m:t>
                          </m:r>
                        </m:e>
                      </m:nary>
                    </m:oMath>
                  </m:oMathPara>
                </a14:m>
                <a:endParaRPr lang="sv-SE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sv-SE" i="1">
                          <a:latin typeface="Cambria Math" panose="02040503050406030204" pitchFamily="18" charset="0"/>
                        </a:rPr>
                        <m:t>=∫</m:t>
                      </m:r>
                      <m:r>
                        <a:rPr lang="sv-SE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sv-SE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sv-SE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sv-SE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sv-SE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sv-SE" i="1">
                          <a:latin typeface="Cambria Math" panose="02040503050406030204" pitchFamily="18" charset="0"/>
                        </a:rPr>
                        <m:t>𝑑𝑌</m:t>
                      </m:r>
                    </m:oMath>
                  </m:oMathPara>
                </a14:m>
                <a:endParaRPr lang="sv-SE" dirty="0"/>
              </a:p>
              <a:p>
                <a:pPr marL="457200" lvl="1" indent="0">
                  <a:buNone/>
                </a:pPr>
                <a:endParaRPr lang="sv-SE" dirty="0"/>
              </a:p>
              <a:p>
                <a:pPr marL="457200" lvl="1" indent="0">
                  <a:buNone/>
                </a:pPr>
                <a:endParaRPr lang="sv-SE" dirty="0"/>
              </a:p>
              <a:p>
                <a:pPr marL="457200" lvl="1" indent="0">
                  <a:buNone/>
                </a:pPr>
                <a:endParaRPr lang="sv-SE" dirty="0"/>
              </a:p>
            </p:txBody>
          </p:sp>
        </mc:Choice>
        <mc:Fallback xmlns="">
          <p:sp>
            <p:nvSpPr>
              <p:cNvPr id="3" name="Platshållare för innehåll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37" t="-256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16906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Bayes</a:t>
            </a:r>
            <a:r>
              <a:rPr lang="sv-SE" dirty="0"/>
              <a:t> </a:t>
            </a:r>
            <a:r>
              <a:rPr lang="sv-SE" dirty="0" err="1"/>
              <a:t>theorem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4546848" cy="4525963"/>
              </a:xfrm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sv-SE" sz="2800" dirty="0"/>
                  <a:t>For </a:t>
                </a:r>
                <a:r>
                  <a:rPr lang="sv-SE" sz="2800" dirty="0" err="1"/>
                  <a:t>random</a:t>
                </a:r>
                <a:r>
                  <a:rPr lang="sv-SE" sz="2800" dirty="0"/>
                  <a:t> </a:t>
                </a:r>
                <a:r>
                  <a:rPr lang="sv-SE" sz="2800" dirty="0" err="1"/>
                  <a:t>variables</a:t>
                </a:r>
                <a:r>
                  <a:rPr lang="sv-SE" sz="2800" dirty="0"/>
                  <a:t>:</a:t>
                </a:r>
              </a:p>
              <a:p>
                <a:pPr marL="0" indent="0">
                  <a:buNone/>
                </a:pPr>
                <a:r>
                  <a:rPr lang="sv-SE" sz="2800" b="1" dirty="0">
                    <a:solidFill>
                      <a:srgbClr val="0000FF"/>
                    </a:solidFill>
                  </a:rPr>
                  <a:t>	</a:t>
                </a:r>
                <a:r>
                  <a:rPr lang="sv-SE" sz="2800" b="1" dirty="0" err="1">
                    <a:solidFill>
                      <a:srgbClr val="0000FF"/>
                    </a:solidFill>
                  </a:rPr>
                  <a:t>Bayes</a:t>
                </a:r>
                <a:r>
                  <a:rPr lang="sv-SE" sz="2800" b="1" dirty="0">
                    <a:solidFill>
                      <a:srgbClr val="0000FF"/>
                    </a:solidFill>
                  </a:rPr>
                  <a:t> </a:t>
                </a:r>
                <a:r>
                  <a:rPr lang="sv-SE" sz="2800" b="1" dirty="0" err="1">
                    <a:solidFill>
                      <a:srgbClr val="0000FF"/>
                    </a:solidFill>
                  </a:rPr>
                  <a:t>Theorem</a:t>
                </a:r>
                <a:endParaRPr lang="sv-SE" sz="2800" b="1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endParaRPr lang="sv-SE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sv-S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8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sv-SE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sv-SE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sv-SE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v-SE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sv-SE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e>
                              <m:r>
                                <a:rPr lang="sv-SE" sz="28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  <m:r>
                            <a:rPr lang="sv-SE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sv-SE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sz="28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>
                            <a:rPr lang="sv-SE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sv-SE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sv-SE" sz="28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sv-S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8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sv-SE" sz="28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sv-SE" sz="2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sv-SE" sz="2800" b="0" i="1" smtClean="0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sv-SE" sz="2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sv-S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sv-SE" sz="28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sv-SE" sz="2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sv-S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8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sv-SE" sz="2800" b="0" dirty="0"/>
              </a:p>
              <a:p>
                <a:pPr marL="0" indent="0">
                  <a:buNone/>
                </a:pPr>
                <a:endParaRPr lang="sv-SE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sv-S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8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sv-SE" sz="28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sv-SE" sz="2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sv-SE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v-SE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sv-SE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e>
                              <m:r>
                                <a:rPr lang="sv-SE" sz="28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  <m:r>
                            <a:rPr lang="sv-SE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sv-SE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sz="28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>
                            <a:rPr lang="sv-SE" sz="2800" b="0" i="1" smtClean="0">
                              <a:latin typeface="Cambria Math" panose="02040503050406030204" pitchFamily="18" charset="0"/>
                            </a:rPr>
                            <m:t>∫</m:t>
                          </m:r>
                          <m:r>
                            <a:rPr lang="sv-SE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sv-SE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sv-SE" sz="2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sv-SE" sz="2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  <m:r>
                            <a:rPr lang="sv-SE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sv-SE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sz="2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  <m:r>
                            <a:rPr lang="sv-SE" sz="2800" b="0" i="1" smtClean="0">
                              <a:latin typeface="Cambria Math" panose="02040503050406030204" pitchFamily="18" charset="0"/>
                            </a:rPr>
                            <m:t>𝑑𝑌</m:t>
                          </m:r>
                        </m:den>
                      </m:f>
                    </m:oMath>
                  </m:oMathPara>
                </a14:m>
                <a:endParaRPr lang="sv-SE" sz="2800" dirty="0"/>
              </a:p>
            </p:txBody>
          </p:sp>
        </mc:Choice>
        <mc:Fallback xmlns="">
          <p:sp>
            <p:nvSpPr>
              <p:cNvPr id="3" name="Platshållare för innehåll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546848" cy="4525963"/>
              </a:xfrm>
              <a:blipFill>
                <a:blip r:embed="rId3"/>
                <a:stretch>
                  <a:fillRect l="-2540" t="-121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11</a:t>
            </a:fld>
            <a:endParaRPr lang="sv-SE"/>
          </a:p>
        </p:txBody>
      </p:sp>
      <p:sp>
        <p:nvSpPr>
          <p:cNvPr id="6" name="object 8"/>
          <p:cNvSpPr/>
          <p:nvPr/>
        </p:nvSpPr>
        <p:spPr>
          <a:xfrm>
            <a:off x="5076056" y="2060848"/>
            <a:ext cx="3664466" cy="27625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8277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Some</a:t>
            </a:r>
            <a:r>
              <a:rPr lang="sv-SE" dirty="0"/>
              <a:t> </a:t>
            </a:r>
            <a:r>
              <a:rPr lang="sv-SE" dirty="0" err="1"/>
              <a:t>conventional</a:t>
            </a:r>
            <a:r>
              <a:rPr lang="sv-SE" dirty="0"/>
              <a:t>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sv-SE" dirty="0">
                    <a:solidFill>
                      <a:srgbClr val="0070C0"/>
                    </a:solidFill>
                  </a:rPr>
                  <a:t>Bernoulli distribution</a:t>
                </a:r>
              </a:p>
              <a:p>
                <a:pPr lvl="1"/>
                <a:r>
                  <a:rPr lang="sv-SE" dirty="0"/>
                  <a:t>Events: </a:t>
                </a:r>
                <a:r>
                  <a:rPr lang="sv-SE" dirty="0" err="1"/>
                  <a:t>Success</a:t>
                </a:r>
                <a:r>
                  <a:rPr lang="sv-SE" dirty="0"/>
                  <a:t> (X=1) and </a:t>
                </a:r>
                <a:r>
                  <a:rPr lang="sv-SE" dirty="0" err="1"/>
                  <a:t>Failure</a:t>
                </a:r>
                <a:r>
                  <a:rPr lang="sv-SE" dirty="0"/>
                  <a:t> (X=0)</a:t>
                </a:r>
              </a:p>
              <a:p>
                <a:pPr lvl="1"/>
                <a:r>
                  <a:rPr lang="sv-SE" dirty="0"/>
                  <a:t>P(X=1)=p, P(X=0)=1-p</a:t>
                </a:r>
              </a:p>
              <a:p>
                <a:pPr lvl="1"/>
                <a:endParaRPr lang="sv-SE" dirty="0"/>
              </a:p>
              <a:p>
                <a:pPr lvl="1"/>
                <a14:m>
                  <m:oMath xmlns:m="http://schemas.openxmlformats.org/officeDocument/2006/math">
                    <m:r>
                      <a:rPr lang="sv-SE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b="0" i="1" smtClean="0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sv-SE" b="0" i="1" smtClean="0">
                        <a:latin typeface="Cambria Math"/>
                      </a:rPr>
                      <m:t>=</m:t>
                    </m:r>
                    <m:r>
                      <a:rPr lang="sv-SE" b="0" i="1" smtClean="0">
                        <a:latin typeface="Cambria Math"/>
                      </a:rPr>
                      <m:t>𝑝</m:t>
                    </m:r>
                  </m:oMath>
                </a14:m>
                <a:endParaRPr lang="sv-SE" b="0" dirty="0"/>
              </a:p>
              <a:p>
                <a:pPr lvl="1"/>
                <a14:m>
                  <m:oMath xmlns:m="http://schemas.openxmlformats.org/officeDocument/2006/math">
                    <m:r>
                      <a:rPr lang="sv-SE" b="0" i="1" smtClean="0">
                        <a:latin typeface="Cambria Math"/>
                      </a:rPr>
                      <m:t>𝑉𝑎𝑟</m:t>
                    </m:r>
                    <m:d>
                      <m:d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b="0" i="1" smtClean="0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sv-SE" b="0" i="1" smtClean="0">
                        <a:latin typeface="Cambria Math"/>
                      </a:rPr>
                      <m:t>=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sv-SE" b="0" i="1" smtClean="0">
                        <a:latin typeface="Cambria Math"/>
                      </a:rPr>
                      <m:t>𝑝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sv-SE" b="0" dirty="0"/>
              </a:p>
              <a:p>
                <a:pPr lvl="1"/>
                <a:endParaRPr lang="sv-SE" dirty="0"/>
              </a:p>
              <a:p>
                <a:pPr marL="0" indent="0">
                  <a:buNone/>
                </a:pPr>
                <a:r>
                  <a:rPr lang="sv-SE" dirty="0">
                    <a:solidFill>
                      <a:srgbClr val="C00000"/>
                    </a:solidFill>
                  </a:rPr>
                  <a:t>Examples</a:t>
                </a:r>
                <a:r>
                  <a:rPr lang="sv-SE" dirty="0"/>
                  <a:t>: Tossing </a:t>
                </a:r>
                <a:r>
                  <a:rPr lang="sv-SE" dirty="0" err="1"/>
                  <a:t>coin</a:t>
                </a:r>
                <a:r>
                  <a:rPr lang="sv-SE" dirty="0"/>
                  <a:t>, vinning a </a:t>
                </a:r>
                <a:r>
                  <a:rPr lang="sv-SE" dirty="0" err="1"/>
                  <a:t>lottery</a:t>
                </a:r>
                <a:r>
                  <a:rPr lang="sv-SE" dirty="0"/>
                  <a:t>,..</a:t>
                </a:r>
              </a:p>
              <a:p>
                <a:endParaRPr lang="sv-SE" dirty="0"/>
              </a:p>
              <a:p>
                <a:endParaRPr lang="sv-SE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F0B53-9592-4779-891F-997228E46E01}" type="slidenum">
              <a:rPr lang="sv-SE" smtClean="0"/>
              <a:t>12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38288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Some</a:t>
            </a:r>
            <a:r>
              <a:rPr lang="sv-SE" dirty="0"/>
              <a:t> </a:t>
            </a:r>
            <a:r>
              <a:rPr lang="sv-SE" dirty="0" err="1"/>
              <a:t>conventional</a:t>
            </a:r>
            <a:r>
              <a:rPr lang="sv-SE" dirty="0"/>
              <a:t>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5338936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0070C0"/>
                    </a:solidFill>
                  </a:rPr>
                  <a:t>Binomial distribution</a:t>
                </a:r>
              </a:p>
              <a:p>
                <a:r>
                  <a:rPr lang="en-US" sz="2400" dirty="0"/>
                  <a:t>Sequence of </a:t>
                </a:r>
                <a:r>
                  <a:rPr lang="en-US" sz="2400" i="1" dirty="0"/>
                  <a:t>n </a:t>
                </a:r>
                <a:r>
                  <a:rPr lang="en-US" sz="2400" dirty="0"/>
                  <a:t>Bernoulli events</a:t>
                </a:r>
              </a:p>
              <a:p>
                <a:r>
                  <a:rPr lang="en-US" sz="2400" dirty="0"/>
                  <a:t>X={Amount of successes among these events}, X=0,…,n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𝑟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𝑟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/>
                            </a:rPr>
                            <m:t>!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𝑟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𝑝</m:t>
                          </m:r>
                        </m:e>
                        <m:sup>
                          <m:r>
                            <a:rPr lang="sv-SE" sz="2400" b="0" i="1" smtClean="0">
                              <a:latin typeface="Cambria Math"/>
                            </a:rPr>
                            <m:t>𝑟</m:t>
                          </m:r>
                        </m:sup>
                      </m:sSup>
                      <m:sSup>
                        <m:sSupPr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sz="2400" b="0" i="1" smtClean="0">
                                  <a:latin typeface="Cambria Math"/>
                                </a:rPr>
                                <m:t>1−</m:t>
                              </m:r>
                              <m:r>
                                <a:rPr lang="sv-SE" sz="2400" b="0" i="1" smtClean="0">
                                  <a:latin typeface="Cambria Math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sv-SE" sz="24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sv-SE" sz="24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sv-SE" sz="2400" b="0" i="1" smtClean="0">
                              <a:latin typeface="Cambria Math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/>
                      </a:rPr>
                      <m:t>𝐸𝑋</m:t>
                    </m:r>
                    <m:r>
                      <a:rPr lang="sv-SE" sz="2400" b="0" i="1" smtClean="0">
                        <a:latin typeface="Cambria Math"/>
                      </a:rPr>
                      <m:t>=</m:t>
                    </m:r>
                    <m:r>
                      <a:rPr lang="sv-SE" sz="2400" b="0" i="1" smtClean="0">
                        <a:latin typeface="Cambria Math"/>
                      </a:rPr>
                      <m:t>𝑛𝑝</m:t>
                    </m:r>
                  </m:oMath>
                </a14:m>
                <a:endParaRPr lang="sv-SE" sz="2400" b="0" dirty="0"/>
              </a:p>
              <a:p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/>
                      </a:rPr>
                      <m:t>𝑉𝑎𝑟</m:t>
                    </m:r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b="0" i="1" smtClean="0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sv-SE" sz="2400" b="0" i="1" smtClean="0">
                        <a:latin typeface="Cambria Math"/>
                      </a:rPr>
                      <m:t>=</m:t>
                    </m:r>
                    <m:r>
                      <a:rPr lang="sv-SE" sz="2400" b="0" i="1" smtClean="0">
                        <a:latin typeface="Cambria Math"/>
                      </a:rPr>
                      <m:t>𝑛𝑝</m:t>
                    </m:r>
                    <m:r>
                      <a:rPr lang="sv-SE" sz="2400" b="0" i="1" smtClean="0">
                        <a:latin typeface="Cambria Math"/>
                      </a:rPr>
                      <m:t>(1−</m:t>
                    </m:r>
                    <m:r>
                      <a:rPr lang="sv-SE" sz="2400" b="0" i="1" smtClean="0">
                        <a:latin typeface="Cambria Math"/>
                      </a:rPr>
                      <m:t>𝑝</m:t>
                    </m:r>
                    <m:r>
                      <a:rPr lang="sv-SE" sz="2400" b="0" i="1" smtClean="0">
                        <a:latin typeface="Cambria Math"/>
                      </a:rPr>
                      <m:t>)</m:t>
                    </m:r>
                  </m:oMath>
                </a14:m>
                <a:endParaRPr lang="sv-SE" sz="2400" b="0" dirty="0"/>
              </a:p>
              <a:p>
                <a:endParaRPr lang="sv-SE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5338936" cy="4525963"/>
              </a:xfrm>
              <a:blipFill rotWithShape="1">
                <a:blip r:embed="rId2"/>
                <a:stretch>
                  <a:fillRect l="-1712" t="-1078" r="-22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F0B53-9592-4779-891F-997228E46E01}" type="slidenum">
              <a:rPr lang="sv-SE" smtClean="0"/>
              <a:t>13</a:t>
            </a:fld>
            <a:endParaRPr lang="sv-SE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3789040"/>
            <a:ext cx="3450074" cy="2639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0731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Poisson</a:t>
            </a:r>
            <a:r>
              <a:rPr lang="sv-SE" dirty="0"/>
              <a:t>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sv-SE" dirty="0" err="1"/>
              <a:t>Customers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a bank </a:t>
            </a:r>
            <a:r>
              <a:rPr lang="sv-SE" b="1" dirty="0"/>
              <a:t>n</a:t>
            </a:r>
            <a:r>
              <a:rPr lang="sv-SE" dirty="0"/>
              <a:t> (in </a:t>
            </a:r>
            <a:r>
              <a:rPr lang="sv-SE" dirty="0" err="1"/>
              <a:t>theory</a:t>
            </a:r>
            <a:r>
              <a:rPr lang="sv-SE" dirty="0"/>
              <a:t>, </a:t>
            </a:r>
            <a:r>
              <a:rPr lang="sv-SE" dirty="0" err="1"/>
              <a:t>endless</a:t>
            </a:r>
            <a:r>
              <a:rPr lang="sv-SE" dirty="0"/>
              <a:t> population)</a:t>
            </a:r>
          </a:p>
          <a:p>
            <a:r>
              <a:rPr lang="sv-SE" dirty="0" err="1"/>
              <a:t>Probability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a </a:t>
            </a:r>
            <a:r>
              <a:rPr lang="sv-SE" dirty="0" err="1"/>
              <a:t>specific</a:t>
            </a:r>
            <a:r>
              <a:rPr lang="sv-SE" dirty="0"/>
              <a:t> person </a:t>
            </a:r>
            <a:r>
              <a:rPr lang="sv-SE" dirty="0" err="1"/>
              <a:t>will</a:t>
            </a:r>
            <a:r>
              <a:rPr lang="sv-SE" dirty="0"/>
              <a:t> make a call </a:t>
            </a:r>
            <a:r>
              <a:rPr lang="sv-SE" dirty="0" err="1"/>
              <a:t>to</a:t>
            </a:r>
            <a:r>
              <a:rPr lang="sv-SE" dirty="0"/>
              <a:t> the bank </a:t>
            </a:r>
            <a:r>
              <a:rPr lang="sv-SE" dirty="0" err="1"/>
              <a:t>between</a:t>
            </a:r>
            <a:r>
              <a:rPr lang="sv-SE" dirty="0"/>
              <a:t> 13.00 and 14.00 a </a:t>
            </a:r>
            <a:r>
              <a:rPr lang="sv-SE" dirty="0" err="1"/>
              <a:t>certain</a:t>
            </a:r>
            <a:r>
              <a:rPr lang="sv-SE" dirty="0"/>
              <a:t> </a:t>
            </a:r>
            <a:r>
              <a:rPr lang="sv-SE" dirty="0" err="1"/>
              <a:t>day</a:t>
            </a:r>
            <a:r>
              <a:rPr lang="sv-SE" dirty="0"/>
              <a:t> is </a:t>
            </a:r>
            <a:r>
              <a:rPr lang="sv-SE" b="1" i="1" dirty="0"/>
              <a:t>p</a:t>
            </a:r>
          </a:p>
          <a:p>
            <a:pPr lvl="1"/>
            <a:r>
              <a:rPr lang="sv-SE" b="1" i="1" dirty="0"/>
              <a:t>p</a:t>
            </a:r>
            <a:r>
              <a:rPr lang="sv-SE" i="1" dirty="0"/>
              <a:t> </a:t>
            </a:r>
            <a:r>
              <a:rPr lang="sv-SE" dirty="0" err="1"/>
              <a:t>can</a:t>
            </a:r>
            <a:r>
              <a:rPr lang="sv-SE" dirty="0"/>
              <a:t> be </a:t>
            </a:r>
            <a:r>
              <a:rPr lang="sv-SE" dirty="0" err="1"/>
              <a:t>very</a:t>
            </a:r>
            <a:r>
              <a:rPr lang="sv-SE" dirty="0"/>
              <a:t> small </a:t>
            </a:r>
            <a:r>
              <a:rPr lang="sv-SE" dirty="0" err="1"/>
              <a:t>if</a:t>
            </a:r>
            <a:r>
              <a:rPr lang="sv-SE" dirty="0"/>
              <a:t> population is </a:t>
            </a:r>
            <a:r>
              <a:rPr lang="sv-SE" dirty="0" err="1"/>
              <a:t>large</a:t>
            </a:r>
            <a:r>
              <a:rPr lang="sv-SE" dirty="0"/>
              <a:t> (rare event)</a:t>
            </a:r>
          </a:p>
          <a:p>
            <a:pPr lvl="1"/>
            <a:r>
              <a:rPr lang="sv-SE" dirty="0"/>
              <a:t>Still, </a:t>
            </a:r>
            <a:r>
              <a:rPr lang="sv-SE" dirty="0" err="1"/>
              <a:t>some</a:t>
            </a:r>
            <a:r>
              <a:rPr lang="sv-SE" dirty="0"/>
              <a:t> </a:t>
            </a:r>
            <a:r>
              <a:rPr lang="sv-SE" dirty="0" err="1"/>
              <a:t>people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make calls </a:t>
            </a:r>
            <a:r>
              <a:rPr lang="sv-SE" dirty="0" err="1"/>
              <a:t>between</a:t>
            </a:r>
            <a:r>
              <a:rPr lang="sv-SE" dirty="0"/>
              <a:t> 13.00 and 14.00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day</a:t>
            </a:r>
            <a:r>
              <a:rPr lang="sv-SE" dirty="0"/>
              <a:t>, and </a:t>
            </a:r>
            <a:r>
              <a:rPr lang="sv-SE" dirty="0" err="1"/>
              <a:t>their</a:t>
            </a:r>
            <a:r>
              <a:rPr lang="sv-SE" dirty="0"/>
              <a:t> </a:t>
            </a:r>
            <a:r>
              <a:rPr lang="sv-SE" dirty="0" err="1"/>
              <a:t>amount</a:t>
            </a:r>
            <a:r>
              <a:rPr lang="sv-SE" dirty="0"/>
              <a:t> </a:t>
            </a:r>
            <a:r>
              <a:rPr lang="sv-SE" dirty="0" err="1"/>
              <a:t>may</a:t>
            </a:r>
            <a:r>
              <a:rPr lang="sv-SE" dirty="0"/>
              <a:t> be </a:t>
            </a:r>
            <a:r>
              <a:rPr lang="sv-SE" dirty="0" err="1"/>
              <a:t>quite</a:t>
            </a:r>
            <a:r>
              <a:rPr lang="sv-SE" dirty="0"/>
              <a:t> </a:t>
            </a:r>
            <a:r>
              <a:rPr lang="sv-SE" dirty="0" err="1"/>
              <a:t>big</a:t>
            </a:r>
            <a:endParaRPr lang="sv-SE" dirty="0"/>
          </a:p>
          <a:p>
            <a:pPr lvl="1"/>
            <a:r>
              <a:rPr lang="sv-SE" dirty="0"/>
              <a:t>A </a:t>
            </a:r>
            <a:r>
              <a:rPr lang="sv-SE" dirty="0" err="1"/>
              <a:t>known</a:t>
            </a:r>
            <a:r>
              <a:rPr lang="sv-SE" dirty="0"/>
              <a:t> </a:t>
            </a:r>
            <a:r>
              <a:rPr lang="sv-SE" dirty="0" err="1"/>
              <a:t>quantity</a:t>
            </a:r>
            <a:r>
              <a:rPr lang="sv-SE" dirty="0"/>
              <a:t> </a:t>
            </a:r>
            <a:r>
              <a:rPr lang="el-GR" b="1" dirty="0"/>
              <a:t>λ</a:t>
            </a:r>
            <a:r>
              <a:rPr lang="sv-SE" b="1" dirty="0"/>
              <a:t>=</a:t>
            </a:r>
            <a:r>
              <a:rPr lang="sv-SE" b="1" i="1" dirty="0" err="1"/>
              <a:t>np</a:t>
            </a:r>
            <a:r>
              <a:rPr lang="sv-SE" dirty="0"/>
              <a:t> is </a:t>
            </a:r>
            <a:r>
              <a:rPr lang="sv-SE" dirty="0" err="1"/>
              <a:t>mean</a:t>
            </a:r>
            <a:r>
              <a:rPr lang="sv-SE" dirty="0"/>
              <a:t> </a:t>
            </a:r>
            <a:r>
              <a:rPr lang="sv-SE" dirty="0" err="1"/>
              <a:t>amount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persons </a:t>
            </a:r>
            <a:r>
              <a:rPr lang="sv-SE" dirty="0" err="1"/>
              <a:t>that</a:t>
            </a:r>
            <a:r>
              <a:rPr lang="sv-SE" dirty="0"/>
              <a:t> call </a:t>
            </a:r>
            <a:r>
              <a:rPr lang="sv-SE" dirty="0" err="1"/>
              <a:t>between</a:t>
            </a:r>
            <a:r>
              <a:rPr lang="sv-SE" dirty="0"/>
              <a:t> 13.00 and 14.00</a:t>
            </a:r>
          </a:p>
          <a:p>
            <a:pPr lvl="1"/>
            <a:r>
              <a:rPr lang="sv-SE" b="1" dirty="0"/>
              <a:t>X</a:t>
            </a:r>
            <a:r>
              <a:rPr lang="sv-SE" dirty="0"/>
              <a:t>={</a:t>
            </a:r>
            <a:r>
              <a:rPr lang="sv-SE" dirty="0" err="1"/>
              <a:t>amount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persons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have</a:t>
            </a:r>
            <a:r>
              <a:rPr lang="sv-SE" dirty="0"/>
              <a:t> </a:t>
            </a:r>
            <a:r>
              <a:rPr lang="sv-SE" dirty="0" err="1"/>
              <a:t>called</a:t>
            </a:r>
            <a:r>
              <a:rPr lang="sv-SE" dirty="0"/>
              <a:t> </a:t>
            </a:r>
            <a:r>
              <a:rPr lang="sv-SE" dirty="0" err="1"/>
              <a:t>between</a:t>
            </a:r>
            <a:r>
              <a:rPr lang="sv-SE" dirty="0"/>
              <a:t> 13.00 and 14.00}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F0B53-9592-4779-891F-997228E46E01}" type="slidenum">
              <a:rPr lang="sv-SE" smtClean="0"/>
              <a:t>14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97043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Poisson</a:t>
            </a:r>
            <a:r>
              <a:rPr lang="sv-SE" dirty="0"/>
              <a:t>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91264" cy="45259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  <m:r>
                          <a:rPr lang="en-US" i="1">
                            <a:latin typeface="Cambria Math"/>
                          </a:rPr>
                          <m:t>=</m:t>
                        </m:r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sv-SE" b="0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sv-SE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sv-SE" b="0" i="1" smtClean="0">
                                <a:latin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  <m:r>
                              <a:rPr lang="en-US" i="1">
                                <a:latin typeface="Cambria Math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𝑟</m:t>
                                </m:r>
                              </m:e>
                            </m:d>
                            <m:r>
                              <a:rPr lang="en-US" i="1">
                                <a:latin typeface="Cambria Math"/>
                              </a:rPr>
                              <m:t>!</m:t>
                            </m:r>
                            <m:r>
                              <a:rPr lang="en-US" i="1">
                                <a:latin typeface="Cambria Math"/>
                              </a:rPr>
                              <m:t>𝑟</m:t>
                            </m:r>
                            <m:r>
                              <a:rPr lang="en-US" i="1">
                                <a:latin typeface="Cambria Math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lang="sv-S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𝑝</m:t>
                            </m:r>
                          </m:e>
                          <m:sup>
                            <m:r>
                              <a:rPr lang="sv-SE" i="1">
                                <a:latin typeface="Cambria Math"/>
                              </a:rPr>
                              <m:t>𝑟</m:t>
                            </m:r>
                          </m:sup>
                        </m:sSup>
                        <m:sSup>
                          <m:sSupPr>
                            <m:ctrlPr>
                              <a:rPr lang="sv-S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sv-S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sv-SE" i="1">
                                    <a:latin typeface="Cambria Math"/>
                                  </a:rPr>
                                  <m:t>1−</m:t>
                                </m:r>
                                <m:r>
                                  <a:rPr lang="sv-SE" i="1">
                                    <a:latin typeface="Cambria Math"/>
                                  </a:rPr>
                                  <m:t>𝑝</m:t>
                                </m:r>
                              </m:e>
                            </m:d>
                          </m:e>
                          <m:sup>
                            <m:r>
                              <a:rPr lang="sv-SE" i="1">
                                <a:latin typeface="Cambria Math"/>
                              </a:rPr>
                              <m:t>𝑛</m:t>
                            </m:r>
                            <m:r>
                              <a:rPr lang="sv-SE" i="1">
                                <a:latin typeface="Cambria Math"/>
                              </a:rPr>
                              <m:t>−</m:t>
                            </m:r>
                            <m:r>
                              <a:rPr lang="sv-SE" i="1">
                                <a:latin typeface="Cambria Math"/>
                              </a:rPr>
                              <m:t>𝑟</m:t>
                            </m:r>
                          </m:sup>
                        </m:sSup>
                      </m:e>
                    </m:func>
                  </m:oMath>
                </a14:m>
                <a:endParaRPr lang="sv-SE" dirty="0"/>
              </a:p>
              <a:p>
                <a:r>
                  <a:rPr lang="sv-SE" dirty="0"/>
                  <a:t>It </a:t>
                </a:r>
                <a:r>
                  <a:rPr lang="sv-SE" dirty="0" err="1"/>
                  <a:t>can</a:t>
                </a:r>
                <a:r>
                  <a:rPr lang="sv-SE" dirty="0"/>
                  <a:t> be </a:t>
                </a:r>
                <a:r>
                  <a:rPr lang="sv-SE" dirty="0" err="1"/>
                  <a:t>shown</a:t>
                </a:r>
                <a:r>
                  <a:rPr lang="sv-SE" dirty="0"/>
                  <a:t> </a:t>
                </a:r>
                <a:r>
                  <a:rPr lang="sv-SE" dirty="0" err="1"/>
                  <a:t>that</a:t>
                </a:r>
                <a:r>
                  <a:rPr lang="sv-SE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b="0" i="1" smtClean="0">
                              <a:latin typeface="Cambria Math"/>
                            </a:rPr>
                            <m:t>𝑋</m:t>
                          </m:r>
                          <m:r>
                            <a:rPr lang="sv-SE" b="0" i="1" smtClean="0">
                              <a:latin typeface="Cambria Math"/>
                            </a:rPr>
                            <m:t>=</m:t>
                          </m:r>
                          <m:r>
                            <a:rPr lang="sv-SE" b="0" i="1" smtClean="0">
                              <a:latin typeface="Cambria Math"/>
                            </a:rPr>
                            <m:t>𝑟</m:t>
                          </m:r>
                        </m:e>
                      </m:d>
                      <m:r>
                        <a:rPr lang="sv-SE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sv-S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v-SE" i="1">
                                  <a:latin typeface="Cambria Math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sv-SE" i="1">
                                  <a:latin typeface="Cambria Math"/>
                                </a:rPr>
                                <m:t>𝑟</m:t>
                              </m:r>
                            </m:sup>
                          </m:sSup>
                          <m:sSup>
                            <m:sSupPr>
                              <m:ctrlPr>
                                <a:rPr lang="sv-S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v-SE" i="1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sv-SE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sv-SE" i="1">
                                  <a:latin typeface="Cambria Math"/>
                                </a:rPr>
                                <m:t>𝜆</m:t>
                              </m:r>
                            </m:sup>
                          </m:sSup>
                        </m:num>
                        <m:den>
                          <m:r>
                            <a:rPr lang="sv-SE" b="0" i="1" smtClean="0">
                              <a:latin typeface="Cambria Math"/>
                            </a:rPr>
                            <m:t>𝑟</m:t>
                          </m:r>
                          <m:r>
                            <a:rPr lang="sv-SE" b="0" i="1" smtClean="0">
                              <a:latin typeface="Cambria Math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sv-SE" dirty="0"/>
              </a:p>
              <a:p>
                <a14:m>
                  <m:oMath xmlns:m="http://schemas.openxmlformats.org/officeDocument/2006/math">
                    <m:r>
                      <a:rPr lang="sv-SE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b="0" i="1" smtClean="0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sv-SE" b="0" i="1" smtClean="0">
                        <a:latin typeface="Cambria Math"/>
                      </a:rPr>
                      <m:t>=</m:t>
                    </m:r>
                    <m:r>
                      <a:rPr lang="sv-SE" b="0" i="1" smtClean="0">
                        <a:latin typeface="Cambria Math"/>
                      </a:rPr>
                      <m:t>𝜆</m:t>
                    </m:r>
                  </m:oMath>
                </a14:m>
                <a:endParaRPr lang="sv-SE" b="0" dirty="0"/>
              </a:p>
              <a:p>
                <a14:m>
                  <m:oMath xmlns:m="http://schemas.openxmlformats.org/officeDocument/2006/math">
                    <m:r>
                      <a:rPr lang="sv-SE" b="0" i="1" smtClean="0">
                        <a:latin typeface="Cambria Math"/>
                      </a:rPr>
                      <m:t>𝑉𝑎𝑟</m:t>
                    </m:r>
                    <m:d>
                      <m:dPr>
                        <m:ctrlPr>
                          <a:rPr lang="sv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i="1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sv-SE" i="1">
                        <a:latin typeface="Cambria Math"/>
                      </a:rPr>
                      <m:t>=</m:t>
                    </m:r>
                    <m:r>
                      <a:rPr lang="sv-SE" i="1">
                        <a:latin typeface="Cambria Math"/>
                      </a:rPr>
                      <m:t>𝜆</m:t>
                    </m:r>
                  </m:oMath>
                </a14:m>
                <a:endParaRPr lang="sv-SE" dirty="0"/>
              </a:p>
              <a:p>
                <a:endParaRPr lang="sv-SE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91264" cy="4525963"/>
              </a:xfrm>
              <a:blipFill>
                <a:blip r:embed="rId2"/>
                <a:stretch>
                  <a:fillRect l="-169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F0B53-9592-4779-891F-997228E46E01}" type="slidenum">
              <a:rPr lang="sv-SE" smtClean="0"/>
              <a:t>15</a:t>
            </a:fld>
            <a:endParaRPr lang="sv-SE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4088211"/>
            <a:ext cx="3153544" cy="2512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7827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Poisson</a:t>
            </a:r>
            <a:r>
              <a:rPr lang="sv-SE" dirty="0"/>
              <a:t>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Further</a:t>
            </a:r>
            <a:r>
              <a:rPr lang="sv-SE" dirty="0"/>
              <a:t> </a:t>
            </a:r>
            <a:r>
              <a:rPr lang="sv-SE" dirty="0" err="1"/>
              <a:t>properties</a:t>
            </a:r>
            <a:r>
              <a:rPr lang="sv-SE" dirty="0"/>
              <a:t>:</a:t>
            </a:r>
          </a:p>
          <a:p>
            <a:pPr lvl="1"/>
            <a:r>
              <a:rPr lang="en-US" dirty="0"/>
              <a:t>Poisson distribution is a good approximation of the binomial distribution if n &gt;20 and </a:t>
            </a:r>
            <a:r>
              <a:rPr lang="en-US" i="1" dirty="0"/>
              <a:t>p</a:t>
            </a:r>
            <a:r>
              <a:rPr lang="en-US" dirty="0"/>
              <a:t> &lt; 0.05</a:t>
            </a:r>
          </a:p>
          <a:p>
            <a:pPr lvl="1"/>
            <a:r>
              <a:rPr lang="en-US" dirty="0"/>
              <a:t>Excellent approximation if </a:t>
            </a:r>
            <a:r>
              <a:rPr lang="en-US" i="1" dirty="0"/>
              <a:t>n</a:t>
            </a:r>
            <a:r>
              <a:rPr lang="en-US" dirty="0"/>
              <a:t> ≥ 100 and </a:t>
            </a:r>
            <a:r>
              <a:rPr lang="en-US" i="1" dirty="0" err="1"/>
              <a:t>np</a:t>
            </a:r>
            <a:r>
              <a:rPr lang="en-US" dirty="0"/>
              <a:t> ≤ 10</a:t>
            </a:r>
            <a:endParaRPr lang="sv-S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F0B53-9592-4779-891F-997228E46E01}" type="slidenum">
              <a:rPr lang="sv-SE" smtClean="0"/>
              <a:t>16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91370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Normal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sv-SE" sz="2400" dirty="0"/>
                  <a:t>Appears in </a:t>
                </a:r>
                <a:r>
                  <a:rPr lang="sv-SE" sz="2400" dirty="0" err="1"/>
                  <a:t>almost</a:t>
                </a:r>
                <a:r>
                  <a:rPr lang="sv-SE" sz="2400" dirty="0"/>
                  <a:t> all </a:t>
                </a:r>
                <a:r>
                  <a:rPr lang="sv-SE" sz="2400" dirty="0" err="1"/>
                  <a:t>applications</a:t>
                </a:r>
                <a:endParaRPr lang="sv-SE" sz="2400" dirty="0"/>
              </a:p>
              <a:p>
                <a:pPr lvl="1"/>
                <a:r>
                  <a:rPr lang="sv-SE" sz="2000" dirty="0" err="1"/>
                  <a:t>Difference</a:t>
                </a:r>
                <a:r>
                  <a:rPr lang="sv-SE" sz="2000" dirty="0"/>
                  <a:t> </a:t>
                </a:r>
                <a:r>
                  <a:rPr lang="sv-SE" sz="2000" dirty="0" err="1"/>
                  <a:t>between</a:t>
                </a:r>
                <a:r>
                  <a:rPr lang="sv-SE" sz="2000" dirty="0"/>
                  <a:t> the </a:t>
                </a:r>
                <a:r>
                  <a:rPr lang="sv-SE" sz="2000" dirty="0" err="1"/>
                  <a:t>times</a:t>
                </a:r>
                <a:r>
                  <a:rPr lang="sv-SE" sz="2000" dirty="0"/>
                  <a:t> </a:t>
                </a:r>
                <a:r>
                  <a:rPr lang="sv-SE" sz="2000" dirty="0" err="1"/>
                  <a:t>required</a:t>
                </a:r>
                <a:r>
                  <a:rPr lang="sv-SE" sz="2000" dirty="0"/>
                  <a:t> </a:t>
                </a:r>
                <a:r>
                  <a:rPr lang="sv-SE" sz="2000" dirty="0" err="1"/>
                  <a:t>to</a:t>
                </a:r>
                <a:r>
                  <a:rPr lang="sv-SE" sz="2000" dirty="0"/>
                  <a:t> </a:t>
                </a:r>
                <a:r>
                  <a:rPr lang="sv-SE" sz="2000" dirty="0" err="1"/>
                  <a:t>download</a:t>
                </a:r>
                <a:r>
                  <a:rPr lang="sv-SE" sz="2000" dirty="0"/>
                  <a:t> </a:t>
                </a:r>
                <a:r>
                  <a:rPr lang="sv-SE" sz="2000" dirty="0" err="1"/>
                  <a:t>two</a:t>
                </a:r>
                <a:r>
                  <a:rPr lang="sv-SE" sz="2000" dirty="0"/>
                  <a:t> </a:t>
                </a:r>
                <a:r>
                  <a:rPr lang="sv-SE" sz="2000" dirty="0" err="1"/>
                  <a:t>specific</a:t>
                </a:r>
                <a:r>
                  <a:rPr lang="sv-SE" sz="2000" dirty="0"/>
                  <a:t> </a:t>
                </a:r>
                <a:r>
                  <a:rPr lang="sv-SE" sz="2000" dirty="0" err="1"/>
                  <a:t>documents</a:t>
                </a:r>
                <a:r>
                  <a:rPr lang="sv-SE" sz="2000" dirty="0"/>
                  <a:t> </a:t>
                </a:r>
                <a:r>
                  <a:rPr lang="sv-SE" sz="2000" dirty="0" err="1"/>
                  <a:t>to</a:t>
                </a:r>
                <a:r>
                  <a:rPr lang="sv-SE" sz="2000" dirty="0"/>
                  <a:t> a </a:t>
                </a:r>
                <a:r>
                  <a:rPr lang="sv-SE" sz="2000" dirty="0" err="1"/>
                  <a:t>specific</a:t>
                </a:r>
                <a:r>
                  <a:rPr lang="sv-SE" sz="2000" dirty="0"/>
                  <a:t> computer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400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400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sv-SE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sz="24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sv-SE" sz="2400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sv-SE" sz="2400" b="0" i="1" smtClean="0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</m:e>
                          </m:rad>
                          <m:r>
                            <a:rPr lang="sv-SE" sz="2400" b="0" i="1" smtClean="0">
                              <a:latin typeface="Cambria Math"/>
                              <a:ea typeface="Cambria Math"/>
                            </a:rPr>
                            <m:t>𝜎</m:t>
                          </m:r>
                        </m:den>
                      </m:f>
                      <m:sSup>
                        <m:sSupPr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400" b="0" i="1" smtClean="0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sv-SE" sz="2400" b="0" i="1" smtClean="0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sv-SE" sz="24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  <m:r>
                                        <a:rPr lang="sv-SE" sz="2400" b="0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sv-SE" sz="2400" b="0" i="1" smtClean="0">
                                          <a:latin typeface="Cambria Math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sv-SE" sz="24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sv-SE" sz="2400" b="0" i="1" smtClean="0">
                                  <a:latin typeface="Cambria Math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latin typeface="Cambria Math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  <m:r>
                        <a:rPr lang="sv-SE" sz="2400" b="0" i="1" smtClean="0">
                          <a:latin typeface="Cambria Math"/>
                        </a:rPr>
                        <m:t>, </m:t>
                      </m:r>
                      <m:r>
                        <a:rPr lang="sv-SE" sz="2400" b="0" i="1" smtClean="0">
                          <a:latin typeface="Cambria Math"/>
                        </a:rPr>
                        <m:t>𝜎</m:t>
                      </m:r>
                      <m:r>
                        <a:rPr lang="sv-SE" sz="2400" b="0" i="1" smtClean="0">
                          <a:latin typeface="Cambria Math"/>
                        </a:rPr>
                        <m:t>&gt;0</m:t>
                      </m:r>
                    </m:oMath>
                  </m:oMathPara>
                </a14:m>
                <a:endParaRPr lang="sv-SE" sz="2400" dirty="0"/>
              </a:p>
              <a:p>
                <a:pPr marL="0" indent="0">
                  <a:buNone/>
                </a:pPr>
                <a:endParaRPr lang="sv-SE" sz="2400" dirty="0"/>
              </a:p>
              <a:p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b="0" i="1" smtClean="0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sv-SE" sz="2400" b="0" i="1" smtClean="0">
                        <a:latin typeface="Cambria Math"/>
                      </a:rPr>
                      <m:t>=</m:t>
                    </m:r>
                    <m:r>
                      <a:rPr lang="sv-SE" sz="2400" b="0" i="1" smtClean="0">
                        <a:latin typeface="Cambria Math"/>
                      </a:rPr>
                      <m:t>𝜇</m:t>
                    </m:r>
                  </m:oMath>
                </a14:m>
                <a:endParaRPr lang="sv-SE" sz="2400" b="0" dirty="0"/>
              </a:p>
              <a:p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/>
                      </a:rPr>
                      <m:t>𝑉𝑎𝑟</m:t>
                    </m:r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b="0" i="1" smtClean="0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sv-SE" sz="24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400" b="0" i="1" smtClean="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sv-SE" sz="24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sv-SE" sz="2400" dirty="0"/>
              </a:p>
              <a:p>
                <a:pPr marL="0" indent="0">
                  <a:buNone/>
                </a:pPr>
                <a:endParaRPr lang="sv-SE" sz="2400" dirty="0"/>
              </a:p>
              <a:p>
                <a:endParaRPr lang="sv-SE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F0B53-9592-4779-891F-997228E46E01}" type="slidenum">
              <a:rPr lang="sv-SE" smtClean="0"/>
              <a:t>17</a:t>
            </a:fld>
            <a:endParaRPr lang="sv-SE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3649897"/>
            <a:ext cx="4248472" cy="2714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2091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Multivariate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Probability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two</a:t>
            </a:r>
            <a:r>
              <a:rPr lang="sv-SE" dirty="0"/>
              <a:t> </a:t>
            </a:r>
            <a:r>
              <a:rPr lang="sv-SE" dirty="0" err="1"/>
              <a:t>variables</a:t>
            </a:r>
            <a:r>
              <a:rPr lang="sv-SE" dirty="0"/>
              <a:t> </a:t>
            </a:r>
            <a:r>
              <a:rPr lang="sv-SE" dirty="0" err="1"/>
              <a:t>having</a:t>
            </a:r>
            <a:r>
              <a:rPr lang="sv-SE" dirty="0"/>
              <a:t> </a:t>
            </a:r>
            <a:r>
              <a:rPr lang="sv-SE" dirty="0" err="1"/>
              <a:t>certain</a:t>
            </a:r>
            <a:r>
              <a:rPr lang="sv-SE" dirty="0"/>
              <a:t> </a:t>
            </a:r>
            <a:r>
              <a:rPr lang="sv-SE" dirty="0" err="1"/>
              <a:t>values</a:t>
            </a:r>
            <a:r>
              <a:rPr lang="sv-SE" dirty="0"/>
              <a:t> at the same </a:t>
            </a:r>
            <a:r>
              <a:rPr lang="sv-SE" dirty="0" err="1"/>
              <a:t>time</a:t>
            </a:r>
            <a:endParaRPr lang="sv-SE" dirty="0"/>
          </a:p>
          <a:p>
            <a:pPr lvl="1"/>
            <a:r>
              <a:rPr lang="sv-SE" dirty="0"/>
              <a:t>P.D.F. p(</a:t>
            </a:r>
            <a:r>
              <a:rPr lang="sv-SE" dirty="0" err="1"/>
              <a:t>x,y</a:t>
            </a:r>
            <a:r>
              <a:rPr lang="sv-SE" dirty="0"/>
              <a:t>)</a:t>
            </a:r>
          </a:p>
          <a:p>
            <a:pPr lvl="1"/>
            <a:r>
              <a:rPr lang="sv-SE" dirty="0" err="1"/>
              <a:t>Correlation</a:t>
            </a:r>
            <a:endParaRPr lang="sv-SE" dirty="0"/>
          </a:p>
          <a:p>
            <a:pPr marL="0" indent="0">
              <a:buNone/>
            </a:pPr>
            <a:endParaRPr lang="sv-S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F0B53-9592-4779-891F-997228E46E01}" type="slidenum">
              <a:rPr lang="sv-SE" smtClean="0"/>
              <a:t>18</a:t>
            </a:fld>
            <a:endParaRPr lang="sv-SE"/>
          </a:p>
        </p:txBody>
      </p:sp>
      <p:pic>
        <p:nvPicPr>
          <p:cNvPr id="6148" name="Picture 4" descr="http://www.philender.com/courses/multivariate/notes2/b0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933056"/>
            <a:ext cx="3971925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http://www.philender.com/courses/multivariate/notes2/b61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4149080"/>
            <a:ext cx="402907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1542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Basic ML </a:t>
            </a:r>
            <a:r>
              <a:rPr lang="sv-SE" dirty="0" err="1"/>
              <a:t>ingridients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sv-SE" sz="2400" dirty="0"/>
                  <a:t>Data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sv-SE" sz="2400" dirty="0"/>
                  <a:t>: observations </a:t>
                </a:r>
              </a:p>
              <a:p>
                <a:pPr lvl="1"/>
                <a:r>
                  <a:rPr lang="sv-SE" sz="2000" dirty="0"/>
                  <a:t>Features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,.. </m:t>
                    </m:r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sv-SE" sz="2000" b="0" dirty="0"/>
              </a:p>
              <a:p>
                <a:pPr lvl="1"/>
                <a:r>
                  <a:rPr lang="sv-SE" sz="2000" dirty="0"/>
                  <a:t>Targets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sv-SE" sz="2000" b="0" dirty="0"/>
              </a:p>
              <a:p>
                <a:pPr lvl="1"/>
                <a:endParaRPr lang="sv-SE" sz="2000" dirty="0"/>
              </a:p>
              <a:p>
                <a:endParaRPr lang="sv-SE" sz="2400" dirty="0"/>
              </a:p>
              <a:p>
                <a:r>
                  <a:rPr lang="sv-SE" sz="2400" dirty="0" err="1"/>
                  <a:t>Mathematical</a:t>
                </a:r>
                <a:r>
                  <a:rPr lang="sv-SE" sz="2400" dirty="0"/>
                  <a:t> </a:t>
                </a:r>
                <a:r>
                  <a:rPr lang="sv-SE" sz="2400" dirty="0" err="1"/>
                  <a:t>Model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| </m:t>
                        </m:r>
                        <m:sSub>
                          <m:sSubPr>
                            <m:ctrlP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sv-SE" sz="2400" b="0" dirty="0"/>
                  <a:t> or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sv-SE" sz="2400" b="0" dirty="0"/>
              </a:p>
              <a:p>
                <a:pPr lvl="1"/>
                <a:r>
                  <a:rPr lang="sv-SE" sz="2000" b="0" dirty="0" err="1"/>
                  <a:t>Example</a:t>
                </a:r>
                <a:r>
                  <a:rPr lang="sv-SE" sz="2000" b="0" dirty="0"/>
                  <a:t>: </a:t>
                </a:r>
                <a:r>
                  <a:rPr lang="sv-SE" sz="2000" b="0" dirty="0" err="1"/>
                  <a:t>Linear</a:t>
                </a:r>
                <a:r>
                  <a:rPr lang="sv-SE" sz="2000" b="0" dirty="0"/>
                  <a:t> regression </a:t>
                </a:r>
                <a14:m>
                  <m:oMath xmlns:m="http://schemas.openxmlformats.org/officeDocument/2006/math">
                    <m:r>
                      <a:rPr lang="sv-SE" sz="2000" i="1">
                        <a:latin typeface="Cambria Math"/>
                        <a:sym typeface="Symbol" pitchFamily="18" charset="2"/>
                      </a:rPr>
                      <m:t>𝑝</m:t>
                    </m:r>
                    <m:d>
                      <m:dPr>
                        <m:ctrlPr>
                          <a:rPr lang="sv-SE" sz="2000" i="1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sv-SE" sz="2000" i="1">
                            <a:latin typeface="Cambria Math"/>
                            <a:sym typeface="Symbol" pitchFamily="18" charset="2"/>
                          </a:rPr>
                          <m:t>𝑦</m:t>
                        </m:r>
                      </m:e>
                      <m:e>
                        <m:r>
                          <a:rPr lang="sv-SE" sz="2000" i="1">
                            <a:latin typeface="Cambria Math"/>
                            <a:sym typeface="Symbol" pitchFamily="18" charset="2"/>
                          </a:rPr>
                          <m:t>𝑥</m:t>
                        </m:r>
                        <m:r>
                          <a:rPr lang="sv-SE" sz="2000" i="1">
                            <a:latin typeface="Cambria Math"/>
                            <a:sym typeface="Symbol" pitchFamily="18" charset="2"/>
                          </a:rPr>
                          <m:t>,</m:t>
                        </m:r>
                        <m:r>
                          <a:rPr lang="sv-SE" sz="2000" i="1">
                            <a:latin typeface="Cambria Math"/>
                            <a:sym typeface="Symbol" pitchFamily="18" charset="2"/>
                          </a:rPr>
                          <m:t>𝑤</m:t>
                        </m:r>
                      </m:e>
                    </m:d>
                    <m:r>
                      <a:rPr lang="sv-SE" sz="2000" i="1">
                        <a:latin typeface="Cambria Math"/>
                        <a:sym typeface="Symbol" pitchFamily="18" charset="2"/>
                      </a:rPr>
                      <m:t>=</m:t>
                    </m:r>
                    <m:r>
                      <a:rPr lang="sv-SE" sz="2000" i="1">
                        <a:latin typeface="Cambria Math"/>
                        <a:sym typeface="Symbol" pitchFamily="18" charset="2"/>
                      </a:rPr>
                      <m:t>𝑁</m:t>
                    </m:r>
                    <m:d>
                      <m:dPr>
                        <m:ctrlPr>
                          <a:rPr lang="sv-SE" sz="2000" i="1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sz="2000" i="1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sv-SE" sz="2000" i="1">
                                <a:latin typeface="Cambria Math"/>
                                <a:sym typeface="Symbol" pitchFamily="18" charset="2"/>
                              </a:rPr>
                              <m:t>𝑤</m:t>
                            </m:r>
                          </m:e>
                          <m:sub>
                            <m:r>
                              <a:rPr lang="sv-SE" sz="2000" i="1">
                                <a:latin typeface="Cambria Math"/>
                                <a:sym typeface="Symbol" pitchFamily="18" charset="2"/>
                              </a:rPr>
                              <m:t>0</m:t>
                            </m:r>
                          </m:sub>
                        </m:sSub>
                        <m:r>
                          <a:rPr lang="sv-SE" sz="2000" i="1">
                            <a:latin typeface="Cambria Math"/>
                            <a:sym typeface="Symbol" pitchFamily="18" charset="2"/>
                          </a:rPr>
                          <m:t>+</m:t>
                        </m:r>
                        <m:sSub>
                          <m:sSubPr>
                            <m:ctrlPr>
                              <a:rPr lang="sv-SE" sz="2000" i="1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sv-SE" sz="2000" i="1">
                                <a:latin typeface="Cambria Math"/>
                                <a:sym typeface="Symbol" pitchFamily="18" charset="2"/>
                              </a:rPr>
                              <m:t>𝑤</m:t>
                            </m:r>
                          </m:e>
                          <m:sub>
                            <m:r>
                              <a:rPr lang="sv-SE" sz="2000" i="1">
                                <a:latin typeface="Cambria Math"/>
                                <a:sym typeface="Symbol" pitchFamily="18" charset="2"/>
                              </a:rPr>
                              <m:t>1</m:t>
                            </m:r>
                          </m:sub>
                        </m:sSub>
                        <m:r>
                          <a:rPr lang="sv-SE" sz="2000" i="1">
                            <a:latin typeface="Cambria Math"/>
                            <a:sym typeface="Symbol" pitchFamily="18" charset="2"/>
                          </a:rPr>
                          <m:t>𝑥</m:t>
                        </m:r>
                        <m:r>
                          <a:rPr lang="sv-SE" sz="2000" b="1" i="1">
                            <a:latin typeface="Cambria Math"/>
                            <a:sym typeface="Symbol" pitchFamily="18" charset="2"/>
                          </a:rPr>
                          <m:t>, </m:t>
                        </m:r>
                        <m:sSup>
                          <m:sSupPr>
                            <m:ctrlPr>
                              <a:rPr lang="sv-SE" sz="2000" i="1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pPr>
                          <m:e>
                            <m:r>
                              <a:rPr lang="sv-SE" sz="2000" i="1">
                                <a:latin typeface="Cambria Math"/>
                                <a:sym typeface="Symbol" pitchFamily="18" charset="2"/>
                              </a:rPr>
                              <m:t>𝜎</m:t>
                            </m:r>
                          </m:e>
                          <m:sup>
                            <m:r>
                              <a:rPr lang="sv-SE" sz="2000" i="1">
                                <a:latin typeface="Cambria Math"/>
                                <a:sym typeface="Symbol" pitchFamily="18" charset="2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sv-SE" sz="2000" b="0" dirty="0"/>
              </a:p>
              <a:p>
                <a:pPr lvl="1"/>
                <a:endParaRPr lang="sv-SE" sz="2000" b="0" dirty="0"/>
              </a:p>
              <a:p>
                <a:r>
                  <a:rPr lang="sv-SE" sz="2400" dirty="0"/>
                  <a:t>Learning </a:t>
                </a:r>
                <a:r>
                  <a:rPr lang="sv-SE" sz="2400" dirty="0" err="1"/>
                  <a:t>algorithm</a:t>
                </a:r>
                <a:r>
                  <a:rPr lang="sv-SE" sz="2400" dirty="0"/>
                  <a:t> (</a:t>
                </a:r>
                <a:r>
                  <a:rPr lang="sv-SE" sz="2400" dirty="0" err="1"/>
                  <a:t>data</a:t>
                </a:r>
                <a:r>
                  <a:rPr lang="sv-SE" sz="2400" dirty="0" err="1">
                    <a:sym typeface="Wingdings" panose="05000000000000000000" pitchFamily="2" charset="2"/>
                  </a:rPr>
                  <a:t>get</a:t>
                </a:r>
                <a:r>
                  <a:rPr lang="sv-SE" sz="2400" dirty="0">
                    <a:sym typeface="Wingdings" panose="05000000000000000000" pitchFamily="2" charset="2"/>
                  </a:rPr>
                  <a:t> parameters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sv-SE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𝑤</m:t>
                        </m:r>
                      </m:e>
                    </m:acc>
                  </m:oMath>
                </a14:m>
                <a:r>
                  <a:rPr lang="sv-SE" sz="2400" dirty="0"/>
                  <a:t> or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sv-SE" sz="2400" dirty="0"/>
                  <a:t> )</a:t>
                </a:r>
              </a:p>
              <a:p>
                <a:pPr lvl="1"/>
                <a:r>
                  <a:rPr lang="sv-SE" sz="2000" dirty="0"/>
                  <a:t>Maximum </a:t>
                </a:r>
                <a:r>
                  <a:rPr lang="sv-SE" sz="2000" dirty="0" err="1"/>
                  <a:t>likelihood</a:t>
                </a:r>
                <a:r>
                  <a:rPr lang="sv-SE" sz="2000" dirty="0"/>
                  <a:t>, </a:t>
                </a:r>
                <a:r>
                  <a:rPr lang="sv-SE" sz="2000" dirty="0" err="1"/>
                  <a:t>Bayesian</a:t>
                </a:r>
                <a:r>
                  <a:rPr lang="sv-SE" sz="2000" dirty="0"/>
                  <a:t> </a:t>
                </a:r>
                <a:r>
                  <a:rPr lang="sv-SE" sz="2000" dirty="0" err="1"/>
                  <a:t>estimation</a:t>
                </a:r>
                <a:endParaRPr lang="sv-SE" sz="2000" dirty="0"/>
              </a:p>
              <a:p>
                <a:endParaRPr lang="sv-SE" sz="2400" dirty="0"/>
              </a:p>
              <a:p>
                <a:r>
                  <a:rPr lang="sv-SE" sz="2400" dirty="0" err="1"/>
                  <a:t>Predict</a:t>
                </a:r>
                <a:r>
                  <a:rPr lang="sv-SE" sz="2400" dirty="0"/>
                  <a:t>  new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sv-SE" sz="2400" dirty="0"/>
                  <a:t> by </a:t>
                </a:r>
                <a:r>
                  <a:rPr lang="sv-SE" sz="2400" dirty="0" err="1"/>
                  <a:t>using</a:t>
                </a:r>
                <a:r>
                  <a:rPr lang="sv-SE" sz="2400" dirty="0"/>
                  <a:t> the </a:t>
                </a:r>
                <a:r>
                  <a:rPr lang="sv-SE" sz="2400" dirty="0" err="1"/>
                  <a:t>fitted</a:t>
                </a:r>
                <a:r>
                  <a:rPr lang="sv-SE" sz="2400" dirty="0"/>
                  <a:t> </a:t>
                </a:r>
                <a:r>
                  <a:rPr lang="sv-SE" sz="2400" dirty="0" err="1"/>
                  <a:t>model</a:t>
                </a:r>
                <a:endParaRPr lang="sv-SE" sz="2400" dirty="0"/>
              </a:p>
            </p:txBody>
          </p:sp>
        </mc:Choice>
        <mc:Fallback xmlns="">
          <p:sp>
            <p:nvSpPr>
              <p:cNvPr id="3" name="Platshållare för innehåll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3" t="-1887" b="-175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l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7359980"/>
                  </p:ext>
                </p:extLst>
              </p:nvPr>
            </p:nvGraphicFramePr>
            <p:xfrm>
              <a:off x="5084420" y="1682135"/>
              <a:ext cx="3624064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6016">
                      <a:extLst>
                        <a:ext uri="{9D8B030D-6E8A-4147-A177-3AD203B41FA5}">
                          <a16:colId xmlns:a16="http://schemas.microsoft.com/office/drawing/2014/main" val="2761139198"/>
                        </a:ext>
                      </a:extLst>
                    </a:gridCol>
                    <a:gridCol w="906016">
                      <a:extLst>
                        <a:ext uri="{9D8B030D-6E8A-4147-A177-3AD203B41FA5}">
                          <a16:colId xmlns:a16="http://schemas.microsoft.com/office/drawing/2014/main" val="131809531"/>
                        </a:ext>
                      </a:extLst>
                    </a:gridCol>
                    <a:gridCol w="906016">
                      <a:extLst>
                        <a:ext uri="{9D8B030D-6E8A-4147-A177-3AD203B41FA5}">
                          <a16:colId xmlns:a16="http://schemas.microsoft.com/office/drawing/2014/main" val="3121050123"/>
                        </a:ext>
                      </a:extLst>
                    </a:gridCol>
                    <a:gridCol w="906016">
                      <a:extLst>
                        <a:ext uri="{9D8B030D-6E8A-4147-A177-3AD203B41FA5}">
                          <a16:colId xmlns:a16="http://schemas.microsoft.com/office/drawing/2014/main" val="29610338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Case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sv-SE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07641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87621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92716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30296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l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7359980"/>
                  </p:ext>
                </p:extLst>
              </p:nvPr>
            </p:nvGraphicFramePr>
            <p:xfrm>
              <a:off x="5084420" y="1682135"/>
              <a:ext cx="3624064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6016">
                      <a:extLst>
                        <a:ext uri="{9D8B030D-6E8A-4147-A177-3AD203B41FA5}">
                          <a16:colId xmlns:a16="http://schemas.microsoft.com/office/drawing/2014/main" val="2761139198"/>
                        </a:ext>
                      </a:extLst>
                    </a:gridCol>
                    <a:gridCol w="906016">
                      <a:extLst>
                        <a:ext uri="{9D8B030D-6E8A-4147-A177-3AD203B41FA5}">
                          <a16:colId xmlns:a16="http://schemas.microsoft.com/office/drawing/2014/main" val="131809531"/>
                        </a:ext>
                      </a:extLst>
                    </a:gridCol>
                    <a:gridCol w="906016">
                      <a:extLst>
                        <a:ext uri="{9D8B030D-6E8A-4147-A177-3AD203B41FA5}">
                          <a16:colId xmlns:a16="http://schemas.microsoft.com/office/drawing/2014/main" val="3121050123"/>
                        </a:ext>
                      </a:extLst>
                    </a:gridCol>
                    <a:gridCol w="906016">
                      <a:extLst>
                        <a:ext uri="{9D8B030D-6E8A-4147-A177-3AD203B41FA5}">
                          <a16:colId xmlns:a16="http://schemas.microsoft.com/office/drawing/2014/main" val="29610338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Case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blipFill>
                          <a:blip r:embed="rId4"/>
                          <a:stretch>
                            <a:fillRect l="-100671" t="-8197" r="-202013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blipFill>
                          <a:blip r:embed="rId4"/>
                          <a:stretch>
                            <a:fillRect l="-202027" t="-8197" r="-103378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8197" r="-2685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07641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87621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92716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302969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19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25377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Probabilistic</a:t>
            </a:r>
            <a:r>
              <a:rPr lang="sv-SE" dirty="0"/>
              <a:t> </a:t>
            </a:r>
            <a:r>
              <a:rPr lang="sv-SE" dirty="0" err="1"/>
              <a:t>models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dirty="0"/>
                  <a:t>A distribution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b="0" i="1" smtClean="0">
                            <a:latin typeface="Cambria Math"/>
                          </a:rPr>
                          <m:t>𝑥</m:t>
                        </m:r>
                      </m:e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sv-SE" b="0" dirty="0"/>
                  <a:t> or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/>
                      </a:rPr>
                      <m:t>𝑝</m:t>
                    </m:r>
                    <m:r>
                      <a:rPr lang="sv-SE" b="0" i="1" smtClean="0">
                        <a:latin typeface="Cambria Math"/>
                      </a:rPr>
                      <m:t>(</m:t>
                    </m:r>
                    <m:r>
                      <a:rPr lang="sv-SE" b="0" i="1" smtClean="0">
                        <a:latin typeface="Cambria Math"/>
                      </a:rPr>
                      <m:t>𝑦</m:t>
                    </m:r>
                    <m:r>
                      <a:rPr lang="sv-SE" b="0" i="1" smtClean="0">
                        <a:latin typeface="Cambria Math"/>
                      </a:rPr>
                      <m:t>|</m:t>
                    </m:r>
                    <m:r>
                      <a:rPr lang="sv-SE" b="0" i="1" smtClean="0">
                        <a:latin typeface="Cambria Math"/>
                      </a:rPr>
                      <m:t>𝑥</m:t>
                    </m:r>
                    <m:r>
                      <a:rPr lang="sv-SE" b="0" i="1" smtClean="0">
                        <a:latin typeface="Cambria Math"/>
                      </a:rPr>
                      <m:t>, 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sv-SE" b="0" i="1" smtClean="0">
                        <a:latin typeface="Cambria Math"/>
                      </a:rPr>
                      <m:t>)</m:t>
                    </m:r>
                  </m:oMath>
                </a14:m>
                <a:endParaRPr lang="sv-SE" b="0" dirty="0"/>
              </a:p>
              <a:p>
                <a:r>
                  <a:rPr lang="sv-SE" dirty="0" err="1"/>
                  <a:t>Example</a:t>
                </a:r>
                <a:r>
                  <a:rPr lang="sv-SE" dirty="0"/>
                  <a:t>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sv-SE" b="0" i="1" smtClean="0">
                        <a:latin typeface="Cambria Math"/>
                      </a:rPr>
                      <m:t>𝑥</m:t>
                    </m:r>
                    <m:r>
                      <a:rPr lang="sv-SE" b="0" i="1" smtClean="0">
                        <a:latin typeface="Cambria Math"/>
                      </a:rPr>
                      <m:t>~</m:t>
                    </m:r>
                    <m:r>
                      <a:rPr lang="sv-SE" b="0" i="1" smtClean="0">
                        <a:latin typeface="Cambria Math"/>
                      </a:rPr>
                      <m:t>𝐵𝑖𝑛</m:t>
                    </m:r>
                    <m:d>
                      <m:d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b="0" i="1" smtClean="0">
                            <a:latin typeface="Cambria Math"/>
                          </a:rPr>
                          <m:t>𝑛</m:t>
                        </m:r>
                        <m:r>
                          <a:rPr lang="sv-SE" b="0" i="1" smtClean="0">
                            <a:latin typeface="Cambria Math"/>
                          </a:rPr>
                          <m:t>, </m:t>
                        </m:r>
                        <m:r>
                          <a:rPr lang="sv-SE" b="0" i="1" smtClean="0">
                            <a:latin typeface="Cambria Math"/>
                          </a:rPr>
                          <m:t>𝜃</m:t>
                        </m:r>
                      </m:e>
                    </m:d>
                  </m:oMath>
                </a14:m>
                <a:endParaRPr lang="sv-SE" b="0" dirty="0"/>
              </a:p>
              <a:p>
                <a:pPr lvl="1"/>
                <a:endParaRPr lang="sv-SE" dirty="0"/>
              </a:p>
              <a:p>
                <a:pPr lvl="1"/>
                <a:endParaRPr lang="sv-SE" dirty="0"/>
              </a:p>
              <a:p>
                <a:pPr lvl="1"/>
                <a14:m>
                  <m:oMath xmlns:m="http://schemas.openxmlformats.org/officeDocument/2006/math">
                    <m:r>
                      <a:rPr lang="sv-SE" b="0" i="1" smtClean="0">
                        <a:latin typeface="Cambria Math"/>
                      </a:rPr>
                      <m:t>𝑦</m:t>
                    </m:r>
                    <m:r>
                      <a:rPr lang="sv-SE" b="0" i="1" smtClean="0">
                        <a:latin typeface="Cambria Math"/>
                      </a:rPr>
                      <m:t>~</m:t>
                    </m:r>
                    <m:r>
                      <a:rPr lang="sv-SE" b="0" i="1" smtClean="0">
                        <a:latin typeface="Cambria Math"/>
                      </a:rPr>
                      <m:t>𝑁</m:t>
                    </m:r>
                    <m:r>
                      <a:rPr lang="sv-SE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sv-SE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sv-SE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sv-SE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sv-SE" b="0" i="1" smtClean="0">
                        <a:latin typeface="Cambria Math"/>
                      </a:rPr>
                      <m:t>𝑥</m:t>
                    </m:r>
                    <m:r>
                      <a:rPr lang="sv-SE" b="0" i="1" smtClean="0">
                        <a:latin typeface="Cambria Math"/>
                      </a:rPr>
                      <m:t>, </m:t>
                    </m:r>
                    <m:sSup>
                      <m:sSup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b="0" i="1" smtClean="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sv-SE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sv-SE" b="0" i="1" smtClean="0">
                        <a:latin typeface="Cambria Math"/>
                      </a:rPr>
                      <m:t>)</m:t>
                    </m:r>
                  </m:oMath>
                </a14:m>
                <a:endParaRPr lang="sv-SE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2132856"/>
            <a:ext cx="2527590" cy="2126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11560" y="3420491"/>
                <a:ext cx="4464496" cy="508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sv-SE" b="0" i="1" smtClean="0">
                              <a:latin typeface="Cambria Math"/>
                            </a:rPr>
                            <m:t>𝑘</m:t>
                          </m:r>
                        </m:e>
                        <m:e>
                          <m:r>
                            <a:rPr lang="sv-SE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sv-SE" b="0" i="1" smtClean="0">
                              <a:latin typeface="Cambria Math"/>
                            </a:rPr>
                            <m:t>,</m:t>
                          </m:r>
                          <m:r>
                            <a:rPr lang="sv-SE" b="0" i="1" smtClean="0">
                              <a:latin typeface="Cambria Math"/>
                            </a:rPr>
                            <m:t>𝜃</m:t>
                          </m:r>
                        </m:e>
                      </m:d>
                      <m:r>
                        <a:rPr lang="sv-SE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sv-SE" b="0" i="1" smtClean="0">
                                    <a:latin typeface="Cambria Math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sv-SE" b="0" i="1" smtClean="0">
                                    <a:latin typeface="Cambria Math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b="0" i="1" smtClean="0">
                              <a:latin typeface="Cambria Math"/>
                            </a:rPr>
                            <m:t>𝜃</m:t>
                          </m:r>
                        </m:e>
                        <m:sup>
                          <m:r>
                            <a:rPr lang="sv-SE" b="0" i="1" smtClean="0">
                              <a:latin typeface="Cambria Math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b="0" i="1" smtClean="0">
                                  <a:latin typeface="Cambria Math"/>
                                </a:rPr>
                                <m:t>1−</m:t>
                              </m:r>
                              <m:r>
                                <a:rPr lang="sv-SE" b="0" i="1" smtClean="0">
                                  <a:latin typeface="Cambria Math"/>
                                </a:rPr>
                                <m:t>𝜃</m:t>
                              </m:r>
                            </m:e>
                          </m:d>
                        </m:e>
                        <m:sup>
                          <m:r>
                            <a:rPr lang="sv-SE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sv-SE" b="0" i="1" smtClean="0">
                              <a:latin typeface="Cambria Math"/>
                            </a:rPr>
                            <m:t>−</m:t>
                          </m:r>
                          <m:r>
                            <a:rPr lang="sv-SE" b="0" i="1" smtClean="0">
                              <a:latin typeface="Cambria Math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3420491"/>
                <a:ext cx="4464496" cy="508216"/>
              </a:xfrm>
              <a:prstGeom prst="rect">
                <a:avLst/>
              </a:prstGeom>
              <a:blipFill>
                <a:blip r:embed="rId5"/>
                <a:stretch>
                  <a:fillRect b="-722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67544" y="54452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>
                <a:solidFill>
                  <a:srgbClr val="C00000"/>
                </a:solidFill>
              </a:rPr>
              <a:t>Learn</a:t>
            </a:r>
            <a:r>
              <a:rPr lang="sv-SE" dirty="0">
                <a:solidFill>
                  <a:srgbClr val="C00000"/>
                </a:solidFill>
              </a:rPr>
              <a:t> </a:t>
            </a:r>
            <a:r>
              <a:rPr lang="sv-SE" dirty="0" err="1">
                <a:solidFill>
                  <a:srgbClr val="C00000"/>
                </a:solidFill>
              </a:rPr>
              <a:t>basic</a:t>
            </a:r>
            <a:r>
              <a:rPr lang="sv-SE" dirty="0">
                <a:solidFill>
                  <a:srgbClr val="C00000"/>
                </a:solidFill>
              </a:rPr>
              <a:t> distributions and </a:t>
            </a:r>
            <a:r>
              <a:rPr lang="sv-SE" dirty="0" err="1">
                <a:solidFill>
                  <a:srgbClr val="C00000"/>
                </a:solidFill>
              </a:rPr>
              <a:t>their</a:t>
            </a:r>
            <a:r>
              <a:rPr lang="sv-SE" dirty="0">
                <a:solidFill>
                  <a:srgbClr val="C00000"/>
                </a:solidFill>
              </a:rPr>
              <a:t> </a:t>
            </a:r>
            <a:r>
              <a:rPr lang="sv-SE" dirty="0" err="1">
                <a:solidFill>
                  <a:srgbClr val="C00000"/>
                </a:solidFill>
              </a:rPr>
              <a:t>properties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59397" name="Picture 5" descr="http://upload.wikimedia.org/wikipedia/commons/thumb/3/3a/Linear_regression.svg/438px-Linear_regression.svg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3827" y="4581128"/>
            <a:ext cx="2160240" cy="1425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732240" y="6136637"/>
            <a:ext cx="108011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700" dirty="0">
                <a:solidFill>
                  <a:schemeClr val="bg1">
                    <a:lumMod val="75000"/>
                  </a:schemeClr>
                </a:solidFill>
              </a:rPr>
              <a:t>Source: </a:t>
            </a:r>
            <a:r>
              <a:rPr lang="sv-SE" sz="700" dirty="0" err="1">
                <a:solidFill>
                  <a:schemeClr val="bg1">
                    <a:lumMod val="75000"/>
                  </a:schemeClr>
                </a:solidFill>
              </a:rPr>
              <a:t>Wikipedia</a:t>
            </a:r>
            <a:endParaRPr lang="sv-SE" sz="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16208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Fitting</a:t>
            </a:r>
            <a:r>
              <a:rPr lang="sv-SE" dirty="0"/>
              <a:t> a </a:t>
            </a:r>
            <a:r>
              <a:rPr lang="sv-SE" dirty="0" err="1"/>
              <a:t>model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dirty="0"/>
                  <a:t>Given </a:t>
                </a:r>
                <a:r>
                  <a:rPr lang="sv-SE" dirty="0" err="1"/>
                  <a:t>dataset</a:t>
                </a:r>
                <a:r>
                  <a:rPr lang="sv-SE" dirty="0"/>
                  <a:t> </a:t>
                </a:r>
                <a14:m>
                  <m:oMath xmlns:m="http://schemas.openxmlformats.org/officeDocument/2006/math">
                    <m:r>
                      <a:rPr lang="sv-SE" altLang="sv-SE" sz="28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sv-SE" altLang="sv-SE" dirty="0"/>
                  <a:t> and </a:t>
                </a:r>
                <a:r>
                  <a:rPr lang="sv-SE" altLang="sv-SE" dirty="0" err="1"/>
                  <a:t>model</a:t>
                </a:r>
                <a:r>
                  <a:rPr lang="sv-SE" altLang="sv-SE" dirty="0"/>
                  <a:t> </a:t>
                </a:r>
                <a14:m>
                  <m:oMath xmlns:m="http://schemas.openxmlformats.org/officeDocument/2006/math">
                    <m:r>
                      <a:rPr lang="sv-SE" sz="2000" b="0" i="1" smtClean="0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000" b="1" i="1" smtClean="0">
                            <a:latin typeface="Cambria Math"/>
                          </a:rPr>
                          <m:t>𝒙</m:t>
                        </m:r>
                      </m:e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sv-SE" sz="2000" b="0" dirty="0"/>
                  <a:t> or </a:t>
                </a:r>
                <a14:m>
                  <m:oMath xmlns:m="http://schemas.openxmlformats.org/officeDocument/2006/math">
                    <m:r>
                      <a:rPr lang="sv-SE" sz="2000" b="0" i="1" smtClean="0">
                        <a:latin typeface="Cambria Math"/>
                      </a:rPr>
                      <m:t>𝑝</m:t>
                    </m:r>
                    <m:r>
                      <a:rPr lang="sv-SE" sz="2000" b="0" i="1" smtClean="0">
                        <a:latin typeface="Cambria Math"/>
                      </a:rPr>
                      <m:t>(</m:t>
                    </m:r>
                    <m:r>
                      <a:rPr lang="sv-SE" sz="2000" b="0" i="1" smtClean="0">
                        <a:latin typeface="Cambria Math"/>
                      </a:rPr>
                      <m:t>𝑦</m:t>
                    </m:r>
                    <m:r>
                      <a:rPr lang="sv-SE" sz="2000" b="0" i="1" smtClean="0">
                        <a:latin typeface="Cambria Math"/>
                      </a:rPr>
                      <m:t>|</m:t>
                    </m:r>
                    <m:r>
                      <a:rPr lang="sv-SE" sz="2000" b="1" i="1" smtClean="0">
                        <a:latin typeface="Cambria Math"/>
                      </a:rPr>
                      <m:t>𝒙</m:t>
                    </m:r>
                    <m:r>
                      <a:rPr lang="sv-SE" sz="2000" b="0" i="1" smtClean="0">
                        <a:latin typeface="Cambria Math"/>
                      </a:rPr>
                      <m:t>, </m:t>
                    </m:r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sv-SE" sz="2000" b="0" i="1" smtClean="0">
                        <a:latin typeface="Cambria Math"/>
                      </a:rPr>
                      <m:t>)</m:t>
                    </m:r>
                  </m:oMath>
                </a14:m>
                <a:endParaRPr lang="sv-SE" sz="2000" b="0" dirty="0"/>
              </a:p>
              <a:p>
                <a:pPr lvl="1"/>
                <a:endParaRPr lang="sv-SE" dirty="0">
                  <a:solidFill>
                    <a:schemeClr val="accent1"/>
                  </a:solidFill>
                </a:endParaRPr>
              </a:p>
              <a:p>
                <a:pPr lvl="1"/>
                <a:r>
                  <a:rPr lang="sv-SE" dirty="0" err="1">
                    <a:solidFill>
                      <a:schemeClr val="accent1"/>
                    </a:solidFill>
                  </a:rPr>
                  <a:t>Frequentist</a:t>
                </a:r>
                <a:r>
                  <a:rPr lang="sv-SE" dirty="0">
                    <a:solidFill>
                      <a:schemeClr val="accent1"/>
                    </a:solidFill>
                  </a:rPr>
                  <a:t> approach</a:t>
                </a:r>
                <a:r>
                  <a:rPr lang="sv-SE" dirty="0"/>
                  <a:t>: </a:t>
                </a:r>
                <a:r>
                  <a:rPr lang="sv-SE" dirty="0" err="1"/>
                  <a:t>which</a:t>
                </a:r>
                <a:r>
                  <a:rPr lang="sv-SE" dirty="0"/>
                  <a:t> combination </a:t>
                </a:r>
                <a:r>
                  <a:rPr lang="sv-SE" dirty="0" err="1"/>
                  <a:t>of</a:t>
                </a:r>
                <a:r>
                  <a:rPr lang="sv-SE" dirty="0"/>
                  <a:t> parameter </a:t>
                </a:r>
                <a:r>
                  <a:rPr lang="sv-SE" dirty="0" err="1"/>
                  <a:t>values</a:t>
                </a:r>
                <a:r>
                  <a:rPr lang="sv-SE" dirty="0"/>
                  <a:t> fits my data best?</a:t>
                </a:r>
              </a:p>
              <a:p>
                <a:pPr lvl="1"/>
                <a:endParaRPr lang="sv-SE" dirty="0">
                  <a:solidFill>
                    <a:schemeClr val="accent1"/>
                  </a:solidFill>
                </a:endParaRPr>
              </a:p>
              <a:p>
                <a:pPr lvl="1"/>
                <a:r>
                  <a:rPr lang="sv-SE" dirty="0" err="1">
                    <a:solidFill>
                      <a:schemeClr val="accent1"/>
                    </a:solidFill>
                  </a:rPr>
                  <a:t>Bayesian</a:t>
                </a:r>
                <a:r>
                  <a:rPr lang="sv-SE" dirty="0">
                    <a:solidFill>
                      <a:schemeClr val="accent1"/>
                    </a:solidFill>
                  </a:rPr>
                  <a:t> approach</a:t>
                </a:r>
                <a:r>
                  <a:rPr lang="sv-SE" dirty="0"/>
                  <a:t>: parameters </a:t>
                </a:r>
                <a:r>
                  <a:rPr lang="sv-SE" dirty="0" err="1"/>
                  <a:t>are</a:t>
                </a:r>
                <a:r>
                  <a:rPr lang="sv-SE" dirty="0"/>
                  <a:t> random </a:t>
                </a:r>
                <a:r>
                  <a:rPr lang="sv-SE" dirty="0" err="1"/>
                  <a:t>variables</a:t>
                </a:r>
                <a:r>
                  <a:rPr lang="sv-SE" dirty="0"/>
                  <a:t>, all </a:t>
                </a:r>
                <a:r>
                  <a:rPr lang="sv-SE" dirty="0" err="1"/>
                  <a:t>feasible</a:t>
                </a:r>
                <a:r>
                  <a:rPr lang="sv-SE" dirty="0"/>
                  <a:t> </a:t>
                </a:r>
                <a:r>
                  <a:rPr lang="sv-SE" dirty="0" err="1"/>
                  <a:t>values</a:t>
                </a:r>
                <a:r>
                  <a:rPr lang="sv-SE" dirty="0"/>
                  <a:t> </a:t>
                </a:r>
                <a:r>
                  <a:rPr lang="sv-SE" dirty="0" err="1"/>
                  <a:t>are</a:t>
                </a:r>
                <a:r>
                  <a:rPr lang="sv-SE" dirty="0"/>
                  <a:t> acceptable</a:t>
                </a:r>
              </a:p>
              <a:p>
                <a:pPr lvl="2"/>
                <a:r>
                  <a:rPr lang="sv-SE" dirty="0"/>
                  <a:t>Different parameter </a:t>
                </a:r>
                <a:r>
                  <a:rPr lang="sv-SE" dirty="0" err="1"/>
                  <a:t>values</a:t>
                </a:r>
                <a:r>
                  <a:rPr lang="sv-SE" dirty="0"/>
                  <a:t> </a:t>
                </a:r>
                <a:r>
                  <a:rPr lang="sv-SE" dirty="0" err="1"/>
                  <a:t>have</a:t>
                </a:r>
                <a:r>
                  <a:rPr lang="sv-SE" dirty="0"/>
                  <a:t> different </a:t>
                </a:r>
                <a:r>
                  <a:rPr lang="sv-SE" dirty="0" err="1"/>
                  <a:t>probabilities</a:t>
                </a:r>
                <a:endParaRPr lang="sv-SE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594953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Fitting</a:t>
            </a:r>
            <a:r>
              <a:rPr lang="sv-SE" dirty="0"/>
              <a:t> a </a:t>
            </a:r>
            <a:r>
              <a:rPr lang="sv-SE" dirty="0" err="1"/>
              <a:t>model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89839" y="1624012"/>
                <a:ext cx="4690864" cy="4525963"/>
              </a:xfrm>
            </p:spPr>
            <p:txBody>
              <a:bodyPr>
                <a:normAutofit/>
              </a:bodyPr>
              <a:lstStyle/>
              <a:p>
                <a:r>
                  <a:rPr lang="sv-SE" sz="2400" dirty="0"/>
                  <a:t>Frequenist principle: </a:t>
                </a:r>
                <a:r>
                  <a:rPr lang="sv-SE" sz="2400" b="1" dirty="0">
                    <a:solidFill>
                      <a:srgbClr val="0000FF"/>
                    </a:solidFill>
                  </a:rPr>
                  <a:t>Maximum </a:t>
                </a:r>
                <a:r>
                  <a:rPr lang="sv-SE" sz="2400" b="1" dirty="0" err="1">
                    <a:solidFill>
                      <a:srgbClr val="0000FF"/>
                    </a:solidFill>
                  </a:rPr>
                  <a:t>likelihood</a:t>
                </a:r>
                <a:r>
                  <a:rPr lang="sv-SE" sz="2400" b="1" dirty="0">
                    <a:solidFill>
                      <a:srgbClr val="0000FF"/>
                    </a:solidFill>
                  </a:rPr>
                  <a:t> </a:t>
                </a:r>
                <a:r>
                  <a:rPr lang="sv-SE" sz="2400" dirty="0"/>
                  <a:t>principle</a:t>
                </a:r>
              </a:p>
              <a:p>
                <a:pPr lvl="1"/>
                <a:r>
                  <a:rPr lang="sv-SE" sz="2400" dirty="0" err="1"/>
                  <a:t>Compute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likelihood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r>
                      <a:rPr lang="sv-SE" sz="2400" i="1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sv-S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e>
                        <m:r>
                          <a:rPr lang="sv-SE" sz="2400" i="1">
                            <a:latin typeface="Cambria Math"/>
                          </a:rPr>
                          <m:t> 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sv-SE" sz="2400" dirty="0"/>
              </a:p>
              <a:p>
                <a:pPr lvl="1"/>
                <a:endParaRPr lang="sv-SE" sz="2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sv-SE" sz="1800" i="1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sv-S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18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e>
                        <m:r>
                          <a:rPr lang="sv-SE" sz="1800" i="1">
                            <a:latin typeface="Cambria Math"/>
                          </a:rPr>
                          <m:t> </m:t>
                        </m:r>
                        <m:r>
                          <a:rPr lang="sv-SE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sv-SE" sz="1800" i="1">
                        <a:latin typeface="Cambria Math"/>
                      </a:rPr>
                      <m:t>=</m:t>
                    </m:r>
                    <m:nary>
                      <m:naryPr>
                        <m:chr m:val="∏"/>
                        <m:ctrlPr>
                          <a:rPr lang="sv-SE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sv-SE" sz="1800" i="1">
                            <a:latin typeface="Cambria Math"/>
                          </a:rPr>
                          <m:t>𝑖</m:t>
                        </m:r>
                        <m:r>
                          <a:rPr lang="sv-SE" sz="1800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sv-SE" sz="1800" i="1">
                            <a:latin typeface="Cambria Math"/>
                          </a:rPr>
                          <m:t>𝑛</m:t>
                        </m:r>
                      </m:sup>
                      <m:e>
                        <m:r>
                          <a:rPr lang="sv-SE" sz="1800" i="1">
                            <a:latin typeface="Cambria Math"/>
                          </a:rPr>
                          <m:t>𝑝</m:t>
                        </m:r>
                        <m:r>
                          <a:rPr lang="sv-SE" sz="1800" i="1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sv-S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1800" i="1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sv-SE" sz="18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sv-SE" sz="1800" i="1">
                            <a:latin typeface="Cambria Math"/>
                          </a:rPr>
                          <m:t>|</m:t>
                        </m:r>
                        <m:r>
                          <a:rPr lang="sv-SE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sv-SE" sz="1800" i="1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r>
                  <a:rPr lang="sv-SE" sz="1800" dirty="0"/>
                  <a:t> </a:t>
                </a:r>
                <a:endParaRPr lang="sv-SE" sz="1800" i="1" dirty="0">
                  <a:latin typeface="Cambria Math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1800" i="1">
                          <a:latin typeface="Cambria Math"/>
                        </a:rPr>
                        <m:t>𝑝</m:t>
                      </m:r>
                      <m:d>
                        <m:dPr>
                          <m:ctrlPr>
                            <a:rPr lang="sv-SE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18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e>
                          <m:r>
                            <a:rPr lang="sv-SE" sz="1800" i="1">
                              <a:latin typeface="Cambria Math"/>
                            </a:rPr>
                            <m:t> </m:t>
                          </m:r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sv-SE" sz="1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sv-SE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sv-SE" sz="1800" i="1">
                              <a:latin typeface="Cambria Math"/>
                            </a:rPr>
                            <m:t>𝑖</m:t>
                          </m:r>
                          <m:r>
                            <a:rPr lang="sv-SE" sz="1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sv-SE" sz="1800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r>
                            <a:rPr lang="sv-SE" sz="1800" i="1">
                              <a:latin typeface="Cambria Math"/>
                            </a:rPr>
                            <m:t>𝑝</m:t>
                          </m:r>
                          <m:r>
                            <a:rPr lang="sv-SE" sz="1800" i="1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sv-S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800" i="1"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sv-SE" sz="18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sv-SE" sz="1800" i="1">
                              <a:latin typeface="Cambria Math"/>
                            </a:rPr>
                            <m:t>|</m:t>
                          </m:r>
                          <m:sSub>
                            <m:sSubPr>
                              <m:ctrlPr>
                                <a:rPr lang="sv-S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800" i="1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sv-SE" sz="18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sv-SE" sz="1800" i="1">
                              <a:latin typeface="Cambria Math"/>
                            </a:rPr>
                            <m:t>,</m:t>
                          </m:r>
                          <m:r>
                            <a:rPr lang="sv-SE" sz="1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sv-SE" sz="1800" i="1"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sv-SE" sz="2800" dirty="0"/>
              </a:p>
              <a:p>
                <a:pPr marL="0" indent="0" algn="ctr">
                  <a:buNone/>
                </a:pPr>
                <a:endParaRPr lang="sv-SE" sz="2800" dirty="0"/>
              </a:p>
              <a:p>
                <a:pPr lvl="1"/>
                <a:r>
                  <a:rPr lang="sv-SE" sz="2400" dirty="0" err="1"/>
                  <a:t>Maximize</a:t>
                </a:r>
                <a:r>
                  <a:rPr lang="sv-SE" sz="2400" dirty="0"/>
                  <a:t> the </a:t>
                </a:r>
                <a:r>
                  <a:rPr lang="sv-SE" sz="2400" dirty="0" err="1"/>
                  <a:t>likelihood</a:t>
                </a:r>
                <a:r>
                  <a:rPr lang="sv-SE" sz="2400" dirty="0"/>
                  <a:t> and </a:t>
                </a:r>
                <a:r>
                  <a:rPr lang="sv-SE" sz="2400" dirty="0" err="1"/>
                  <a:t>find</a:t>
                </a:r>
                <a:r>
                  <a:rPr lang="sv-SE" sz="2400" dirty="0"/>
                  <a:t> the optimal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sv-SE" sz="2400" i="1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endParaRPr lang="sv-SE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9839" y="1624012"/>
                <a:ext cx="4690864" cy="4525963"/>
              </a:xfrm>
              <a:blipFill>
                <a:blip r:embed="rId3"/>
                <a:stretch>
                  <a:fillRect l="-1688" t="-107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22</a:t>
            </a:fld>
            <a:endParaRPr lang="sv-SE"/>
          </a:p>
        </p:txBody>
      </p:sp>
      <p:pic>
        <p:nvPicPr>
          <p:cNvPr id="6" name="Picture 4" descr="er9">
            <a:extLst>
              <a:ext uri="{FF2B5EF4-FFF2-40B4-BE49-F238E27FC236}">
                <a16:creationId xmlns:a16="http://schemas.microsoft.com/office/drawing/2014/main" id="{EA4F4E08-C491-465C-B835-735AB64FC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0703" y="2348880"/>
            <a:ext cx="3514725" cy="23336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9786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AD1328B-7D21-4A92-AD91-91951AFDB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Fitting</a:t>
            </a:r>
            <a:r>
              <a:rPr lang="sv-SE" dirty="0"/>
              <a:t> a </a:t>
            </a:r>
            <a:r>
              <a:rPr lang="sv-SE" dirty="0" err="1"/>
              <a:t>model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72D0EAC-68BC-480D-A511-280A8506D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sz="2400" b="1" dirty="0" err="1">
                <a:solidFill>
                  <a:srgbClr val="C00000"/>
                </a:solidFill>
              </a:rPr>
              <a:t>Remarks</a:t>
            </a:r>
            <a:r>
              <a:rPr lang="sv-SE" sz="2400" b="1" dirty="0">
                <a:solidFill>
                  <a:srgbClr val="C00000"/>
                </a:solidFill>
              </a:rPr>
              <a:t>:</a:t>
            </a:r>
          </a:p>
          <a:p>
            <a:r>
              <a:rPr lang="sv-SE" sz="2400" dirty="0" err="1"/>
              <a:t>Likelihood</a:t>
            </a:r>
            <a:r>
              <a:rPr lang="sv-SE" sz="2400" dirty="0"/>
              <a:t> shows </a:t>
            </a:r>
            <a:r>
              <a:rPr lang="sv-SE" sz="2400" dirty="0" err="1"/>
              <a:t>how</a:t>
            </a:r>
            <a:r>
              <a:rPr lang="sv-SE" sz="2400" dirty="0"/>
              <a:t> </a:t>
            </a:r>
            <a:r>
              <a:rPr lang="sv-SE" sz="2400" dirty="0" err="1"/>
              <a:t>much</a:t>
            </a:r>
            <a:r>
              <a:rPr lang="sv-SE" sz="2400" dirty="0"/>
              <a:t> the chosen parameter </a:t>
            </a:r>
            <a:r>
              <a:rPr lang="sv-SE" sz="2400" dirty="0" err="1"/>
              <a:t>value</a:t>
            </a:r>
            <a:r>
              <a:rPr lang="sv-SE" sz="2400" dirty="0"/>
              <a:t> is proper for a </a:t>
            </a:r>
            <a:r>
              <a:rPr lang="sv-SE" sz="2400" dirty="0" err="1"/>
              <a:t>specific</a:t>
            </a:r>
            <a:r>
              <a:rPr lang="sv-SE" sz="2400" dirty="0"/>
              <a:t> </a:t>
            </a:r>
            <a:r>
              <a:rPr lang="sv-SE" sz="2400" dirty="0" err="1"/>
              <a:t>model</a:t>
            </a:r>
            <a:r>
              <a:rPr lang="sv-SE" sz="2400" dirty="0"/>
              <a:t> and the given data</a:t>
            </a:r>
          </a:p>
          <a:p>
            <a:endParaRPr lang="sv-SE" sz="2400" dirty="0"/>
          </a:p>
          <a:p>
            <a:r>
              <a:rPr lang="sv-SE" sz="2400" dirty="0" err="1"/>
              <a:t>Normally</a:t>
            </a:r>
            <a:r>
              <a:rPr lang="sv-SE" sz="2400" dirty="0"/>
              <a:t> </a:t>
            </a:r>
            <a:r>
              <a:rPr lang="sv-SE" sz="2400" b="1" dirty="0"/>
              <a:t>log-</a:t>
            </a:r>
            <a:r>
              <a:rPr lang="sv-SE" sz="2400" b="1" dirty="0" err="1"/>
              <a:t>likelihood</a:t>
            </a:r>
            <a:r>
              <a:rPr lang="sv-SE" sz="2400" b="1" dirty="0"/>
              <a:t> </a:t>
            </a:r>
            <a:r>
              <a:rPr lang="sv-SE" sz="2400" dirty="0"/>
              <a:t>is </a:t>
            </a:r>
            <a:r>
              <a:rPr lang="sv-SE" sz="2400" dirty="0" err="1"/>
              <a:t>used</a:t>
            </a:r>
            <a:r>
              <a:rPr lang="sv-SE" sz="2400" dirty="0"/>
              <a:t> in </a:t>
            </a:r>
            <a:r>
              <a:rPr lang="sv-SE" sz="2400" dirty="0" err="1"/>
              <a:t>computations</a:t>
            </a:r>
            <a:r>
              <a:rPr lang="sv-SE" sz="2400" dirty="0"/>
              <a:t> </a:t>
            </a:r>
            <a:r>
              <a:rPr lang="sv-SE" sz="2400" dirty="0" err="1"/>
              <a:t>instead</a:t>
            </a:r>
            <a:endParaRPr lang="sv-SE" sz="2400" dirty="0"/>
          </a:p>
          <a:p>
            <a:endParaRPr lang="sv-SE" sz="2400" dirty="0"/>
          </a:p>
          <a:p>
            <a:r>
              <a:rPr lang="sv-SE" sz="2400" dirty="0" err="1">
                <a:sym typeface="Wingdings" panose="05000000000000000000" pitchFamily="2" charset="2"/>
              </a:rPr>
              <a:t>Other</a:t>
            </a:r>
            <a:r>
              <a:rPr lang="sv-SE" sz="2400" dirty="0">
                <a:sym typeface="Wingdings" panose="05000000000000000000" pitchFamily="2" charset="2"/>
              </a:rPr>
              <a:t> alternatives to ML </a:t>
            </a:r>
            <a:r>
              <a:rPr lang="sv-SE" sz="2400" dirty="0" err="1">
                <a:sym typeface="Wingdings" panose="05000000000000000000" pitchFamily="2" charset="2"/>
              </a:rPr>
              <a:t>exist</a:t>
            </a:r>
            <a:r>
              <a:rPr lang="sv-SE" sz="2400" dirty="0">
                <a:sym typeface="Wingdings" panose="05000000000000000000" pitchFamily="2" charset="2"/>
              </a:rPr>
              <a:t>…</a:t>
            </a:r>
          </a:p>
          <a:p>
            <a:endParaRPr lang="sv-SE" sz="2400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76D1EAA1-7A3B-49AB-A3B9-DAC501B24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D6C59136-A867-4197-BEC6-28D8B8A38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32459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Fitting</a:t>
            </a:r>
            <a:r>
              <a:rPr lang="sv-SE" dirty="0"/>
              <a:t> a </a:t>
            </a:r>
            <a:r>
              <a:rPr lang="sv-SE" dirty="0" err="1"/>
              <a:t>model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lvl="1" indent="0">
                  <a:buNone/>
                </a:pPr>
                <a:r>
                  <a:rPr lang="sv-SE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Example</a:t>
                </a:r>
                <a:r>
                  <a:rPr lang="sv-SE" dirty="0">
                    <a:sym typeface="Wingdings" panose="05000000000000000000" pitchFamily="2" charset="2"/>
                  </a:rPr>
                  <a:t>: tossing a </a:t>
                </a:r>
                <a:r>
                  <a:rPr lang="sv-SE" dirty="0" err="1">
                    <a:sym typeface="Wingdings" panose="05000000000000000000" pitchFamily="2" charset="2"/>
                  </a:rPr>
                  <a:t>coin</a:t>
                </a:r>
                <a:r>
                  <a:rPr lang="sv-SE" dirty="0">
                    <a:sym typeface="Wingdings" panose="05000000000000000000" pitchFamily="2" charset="2"/>
                  </a:rPr>
                  <a:t>.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sv-SE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b="0" i="1" smtClean="0">
                            <a:latin typeface="Cambria Math"/>
                          </a:rPr>
                          <m:t>0,1,1,0,1,1,1,1,1,1,1,1</m:t>
                        </m:r>
                      </m:e>
                    </m:d>
                    <m:r>
                      <a:rPr lang="sv-SE" b="0" i="1" smtClean="0">
                        <a:latin typeface="Cambria Math"/>
                      </a:rPr>
                      <m:t>,</m:t>
                    </m:r>
                  </m:oMath>
                </a14:m>
                <a:r>
                  <a:rPr lang="sv-SE" b="0" i="1" dirty="0">
                    <a:latin typeface="Cambria Math"/>
                  </a:rPr>
                  <a:t>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sv-SE" b="0" i="1" smtClean="0">
                          <a:latin typeface="Cambria Math"/>
                        </a:rPr>
                        <m:t>𝑝</m:t>
                      </m:r>
                      <m:d>
                        <m:d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sv-SE" b="0" i="1" smtClean="0">
                              <a:latin typeface="Cambria Math"/>
                            </a:rPr>
                            <m:t>=1</m:t>
                          </m:r>
                        </m:e>
                        <m:e>
                          <m:r>
                            <a:rPr lang="sv-SE" b="0" i="1" smtClean="0">
                              <a:latin typeface="Cambria Math"/>
                            </a:rPr>
                            <m:t>𝜃</m:t>
                          </m:r>
                        </m:e>
                      </m:d>
                      <m:r>
                        <a:rPr lang="sv-SE" b="0" i="1" smtClean="0">
                          <a:latin typeface="Cambria Math"/>
                        </a:rPr>
                        <m:t>=</m:t>
                      </m:r>
                      <m:r>
                        <a:rPr lang="sv-SE" b="0" i="1" smtClean="0">
                          <a:latin typeface="Cambria Math"/>
                        </a:rPr>
                        <m:t>𝜃</m:t>
                      </m:r>
                      <m:r>
                        <a:rPr lang="sv-SE" b="0" i="1" smtClean="0">
                          <a:latin typeface="Cambria Math"/>
                        </a:rPr>
                        <m:t>,</m:t>
                      </m:r>
                      <m:r>
                        <a:rPr lang="sv-SE" b="0" i="1" smtClean="0">
                          <a:latin typeface="Cambria Math"/>
                        </a:rPr>
                        <m:t>𝑝</m:t>
                      </m:r>
                      <m:d>
                        <m:d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sv-SE" b="0" i="1" smtClean="0">
                              <a:latin typeface="Cambria Math"/>
                            </a:rPr>
                            <m:t>=0</m:t>
                          </m:r>
                        </m:e>
                        <m:e>
                          <m:r>
                            <a:rPr lang="sv-SE" b="0" i="1" smtClean="0">
                              <a:latin typeface="Cambria Math"/>
                            </a:rPr>
                            <m:t>𝜃</m:t>
                          </m:r>
                        </m:e>
                      </m:d>
                      <m:r>
                        <a:rPr lang="sv-SE" b="0" i="1" smtClean="0">
                          <a:latin typeface="Cambria Math"/>
                        </a:rPr>
                        <m:t>=1−</m:t>
                      </m:r>
                      <m:r>
                        <a:rPr lang="sv-SE" b="0" i="1" smtClean="0">
                          <a:latin typeface="Cambria Math"/>
                        </a:rPr>
                        <m:t>𝜃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134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24</a:t>
            </a:fld>
            <a:endParaRPr lang="sv-SE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732" y="3263681"/>
            <a:ext cx="3127716" cy="3345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43855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Bayesian</a:t>
            </a:r>
            <a:r>
              <a:rPr lang="sv-SE" dirty="0"/>
              <a:t> </a:t>
            </a:r>
            <a:r>
              <a:rPr lang="sv-SE" dirty="0" err="1"/>
              <a:t>probabilities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sv-SE" sz="2800" dirty="0"/>
                  <a:t>Probability </a:t>
                </a:r>
                <a:r>
                  <a:rPr lang="sv-SE" sz="2800" dirty="0" err="1"/>
                  <a:t>reflects</a:t>
                </a:r>
                <a:r>
                  <a:rPr lang="sv-SE" sz="2800" dirty="0"/>
                  <a:t> </a:t>
                </a:r>
                <a:r>
                  <a:rPr lang="sv-SE" sz="2800" dirty="0" err="1"/>
                  <a:t>your</a:t>
                </a:r>
                <a:r>
                  <a:rPr lang="sv-SE" sz="2800" dirty="0"/>
                  <a:t> </a:t>
                </a:r>
                <a:r>
                  <a:rPr lang="sv-SE" sz="2800" dirty="0" err="1"/>
                  <a:t>knowledge</a:t>
                </a:r>
                <a:r>
                  <a:rPr lang="sv-SE" sz="2800" dirty="0"/>
                  <a:t> (</a:t>
                </a:r>
                <a:r>
                  <a:rPr lang="sv-SE" sz="2800" dirty="0" err="1"/>
                  <a:t>uncertainty</a:t>
                </a:r>
                <a:r>
                  <a:rPr lang="sv-SE" sz="2800" dirty="0"/>
                  <a:t>) </a:t>
                </a:r>
                <a:r>
                  <a:rPr lang="sv-SE" sz="2800" dirty="0" err="1"/>
                  <a:t>about</a:t>
                </a:r>
                <a:r>
                  <a:rPr lang="sv-SE" sz="2800" dirty="0"/>
                  <a:t> a </a:t>
                </a:r>
                <a:r>
                  <a:rPr lang="sv-SE" sz="2800" dirty="0" err="1"/>
                  <a:t>phenomenon</a:t>
                </a:r>
                <a:r>
                  <a:rPr lang="sv-SE" sz="2800" dirty="0"/>
                  <a:t> </a:t>
                </a:r>
                <a:r>
                  <a:rPr lang="sv-SE" sz="2800" dirty="0">
                    <a:sym typeface="Wingdings" panose="05000000000000000000" pitchFamily="2" charset="2"/>
                  </a:rPr>
                  <a:t> </a:t>
                </a:r>
                <a:r>
                  <a:rPr lang="sv-SE" sz="2800" b="1" dirty="0" err="1">
                    <a:solidFill>
                      <a:srgbClr val="0000FF"/>
                    </a:solidFill>
                    <a:sym typeface="Wingdings" panose="05000000000000000000" pitchFamily="2" charset="2"/>
                  </a:rPr>
                  <a:t>subjective</a:t>
                </a:r>
                <a:r>
                  <a:rPr lang="sv-SE" sz="2800" b="1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sv-SE" sz="2800" b="1" dirty="0" err="1">
                    <a:solidFill>
                      <a:srgbClr val="0000FF"/>
                    </a:solidFill>
                    <a:sym typeface="Wingdings" panose="05000000000000000000" pitchFamily="2" charset="2"/>
                  </a:rPr>
                  <a:t>probabilities</a:t>
                </a:r>
                <a:endParaRPr lang="sv-SE" sz="2800" b="1" dirty="0"/>
              </a:p>
              <a:p>
                <a:pPr lvl="1"/>
                <a:r>
                  <a:rPr lang="sv-SE" sz="2400" b="1" dirty="0">
                    <a:solidFill>
                      <a:srgbClr val="0000FF"/>
                    </a:solidFill>
                  </a:rPr>
                  <a:t>Prior </a:t>
                </a:r>
                <a:r>
                  <a:rPr lang="sv-SE" sz="2400" b="1" dirty="0" err="1">
                    <a:solidFill>
                      <a:srgbClr val="0000FF"/>
                    </a:solidFill>
                  </a:rPr>
                  <a:t>probability</a:t>
                </a:r>
                <a:r>
                  <a:rPr lang="sv-SE" sz="2400" b="1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sv-SE" sz="2400" dirty="0"/>
                  <a:t>, </a:t>
                </a:r>
                <a:r>
                  <a:rPr lang="sv-SE" sz="2400" dirty="0" err="1"/>
                  <a:t>can</a:t>
                </a:r>
                <a:r>
                  <a:rPr lang="sv-SE" sz="2400" dirty="0"/>
                  <a:t> be </a:t>
                </a:r>
                <a:r>
                  <a:rPr lang="sv-SE" sz="2400" dirty="0" err="1"/>
                  <a:t>uninformative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r>
                      <a:rPr lang="sv-SE" sz="2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sv-S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∝1</m:t>
                    </m:r>
                  </m:oMath>
                </a14:m>
                <a:endParaRPr lang="sv-SE" sz="2400" b="0" dirty="0"/>
              </a:p>
              <a:p>
                <a:pPr lvl="1"/>
                <a:r>
                  <a:rPr lang="sv-SE" sz="2400" dirty="0" err="1"/>
                  <a:t>Formulate</a:t>
                </a:r>
                <a:r>
                  <a:rPr lang="sv-SE" sz="2400" dirty="0"/>
                  <a:t> a </a:t>
                </a:r>
                <a:r>
                  <a:rPr lang="sv-SE" sz="2400" dirty="0" err="1"/>
                  <a:t>model</a:t>
                </a:r>
                <a:r>
                  <a:rPr lang="sv-SE" sz="2400" dirty="0"/>
                  <a:t>, </a:t>
                </a:r>
                <a:r>
                  <a:rPr lang="sv-SE" sz="2400" dirty="0" err="1"/>
                  <a:t>compute</a:t>
                </a:r>
                <a:r>
                  <a:rPr lang="sv-SE" sz="2400" dirty="0"/>
                  <a:t>  </a:t>
                </a:r>
                <a:r>
                  <a:rPr lang="sv-SE" sz="2400" b="1" dirty="0" err="1">
                    <a:solidFill>
                      <a:srgbClr val="0000FF"/>
                    </a:solidFill>
                    <a:sym typeface="Wingdings" panose="05000000000000000000" pitchFamily="2" charset="2"/>
                  </a:rPr>
                  <a:t>likelihood</a:t>
                </a:r>
                <a:r>
                  <a:rPr lang="sv-SE" sz="2400" b="1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sv-SE" sz="2400" b="1" dirty="0"/>
              </a:p>
              <a:p>
                <a:pPr lvl="1"/>
                <a:r>
                  <a:rPr lang="sv-SE" sz="2400" b="1" dirty="0" err="1">
                    <a:solidFill>
                      <a:srgbClr val="0000FF"/>
                    </a:solidFill>
                  </a:rPr>
                  <a:t>Posterior</a:t>
                </a:r>
                <a:r>
                  <a:rPr lang="sv-SE" sz="2400" b="1" dirty="0">
                    <a:solidFill>
                      <a:srgbClr val="0000FF"/>
                    </a:solidFill>
                  </a:rPr>
                  <a:t> </a:t>
                </a:r>
                <a:r>
                  <a:rPr lang="sv-SE" sz="2400" b="1" dirty="0" err="1">
                    <a:solidFill>
                      <a:srgbClr val="0000FF"/>
                    </a:solidFill>
                  </a:rPr>
                  <a:t>probability</a:t>
                </a:r>
                <a:r>
                  <a:rPr lang="sv-SE" sz="2400" b="1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sv-SE" sz="2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sv-S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sv-SE" sz="2400" dirty="0"/>
                  <a:t>, </a:t>
                </a:r>
                <a:r>
                  <a:rPr lang="sv-SE" sz="2400" dirty="0" err="1"/>
                  <a:t>after</a:t>
                </a:r>
                <a:r>
                  <a:rPr lang="sv-SE" sz="2400" dirty="0"/>
                  <a:t> </a:t>
                </a:r>
                <a:r>
                  <a:rPr lang="sv-SE" sz="2400" dirty="0" err="1"/>
                  <a:t>observing</a:t>
                </a:r>
                <a:r>
                  <a:rPr lang="sv-SE" sz="2400" dirty="0"/>
                  <a:t> data</a:t>
                </a:r>
                <a:endParaRPr lang="sv-SE" sz="2400" b="0" dirty="0"/>
              </a:p>
              <a:p>
                <a:pPr lvl="2"/>
                <a14:m>
                  <m:oMath xmlns:m="http://schemas.openxmlformats.org/officeDocument/2006/math"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∝</m:t>
                    </m:r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sv-SE" sz="2000" dirty="0"/>
              </a:p>
              <a:p>
                <a:endParaRPr lang="sv-SE" sz="2800" dirty="0"/>
              </a:p>
              <a:p>
                <a:r>
                  <a:rPr lang="sv-SE" sz="2800" dirty="0" err="1"/>
                  <a:t>Model</a:t>
                </a:r>
                <a:r>
                  <a:rPr lang="sv-SE" sz="2800" dirty="0"/>
                  <a:t> parameters </a:t>
                </a:r>
                <a:r>
                  <a:rPr lang="sv-SE" sz="2800" dirty="0" err="1"/>
                  <a:t>are</a:t>
                </a:r>
                <a:r>
                  <a:rPr lang="sv-SE" sz="2800" dirty="0"/>
                  <a:t> </a:t>
                </a:r>
                <a:r>
                  <a:rPr lang="sv-SE" sz="2800" dirty="0" err="1"/>
                  <a:t>considered</a:t>
                </a:r>
                <a:r>
                  <a:rPr lang="sv-SE" sz="2800" dirty="0"/>
                  <a:t> as </a:t>
                </a:r>
                <a:r>
                  <a:rPr lang="sv-SE" sz="2800" dirty="0" err="1"/>
                  <a:t>random</a:t>
                </a:r>
                <a:r>
                  <a:rPr lang="sv-SE" sz="2800" dirty="0"/>
                  <a:t> </a:t>
                </a:r>
                <a:r>
                  <a:rPr lang="sv-SE" sz="2800" dirty="0" err="1"/>
                  <a:t>variables</a:t>
                </a:r>
                <a:endParaRPr lang="sv-SE" sz="2800" dirty="0"/>
              </a:p>
              <a:p>
                <a:pPr lvl="1"/>
                <a:r>
                  <a:rPr lang="sv-SE" sz="2400" dirty="0"/>
                  <a:t>In real </a:t>
                </a:r>
                <a:r>
                  <a:rPr lang="sv-SE" sz="2400" dirty="0" err="1"/>
                  <a:t>life</a:t>
                </a:r>
                <a:r>
                  <a:rPr lang="sv-SE" sz="2400" dirty="0"/>
                  <a:t>, do not </a:t>
                </a:r>
                <a:r>
                  <a:rPr lang="sv-SE" sz="2400" dirty="0" err="1"/>
                  <a:t>need</a:t>
                </a:r>
                <a:r>
                  <a:rPr lang="sv-SE" sz="2400" dirty="0"/>
                  <a:t> to be </a:t>
                </a:r>
                <a:r>
                  <a:rPr lang="sv-SE" sz="2400" dirty="0" err="1"/>
                  <a:t>random</a:t>
                </a:r>
                <a:r>
                  <a:rPr lang="sv-SE" sz="2400" dirty="0"/>
                  <a:t>, </a:t>
                </a:r>
                <a:r>
                  <a:rPr lang="sv-SE" sz="2400" dirty="0" err="1"/>
                  <a:t>but</a:t>
                </a:r>
                <a:r>
                  <a:rPr lang="sv-SE" sz="2400" dirty="0"/>
                  <a:t> </a:t>
                </a:r>
                <a:r>
                  <a:rPr lang="sv-SE" sz="2400" dirty="0" err="1"/>
                  <a:t>we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model</a:t>
                </a:r>
                <a:r>
                  <a:rPr lang="sv-SE" sz="2400" dirty="0"/>
                  <a:t> as </a:t>
                </a:r>
                <a:r>
                  <a:rPr lang="sv-SE" sz="2400" dirty="0" err="1"/>
                  <a:t>random</a:t>
                </a:r>
                <a:endParaRPr lang="sv-SE" sz="2400" dirty="0"/>
              </a:p>
            </p:txBody>
          </p:sp>
        </mc:Choice>
        <mc:Fallback xmlns="">
          <p:sp>
            <p:nvSpPr>
              <p:cNvPr id="3" name="Platshållare för innehåll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33" t="-2291" b="-2156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597695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Fitting</a:t>
            </a:r>
            <a:r>
              <a:rPr lang="sv-SE" dirty="0"/>
              <a:t> a </a:t>
            </a:r>
            <a:r>
              <a:rPr lang="sv-SE" dirty="0" err="1"/>
              <a:t>model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noFill/>
            </p:spPr>
            <p:txBody>
              <a:bodyPr>
                <a:normAutofit fontScale="92500" lnSpcReduction="10000"/>
              </a:bodyPr>
              <a:lstStyle/>
              <a:p>
                <a:r>
                  <a:rPr lang="sv-SE" sz="2800" dirty="0"/>
                  <a:t>Bayesian principle</a:t>
                </a:r>
              </a:p>
              <a:p>
                <a:pPr lvl="1"/>
                <a:r>
                  <a:rPr lang="sv-SE" sz="2400" dirty="0" err="1"/>
                  <a:t>Compute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sv-SE" sz="2400" dirty="0"/>
                  <a:t>and </a:t>
                </a:r>
                <a:r>
                  <a:rPr lang="sv-SE" sz="2400" dirty="0" err="1"/>
                  <a:t>then</a:t>
                </a:r>
                <a:r>
                  <a:rPr lang="sv-SE" sz="2400" dirty="0"/>
                  <a:t> </a:t>
                </a:r>
                <a:r>
                  <a:rPr lang="sv-SE" sz="2400" dirty="0" err="1"/>
                  <a:t>decide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yourself</a:t>
                </a:r>
                <a:r>
                  <a:rPr lang="sv-SE" sz="2400" dirty="0"/>
                  <a:t> </a:t>
                </a:r>
                <a:r>
                  <a:rPr lang="sv-SE" sz="2400" dirty="0" err="1"/>
                  <a:t>what</a:t>
                </a:r>
                <a:r>
                  <a:rPr lang="sv-SE" sz="2400" dirty="0"/>
                  <a:t> to do </a:t>
                </a:r>
                <a:r>
                  <a:rPr lang="sv-SE" sz="2400" dirty="0" err="1"/>
                  <a:t>with</a:t>
                </a:r>
                <a:r>
                  <a:rPr lang="sv-SE" sz="2400" dirty="0"/>
                  <a:t> </a:t>
                </a:r>
                <a:r>
                  <a:rPr lang="sv-SE" sz="2400" dirty="0" err="1"/>
                  <a:t>this</a:t>
                </a:r>
                <a:r>
                  <a:rPr lang="sv-SE" sz="2400" dirty="0"/>
                  <a:t> (for ex. MAP, </a:t>
                </a:r>
                <a:r>
                  <a:rPr lang="sv-SE" sz="2400" dirty="0" err="1"/>
                  <a:t>mean</a:t>
                </a:r>
                <a:r>
                  <a:rPr lang="sv-SE" sz="2400" dirty="0"/>
                  <a:t>, median)</a:t>
                </a:r>
              </a:p>
              <a:p>
                <a:r>
                  <a:rPr lang="sv-SE" sz="2800" dirty="0" err="1"/>
                  <a:t>Use</a:t>
                </a:r>
                <a:r>
                  <a:rPr lang="sv-SE" sz="2800" dirty="0"/>
                  <a:t> </a:t>
                </a:r>
                <a:r>
                  <a:rPr lang="sv-SE" sz="2800" dirty="0" err="1"/>
                  <a:t>bayes</a:t>
                </a:r>
                <a:r>
                  <a:rPr lang="sv-SE" sz="2800" dirty="0"/>
                  <a:t> </a:t>
                </a:r>
                <a:r>
                  <a:rPr lang="sv-SE" sz="2800" dirty="0" err="1"/>
                  <a:t>theorem</a:t>
                </a:r>
                <a:endParaRPr lang="sv-SE" sz="2800" dirty="0"/>
              </a:p>
              <a:p>
                <a:endParaRPr lang="sv-SE" sz="2800" dirty="0"/>
              </a:p>
              <a:p>
                <a:endParaRPr lang="sv-SE" sz="2800" dirty="0"/>
              </a:p>
              <a:p>
                <a14:m>
                  <m:oMath xmlns:m="http://schemas.openxmlformats.org/officeDocument/2006/math">
                    <m:r>
                      <a:rPr lang="sv-SE" sz="2400" i="1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sv-S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sv-SE" sz="2400" dirty="0"/>
                  <a:t> is </a:t>
                </a:r>
                <a:r>
                  <a:rPr lang="sv-SE" sz="2800" b="1" dirty="0">
                    <a:solidFill>
                      <a:srgbClr val="0000FF"/>
                    </a:solidFill>
                  </a:rPr>
                  <a:t>marginal </a:t>
                </a:r>
                <a:r>
                  <a:rPr lang="sv-SE" sz="2800" b="1" dirty="0" err="1">
                    <a:solidFill>
                      <a:srgbClr val="0000FF"/>
                    </a:solidFill>
                  </a:rPr>
                  <a:t>likelihood</a:t>
                </a:r>
                <a:endParaRPr lang="sv-SE" sz="2800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sv-SE" sz="1800" dirty="0"/>
                  <a:t> </a:t>
                </a:r>
                <a14:m>
                  <m:oMath xmlns:m="http://schemas.openxmlformats.org/officeDocument/2006/math">
                    <m:r>
                      <a:rPr lang="sv-SE" sz="1800" i="1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sv-S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sv-SE" sz="1800" b="0" i="1" smtClean="0">
                        <a:latin typeface="Cambria Math"/>
                      </a:rPr>
                      <m:t>=∫</m:t>
                    </m:r>
                    <m:r>
                      <a:rPr lang="sv-SE" sz="2000" i="1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sv-S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sv-SE" sz="2000" i="1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sv-S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sv-SE" sz="2000" b="0" i="1" smtClean="0">
                        <a:latin typeface="Cambria Math"/>
                      </a:rPr>
                      <m:t>𝑑</m:t>
                    </m:r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sv-SE" sz="2000" dirty="0"/>
                  <a:t> or</a:t>
                </a:r>
              </a:p>
              <a:p>
                <a:pPr lvl="1"/>
                <a:r>
                  <a:rPr lang="sv-SE" sz="2000" dirty="0"/>
                  <a:t> </a:t>
                </a:r>
                <a14:m>
                  <m:oMath xmlns:m="http://schemas.openxmlformats.org/officeDocument/2006/math">
                    <m:r>
                      <a:rPr lang="sv-SE" sz="1600" i="1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sv-S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sv-SE" sz="1600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sv-SE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sv-SE" sz="1600" b="0" i="1" smtClean="0">
                            <a:latin typeface="Cambria Math"/>
                          </a:rPr>
                          <m:t>𝑖</m:t>
                        </m:r>
                      </m:sub>
                      <m:sup/>
                      <m:e>
                        <m:r>
                          <a:rPr lang="sv-SE" sz="1800" i="1"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sv-SE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sv-SE" sz="1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e>
                            <m:sSub>
                              <m:sSubPr>
                                <m:ctrlPr>
                                  <a:rPr lang="sv-SE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sz="18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sv-SE" sz="1800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sv-SE" sz="1800" i="1"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sv-SE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sv-SE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sz="18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sv-SE" sz="1800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sv-SE" sz="2000" dirty="0">
                  <a:solidFill>
                    <a:srgbClr val="C00000"/>
                  </a:solidFill>
                  <a:sym typeface="Wingdings" panose="05000000000000000000" pitchFamily="2" charset="2"/>
                </a:endParaRPr>
              </a:p>
              <a:p>
                <a:pPr marL="0" lvl="1" indent="0">
                  <a:buNone/>
                </a:pPr>
                <a:endParaRPr lang="sv-SE" sz="2400" dirty="0">
                  <a:solidFill>
                    <a:srgbClr val="C00000"/>
                  </a:solidFill>
                  <a:sym typeface="Wingdings" panose="05000000000000000000" pitchFamily="2" charset="2"/>
                </a:endParaRPr>
              </a:p>
              <a:p>
                <a:pPr marL="0" lvl="1" indent="0">
                  <a:buNone/>
                </a:pPr>
                <a:r>
                  <a:rPr lang="sv-SE" sz="2400" dirty="0" err="1">
                    <a:solidFill>
                      <a:srgbClr val="C00000"/>
                    </a:solidFill>
                    <a:sym typeface="Wingdings" panose="05000000000000000000" pitchFamily="2" charset="2"/>
                  </a:rPr>
                  <a:t>Example</a:t>
                </a:r>
                <a:r>
                  <a:rPr lang="sv-SE" sz="2400" dirty="0">
                    <a:sym typeface="Wingdings" panose="05000000000000000000" pitchFamily="2" charset="2"/>
                  </a:rPr>
                  <a:t>: tossing a </a:t>
                </a:r>
                <a:r>
                  <a:rPr lang="sv-SE" sz="2400" dirty="0" err="1">
                    <a:sym typeface="Wingdings" panose="05000000000000000000" pitchFamily="2" charset="2"/>
                  </a:rPr>
                  <a:t>coin</a:t>
                </a:r>
                <a:r>
                  <a:rPr lang="sv-SE" sz="2400" dirty="0">
                    <a:sym typeface="Wingdings" panose="05000000000000000000" pitchFamily="2" charset="2"/>
                  </a:rPr>
                  <a:t>.  </a:t>
                </a:r>
                <a:r>
                  <a:rPr lang="sv-SE" sz="2400" dirty="0" err="1">
                    <a:sym typeface="Wingdings" panose="05000000000000000000" pitchFamily="2" charset="2"/>
                  </a:rPr>
                  <a:t>Find</a:t>
                </a:r>
                <a:r>
                  <a:rPr lang="sv-SE" sz="24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/>
                        <a:sym typeface="Wingdings" panose="05000000000000000000" pitchFamily="2" charset="2"/>
                      </a:rPr>
                      <m:t>𝑝</m:t>
                    </m:r>
                    <m:r>
                      <a:rPr lang="sv-SE" sz="2400" b="0" i="1" smtClean="0">
                        <a:latin typeface="Cambria Math"/>
                        <a:sym typeface="Wingdings" panose="05000000000000000000" pitchFamily="2" charset="2"/>
                      </a:rPr>
                      <m:t>(</m:t>
                    </m:r>
                    <m:r>
                      <a:rPr lang="sv-SE" sz="2400" b="0" i="1" smtClean="0">
                        <a:latin typeface="Cambria Math"/>
                        <a:sym typeface="Wingdings" panose="05000000000000000000" pitchFamily="2" charset="2"/>
                      </a:rPr>
                      <m:t>𝜃</m:t>
                    </m:r>
                    <m:r>
                      <a:rPr lang="sv-SE" sz="2400" b="0" i="1" smtClean="0">
                        <a:latin typeface="Cambria Math"/>
                        <a:sym typeface="Wingdings" panose="05000000000000000000" pitchFamily="2" charset="2"/>
                      </a:rPr>
                      <m:t>|</m:t>
                    </m:r>
                    <m:r>
                      <a:rPr lang="sv-SE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𝑇</m:t>
                    </m:r>
                    <m:r>
                      <a:rPr lang="sv-SE" sz="2400" b="0" i="1" smtClean="0">
                        <a:latin typeface="Cambria Math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sv-SE" sz="2400" dirty="0">
                    <a:sym typeface="Wingdings" panose="05000000000000000000" pitchFamily="2" charset="2"/>
                  </a:rPr>
                  <a:t>, </a:t>
                </a:r>
                <a:r>
                  <a:rPr lang="sv-SE" sz="2400" dirty="0" err="1">
                    <a:sym typeface="Wingdings" panose="05000000000000000000" pitchFamily="2" charset="2"/>
                  </a:rPr>
                  <a:t>estimate</a:t>
                </a:r>
                <a:r>
                  <a:rPr lang="sv-SE" sz="2400" dirty="0">
                    <a:sym typeface="Wingdings" panose="05000000000000000000" pitchFamily="2" charset="2"/>
                  </a:rPr>
                  <a:t> </a:t>
                </a:r>
                <a:r>
                  <a:rPr lang="sv-SE" sz="2400" dirty="0" err="1">
                    <a:sym typeface="Wingdings" panose="05000000000000000000" pitchFamily="2" charset="2"/>
                  </a:rPr>
                  <a:t>posterior</a:t>
                </a:r>
                <a:r>
                  <a:rPr lang="sv-SE" sz="2400" dirty="0">
                    <a:sym typeface="Wingdings" panose="05000000000000000000" pitchFamily="2" charset="2"/>
                  </a:rPr>
                  <a:t> </a:t>
                </a:r>
                <a:r>
                  <a:rPr lang="sv-SE" sz="2400" dirty="0" err="1">
                    <a:sym typeface="Wingdings" panose="05000000000000000000" pitchFamily="2" charset="2"/>
                  </a:rPr>
                  <a:t>mean</a:t>
                </a:r>
                <a:r>
                  <a:rPr lang="sv-SE" sz="24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sv-SE" sz="2400" b="0" i="1" smtClean="0">
                            <a:latin typeface="Cambria Math"/>
                            <a:sym typeface="Wingdings" panose="05000000000000000000" pitchFamily="2" charset="2"/>
                          </a:rPr>
                          <m:t>𝜃</m:t>
                        </m:r>
                      </m:e>
                      <m:sup>
                        <m:r>
                          <a:rPr lang="sv-SE" sz="2400" b="0" i="1" smtClean="0">
                            <a:latin typeface="Cambria Math"/>
                            <a:sym typeface="Wingdings" panose="05000000000000000000" pitchFamily="2" charset="2"/>
                          </a:rPr>
                          <m:t>∗</m:t>
                        </m:r>
                      </m:sup>
                    </m:sSup>
                  </m:oMath>
                </a14:m>
                <a:endParaRPr lang="sv-SE" sz="24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sv-SE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11" t="-2156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  <a:endParaRPr lang="sv-S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1547664" y="3126697"/>
                <a:ext cx="6048672" cy="736484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sv-SE" sz="2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v-SE" sz="2400" b="0" i="1" smtClean="0"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e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sv-SE" sz="2400" b="0" i="1" smtClean="0">
                            <a:latin typeface="Cambria Math"/>
                          </a:rPr>
                          <m:t>𝑝</m:t>
                        </m:r>
                        <m:r>
                          <a:rPr lang="sv-SE" sz="2400" b="0" i="1" smtClean="0">
                            <a:latin typeface="Cambria Math"/>
                          </a:rPr>
                          <m:t>(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sv-SE" sz="2400" b="0" i="1" smtClean="0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sv-SE" sz="2400" b="0" i="1" smtClean="0">
                            <a:latin typeface="Cambria Math"/>
                          </a:rPr>
                          <m:t>𝑝</m:t>
                        </m:r>
                        <m:r>
                          <a:rPr lang="sv-SE" sz="2400" b="0" i="1" smtClean="0">
                            <a:latin typeface="Cambria Math"/>
                          </a:rPr>
                          <m:t>(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sv-SE" sz="2400" b="0" i="1" smtClean="0">
                            <a:latin typeface="Cambria Math"/>
                          </a:rPr>
                          <m:t>)</m:t>
                        </m:r>
                      </m:den>
                    </m:f>
                    <m:r>
                      <a:rPr lang="sv-SE" sz="2400" b="0" i="1" smtClean="0">
                        <a:latin typeface="Cambria Math"/>
                        <a:ea typeface="Cambria Math"/>
                      </a:rPr>
                      <m:t>∝</m:t>
                    </m:r>
                    <m:r>
                      <a:rPr lang="sv-SE" sz="2400" b="0" i="1" smtClean="0">
                        <a:latin typeface="Cambria Math"/>
                        <a:ea typeface="Cambria Math"/>
                      </a:rPr>
                      <m:t>𝑝</m:t>
                    </m:r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𝑇</m:t>
                        </m:r>
                      </m:e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𝑤</m:t>
                        </m:r>
                      </m:e>
                    </m:d>
                    <m:r>
                      <a:rPr lang="sv-SE" sz="2400" b="0" i="1" smtClean="0">
                        <a:latin typeface="Cambria Math"/>
                        <a:ea typeface="Cambria Math"/>
                      </a:rPr>
                      <m:t>𝑝</m:t>
                    </m:r>
                    <m:r>
                      <a:rPr lang="sv-SE" sz="2400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sv-SE" sz="2400" b="0" i="1" smtClean="0">
                        <a:latin typeface="Cambria Math" panose="02040503050406030204" pitchFamily="18" charset="0"/>
                        <a:ea typeface="Cambria Math"/>
                      </a:rPr>
                      <m:t>𝑤</m:t>
                    </m:r>
                    <m:r>
                      <a:rPr lang="sv-SE" sz="2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sv-SE" sz="2400" dirty="0"/>
                  <a:t> </a:t>
                </a:r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3126697"/>
                <a:ext cx="6048672" cy="7364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105405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Fitting</a:t>
            </a:r>
            <a:r>
              <a:rPr lang="sv-SE" dirty="0"/>
              <a:t> a </a:t>
            </a:r>
            <a:r>
              <a:rPr lang="sv-SE" dirty="0" err="1"/>
              <a:t>model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800" dirty="0"/>
                  <a:t>How </a:t>
                </a:r>
                <a:r>
                  <a:rPr lang="sv-SE" sz="2800" dirty="0" err="1"/>
                  <a:t>to</a:t>
                </a:r>
                <a:r>
                  <a:rPr lang="sv-SE" sz="2800" dirty="0"/>
                  <a:t> chose the prior?</a:t>
                </a:r>
              </a:p>
              <a:p>
                <a:pPr lvl="1"/>
                <a:r>
                  <a:rPr lang="sv-SE" sz="2400" dirty="0"/>
                  <a:t>Expert </a:t>
                </a:r>
                <a:r>
                  <a:rPr lang="sv-SE" sz="2400" dirty="0" err="1"/>
                  <a:t>knowledge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about</a:t>
                </a:r>
                <a:r>
                  <a:rPr lang="sv-SE" sz="2400" dirty="0"/>
                  <a:t> the </a:t>
                </a:r>
                <a:r>
                  <a:rPr lang="sv-SE" sz="2400" dirty="0" err="1"/>
                  <a:t>phenomenon</a:t>
                </a:r>
                <a:endParaRPr lang="sv-SE" sz="2400" dirty="0"/>
              </a:p>
              <a:p>
                <a:pPr lvl="1"/>
                <a:r>
                  <a:rPr lang="sv-SE" sz="2400" dirty="0" err="1"/>
                  <a:t>Forcing</a:t>
                </a:r>
                <a:r>
                  <a:rPr lang="sv-SE" sz="2400" dirty="0"/>
                  <a:t> a </a:t>
                </a:r>
                <a:r>
                  <a:rPr lang="sv-SE" sz="2400" dirty="0" err="1"/>
                  <a:t>model</a:t>
                </a:r>
                <a:r>
                  <a:rPr lang="sv-SE" sz="2400" dirty="0"/>
                  <a:t> </a:t>
                </a:r>
                <a:r>
                  <a:rPr lang="sv-SE" sz="2400" dirty="0" err="1"/>
                  <a:t>to</a:t>
                </a:r>
                <a:r>
                  <a:rPr lang="sv-SE" sz="2400" dirty="0"/>
                  <a:t> </a:t>
                </a:r>
                <a:r>
                  <a:rPr lang="sv-SE" sz="2400" dirty="0" err="1"/>
                  <a:t>have</a:t>
                </a:r>
                <a:r>
                  <a:rPr lang="sv-SE" sz="2400" dirty="0"/>
                  <a:t> a </a:t>
                </a:r>
                <a:r>
                  <a:rPr lang="sv-SE" sz="2400" dirty="0" err="1"/>
                  <a:t>certain</a:t>
                </a:r>
                <a:r>
                  <a:rPr lang="sv-SE" sz="2400" dirty="0"/>
                  <a:t> </a:t>
                </a:r>
                <a:r>
                  <a:rPr lang="sv-SE" sz="2400" dirty="0" err="1"/>
                  <a:t>structure</a:t>
                </a:r>
                <a:r>
                  <a:rPr lang="sv-SE" sz="2400" dirty="0"/>
                  <a:t> </a:t>
                </a:r>
              </a:p>
              <a:p>
                <a:pPr lvl="2"/>
                <a:r>
                  <a:rPr lang="sv-SE" sz="2000" dirty="0" err="1"/>
                  <a:t>Example</a:t>
                </a:r>
                <a:r>
                  <a:rPr lang="sv-SE" sz="2000" dirty="0"/>
                  <a:t>: decision </a:t>
                </a:r>
                <a:r>
                  <a:rPr lang="sv-SE" sz="2000" dirty="0" err="1"/>
                  <a:t>trees</a:t>
                </a:r>
                <a:r>
                  <a:rPr lang="sv-SE" sz="2000" dirty="0"/>
                  <a:t>: prior </a:t>
                </a:r>
                <a:r>
                  <a:rPr lang="sv-SE" sz="2000" dirty="0" err="1"/>
                  <a:t>prefers</a:t>
                </a:r>
                <a:r>
                  <a:rPr lang="sv-SE" sz="2000" dirty="0"/>
                  <a:t> </a:t>
                </a:r>
                <a:r>
                  <a:rPr lang="sv-SE" sz="2000" dirty="0" err="1"/>
                  <a:t>smaller</a:t>
                </a:r>
                <a:r>
                  <a:rPr lang="sv-SE" sz="2000" dirty="0"/>
                  <a:t> </a:t>
                </a:r>
                <a:r>
                  <a:rPr lang="sv-SE" sz="2000" dirty="0" err="1"/>
                  <a:t>trees</a:t>
                </a:r>
                <a:endParaRPr lang="sv-SE" sz="2000" dirty="0"/>
              </a:p>
              <a:p>
                <a:pPr lvl="2"/>
                <a:endParaRPr lang="sv-SE" sz="2000" dirty="0"/>
              </a:p>
              <a:p>
                <a:pPr lvl="1"/>
                <a:r>
                  <a:rPr lang="sv-SE" sz="2400" dirty="0" err="1"/>
                  <a:t>Conjugacy</a:t>
                </a:r>
                <a:endParaRPr lang="sv-SE" sz="2400" dirty="0"/>
              </a:p>
              <a:p>
                <a:pPr lvl="2"/>
                <a:r>
                  <a:rPr lang="sv-SE" sz="2000" dirty="0"/>
                  <a:t>Distribution </a:t>
                </a:r>
                <a:r>
                  <a:rPr lang="sv-SE" sz="2000" dirty="0" err="1"/>
                  <a:t>of</a:t>
                </a:r>
                <a:r>
                  <a:rPr lang="sv-SE" sz="2000" dirty="0"/>
                  <a:t> the </a:t>
                </a:r>
                <a:r>
                  <a:rPr lang="sv-SE" sz="2000" dirty="0" err="1"/>
                  <a:t>posterior</a:t>
                </a:r>
                <a:r>
                  <a:rPr lang="sv-SE" sz="2000" dirty="0"/>
                  <a:t> is the same </a:t>
                </a:r>
                <a:r>
                  <a:rPr lang="sv-SE" sz="2000" dirty="0" err="1"/>
                  <a:t>type</a:t>
                </a:r>
                <a:r>
                  <a:rPr lang="sv-SE" sz="2000" dirty="0"/>
                  <a:t> as the distribution </a:t>
                </a:r>
                <a:r>
                  <a:rPr lang="sv-SE" sz="2000" dirty="0" err="1"/>
                  <a:t>of</a:t>
                </a:r>
                <a:r>
                  <a:rPr lang="sv-SE" sz="2000" dirty="0"/>
                  <a:t> the </a:t>
                </a:r>
                <a:r>
                  <a:rPr lang="sv-SE" sz="2000" dirty="0" err="1"/>
                  <a:t>likelihood</a:t>
                </a:r>
                <a:r>
                  <a:rPr lang="sv-SE" sz="2000" dirty="0"/>
                  <a:t> or prior</a:t>
                </a:r>
              </a:p>
              <a:p>
                <a:pPr lvl="2"/>
                <a:endParaRPr lang="sv-SE" sz="2000" dirty="0"/>
              </a:p>
              <a:p>
                <a:r>
                  <a:rPr lang="sv-SE" sz="2400" dirty="0"/>
                  <a:t>Prior is the </a:t>
                </a:r>
                <a:r>
                  <a:rPr lang="sv-SE" sz="2400" dirty="0" err="1"/>
                  <a:t>most</a:t>
                </a:r>
                <a:r>
                  <a:rPr lang="sv-SE" sz="2400" dirty="0"/>
                  <a:t> </a:t>
                </a:r>
                <a:r>
                  <a:rPr lang="sv-SE" sz="2400" dirty="0" err="1"/>
                  <a:t>controversial</a:t>
                </a:r>
                <a:r>
                  <a:rPr lang="sv-SE" sz="2400" dirty="0"/>
                  <a:t> </a:t>
                </a:r>
                <a:r>
                  <a:rPr lang="sv-SE" sz="2400" dirty="0" err="1"/>
                  <a:t>about</a:t>
                </a:r>
                <a:r>
                  <a:rPr lang="sv-SE" sz="2400" dirty="0"/>
                  <a:t> </a:t>
                </a:r>
                <a:r>
                  <a:rPr lang="sv-SE" sz="2400" dirty="0" err="1"/>
                  <a:t>Bayesian</a:t>
                </a:r>
                <a:r>
                  <a:rPr lang="sv-SE" sz="2400" dirty="0"/>
                  <a:t> </a:t>
                </a:r>
                <a:r>
                  <a:rPr lang="sv-SE" sz="2400" dirty="0" err="1"/>
                  <a:t>methods</a:t>
                </a:r>
                <a:r>
                  <a:rPr lang="sv-SE" sz="2400" dirty="0"/>
                  <a:t>, </a:t>
                </a:r>
                <a:r>
                  <a:rPr lang="sv-SE" sz="2400" dirty="0" err="1"/>
                  <a:t>but</a:t>
                </a:r>
                <a:endParaRPr lang="sv-SE" sz="2400" dirty="0"/>
              </a:p>
              <a:p>
                <a:pPr lvl="1"/>
                <a:r>
                  <a:rPr lang="sv-SE" sz="2000" dirty="0" err="1"/>
                  <a:t>When</a:t>
                </a:r>
                <a:r>
                  <a:rPr lang="sv-SE" sz="2000" dirty="0"/>
                  <a:t> </a:t>
                </a:r>
                <a14:m>
                  <m:oMath xmlns:m="http://schemas.openxmlformats.org/officeDocument/2006/math">
                    <m:r>
                      <a:rPr lang="sv-SE" sz="2000" b="0" i="1" smtClean="0">
                        <a:latin typeface="Cambria Math"/>
                      </a:rPr>
                      <m:t>𝑁</m:t>
                    </m:r>
                    <m:r>
                      <a:rPr lang="sv-SE" sz="2000" b="0" i="1" smtClean="0">
                        <a:latin typeface="Cambria Math"/>
                      </a:rPr>
                      <m:t>→ ∞</m:t>
                    </m:r>
                  </m:oMath>
                </a14:m>
                <a:r>
                  <a:rPr lang="sv-SE" sz="2000" dirty="0"/>
                  <a:t>, data </a:t>
                </a:r>
                <a:r>
                  <a:rPr lang="sv-SE" sz="2000" dirty="0" err="1"/>
                  <a:t>overwhelms</a:t>
                </a:r>
                <a:r>
                  <a:rPr lang="sv-SE" sz="2000" dirty="0"/>
                  <a:t> the prior</a:t>
                </a:r>
              </a:p>
              <a:p>
                <a:pPr lvl="1"/>
                <a:endParaRPr lang="sv-SE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33" t="-1348" r="-14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Rectangle 5"/>
          <p:cNvSpPr/>
          <p:nvPr/>
        </p:nvSpPr>
        <p:spPr>
          <a:xfrm>
            <a:off x="2819684" y="3429000"/>
            <a:ext cx="45833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>
                <a:hlinkClick r:id="rId4"/>
              </a:rPr>
              <a:t>http://en.wikipedia.org/wiki/Conjugate_prior</a:t>
            </a:r>
            <a:endParaRPr lang="sv-SE" dirty="0"/>
          </a:p>
          <a:p>
            <a:endParaRPr lang="sv-S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27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7709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Measuring</a:t>
            </a:r>
            <a:r>
              <a:rPr lang="sv-SE" dirty="0"/>
              <a:t> </a:t>
            </a:r>
            <a:r>
              <a:rPr lang="sv-SE" dirty="0" err="1"/>
              <a:t>uncertainty</a:t>
            </a:r>
            <a:endParaRPr lang="sv-S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sv-SE" sz="2400" b="1" dirty="0">
                    <a:solidFill>
                      <a:srgbClr val="0000FF"/>
                    </a:solidFill>
                  </a:rPr>
                  <a:t>Confidence </a:t>
                </a:r>
                <a:r>
                  <a:rPr lang="sv-SE" sz="2400" b="1" dirty="0" err="1">
                    <a:solidFill>
                      <a:srgbClr val="0000FF"/>
                    </a:solidFill>
                  </a:rPr>
                  <a:t>interval</a:t>
                </a:r>
                <a:r>
                  <a:rPr lang="sv-SE" sz="2400" b="1" dirty="0">
                    <a:solidFill>
                      <a:srgbClr val="0000FF"/>
                    </a:solidFill>
                  </a:rPr>
                  <a:t> </a:t>
                </a:r>
                <a:r>
                  <a:rPr lang="sv-SE" sz="2400" b="0" dirty="0"/>
                  <a:t>(</a:t>
                </a:r>
                <a:r>
                  <a:rPr lang="sv-SE" sz="2400" b="0" dirty="0" err="1"/>
                  <a:t>frequentist</a:t>
                </a:r>
                <a:r>
                  <a:rPr lang="sv-SE" sz="2400" b="0" dirty="0"/>
                  <a:t>)</a:t>
                </a:r>
              </a:p>
              <a:p>
                <a:r>
                  <a:rPr lang="sv-SE" sz="2400" b="1" dirty="0" err="1">
                    <a:solidFill>
                      <a:srgbClr val="0000FF"/>
                    </a:solidFill>
                  </a:rPr>
                  <a:t>Credible</a:t>
                </a:r>
                <a:r>
                  <a:rPr lang="sv-SE" sz="2400" b="1" dirty="0">
                    <a:solidFill>
                      <a:srgbClr val="0000FF"/>
                    </a:solidFill>
                  </a:rPr>
                  <a:t> </a:t>
                </a:r>
                <a:r>
                  <a:rPr lang="sv-SE" sz="2400" b="1" dirty="0" err="1">
                    <a:solidFill>
                      <a:srgbClr val="0000FF"/>
                    </a:solidFill>
                  </a:rPr>
                  <a:t>interval</a:t>
                </a:r>
                <a:r>
                  <a:rPr lang="sv-SE" sz="2400" b="1" dirty="0">
                    <a:solidFill>
                      <a:srgbClr val="0000FF"/>
                    </a:solidFill>
                  </a:rPr>
                  <a:t> </a:t>
                </a:r>
                <a:r>
                  <a:rPr lang="sv-SE" sz="2400" b="0" dirty="0"/>
                  <a:t>(Bayes)</a:t>
                </a:r>
              </a:p>
              <a:p>
                <a:r>
                  <a:rPr lang="sv-SE" sz="2400" b="1" dirty="0" err="1">
                    <a:solidFill>
                      <a:srgbClr val="0000FF"/>
                    </a:solidFill>
                  </a:rPr>
                  <a:t>Prediction</a:t>
                </a:r>
                <a:r>
                  <a:rPr lang="sv-SE" sz="2400" b="1" dirty="0">
                    <a:solidFill>
                      <a:srgbClr val="0000FF"/>
                    </a:solidFill>
                  </a:rPr>
                  <a:t> </a:t>
                </a:r>
                <a:r>
                  <a:rPr lang="sv-SE" sz="2400" b="1" dirty="0" err="1">
                    <a:solidFill>
                      <a:srgbClr val="0000FF"/>
                    </a:solidFill>
                  </a:rPr>
                  <a:t>interval</a:t>
                </a:r>
                <a:r>
                  <a:rPr lang="sv-SE" sz="2400" b="1" dirty="0">
                    <a:solidFill>
                      <a:srgbClr val="0000FF"/>
                    </a:solidFill>
                  </a:rPr>
                  <a:t> </a:t>
                </a:r>
                <a:r>
                  <a:rPr lang="sv-SE" sz="2400" dirty="0"/>
                  <a:t>(</a:t>
                </a:r>
                <a:r>
                  <a:rPr lang="sv-SE" sz="2400" dirty="0" err="1"/>
                  <a:t>models</a:t>
                </a:r>
                <a:r>
                  <a:rPr lang="sv-SE" sz="2400" dirty="0"/>
                  <a:t>)</a:t>
                </a:r>
              </a:p>
              <a:p>
                <a:pPr marL="0" indent="0">
                  <a:buNone/>
                </a:pPr>
                <a:endParaRPr lang="sv-SE" sz="2400" dirty="0"/>
              </a:p>
              <a:p>
                <a:pPr marL="0" indent="0">
                  <a:buNone/>
                </a:pPr>
                <a:endParaRPr lang="sv-SE" sz="2400"/>
              </a:p>
              <a:p>
                <a:pPr marL="0" indent="0">
                  <a:buNone/>
                </a:pPr>
                <a:endParaRPr lang="sv-SE" sz="2400" dirty="0"/>
              </a:p>
              <a:p>
                <a:r>
                  <a:rPr lang="sv-SE" sz="2400" b="0" dirty="0" err="1">
                    <a:solidFill>
                      <a:srgbClr val="FF0000"/>
                    </a:solidFill>
                  </a:rPr>
                  <a:t>Example</a:t>
                </a:r>
                <a:r>
                  <a:rPr lang="sv-SE" sz="2400" b="0" dirty="0"/>
                  <a:t>: </a:t>
                </a:r>
                <a:r>
                  <a:rPr lang="sv-SE" sz="2400" b="0" dirty="0" err="1"/>
                  <a:t>Prediction</a:t>
                </a:r>
                <a:r>
                  <a:rPr lang="sv-SE" sz="2400" b="0" dirty="0"/>
                  <a:t> </a:t>
                </a:r>
                <a:r>
                  <a:rPr lang="sv-SE" sz="2400" b="0" dirty="0" err="1"/>
                  <a:t>interval</a:t>
                </a:r>
                <a:r>
                  <a:rPr lang="sv-SE" sz="2400" b="0" dirty="0"/>
                  <a:t> for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+4, 1</m:t>
                        </m:r>
                      </m:e>
                    </m:d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v-SE" sz="2400" b="0" dirty="0"/>
                  <a:t>at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sv-SE" sz="2400" b="0" dirty="0"/>
              </a:p>
              <a:p>
                <a:pPr lvl="1"/>
                <a:endParaRPr lang="sv-SE" sz="2000" b="0" dirty="0"/>
              </a:p>
              <a:p>
                <a:pPr lvl="1"/>
                <a:endParaRPr lang="sv-SE" sz="2000" b="0" dirty="0"/>
              </a:p>
              <a:p>
                <a:endParaRPr lang="sv-SE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F0B53-9592-4779-891F-997228E46E01}" type="slidenum">
              <a:rPr lang="sv-SE" smtClean="0"/>
              <a:t>28</a:t>
            </a:fld>
            <a:endParaRPr lang="sv-SE"/>
          </a:p>
        </p:txBody>
      </p:sp>
      <p:pic>
        <p:nvPicPr>
          <p:cNvPr id="2050" name="Picture 2" descr="Bildresultat fÃ¶r confidence interval">
            <a:extLst>
              <a:ext uri="{FF2B5EF4-FFF2-40B4-BE49-F238E27FC236}">
                <a16:creationId xmlns:a16="http://schemas.microsoft.com/office/drawing/2014/main" id="{D8990314-2EE6-4C62-AD7E-3DB58C3BB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048" y="2420888"/>
            <a:ext cx="268605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8326907"/>
      </p:ext>
    </p:extLst>
  </p:cSld>
  <p:clrMapOvr>
    <a:masterClrMapping/>
  </p:clrMapOvr>
</p:sld>
</file>

<file path=ppt/theme/theme1.xml><?xml version="1.0" encoding="utf-8"?>
<a:theme xmlns:a="http://schemas.openxmlformats.org/drawingml/2006/main" name="my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8B838B1D395C46B230F564133917A4" ma:contentTypeVersion="5" ma:contentTypeDescription="Create a new document." ma:contentTypeScope="" ma:versionID="70e298e78836510adb340f9f68a263a1">
  <xsd:schema xmlns:xsd="http://www.w3.org/2001/XMLSchema" xmlns:xs="http://www.w3.org/2001/XMLSchema" xmlns:p="http://schemas.microsoft.com/office/2006/metadata/properties" xmlns:ns2="e27f7632-7914-4153-b43e-44baa0afba72" xmlns:ns3="e5d37322-26cc-4af7-8808-99666bb9997d" targetNamespace="http://schemas.microsoft.com/office/2006/metadata/properties" ma:root="true" ma:fieldsID="7d3cba0f520645fa006f4f5a2497c43c" ns2:_="" ns3:_="">
    <xsd:import namespace="e27f7632-7914-4153-b43e-44baa0afba72"/>
    <xsd:import namespace="e5d37322-26cc-4af7-8808-99666bb9997d"/>
    <xsd:element name="properties">
      <xsd:complexType>
        <xsd:sequence>
          <xsd:element name="documentManagement">
            <xsd:complexType>
              <xsd:all>
                <xsd:element ref="ns2:_lisam_Description" minOccurs="0"/>
                <xsd:element ref="ns3:_lisam_PublishedVersion" minOccurs="0"/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7f7632-7914-4153-b43e-44baa0afba72" elementFormDefault="qualified">
    <xsd:import namespace="http://schemas.microsoft.com/office/2006/documentManagement/types"/>
    <xsd:import namespace="http://schemas.microsoft.com/office/infopath/2007/PartnerControls"/>
    <xsd:element name="_lisam_Description" ma:index="8" nillable="true" ma:displayName="Description" ma:internalName="_lisam_Description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d37322-26cc-4af7-8808-99666bb9997d" elementFormDefault="qualified">
    <xsd:import namespace="http://schemas.microsoft.com/office/2006/documentManagement/types"/>
    <xsd:import namespace="http://schemas.microsoft.com/office/infopath/2007/PartnerControls"/>
    <xsd:element name="_lisam_PublishedVersion" ma:index="9" nillable="true" ma:displayName="Published Version" ma:internalName="_lisam_PublishedVersion">
      <xsd:simpleType>
        <xsd:restriction base="dms:Text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lisam_Description xmlns="e27f7632-7914-4153-b43e-44baa0afba72" xsi:nil="true"/>
    <_lisam_PublishedVersion xmlns="e5d37322-26cc-4af7-8808-99666bb9997d" xsi:nil="true"/>
  </documentManagement>
</p:properties>
</file>

<file path=customXml/itemProps1.xml><?xml version="1.0" encoding="utf-8"?>
<ds:datastoreItem xmlns:ds="http://schemas.openxmlformats.org/officeDocument/2006/customXml" ds:itemID="{64F8FF52-7619-40E9-A7DB-6587C8AAFF3F}"/>
</file>

<file path=customXml/itemProps2.xml><?xml version="1.0" encoding="utf-8"?>
<ds:datastoreItem xmlns:ds="http://schemas.openxmlformats.org/officeDocument/2006/customXml" ds:itemID="{A6DDDAB0-958E-43B4-9CD1-C2F2045A67CC}"/>
</file>

<file path=customXml/itemProps3.xml><?xml version="1.0" encoding="utf-8"?>
<ds:datastoreItem xmlns:ds="http://schemas.openxmlformats.org/officeDocument/2006/customXml" ds:itemID="{0490E4F1-E39D-42BA-B49A-9690BD73331A}"/>
</file>

<file path=docProps/app.xml><?xml version="1.0" encoding="utf-8"?>
<Properties xmlns="http://schemas.openxmlformats.org/officeDocument/2006/extended-properties" xmlns:vt="http://schemas.openxmlformats.org/officeDocument/2006/docPropsVTypes">
  <Template>mytheme</Template>
  <TotalTime>13162</TotalTime>
  <Words>1464</Words>
  <Application>Microsoft Office PowerPoint</Application>
  <PresentationFormat>Bildspel på skärmen (4:3)</PresentationFormat>
  <Paragraphs>301</Paragraphs>
  <Slides>28</Slides>
  <Notes>11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28</vt:i4>
      </vt:variant>
    </vt:vector>
  </HeadingPairs>
  <TitlesOfParts>
    <vt:vector size="32" baseType="lpstr">
      <vt:lpstr>Arial</vt:lpstr>
      <vt:lpstr>Calibri</vt:lpstr>
      <vt:lpstr>Cambria Math</vt:lpstr>
      <vt:lpstr>mytheme</vt:lpstr>
      <vt:lpstr>Basics of Statistics</vt:lpstr>
      <vt:lpstr>Probability</vt:lpstr>
      <vt:lpstr>Probability</vt:lpstr>
      <vt:lpstr>Properties and definitions</vt:lpstr>
      <vt:lpstr>Bayes theorem</vt:lpstr>
      <vt:lpstr>Bayes theorem</vt:lpstr>
      <vt:lpstr>Random variables</vt:lpstr>
      <vt:lpstr>Distributions</vt:lpstr>
      <vt:lpstr>Expected value and variance</vt:lpstr>
      <vt:lpstr>Probabilities</vt:lpstr>
      <vt:lpstr>Bayes theorem</vt:lpstr>
      <vt:lpstr>Some conventional distributions</vt:lpstr>
      <vt:lpstr>Some conventional distributions</vt:lpstr>
      <vt:lpstr>Poisson distribution</vt:lpstr>
      <vt:lpstr>Poisson distribution</vt:lpstr>
      <vt:lpstr>Poisson distribution</vt:lpstr>
      <vt:lpstr>Normal distribution</vt:lpstr>
      <vt:lpstr>Multivariate distributions</vt:lpstr>
      <vt:lpstr>Basic ML ingridients</vt:lpstr>
      <vt:lpstr>Probabilistic models</vt:lpstr>
      <vt:lpstr>Fitting a model</vt:lpstr>
      <vt:lpstr>Fitting a model</vt:lpstr>
      <vt:lpstr>Fitting a model</vt:lpstr>
      <vt:lpstr>Fitting a model</vt:lpstr>
      <vt:lpstr>Bayesian probabilities</vt:lpstr>
      <vt:lpstr>Fitting a model</vt:lpstr>
      <vt:lpstr>Fitting a model</vt:lpstr>
      <vt:lpstr>Measuring uncertainty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Oleg</dc:creator>
  <cp:lastModifiedBy>Oleg Sysoev</cp:lastModifiedBy>
  <cp:revision>429</cp:revision>
  <dcterms:created xsi:type="dcterms:W3CDTF">2008-10-17T08:20:23Z</dcterms:created>
  <dcterms:modified xsi:type="dcterms:W3CDTF">2022-11-02T13:52:56Z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0x010100298B838B1D395C46B230F564133917A4</vt:lpwstr>
  </property>
</Properties>
</file>