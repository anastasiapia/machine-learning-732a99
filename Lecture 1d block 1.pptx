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18" r:id="rId1"/>
  </p:sldMasterIdLst>
  <p:notesMasterIdLst>
    <p:notesMasterId r:id="rId36"/>
  </p:notesMasterIdLst>
  <p:sldIdLst>
    <p:sldId id="256" r:id="rId2"/>
    <p:sldId id="257" r:id="rId3"/>
    <p:sldId id="259" r:id="rId4"/>
    <p:sldId id="260" r:id="rId5"/>
    <p:sldId id="326" r:id="rId6"/>
    <p:sldId id="327" r:id="rId7"/>
    <p:sldId id="262" r:id="rId8"/>
    <p:sldId id="263" r:id="rId9"/>
    <p:sldId id="329" r:id="rId10"/>
    <p:sldId id="330" r:id="rId11"/>
    <p:sldId id="317" r:id="rId12"/>
    <p:sldId id="267" r:id="rId13"/>
    <p:sldId id="268" r:id="rId14"/>
    <p:sldId id="269" r:id="rId15"/>
    <p:sldId id="352" r:id="rId16"/>
    <p:sldId id="353" r:id="rId17"/>
    <p:sldId id="319" r:id="rId18"/>
    <p:sldId id="264" r:id="rId19"/>
    <p:sldId id="316" r:id="rId20"/>
    <p:sldId id="346" r:id="rId21"/>
    <p:sldId id="347" r:id="rId22"/>
    <p:sldId id="349" r:id="rId23"/>
    <p:sldId id="332" r:id="rId24"/>
    <p:sldId id="333" r:id="rId25"/>
    <p:sldId id="334" r:id="rId26"/>
    <p:sldId id="339" r:id="rId27"/>
    <p:sldId id="340" r:id="rId28"/>
    <p:sldId id="341" r:id="rId29"/>
    <p:sldId id="342" r:id="rId30"/>
    <p:sldId id="335" r:id="rId31"/>
    <p:sldId id="343" r:id="rId32"/>
    <p:sldId id="350" r:id="rId33"/>
    <p:sldId id="337" r:id="rId34"/>
    <p:sldId id="351" r:id="rId35"/>
  </p:sldIdLst>
  <p:sldSz cx="9144000" cy="6858000" type="screen4x3"/>
  <p:notesSz cx="6858000" cy="9144000"/>
  <p:defaultTextStyle>
    <a:defPPr>
      <a:defRPr lang="sv-SE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92" autoAdjust="0"/>
    <p:restoredTop sz="94667" autoAdjust="0"/>
  </p:normalViewPr>
  <p:slideViewPr>
    <p:cSldViewPr>
      <p:cViewPr varScale="1">
        <p:scale>
          <a:sx n="112" d="100"/>
          <a:sy n="112" d="100"/>
        </p:scale>
        <p:origin x="1566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customXml" Target="../customXml/item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customXml" Target="../customXml/item3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44ADB048-B6AA-4D22-B925-1E07B42FCC2F}" type="datetimeFigureOut">
              <a:rPr lang="en-US"/>
              <a:pPr>
                <a:defRPr/>
              </a:pPr>
              <a:t>11/7/2022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1CBF2CB4-761B-4BF8-ADAE-309A87B15EF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137151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CBF2CB4-761B-4BF8-ADAE-309A87B15EFF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56563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CBF2CB4-761B-4BF8-ADAE-309A87B15EFF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3729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CBF2CB4-761B-4BF8-ADAE-309A87B15EFF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521755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CBF2CB4-761B-4BF8-ADAE-309A87B15EFF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98720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CBF2CB4-761B-4BF8-ADAE-309A87B15EFF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798188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CBF2CB4-761B-4BF8-ADAE-309A87B15EFF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948888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CBF2CB4-761B-4BF8-ADAE-309A87B15EFF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807029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CBF2CB4-761B-4BF8-ADAE-309A87B15EFF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67402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CBF2CB4-761B-4BF8-ADAE-309A87B15EFF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915956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CBF2CB4-761B-4BF8-ADAE-309A87B15EFF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561808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CBF2CB4-761B-4BF8-ADAE-309A87B15EFF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066107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CBF2CB4-761B-4BF8-ADAE-309A87B15EFF}" type="slidenum">
              <a:rPr lang="en-US" smtClean="0"/>
              <a:pPr>
                <a:defRPr/>
              </a:pPr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377954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CBF2CB4-761B-4BF8-ADAE-309A87B15EFF}" type="slidenum">
              <a:rPr lang="en-US" smtClean="0"/>
              <a:pPr>
                <a:defRPr/>
              </a:pPr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518215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CBF2CB4-761B-4BF8-ADAE-309A87B15EFF}" type="slidenum">
              <a:rPr lang="en-US" smtClean="0"/>
              <a:pPr>
                <a:defRPr/>
              </a:pPr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461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rgbClr val="FFFF00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B534CBAC-89DC-401C-9506-A58A7B24C01D}" type="datetime1">
              <a:rPr lang="sv-SE" smtClean="0"/>
              <a:t>2022-11-07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sv-SE"/>
              <a:t>732A99/TDDE01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E41135-FE25-4BB9-845D-2A6C9DB4D648}" type="slidenum">
              <a:rPr lang="sv-SE"/>
              <a:pPr>
                <a:defRPr/>
              </a:pPr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0025907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3C0DC-C371-4E85-BD65-A82E3909AAF6}" type="datetime1">
              <a:rPr lang="sv-SE" smtClean="0"/>
              <a:t>2022-11-07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sv-SE"/>
              <a:t>732A99/TDDE01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B2DAB0-3E44-4037-BFD8-EC40824E78A2}" type="slidenum">
              <a:rPr lang="sv-SE"/>
              <a:pPr>
                <a:defRPr/>
              </a:pPr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6130527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E144503-E742-4627-AEFF-44244C023DFD}" type="datetime1">
              <a:rPr lang="sv-SE" smtClean="0"/>
              <a:t>2022-11-07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sv-SE"/>
              <a:t>732A99/TDDE01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F39442D-BF2B-4F0F-86BC-2E9B5D092FBD}" type="slidenum">
              <a:rPr lang="sv-SE"/>
              <a:pPr>
                <a:defRPr/>
              </a:pPr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6347635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A9D9E7-5AAC-4FD7-A810-4DB65868CE09}" type="datetime1">
              <a:rPr lang="sv-SE" smtClean="0"/>
              <a:t>2022-11-07</a:t>
            </a:fld>
            <a:endParaRPr lang="sv-SE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sv-SE"/>
              <a:t>732A99/TDDE01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E143A0B-D25E-4CEE-9A8D-A89D71CA941C}" type="slidenum">
              <a:rPr lang="sv-SE"/>
              <a:pPr>
                <a:defRPr/>
              </a:pPr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3075647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DA8A756-5D09-497D-B353-31A6B79FE808}" type="datetime1">
              <a:rPr lang="sv-SE" smtClean="0"/>
              <a:t>2022-11-07</a:t>
            </a:fld>
            <a:endParaRPr lang="sv-SE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sv-SE"/>
              <a:t>732A99/TDDE01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EF4E0B-44E5-4E70-A00D-EAF82574E9B5}" type="slidenum">
              <a:rPr lang="sv-SE"/>
              <a:pPr>
                <a:defRPr/>
              </a:pPr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9006894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8253B98-E4B7-4B48-B343-DD2807568363}" type="datetime1">
              <a:rPr lang="sv-SE" smtClean="0"/>
              <a:t>2022-11-07</a:t>
            </a:fld>
            <a:endParaRPr lang="sv-SE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sv-SE"/>
              <a:t>732A99/TDDE01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DC2B8F3-1A8A-45D7-B8F3-C3176EA3727C}" type="slidenum">
              <a:rPr lang="sv-SE"/>
              <a:pPr>
                <a:defRPr/>
              </a:pPr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4389037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8D41EE-E80B-4AB8-A3C1-3E742F7B8305}" type="datetime1">
              <a:rPr lang="sv-SE" smtClean="0"/>
              <a:t>2022-11-07</a:t>
            </a:fld>
            <a:endParaRPr lang="sv-SE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sv-SE"/>
              <a:t>732A99/TDDE01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207C067-4760-4791-9AD9-243D3788801E}" type="slidenum">
              <a:rPr lang="sv-SE"/>
              <a:pPr>
                <a:defRPr/>
              </a:pPr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116560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4DFB5F0-60EE-4B0A-AE64-B974F74DBD62}" type="datetime1">
              <a:rPr lang="sv-SE" smtClean="0"/>
              <a:t>2022-11-07</a:t>
            </a:fld>
            <a:endParaRPr lang="sv-SE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sv-SE"/>
              <a:t>732A99/TDDE01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9FCB188-BE35-4DCB-B587-5780F2D8A2E3}" type="slidenum">
              <a:rPr lang="sv-SE"/>
              <a:pPr>
                <a:defRPr/>
              </a:pPr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6775720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2A99CAD-8A0A-47B8-A923-9C9CFEF64878}" type="datetime1">
              <a:rPr lang="sv-SE" smtClean="0"/>
              <a:t>2022-11-07</a:t>
            </a:fld>
            <a:endParaRPr lang="sv-SE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sv-SE"/>
              <a:t>732A99/TDDE01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791C374-092E-49BD-9EFA-BFB4801F3599}" type="slidenum">
              <a:rPr lang="sv-SE"/>
              <a:pPr>
                <a:defRPr/>
              </a:pPr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7517810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00CE6C-6F81-4EEE-8DF4-B26CBA02099A}" type="datetime1">
              <a:rPr lang="sv-SE" smtClean="0"/>
              <a:t>2022-11-07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sv-SE"/>
              <a:t>732A99/TDDE01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D1788B-0916-4076-90CD-A11BF9C4C5F6}" type="slidenum">
              <a:rPr lang="sv-SE"/>
              <a:pPr>
                <a:defRPr/>
              </a:pPr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1081439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F6BA0D-3B66-49C7-BF14-C2FD8DB389B0}" type="datetime1">
              <a:rPr lang="sv-SE" smtClean="0"/>
              <a:t>2022-11-07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sv-SE"/>
              <a:t>732A99/TDDE01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2041AE-3DF6-4B42-A32B-B013DFED45FA}" type="slidenum">
              <a:rPr lang="sv-SE"/>
              <a:pPr>
                <a:defRPr/>
              </a:pPr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2537008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683568" y="260648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85800" y="1981200"/>
            <a:ext cx="3810000" cy="198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981200"/>
            <a:ext cx="3810000" cy="198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685800" y="4114800"/>
            <a:ext cx="3810000" cy="198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8200" y="4114800"/>
            <a:ext cx="3810000" cy="198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BAC9F7B-560D-4D2C-9640-4A13E9B47511}" type="datetime1">
              <a:rPr lang="sv-SE" smtClean="0"/>
              <a:t>2022-11-07</a:t>
            </a:fld>
            <a:endParaRPr lang="en-GB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732A99/TDDE01</a:t>
            </a:r>
            <a:endParaRPr lang="en-GB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254C237-546F-4CF8-BFC8-498794181E8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355452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sv-SE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sv-SE"/>
              <a:t>Click to edit Master text styles</a:t>
            </a:r>
          </a:p>
          <a:p>
            <a:pPr lvl="1"/>
            <a:r>
              <a:rPr lang="en-US" altLang="sv-SE"/>
              <a:t>Second level</a:t>
            </a:r>
          </a:p>
          <a:p>
            <a:pPr lvl="2"/>
            <a:r>
              <a:rPr lang="en-US" altLang="sv-SE"/>
              <a:t>Third level</a:t>
            </a:r>
          </a:p>
          <a:p>
            <a:pPr lvl="3"/>
            <a:r>
              <a:rPr lang="en-US" altLang="sv-SE"/>
              <a:t>Fourth level</a:t>
            </a:r>
          </a:p>
          <a:p>
            <a:pPr lvl="4"/>
            <a:r>
              <a:rPr lang="en-US" altLang="sv-SE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smtClean="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F478AFC4-3A31-4E50-A252-130BCBF531FD}" type="datetime1">
              <a:rPr lang="sv-SE" smtClean="0"/>
              <a:t>2022-11-07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smtClean="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r>
              <a:rPr lang="sv-SE"/>
              <a:t>732A99/TDDE01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53457A1C-DCE8-4055-B631-8BF35863A1EB}" type="slidenum">
              <a:rPr lang="sv-SE"/>
              <a:pPr>
                <a:defRPr/>
              </a:pPr>
              <a:t>‹#›</a:t>
            </a:fld>
            <a:endParaRPr lang="sv-S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53" r:id="rId1"/>
    <p:sldLayoutId id="2147483943" r:id="rId2"/>
    <p:sldLayoutId id="2147483944" r:id="rId3"/>
    <p:sldLayoutId id="2147483945" r:id="rId4"/>
    <p:sldLayoutId id="2147483946" r:id="rId5"/>
    <p:sldLayoutId id="2147483947" r:id="rId6"/>
    <p:sldLayoutId id="2147483948" r:id="rId7"/>
    <p:sldLayoutId id="2147483949" r:id="rId8"/>
    <p:sldLayoutId id="2147483950" r:id="rId9"/>
    <p:sldLayoutId id="2147483951" r:id="rId10"/>
    <p:sldLayoutId id="2147483952" r:id="rId11"/>
    <p:sldLayoutId id="2147483954" r:id="rId12"/>
  </p:sldLayoutIdLst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v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oleObject" Target="../embeddings/oleObject1.bin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0.jpe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6.png"/><Relationship Id="rId4" Type="http://schemas.openxmlformats.org/officeDocument/2006/relationships/oleObject" Target="../embeddings/oleObject2.bin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w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19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5.wmf"/><Relationship Id="rId4" Type="http://schemas.openxmlformats.org/officeDocument/2006/relationships/oleObject" Target="../embeddings/oleObject5.bin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wmf"/><Relationship Id="rId4" Type="http://schemas.openxmlformats.org/officeDocument/2006/relationships/oleObject" Target="../embeddings/oleObject6.bin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emf"/><Relationship Id="rId2" Type="http://schemas.openxmlformats.org/officeDocument/2006/relationships/image" Target="../media/image26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emf"/><Relationship Id="rId4" Type="http://schemas.openxmlformats.org/officeDocument/2006/relationships/oleObject" Target="../embeddings/oleObject7.bin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emf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emf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39.emf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emf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emf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emf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emf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Заголовок 1"/>
          <p:cNvSpPr>
            <a:spLocks noGrp="1"/>
          </p:cNvSpPr>
          <p:nvPr>
            <p:ph type="ctrTitle"/>
          </p:nvPr>
        </p:nvSpPr>
        <p:spPr>
          <a:xfrm>
            <a:off x="899592" y="1988840"/>
            <a:ext cx="7772400" cy="1470025"/>
          </a:xfrm>
        </p:spPr>
        <p:txBody>
          <a:bodyPr/>
          <a:lstStyle/>
          <a:p>
            <a:pPr eaLnBrk="1" hangingPunct="1"/>
            <a:r>
              <a:rPr lang="sv-SE" altLang="sv-SE" sz="4800" dirty="0"/>
              <a:t>Regression, </a:t>
            </a:r>
            <a:r>
              <a:rPr lang="sv-SE" altLang="sv-SE" sz="4800" dirty="0" err="1"/>
              <a:t>classification</a:t>
            </a:r>
            <a:r>
              <a:rPr lang="sv-SE" altLang="sv-SE" sz="4800"/>
              <a:t> and </a:t>
            </a:r>
            <a:r>
              <a:rPr lang="sv-SE" altLang="sv-SE" sz="4800" dirty="0" err="1"/>
              <a:t>regularization</a:t>
            </a:r>
            <a:r>
              <a:rPr lang="sv-SE" altLang="sv-SE" sz="4800" dirty="0"/>
              <a:t> </a:t>
            </a:r>
            <a:br>
              <a:rPr lang="sv-SE" altLang="sv-SE" sz="4800" dirty="0"/>
            </a:br>
            <a:endParaRPr lang="sv-SE" altLang="sv-SE" sz="4800" dirty="0"/>
          </a:p>
        </p:txBody>
      </p:sp>
      <p:sp>
        <p:nvSpPr>
          <p:cNvPr id="3075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sv-SE" altLang="sv-SE" dirty="0" err="1"/>
              <a:t>Lecture</a:t>
            </a:r>
            <a:r>
              <a:rPr lang="sv-SE" altLang="sv-SE" dirty="0"/>
              <a:t> 1d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732A99/TDDE01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FE41135-FE25-4BB9-845D-2A6C9DB4D648}" type="slidenum">
              <a:rPr lang="sv-SE" smtClean="0"/>
              <a:pPr>
                <a:defRPr/>
              </a:pPr>
              <a:t>1</a:t>
            </a:fld>
            <a:endParaRPr lang="sv-SE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 err="1"/>
              <a:t>Overview</a:t>
            </a:r>
            <a:endParaRPr lang="sv-S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v-SE" dirty="0" err="1"/>
              <a:t>Linear</a:t>
            </a:r>
            <a:r>
              <a:rPr lang="sv-SE" dirty="0"/>
              <a:t> regression</a:t>
            </a:r>
          </a:p>
          <a:p>
            <a:r>
              <a:rPr lang="sv-SE" dirty="0" err="1"/>
              <a:t>Logistic</a:t>
            </a:r>
            <a:r>
              <a:rPr lang="sv-SE" dirty="0"/>
              <a:t> regression</a:t>
            </a:r>
          </a:p>
          <a:p>
            <a:r>
              <a:rPr lang="sv-SE" dirty="0"/>
              <a:t>Basis </a:t>
            </a:r>
            <a:r>
              <a:rPr lang="sv-SE" dirty="0" err="1"/>
              <a:t>function</a:t>
            </a:r>
            <a:r>
              <a:rPr lang="sv-SE" dirty="0"/>
              <a:t> expansion</a:t>
            </a:r>
          </a:p>
          <a:p>
            <a:r>
              <a:rPr lang="sv-SE" dirty="0">
                <a:solidFill>
                  <a:schemeClr val="bg1">
                    <a:lumMod val="75000"/>
                  </a:schemeClr>
                </a:solidFill>
              </a:rPr>
              <a:t>Ridge regression</a:t>
            </a:r>
          </a:p>
          <a:p>
            <a:endParaRPr lang="sv-SE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732A99/TDDE01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7B2DAB0-3E44-4037-BFD8-EC40824E78A2}" type="slidenum">
              <a:rPr lang="sv-SE" smtClean="0"/>
              <a:pPr>
                <a:defRPr/>
              </a:pPr>
              <a:t>2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0254350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51981" y="6424598"/>
            <a:ext cx="2895600" cy="365125"/>
          </a:xfrm>
        </p:spPr>
        <p:txBody>
          <a:bodyPr/>
          <a:lstStyle/>
          <a:p>
            <a:pPr>
              <a:defRPr/>
            </a:pPr>
            <a:r>
              <a:rPr lang="en-US"/>
              <a:t>732A99/TDDE01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30" name="Text Box 12"/>
              <p:cNvSpPr txBox="1">
                <a:spLocks noChangeArrowheads="1"/>
              </p:cNvSpPr>
              <p:nvPr/>
            </p:nvSpPr>
            <p:spPr bwMode="auto">
              <a:xfrm>
                <a:off x="344195" y="1976881"/>
                <a:ext cx="3168601" cy="437946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  <a:defRPr/>
                </a:pPr>
                <a:r>
                  <a:rPr lang="en-GB" sz="1800" b="1" u="sng" dirty="0">
                    <a:latin typeface="+mn-lt"/>
                    <a:sym typeface="Symbol" pitchFamily="18" charset="2"/>
                  </a:rPr>
                  <a:t>Given</a:t>
                </a:r>
                <a:r>
                  <a:rPr lang="en-GB" sz="1800" b="1" dirty="0">
                    <a:latin typeface="+mn-lt"/>
                    <a:sym typeface="Symbol" pitchFamily="18" charset="2"/>
                  </a:rPr>
                  <a:t>:</a:t>
                </a:r>
              </a:p>
              <a:p>
                <a:pPr>
                  <a:spcBef>
                    <a:spcPct val="50000"/>
                  </a:spcBef>
                  <a:defRPr/>
                </a:pPr>
                <a:r>
                  <a:rPr lang="en-GB" sz="1800" dirty="0">
                    <a:latin typeface="+mn-lt"/>
                    <a:sym typeface="Symbol" pitchFamily="18" charset="2"/>
                  </a:rPr>
                  <a:t>Data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sv-SE" sz="1800" b="0" i="0" smtClean="0">
                        <a:latin typeface="Cambria Math" panose="02040503050406030204" pitchFamily="18" charset="0"/>
                        <a:sym typeface="Symbol" pitchFamily="18" charset="2"/>
                      </a:rPr>
                      <m:t>Τ</m:t>
                    </m:r>
                    <m:r>
                      <a:rPr lang="sv-SE" sz="1800" b="0" i="1" smtClean="0">
                        <a:latin typeface="Cambria Math" panose="02040503050406030204" pitchFamily="18" charset="0"/>
                        <a:sym typeface="Symbol" pitchFamily="18" charset="2"/>
                      </a:rPr>
                      <m:t>={</m:t>
                    </m:r>
                    <m:d>
                      <m:dPr>
                        <m:ctrlPr>
                          <a:rPr lang="sv-SE" sz="1800" b="0" i="1" smtClean="0">
                            <a:latin typeface="Cambria Math" panose="02040503050406030204" pitchFamily="18" charset="0"/>
                            <a:sym typeface="Symbol" pitchFamily="18" charset="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sv-SE" sz="1800" b="0" i="1" smtClean="0">
                                <a:latin typeface="Cambria Math" panose="02040503050406030204" pitchFamily="18" charset="0"/>
                                <a:sym typeface="Symbol" pitchFamily="18" charset="2"/>
                              </a:rPr>
                            </m:ctrlPr>
                          </m:sSubPr>
                          <m:e>
                            <m:r>
                              <a:rPr lang="sv-SE" sz="1800" b="0" i="1" smtClean="0">
                                <a:latin typeface="Cambria Math" panose="02040503050406030204" pitchFamily="18" charset="0"/>
                                <a:sym typeface="Symbol" pitchFamily="18" charset="2"/>
                              </a:rPr>
                              <m:t>𝑥</m:t>
                            </m:r>
                          </m:e>
                          <m:sub>
                            <m:r>
                              <a:rPr lang="sv-SE" sz="1800" b="0" i="1" smtClean="0">
                                <a:latin typeface="Cambria Math" panose="02040503050406030204" pitchFamily="18" charset="0"/>
                                <a:sym typeface="Symbol" pitchFamily="18" charset="2"/>
                              </a:rPr>
                              <m:t>𝑖</m:t>
                            </m:r>
                          </m:sub>
                        </m:sSub>
                        <m:r>
                          <a:rPr lang="sv-SE" sz="1800" b="0" i="1" smtClean="0">
                            <a:latin typeface="Cambria Math" panose="02040503050406030204" pitchFamily="18" charset="0"/>
                            <a:sym typeface="Symbol" pitchFamily="18" charset="2"/>
                          </a:rPr>
                          <m:t>,</m:t>
                        </m:r>
                        <m:sSub>
                          <m:sSubPr>
                            <m:ctrlPr>
                              <a:rPr lang="sv-SE" sz="1800" b="0" i="1" smtClean="0">
                                <a:latin typeface="Cambria Math" panose="02040503050406030204" pitchFamily="18" charset="0"/>
                                <a:sym typeface="Symbol" pitchFamily="18" charset="2"/>
                              </a:rPr>
                            </m:ctrlPr>
                          </m:sSubPr>
                          <m:e>
                            <m:r>
                              <a:rPr lang="sv-SE" sz="1800" b="0" i="1" smtClean="0">
                                <a:latin typeface="Cambria Math" panose="02040503050406030204" pitchFamily="18" charset="0"/>
                                <a:sym typeface="Symbol" pitchFamily="18" charset="2"/>
                              </a:rPr>
                              <m:t>𝑦</m:t>
                            </m:r>
                          </m:e>
                          <m:sub>
                            <m:r>
                              <a:rPr lang="sv-SE" sz="1800" b="0" i="1" smtClean="0">
                                <a:latin typeface="Cambria Math" panose="02040503050406030204" pitchFamily="18" charset="0"/>
                                <a:sym typeface="Symbol" pitchFamily="18" charset="2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sv-SE" sz="1800" b="0" i="1" smtClean="0">
                        <a:latin typeface="Cambria Math" panose="02040503050406030204" pitchFamily="18" charset="0"/>
                        <a:sym typeface="Symbol" pitchFamily="18" charset="2"/>
                      </a:rPr>
                      <m:t>, </m:t>
                    </m:r>
                    <m:r>
                      <a:rPr lang="sv-SE" sz="1800" b="0" i="1" smtClean="0">
                        <a:latin typeface="Cambria Math" panose="02040503050406030204" pitchFamily="18" charset="0"/>
                        <a:sym typeface="Symbol" pitchFamily="18" charset="2"/>
                      </a:rPr>
                      <m:t>𝑖</m:t>
                    </m:r>
                    <m:r>
                      <a:rPr lang="sv-SE" sz="1800" b="0" i="1" smtClean="0">
                        <a:latin typeface="Cambria Math" panose="02040503050406030204" pitchFamily="18" charset="0"/>
                        <a:sym typeface="Symbol" pitchFamily="18" charset="2"/>
                      </a:rPr>
                      <m:t>=1,…</m:t>
                    </m:r>
                    <m:r>
                      <a:rPr lang="sv-SE" sz="1800" b="0" i="1" smtClean="0">
                        <a:latin typeface="Cambria Math" panose="02040503050406030204" pitchFamily="18" charset="0"/>
                        <a:sym typeface="Symbol" pitchFamily="18" charset="2"/>
                      </a:rPr>
                      <m:t>𝑛</m:t>
                    </m:r>
                    <m:r>
                      <a:rPr lang="sv-SE" sz="1800" b="0" i="1" smtClean="0">
                        <a:latin typeface="Cambria Math" panose="02040503050406030204" pitchFamily="18" charset="0"/>
                        <a:sym typeface="Symbol" pitchFamily="18" charset="2"/>
                      </a:rPr>
                      <m:t>}</m:t>
                    </m:r>
                  </m:oMath>
                </a14:m>
                <a:endParaRPr lang="en-GB" sz="1800" dirty="0">
                  <a:latin typeface="+mn-lt"/>
                  <a:sym typeface="Symbol" pitchFamily="18" charset="2"/>
                </a:endParaRPr>
              </a:p>
              <a:p>
                <a:pPr>
                  <a:spcBef>
                    <a:spcPct val="50000"/>
                  </a:spcBef>
                  <a:defRPr/>
                </a:pPr>
                <a:r>
                  <a:rPr lang="en-GB" sz="1800" b="1" u="sng" dirty="0">
                    <a:latin typeface="+mn-lt"/>
                    <a:sym typeface="Symbol" pitchFamily="18" charset="2"/>
                  </a:rPr>
                  <a:t>Model</a:t>
                </a:r>
                <a:r>
                  <a:rPr lang="en-GB" sz="1800" b="1" dirty="0">
                    <a:latin typeface="+mn-lt"/>
                    <a:sym typeface="Symbol" pitchFamily="18" charset="2"/>
                  </a:rPr>
                  <a:t>:</a:t>
                </a:r>
              </a:p>
              <a:p>
                <a:pPr>
                  <a:spcBef>
                    <a:spcPct val="50000"/>
                  </a:spcBef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sv-SE" i="1">
                          <a:latin typeface="Cambria Math"/>
                          <a:sym typeface="Symbol" pitchFamily="18" charset="2"/>
                        </a:rPr>
                        <m:t>𝑦</m:t>
                      </m:r>
                      <m:r>
                        <a:rPr lang="sv-SE" i="1">
                          <a:latin typeface="Cambria Math"/>
                          <a:sym typeface="Symbol" pitchFamily="18" charset="2"/>
                        </a:rPr>
                        <m:t>=</m:t>
                      </m:r>
                      <m:sSub>
                        <m:sSubPr>
                          <m:ctrlPr>
                            <a:rPr lang="sv-SE" i="1">
                              <a:latin typeface="Cambria Math" panose="02040503050406030204" pitchFamily="18" charset="0"/>
                              <a:sym typeface="Symbol" pitchFamily="18" charset="2"/>
                            </a:rPr>
                          </m:ctrlPr>
                        </m:sSubPr>
                        <m:e>
                          <m:r>
                            <a:rPr lang="sv-SE" b="0" i="1" smtClean="0">
                              <a:latin typeface="Cambria Math" panose="02040503050406030204" pitchFamily="18" charset="0"/>
                              <a:sym typeface="Symbol" pitchFamily="18" charset="2"/>
                            </a:rPr>
                            <m:t>𝜃</m:t>
                          </m:r>
                        </m:e>
                        <m:sub>
                          <m:r>
                            <a:rPr lang="sv-SE" i="1">
                              <a:latin typeface="Cambria Math"/>
                              <a:sym typeface="Symbol" pitchFamily="18" charset="2"/>
                            </a:rPr>
                            <m:t>0</m:t>
                          </m:r>
                        </m:sub>
                      </m:sSub>
                      <m:r>
                        <a:rPr lang="sv-SE" i="1">
                          <a:latin typeface="Cambria Math"/>
                          <a:sym typeface="Symbol" pitchFamily="18" charset="2"/>
                        </a:rPr>
                        <m:t>+</m:t>
                      </m:r>
                      <m:sSub>
                        <m:sSubPr>
                          <m:ctrlPr>
                            <a:rPr lang="sv-SE" i="1">
                              <a:latin typeface="Cambria Math" panose="02040503050406030204" pitchFamily="18" charset="0"/>
                              <a:sym typeface="Symbol" pitchFamily="18" charset="2"/>
                            </a:rPr>
                          </m:ctrlPr>
                        </m:sSubPr>
                        <m:e>
                          <m:r>
                            <a:rPr lang="sv-SE" b="0" i="1" smtClean="0">
                              <a:latin typeface="Cambria Math" panose="02040503050406030204" pitchFamily="18" charset="0"/>
                              <a:sym typeface="Symbol" pitchFamily="18" charset="2"/>
                            </a:rPr>
                            <m:t>𝜃</m:t>
                          </m:r>
                        </m:e>
                        <m:sub>
                          <m:r>
                            <a:rPr lang="sv-SE" i="1">
                              <a:latin typeface="Cambria Math"/>
                              <a:sym typeface="Symbol" pitchFamily="18" charset="2"/>
                            </a:rPr>
                            <m:t>1</m:t>
                          </m:r>
                        </m:sub>
                      </m:sSub>
                      <m:r>
                        <a:rPr lang="sv-SE" i="1">
                          <a:latin typeface="Cambria Math"/>
                          <a:sym typeface="Symbol" pitchFamily="18" charset="2"/>
                        </a:rPr>
                        <m:t>𝑥</m:t>
                      </m:r>
                      <m:r>
                        <a:rPr lang="sv-SE" i="1">
                          <a:latin typeface="Cambria Math"/>
                          <a:sym typeface="Symbol" pitchFamily="18" charset="2"/>
                        </a:rPr>
                        <m:t>+</m:t>
                      </m:r>
                      <m:r>
                        <a:rPr lang="sv-SE" i="1">
                          <a:latin typeface="Cambria Math"/>
                          <a:sym typeface="Symbol" pitchFamily="18" charset="2"/>
                        </a:rPr>
                        <m:t>𝜖</m:t>
                      </m:r>
                      <m:r>
                        <a:rPr lang="sv-SE" i="1">
                          <a:latin typeface="Cambria Math"/>
                          <a:sym typeface="Symbol" pitchFamily="18" charset="2"/>
                        </a:rPr>
                        <m:t>,  </m:t>
                      </m:r>
                      <m:r>
                        <a:rPr lang="sv-SE" i="1">
                          <a:latin typeface="Cambria Math"/>
                          <a:sym typeface="Symbol" pitchFamily="18" charset="2"/>
                        </a:rPr>
                        <m:t>𝜖</m:t>
                      </m:r>
                      <m:r>
                        <a:rPr lang="sv-SE" i="1">
                          <a:latin typeface="Cambria Math"/>
                          <a:sym typeface="Symbol" pitchFamily="18" charset="2"/>
                        </a:rPr>
                        <m:t>~</m:t>
                      </m:r>
                      <m:r>
                        <a:rPr lang="sv-SE" i="1">
                          <a:latin typeface="Cambria Math"/>
                          <a:sym typeface="Symbol" pitchFamily="18" charset="2"/>
                        </a:rPr>
                        <m:t>𝑁</m:t>
                      </m:r>
                      <m:r>
                        <a:rPr lang="sv-SE" i="1">
                          <a:latin typeface="Cambria Math"/>
                          <a:sym typeface="Symbol" pitchFamily="18" charset="2"/>
                        </a:rPr>
                        <m:t>(0, </m:t>
                      </m:r>
                      <m:sSup>
                        <m:sSupPr>
                          <m:ctrlPr>
                            <a:rPr lang="sv-SE" i="1">
                              <a:latin typeface="Cambria Math" panose="02040503050406030204" pitchFamily="18" charset="0"/>
                              <a:sym typeface="Symbol" pitchFamily="18" charset="2"/>
                            </a:rPr>
                          </m:ctrlPr>
                        </m:sSupPr>
                        <m:e>
                          <m:r>
                            <a:rPr lang="sv-SE" i="1">
                              <a:latin typeface="Cambria Math"/>
                              <a:sym typeface="Symbol" pitchFamily="18" charset="2"/>
                            </a:rPr>
                            <m:t>𝜎</m:t>
                          </m:r>
                        </m:e>
                        <m:sup>
                          <m:r>
                            <a:rPr lang="sv-SE" i="1">
                              <a:latin typeface="Cambria Math"/>
                              <a:sym typeface="Symbol" pitchFamily="18" charset="2"/>
                            </a:rPr>
                            <m:t>2</m:t>
                          </m:r>
                        </m:sup>
                      </m:sSup>
                      <m:r>
                        <a:rPr lang="sv-SE" i="1">
                          <a:latin typeface="Cambria Math"/>
                          <a:sym typeface="Symbol" pitchFamily="18" charset="2"/>
                        </a:rPr>
                        <m:t>)</m:t>
                      </m:r>
                    </m:oMath>
                  </m:oMathPara>
                </a14:m>
                <a:endParaRPr lang="en-GB" dirty="0">
                  <a:sym typeface="Symbol" pitchFamily="18" charset="2"/>
                </a:endParaRPr>
              </a:p>
              <a:p>
                <a:pPr>
                  <a:spcBef>
                    <a:spcPct val="50000"/>
                  </a:spcBef>
                  <a:defRPr/>
                </a:pPr>
                <a:r>
                  <a:rPr lang="en-GB" sz="1800" dirty="0">
                    <a:latin typeface="+mn-lt"/>
                    <a:sym typeface="Symbol" pitchFamily="18" charset="2"/>
                  </a:rPr>
                  <a:t>or </a:t>
                </a:r>
                <a:endParaRPr lang="sv-SE" sz="1800" b="0" i="1" dirty="0">
                  <a:latin typeface="Cambria Math"/>
                  <a:sym typeface="Symbol" pitchFamily="18" charset="2"/>
                </a:endParaRPr>
              </a:p>
              <a:p>
                <a:pPr>
                  <a:spcBef>
                    <a:spcPct val="50000"/>
                  </a:spcBef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sv-SE" sz="1800" b="0" i="1" smtClean="0">
                          <a:latin typeface="Cambria Math"/>
                          <a:sym typeface="Symbol" pitchFamily="18" charset="2"/>
                        </a:rPr>
                        <m:t>𝑦</m:t>
                      </m:r>
                      <m:r>
                        <a:rPr lang="sv-SE" sz="1800" b="0" i="1" smtClean="0">
                          <a:latin typeface="Cambria Math" panose="02040503050406030204" pitchFamily="18" charset="0"/>
                          <a:sym typeface="Symbol" pitchFamily="18" charset="2"/>
                        </a:rPr>
                        <m:t>|</m:t>
                      </m:r>
                      <m:r>
                        <a:rPr lang="sv-SE" sz="1800" b="0" i="1" smtClean="0">
                          <a:latin typeface="Cambria Math" panose="02040503050406030204" pitchFamily="18" charset="0"/>
                          <a:sym typeface="Symbol" pitchFamily="18" charset="2"/>
                        </a:rPr>
                        <m:t>𝑥</m:t>
                      </m:r>
                      <m:r>
                        <a:rPr lang="sv-SE" sz="1800" b="0" i="1" smtClean="0">
                          <a:latin typeface="Cambria Math"/>
                          <a:sym typeface="Symbol" pitchFamily="18" charset="2"/>
                        </a:rPr>
                        <m:t>~</m:t>
                      </m:r>
                      <m:r>
                        <a:rPr lang="sv-SE" sz="1800" b="0" i="1" smtClean="0">
                          <a:latin typeface="Cambria Math"/>
                          <a:sym typeface="Symbol" pitchFamily="18" charset="2"/>
                        </a:rPr>
                        <m:t>𝑁</m:t>
                      </m:r>
                      <m:d>
                        <m:dPr>
                          <m:ctrlPr>
                            <a:rPr lang="sv-SE" sz="1800" b="0" i="1" smtClean="0">
                              <a:latin typeface="Cambria Math" panose="02040503050406030204" pitchFamily="18" charset="0"/>
                              <a:sym typeface="Symbol" pitchFamily="18" charset="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sv-SE" sz="1800" i="1" smtClean="0">
                                  <a:latin typeface="Cambria Math" panose="02040503050406030204" pitchFamily="18" charset="0"/>
                                  <a:sym typeface="Symbol" pitchFamily="18" charset="2"/>
                                </a:rPr>
                              </m:ctrlPr>
                            </m:sSubPr>
                            <m:e>
                              <m:r>
                                <a:rPr lang="sv-SE" sz="1800" b="0" i="1" smtClean="0">
                                  <a:latin typeface="Cambria Math" panose="02040503050406030204" pitchFamily="18" charset="0"/>
                                  <a:sym typeface="Symbol" pitchFamily="18" charset="2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sv-SE" sz="1800" b="0" i="1" smtClean="0">
                                  <a:latin typeface="Cambria Math"/>
                                  <a:sym typeface="Symbol" pitchFamily="18" charset="2"/>
                                </a:rPr>
                                <m:t>0</m:t>
                              </m:r>
                            </m:sub>
                          </m:sSub>
                          <m:r>
                            <a:rPr lang="sv-SE" sz="1800" b="0" i="1" smtClean="0">
                              <a:latin typeface="Cambria Math"/>
                              <a:sym typeface="Symbol" pitchFamily="18" charset="2"/>
                            </a:rPr>
                            <m:t>+</m:t>
                          </m:r>
                          <m:sSub>
                            <m:sSubPr>
                              <m:ctrlPr>
                                <a:rPr lang="sv-SE" sz="1800" i="1" smtClean="0">
                                  <a:latin typeface="Cambria Math" panose="02040503050406030204" pitchFamily="18" charset="0"/>
                                  <a:sym typeface="Symbol" pitchFamily="18" charset="2"/>
                                </a:rPr>
                              </m:ctrlPr>
                            </m:sSubPr>
                            <m:e>
                              <m:r>
                                <a:rPr lang="sv-SE" sz="1800" b="0" i="1" smtClean="0">
                                  <a:latin typeface="Cambria Math" panose="02040503050406030204" pitchFamily="18" charset="0"/>
                                  <a:sym typeface="Symbol" pitchFamily="18" charset="2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sv-SE" sz="1800" b="0" i="1" smtClean="0">
                                  <a:latin typeface="Cambria Math"/>
                                  <a:sym typeface="Symbol" pitchFamily="18" charset="2"/>
                                </a:rPr>
                                <m:t>1</m:t>
                              </m:r>
                            </m:sub>
                          </m:sSub>
                          <m:r>
                            <a:rPr lang="sv-SE" sz="1800" b="0" i="1" smtClean="0">
                              <a:latin typeface="Cambria Math"/>
                              <a:sym typeface="Symbol" pitchFamily="18" charset="2"/>
                            </a:rPr>
                            <m:t>𝑥</m:t>
                          </m:r>
                          <m:r>
                            <a:rPr lang="sv-SE" sz="1800" b="1" i="1" smtClean="0">
                              <a:latin typeface="Cambria Math"/>
                              <a:sym typeface="Symbol" pitchFamily="18" charset="2"/>
                            </a:rPr>
                            <m:t>, </m:t>
                          </m:r>
                          <m:sSup>
                            <m:sSupPr>
                              <m:ctrlPr>
                                <a:rPr lang="sv-SE" sz="1800" b="0" i="1" smtClean="0">
                                  <a:latin typeface="Cambria Math" panose="02040503050406030204" pitchFamily="18" charset="0"/>
                                  <a:sym typeface="Symbol" pitchFamily="18" charset="2"/>
                                </a:rPr>
                              </m:ctrlPr>
                            </m:sSupPr>
                            <m:e>
                              <m:r>
                                <a:rPr lang="sv-SE" sz="1800" b="0" i="1" smtClean="0">
                                  <a:latin typeface="Cambria Math"/>
                                  <a:sym typeface="Symbol" pitchFamily="18" charset="2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sv-SE" sz="1800" b="0" i="1" smtClean="0">
                                  <a:latin typeface="Cambria Math"/>
                                  <a:sym typeface="Symbol" pitchFamily="18" charset="2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GB" sz="1800" dirty="0">
                  <a:latin typeface="+mn-lt"/>
                  <a:sym typeface="Symbol" pitchFamily="18" charset="2"/>
                </a:endParaRPr>
              </a:p>
              <a:p>
                <a:pPr>
                  <a:spcBef>
                    <a:spcPct val="50000"/>
                  </a:spcBef>
                  <a:defRPr/>
                </a:pPr>
                <a:r>
                  <a:rPr lang="en-GB" sz="1800" dirty="0">
                    <a:latin typeface="+mn-lt"/>
                    <a:sym typeface="Symbol" pitchFamily="18" charset="2"/>
                  </a:rPr>
                  <a:t>or</a:t>
                </a:r>
              </a:p>
              <a:p>
                <a:pPr>
                  <a:spcBef>
                    <a:spcPct val="50000"/>
                  </a:spcBef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sv-SE" sz="1800" b="0" i="1" smtClean="0">
                          <a:latin typeface="Cambria Math"/>
                          <a:sym typeface="Symbol" pitchFamily="18" charset="2"/>
                        </a:rPr>
                        <m:t>𝑝</m:t>
                      </m:r>
                      <m:d>
                        <m:dPr>
                          <m:ctrlPr>
                            <a:rPr lang="sv-SE" sz="1800" b="0" i="1" smtClean="0">
                              <a:latin typeface="Cambria Math" panose="02040503050406030204" pitchFamily="18" charset="0"/>
                              <a:sym typeface="Symbol" pitchFamily="18" charset="2"/>
                            </a:rPr>
                          </m:ctrlPr>
                        </m:dPr>
                        <m:e>
                          <m:r>
                            <a:rPr lang="sv-SE" sz="1800" b="0" i="1" smtClean="0">
                              <a:latin typeface="Cambria Math"/>
                              <a:sym typeface="Symbol" pitchFamily="18" charset="2"/>
                            </a:rPr>
                            <m:t>𝑦</m:t>
                          </m:r>
                        </m:e>
                        <m:e>
                          <m:r>
                            <a:rPr lang="sv-SE" sz="1800" b="0" i="1" smtClean="0">
                              <a:latin typeface="Cambria Math"/>
                              <a:sym typeface="Symbol" pitchFamily="18" charset="2"/>
                            </a:rPr>
                            <m:t>𝑥</m:t>
                          </m:r>
                          <m:r>
                            <a:rPr lang="sv-SE" sz="1800" b="0" i="1" smtClean="0">
                              <a:latin typeface="Cambria Math"/>
                              <a:sym typeface="Symbol" pitchFamily="18" charset="2"/>
                            </a:rPr>
                            <m:t>,</m:t>
                          </m:r>
                          <m:r>
                            <a:rPr lang="sv-SE" sz="1800" b="1" i="1" smtClean="0">
                              <a:latin typeface="Cambria Math" panose="02040503050406030204" pitchFamily="18" charset="0"/>
                              <a:sym typeface="Symbol" pitchFamily="18" charset="2"/>
                            </a:rPr>
                            <m:t>𝜽</m:t>
                          </m:r>
                        </m:e>
                      </m:d>
                      <m:r>
                        <a:rPr lang="sv-SE" sz="1800" b="0" i="1" smtClean="0">
                          <a:latin typeface="Cambria Math"/>
                          <a:sym typeface="Symbol" pitchFamily="18" charset="2"/>
                        </a:rPr>
                        <m:t>=</m:t>
                      </m:r>
                      <m:r>
                        <a:rPr lang="sv-SE" i="1">
                          <a:latin typeface="Cambria Math"/>
                          <a:sym typeface="Symbol" pitchFamily="18" charset="2"/>
                        </a:rPr>
                        <m:t>𝑁</m:t>
                      </m:r>
                      <m:d>
                        <m:dPr>
                          <m:ctrlPr>
                            <a:rPr lang="sv-SE" i="1">
                              <a:latin typeface="Cambria Math" panose="02040503050406030204" pitchFamily="18" charset="0"/>
                              <a:sym typeface="Symbol" pitchFamily="18" charset="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sv-SE" i="1">
                                  <a:latin typeface="Cambria Math" panose="02040503050406030204" pitchFamily="18" charset="0"/>
                                  <a:sym typeface="Symbol" pitchFamily="18" charset="2"/>
                                </a:rPr>
                              </m:ctrlPr>
                            </m:sSubPr>
                            <m:e>
                              <m:r>
                                <a:rPr lang="sv-SE" b="0" i="1" smtClean="0">
                                  <a:latin typeface="Cambria Math" panose="02040503050406030204" pitchFamily="18" charset="0"/>
                                  <a:sym typeface="Symbol" pitchFamily="18" charset="2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sv-SE" i="1">
                                  <a:latin typeface="Cambria Math"/>
                                  <a:sym typeface="Symbol" pitchFamily="18" charset="2"/>
                                </a:rPr>
                                <m:t>0</m:t>
                              </m:r>
                            </m:sub>
                          </m:sSub>
                          <m:r>
                            <a:rPr lang="sv-SE" i="1">
                              <a:latin typeface="Cambria Math"/>
                              <a:sym typeface="Symbol" pitchFamily="18" charset="2"/>
                            </a:rPr>
                            <m:t>+</m:t>
                          </m:r>
                          <m:sSub>
                            <m:sSubPr>
                              <m:ctrlPr>
                                <a:rPr lang="sv-SE" i="1">
                                  <a:latin typeface="Cambria Math" panose="02040503050406030204" pitchFamily="18" charset="0"/>
                                  <a:sym typeface="Symbol" pitchFamily="18" charset="2"/>
                                </a:rPr>
                              </m:ctrlPr>
                            </m:sSubPr>
                            <m:e>
                              <m:r>
                                <a:rPr lang="sv-SE" b="0" i="1" smtClean="0">
                                  <a:latin typeface="Cambria Math" panose="02040503050406030204" pitchFamily="18" charset="0"/>
                                  <a:sym typeface="Symbol" pitchFamily="18" charset="2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sv-SE" i="1">
                                  <a:latin typeface="Cambria Math"/>
                                  <a:sym typeface="Symbol" pitchFamily="18" charset="2"/>
                                </a:rPr>
                                <m:t>1</m:t>
                              </m:r>
                            </m:sub>
                          </m:sSub>
                          <m:r>
                            <a:rPr lang="sv-SE" i="1">
                              <a:latin typeface="Cambria Math"/>
                              <a:sym typeface="Symbol" pitchFamily="18" charset="2"/>
                            </a:rPr>
                            <m:t>𝑥</m:t>
                          </m:r>
                          <m:r>
                            <a:rPr lang="sv-SE" b="1" i="1">
                              <a:latin typeface="Cambria Math"/>
                              <a:sym typeface="Symbol" pitchFamily="18" charset="2"/>
                            </a:rPr>
                            <m:t>, </m:t>
                          </m:r>
                          <m:sSup>
                            <m:sSupPr>
                              <m:ctrlPr>
                                <a:rPr lang="sv-SE" i="1">
                                  <a:latin typeface="Cambria Math" panose="02040503050406030204" pitchFamily="18" charset="0"/>
                                  <a:sym typeface="Symbol" pitchFamily="18" charset="2"/>
                                </a:rPr>
                              </m:ctrlPr>
                            </m:sSupPr>
                            <m:e>
                              <m:r>
                                <a:rPr lang="sv-SE" i="1">
                                  <a:latin typeface="Cambria Math"/>
                                  <a:sym typeface="Symbol" pitchFamily="18" charset="2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sv-SE" i="1">
                                  <a:latin typeface="Cambria Math"/>
                                  <a:sym typeface="Symbol" pitchFamily="18" charset="2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GB" sz="1800" b="1" u="sng" dirty="0">
                  <a:latin typeface="+mn-lt"/>
                  <a:sym typeface="Symbol" pitchFamily="18" charset="2"/>
                </a:endParaRPr>
              </a:p>
              <a:p>
                <a:pPr>
                  <a:spcBef>
                    <a:spcPct val="50000"/>
                  </a:spcBef>
                  <a:defRPr/>
                </a:pPr>
                <a:r>
                  <a:rPr lang="en-GB" sz="1800" b="1" u="sng" dirty="0">
                    <a:latin typeface="+mn-lt"/>
                    <a:sym typeface="Symbol" pitchFamily="18" charset="2"/>
                  </a:rPr>
                  <a:t>Terminology</a:t>
                </a:r>
                <a:r>
                  <a:rPr lang="en-GB" sz="1800" b="1" dirty="0">
                    <a:latin typeface="+mn-lt"/>
                    <a:sym typeface="Symbol" pitchFamily="18" charset="2"/>
                  </a:rPr>
                  <a:t>:</a:t>
                </a:r>
              </a:p>
              <a:p>
                <a:pPr>
                  <a:spcBef>
                    <a:spcPct val="50000"/>
                  </a:spcBef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sv-SE" i="1" smtClean="0">
                            <a:latin typeface="Cambria Math" panose="02040503050406030204" pitchFamily="18" charset="0"/>
                            <a:sym typeface="Symbol" pitchFamily="18" charset="2"/>
                          </a:rPr>
                        </m:ctrlPr>
                      </m:sSubPr>
                      <m:e>
                        <m:r>
                          <a:rPr lang="sv-SE" b="0" i="1" smtClean="0">
                            <a:latin typeface="Cambria Math" panose="02040503050406030204" pitchFamily="18" charset="0"/>
                            <a:sym typeface="Symbol" pitchFamily="18" charset="2"/>
                          </a:rPr>
                          <m:t>𝜃</m:t>
                        </m:r>
                      </m:e>
                      <m:sub>
                        <m:r>
                          <a:rPr lang="sv-SE" i="1">
                            <a:latin typeface="Cambria Math"/>
                            <a:sym typeface="Symbol" pitchFamily="18" charset="2"/>
                          </a:rPr>
                          <m:t>0</m:t>
                        </m:r>
                      </m:sub>
                    </m:sSub>
                    <m:r>
                      <a:rPr lang="sv-SE" i="1">
                        <a:latin typeface="Cambria Math" panose="02040503050406030204" pitchFamily="18" charset="0"/>
                        <a:sym typeface="Symbol" pitchFamily="18" charset="2"/>
                      </a:rPr>
                      <m:t> </m:t>
                    </m:r>
                  </m:oMath>
                </a14:m>
                <a:r>
                  <a:rPr lang="en-GB" sz="1800" dirty="0">
                    <a:latin typeface="+mn-lt"/>
                  </a:rPr>
                  <a:t>: </a:t>
                </a:r>
                <a:r>
                  <a:rPr lang="en-GB" sz="1800" b="1" dirty="0">
                    <a:latin typeface="+mn-lt"/>
                  </a:rPr>
                  <a:t>intercept (or bias)</a:t>
                </a:r>
              </a:p>
              <a:p>
                <a:pPr>
                  <a:spcBef>
                    <a:spcPct val="50000"/>
                  </a:spcBef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sv-SE" i="1" smtClean="0">
                            <a:latin typeface="Cambria Math" panose="02040503050406030204" pitchFamily="18" charset="0"/>
                            <a:sym typeface="Symbol" pitchFamily="18" charset="2"/>
                          </a:rPr>
                        </m:ctrlPr>
                      </m:sSubPr>
                      <m:e>
                        <m:r>
                          <a:rPr lang="sv-SE" b="0" i="1" smtClean="0">
                            <a:latin typeface="Cambria Math" panose="02040503050406030204" pitchFamily="18" charset="0"/>
                            <a:sym typeface="Symbol" pitchFamily="18" charset="2"/>
                          </a:rPr>
                          <m:t>𝜃</m:t>
                        </m:r>
                      </m:e>
                      <m:sub>
                        <m:r>
                          <a:rPr lang="sv-SE" i="1">
                            <a:latin typeface="Cambria Math"/>
                            <a:sym typeface="Symbol" pitchFamily="18" charset="2"/>
                          </a:rPr>
                          <m:t>1</m:t>
                        </m:r>
                      </m:sub>
                    </m:sSub>
                    <m:r>
                      <a:rPr lang="sv-SE" i="1">
                        <a:latin typeface="Cambria Math" panose="02040503050406030204" pitchFamily="18" charset="0"/>
                        <a:sym typeface="Symbol" pitchFamily="18" charset="2"/>
                      </a:rPr>
                      <m:t> </m:t>
                    </m:r>
                  </m:oMath>
                </a14:m>
                <a:r>
                  <a:rPr lang="en-GB" sz="1800" dirty="0">
                    <a:latin typeface="+mn-lt"/>
                  </a:rPr>
                  <a:t> </a:t>
                </a:r>
                <a:r>
                  <a:rPr lang="en-GB" sz="1800" b="1" dirty="0">
                    <a:latin typeface="+mn-lt"/>
                  </a:rPr>
                  <a:t>regression coefficient</a:t>
                </a:r>
              </a:p>
            </p:txBody>
          </p:sp>
        </mc:Choice>
        <mc:Fallback xmlns="">
          <p:sp>
            <p:nvSpPr>
              <p:cNvPr id="1030" name="Text 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44195" y="1976881"/>
                <a:ext cx="3168601" cy="4379469"/>
              </a:xfrm>
              <a:prstGeom prst="rect">
                <a:avLst/>
              </a:prstGeom>
              <a:blipFill>
                <a:blip r:embed="rId3"/>
                <a:stretch>
                  <a:fillRect l="-1538" t="-695" b="-1252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101" name="Picture 4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65606" y="2454338"/>
            <a:ext cx="5188073" cy="3166939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02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sv-SE" sz="3200" b="1" dirty="0">
                <a:latin typeface="Arial" pitchFamily="34" charset="0"/>
              </a:rPr>
              <a:t>Simple linear regression</a:t>
            </a:r>
            <a:endParaRPr lang="en-US" altLang="sv-SE" sz="32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E143A0B-D25E-4CEE-9A8D-A89D71CA941C}" type="slidenum">
              <a:rPr lang="sv-SE" smtClean="0"/>
              <a:pPr>
                <a:defRPr/>
              </a:pPr>
              <a:t>3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9612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en-GB" altLang="sv-SE" sz="2800" b="1" dirty="0">
                <a:latin typeface="Arial" pitchFamily="34" charset="0"/>
              </a:rPr>
              <a:t>Linear regression</a:t>
            </a:r>
            <a:endParaRPr lang="en-GB" altLang="sv-SE" sz="2800" dirty="0"/>
          </a:p>
        </p:txBody>
      </p:sp>
      <p:sp>
        <p:nvSpPr>
          <p:cNvPr id="307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732A99/TDDE01</a:t>
            </a:r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87" name="Text Box 12"/>
              <p:cNvSpPr txBox="1">
                <a:spLocks noChangeArrowheads="1"/>
              </p:cNvSpPr>
              <p:nvPr/>
            </p:nvSpPr>
            <p:spPr bwMode="auto">
              <a:xfrm>
                <a:off x="467544" y="2050202"/>
                <a:ext cx="3743325" cy="239059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  <a:defRPr/>
                </a:pPr>
                <a:r>
                  <a:rPr lang="en-GB" sz="2000" b="1" u="sng" dirty="0">
                    <a:latin typeface="+mn-lt"/>
                    <a:sym typeface="Symbol" pitchFamily="18" charset="2"/>
                  </a:rPr>
                  <a:t>Model</a:t>
                </a:r>
                <a:r>
                  <a:rPr lang="en-GB" sz="2000" b="1" dirty="0">
                    <a:latin typeface="+mn-lt"/>
                    <a:sym typeface="Symbol" pitchFamily="18" charset="2"/>
                  </a:rPr>
                  <a:t>:</a:t>
                </a:r>
              </a:p>
              <a:p>
                <a:pPr>
                  <a:spcBef>
                    <a:spcPct val="50000"/>
                  </a:spcBef>
                  <a:defRPr/>
                </a:pPr>
                <a:r>
                  <a:rPr lang="sv-SE" sz="2000" i="1" dirty="0">
                    <a:latin typeface="Cambria Math"/>
                    <a:sym typeface="Symbol" pitchFamily="18" charset="2"/>
                  </a:rPr>
                  <a:t> </a:t>
                </a:r>
                <a14:m>
                  <m:oMath xmlns:m="http://schemas.openxmlformats.org/officeDocument/2006/math">
                    <m:r>
                      <a:rPr lang="sv-SE" sz="2000" i="1" smtClean="0">
                        <a:latin typeface="Cambria Math"/>
                        <a:sym typeface="Symbol" pitchFamily="18" charset="2"/>
                      </a:rPr>
                      <m:t>𝑦</m:t>
                    </m:r>
                    <m:r>
                      <a:rPr lang="sv-SE" sz="2000" b="0" i="1" smtClean="0">
                        <a:latin typeface="Cambria Math" panose="02040503050406030204" pitchFamily="18" charset="0"/>
                        <a:sym typeface="Symbol" pitchFamily="18" charset="2"/>
                      </a:rPr>
                      <m:t>=</m:t>
                    </m:r>
                    <m:sSub>
                      <m:sSubPr>
                        <m:ctrlPr>
                          <a:rPr lang="sv-SE" sz="2000" b="0" i="1" smtClean="0">
                            <a:latin typeface="Cambria Math" panose="02040503050406030204" pitchFamily="18" charset="0"/>
                            <a:sym typeface="Symbol" pitchFamily="18" charset="2"/>
                          </a:rPr>
                        </m:ctrlPr>
                      </m:sSubPr>
                      <m:e>
                        <m:r>
                          <a:rPr lang="sv-SE" sz="2000" b="0" i="1" smtClean="0">
                            <a:latin typeface="Cambria Math" panose="02040503050406030204" pitchFamily="18" charset="0"/>
                            <a:sym typeface="Symbol" pitchFamily="18" charset="2"/>
                          </a:rPr>
                          <m:t>𝜃</m:t>
                        </m:r>
                      </m:e>
                      <m:sub>
                        <m:r>
                          <a:rPr lang="sv-SE" sz="2000" b="0" i="1" smtClean="0">
                            <a:latin typeface="Cambria Math" panose="02040503050406030204" pitchFamily="18" charset="0"/>
                            <a:sym typeface="Symbol" pitchFamily="18" charset="2"/>
                          </a:rPr>
                          <m:t>0</m:t>
                        </m:r>
                      </m:sub>
                    </m:sSub>
                    <m:r>
                      <a:rPr lang="sv-SE" sz="2000" b="0" i="1" smtClean="0">
                        <a:latin typeface="Cambria Math" panose="02040503050406030204" pitchFamily="18" charset="0"/>
                        <a:sym typeface="Symbol" pitchFamily="18" charset="2"/>
                      </a:rPr>
                      <m:t>+</m:t>
                    </m:r>
                    <m:sSub>
                      <m:sSubPr>
                        <m:ctrlPr>
                          <a:rPr lang="sv-SE" sz="2000" b="0" i="1" smtClean="0">
                            <a:latin typeface="Cambria Math" panose="02040503050406030204" pitchFamily="18" charset="0"/>
                            <a:sym typeface="Symbol" pitchFamily="18" charset="2"/>
                          </a:rPr>
                        </m:ctrlPr>
                      </m:sSubPr>
                      <m:e>
                        <m:r>
                          <a:rPr lang="sv-SE" sz="2000" b="0" i="1" smtClean="0">
                            <a:latin typeface="Cambria Math" panose="02040503050406030204" pitchFamily="18" charset="0"/>
                            <a:sym typeface="Symbol" pitchFamily="18" charset="2"/>
                          </a:rPr>
                          <m:t>𝜃</m:t>
                        </m:r>
                      </m:e>
                      <m:sub>
                        <m:r>
                          <a:rPr lang="sv-SE" sz="2000" b="0" i="1" smtClean="0">
                            <a:latin typeface="Cambria Math" panose="02040503050406030204" pitchFamily="18" charset="0"/>
                            <a:sym typeface="Symbol" pitchFamily="18" charset="2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sv-SE" sz="2000" b="0" i="1" smtClean="0">
                            <a:latin typeface="Cambria Math" panose="02040503050406030204" pitchFamily="18" charset="0"/>
                            <a:sym typeface="Symbol" pitchFamily="18" charset="2"/>
                          </a:rPr>
                        </m:ctrlPr>
                      </m:sSubPr>
                      <m:e>
                        <m:r>
                          <a:rPr lang="sv-SE" sz="2000" b="0" i="1" smtClean="0">
                            <a:latin typeface="Cambria Math" panose="02040503050406030204" pitchFamily="18" charset="0"/>
                            <a:sym typeface="Symbol" pitchFamily="18" charset="2"/>
                          </a:rPr>
                          <m:t>𝑥</m:t>
                        </m:r>
                      </m:e>
                      <m:sub>
                        <m:r>
                          <a:rPr lang="sv-SE" sz="2000" b="0" i="1" smtClean="0">
                            <a:latin typeface="Cambria Math" panose="02040503050406030204" pitchFamily="18" charset="0"/>
                            <a:sym typeface="Symbol" pitchFamily="18" charset="2"/>
                          </a:rPr>
                          <m:t>1</m:t>
                        </m:r>
                      </m:sub>
                    </m:sSub>
                    <m:r>
                      <a:rPr lang="sv-SE" sz="2000" b="0" i="1" smtClean="0">
                        <a:latin typeface="Cambria Math" panose="02040503050406030204" pitchFamily="18" charset="0"/>
                        <a:sym typeface="Symbol" pitchFamily="18" charset="2"/>
                      </a:rPr>
                      <m:t>+…+</m:t>
                    </m:r>
                    <m:sSub>
                      <m:sSubPr>
                        <m:ctrlPr>
                          <a:rPr lang="sv-SE" sz="2000" b="0" i="1" smtClean="0">
                            <a:latin typeface="Cambria Math" panose="02040503050406030204" pitchFamily="18" charset="0"/>
                            <a:sym typeface="Symbol" pitchFamily="18" charset="2"/>
                          </a:rPr>
                        </m:ctrlPr>
                      </m:sSubPr>
                      <m:e>
                        <m:r>
                          <a:rPr lang="sv-SE" sz="2000" b="0" i="1" smtClean="0">
                            <a:latin typeface="Cambria Math" panose="02040503050406030204" pitchFamily="18" charset="0"/>
                            <a:sym typeface="Symbol" pitchFamily="18" charset="2"/>
                          </a:rPr>
                          <m:t>𝜃</m:t>
                        </m:r>
                      </m:e>
                      <m:sub>
                        <m:r>
                          <a:rPr lang="sv-SE" sz="2000" b="0" i="1" smtClean="0">
                            <a:latin typeface="Cambria Math" panose="02040503050406030204" pitchFamily="18" charset="0"/>
                            <a:sym typeface="Symbol" pitchFamily="18" charset="2"/>
                          </a:rPr>
                          <m:t>𝑝</m:t>
                        </m:r>
                      </m:sub>
                    </m:sSub>
                    <m:sSub>
                      <m:sSubPr>
                        <m:ctrlPr>
                          <a:rPr lang="sv-SE" sz="2000" b="0" i="1" smtClean="0">
                            <a:latin typeface="Cambria Math" panose="02040503050406030204" pitchFamily="18" charset="0"/>
                            <a:sym typeface="Symbol" pitchFamily="18" charset="2"/>
                          </a:rPr>
                        </m:ctrlPr>
                      </m:sSubPr>
                      <m:e>
                        <m:r>
                          <a:rPr lang="sv-SE" sz="2000" b="0" i="1" smtClean="0">
                            <a:latin typeface="Cambria Math" panose="02040503050406030204" pitchFamily="18" charset="0"/>
                            <a:sym typeface="Symbol" pitchFamily="18" charset="2"/>
                          </a:rPr>
                          <m:t>𝑥</m:t>
                        </m:r>
                      </m:e>
                      <m:sub>
                        <m:r>
                          <a:rPr lang="sv-SE" sz="2000" b="0" i="1" smtClean="0">
                            <a:latin typeface="Cambria Math" panose="02040503050406030204" pitchFamily="18" charset="0"/>
                            <a:sym typeface="Symbol" pitchFamily="18" charset="2"/>
                          </a:rPr>
                          <m:t>𝑝</m:t>
                        </m:r>
                      </m:sub>
                    </m:sSub>
                    <m:r>
                      <a:rPr lang="sv-SE" sz="2000" b="0" i="1" smtClean="0">
                        <a:latin typeface="Cambria Math" panose="02040503050406030204" pitchFamily="18" charset="0"/>
                        <a:sym typeface="Symbol" pitchFamily="18" charset="2"/>
                      </a:rPr>
                      <m:t>+</m:t>
                    </m:r>
                    <m:r>
                      <a:rPr lang="sv-SE" sz="2000" b="0" i="1" smtClean="0">
                        <a:latin typeface="Cambria Math" panose="02040503050406030204" pitchFamily="18" charset="0"/>
                        <a:sym typeface="Symbol" pitchFamily="18" charset="2"/>
                      </a:rPr>
                      <m:t>𝜖</m:t>
                    </m:r>
                  </m:oMath>
                </a14:m>
                <a:endParaRPr lang="sv-SE" sz="2000" i="1" dirty="0">
                  <a:latin typeface="Cambria Math"/>
                  <a:sym typeface="Symbol" pitchFamily="18" charset="2"/>
                </a:endParaRPr>
              </a:p>
              <a:p>
                <a:pPr>
                  <a:spcBef>
                    <a:spcPct val="50000"/>
                  </a:spcBef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sv-SE" sz="2000" i="1">
                          <a:latin typeface="Cambria Math"/>
                          <a:sym typeface="Symbol" pitchFamily="18" charset="2"/>
                        </a:rPr>
                        <m:t>𝑦</m:t>
                      </m:r>
                      <m:r>
                        <a:rPr lang="sv-SE" sz="2000" b="1" i="1" smtClean="0">
                          <a:latin typeface="Cambria Math" panose="02040503050406030204" pitchFamily="18" charset="0"/>
                          <a:sym typeface="Symbol" pitchFamily="18" charset="2"/>
                        </a:rPr>
                        <m:t>|</m:t>
                      </m:r>
                      <m:r>
                        <a:rPr lang="sv-SE" sz="2000" b="1" i="1" smtClean="0">
                          <a:latin typeface="Cambria Math" panose="02040503050406030204" pitchFamily="18" charset="0"/>
                          <a:sym typeface="Symbol" pitchFamily="18" charset="2"/>
                        </a:rPr>
                        <m:t>𝒙</m:t>
                      </m:r>
                      <m:r>
                        <a:rPr lang="sv-SE" sz="2000" b="1" i="1">
                          <a:latin typeface="Cambria Math"/>
                          <a:sym typeface="Symbol" pitchFamily="18" charset="2"/>
                        </a:rPr>
                        <m:t>~</m:t>
                      </m:r>
                      <m:r>
                        <a:rPr lang="sv-SE" sz="2000" i="1">
                          <a:latin typeface="Cambria Math"/>
                          <a:sym typeface="Symbol" pitchFamily="18" charset="2"/>
                        </a:rPr>
                        <m:t>𝑁</m:t>
                      </m:r>
                      <m:d>
                        <m:dPr>
                          <m:ctrlPr>
                            <a:rPr lang="sv-SE" sz="2000" i="1">
                              <a:latin typeface="Cambria Math" panose="02040503050406030204" pitchFamily="18" charset="0"/>
                              <a:sym typeface="Symbol" pitchFamily="18" charset="2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sv-SE" sz="2000" b="1" i="1" smtClean="0">
                                  <a:latin typeface="Cambria Math" panose="02040503050406030204" pitchFamily="18" charset="0"/>
                                  <a:sym typeface="Symbol" pitchFamily="18" charset="2"/>
                                </a:rPr>
                              </m:ctrlPr>
                            </m:sSupPr>
                            <m:e>
                              <m:r>
                                <a:rPr lang="sv-SE" sz="2000" b="1" i="1" smtClean="0">
                                  <a:latin typeface="Cambria Math" panose="02040503050406030204" pitchFamily="18" charset="0"/>
                                  <a:sym typeface="Symbol" pitchFamily="18" charset="2"/>
                                </a:rPr>
                                <m:t>𝜽</m:t>
                              </m:r>
                            </m:e>
                            <m:sup>
                              <m:r>
                                <a:rPr lang="sv-SE" sz="2000" b="1" i="1" smtClean="0">
                                  <a:latin typeface="Cambria Math"/>
                                  <a:sym typeface="Symbol" pitchFamily="18" charset="2"/>
                                </a:rPr>
                                <m:t>𝑻</m:t>
                              </m:r>
                            </m:sup>
                          </m:sSup>
                          <m:r>
                            <a:rPr lang="sv-SE" sz="2000" b="1" i="1">
                              <a:latin typeface="Cambria Math"/>
                              <a:sym typeface="Symbol" pitchFamily="18" charset="2"/>
                            </a:rPr>
                            <m:t>𝒙</m:t>
                          </m:r>
                          <m:r>
                            <a:rPr lang="sv-SE" sz="2000" b="1" i="1">
                              <a:latin typeface="Cambria Math"/>
                              <a:sym typeface="Symbol" pitchFamily="18" charset="2"/>
                            </a:rPr>
                            <m:t>, </m:t>
                          </m:r>
                          <m:sSup>
                            <m:sSupPr>
                              <m:ctrlPr>
                                <a:rPr lang="sv-SE" sz="2000" i="1">
                                  <a:latin typeface="Cambria Math" panose="02040503050406030204" pitchFamily="18" charset="0"/>
                                  <a:sym typeface="Symbol" pitchFamily="18" charset="2"/>
                                </a:rPr>
                              </m:ctrlPr>
                            </m:sSupPr>
                            <m:e>
                              <m:r>
                                <a:rPr lang="sv-SE" sz="2000" i="1">
                                  <a:latin typeface="Cambria Math"/>
                                  <a:sym typeface="Symbol" pitchFamily="18" charset="2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sv-SE" sz="2000" i="1">
                                  <a:latin typeface="Cambria Math"/>
                                  <a:sym typeface="Symbol" pitchFamily="18" charset="2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GB" sz="2000" dirty="0">
                  <a:latin typeface="+mn-lt"/>
                  <a:sym typeface="Symbol" pitchFamily="18" charset="2"/>
                </a:endParaRPr>
              </a:p>
              <a:p>
                <a:pPr>
                  <a:spcBef>
                    <a:spcPct val="50000"/>
                  </a:spcBef>
                  <a:defRPr/>
                </a:pPr>
                <a:r>
                  <a:rPr lang="en-GB" sz="2000" i="1" dirty="0">
                    <a:latin typeface="+mn-lt"/>
                    <a:sym typeface="Symbol" pitchFamily="18" charset="2"/>
                  </a:rPr>
                  <a:t>where</a:t>
                </a:r>
              </a:p>
              <a:p>
                <a:pPr>
                  <a:spcBef>
                    <a:spcPct val="50000"/>
                  </a:spcBef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sv-SE" sz="2000" b="1" i="1" smtClean="0">
                          <a:latin typeface="Cambria Math" panose="02040503050406030204" pitchFamily="18" charset="0"/>
                          <a:sym typeface="Symbol" pitchFamily="18" charset="2"/>
                        </a:rPr>
                        <m:t>𝜽</m:t>
                      </m:r>
                      <m:r>
                        <a:rPr lang="sv-SE" sz="2000" b="0" i="1" smtClean="0">
                          <a:latin typeface="Cambria Math"/>
                          <a:sym typeface="Symbol" pitchFamily="18" charset="2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sv-SE" sz="2000" b="0" i="1" smtClean="0">
                              <a:latin typeface="Cambria Math" panose="02040503050406030204" pitchFamily="18" charset="0"/>
                              <a:sym typeface="Symbol" pitchFamily="18" charset="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sv-SE" sz="2000" b="0" i="1" smtClean="0">
                                  <a:latin typeface="Cambria Math" panose="02040503050406030204" pitchFamily="18" charset="0"/>
                                  <a:sym typeface="Symbol" pitchFamily="18" charset="2"/>
                                </a:rPr>
                              </m:ctrlPr>
                            </m:sSubPr>
                            <m:e>
                              <m:r>
                                <a:rPr lang="sv-SE" sz="2000" b="0" i="1" smtClean="0">
                                  <a:latin typeface="Cambria Math" panose="02040503050406030204" pitchFamily="18" charset="0"/>
                                  <a:sym typeface="Symbol" pitchFamily="18" charset="2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sv-SE" sz="2000" b="0" i="1" smtClean="0">
                                  <a:latin typeface="Cambria Math"/>
                                  <a:sym typeface="Symbol" pitchFamily="18" charset="2"/>
                                </a:rPr>
                                <m:t>0</m:t>
                              </m:r>
                            </m:sub>
                          </m:sSub>
                          <m:r>
                            <a:rPr lang="sv-SE" sz="2000" b="0" i="1" smtClean="0">
                              <a:latin typeface="Cambria Math"/>
                              <a:sym typeface="Symbol" pitchFamily="18" charset="2"/>
                            </a:rPr>
                            <m:t>,…</m:t>
                          </m:r>
                          <m:sSub>
                            <m:sSubPr>
                              <m:ctrlPr>
                                <a:rPr lang="sv-SE" sz="2000" b="0" i="1" smtClean="0">
                                  <a:latin typeface="Cambria Math" panose="02040503050406030204" pitchFamily="18" charset="0"/>
                                  <a:sym typeface="Symbol" pitchFamily="18" charset="2"/>
                                </a:rPr>
                              </m:ctrlPr>
                            </m:sSubPr>
                            <m:e>
                              <m:r>
                                <a:rPr lang="sv-SE" sz="2000" b="0" i="1" smtClean="0">
                                  <a:latin typeface="Cambria Math" panose="02040503050406030204" pitchFamily="18" charset="0"/>
                                  <a:sym typeface="Symbol" pitchFamily="18" charset="2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sv-SE" sz="2000" b="0" i="1" smtClean="0">
                                  <a:latin typeface="Cambria Math" panose="02040503050406030204" pitchFamily="18" charset="0"/>
                                  <a:sym typeface="Symbol" pitchFamily="18" charset="2"/>
                                </a:rPr>
                                <m:t>𝑝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sv-SE" sz="2000" b="0" i="1" dirty="0">
                  <a:latin typeface="+mn-lt"/>
                  <a:sym typeface="Symbol" pitchFamily="18" charset="2"/>
                </a:endParaRPr>
              </a:p>
              <a:p>
                <a:pPr>
                  <a:spcBef>
                    <a:spcPct val="50000"/>
                  </a:spcBef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sv-SE" sz="2000" b="1" i="1" smtClean="0">
                          <a:latin typeface="Cambria Math"/>
                          <a:sym typeface="Symbol" pitchFamily="18" charset="2"/>
                        </a:rPr>
                        <m:t>𝒙</m:t>
                      </m:r>
                      <m:r>
                        <a:rPr lang="sv-SE" sz="2000" b="1" i="1" smtClean="0">
                          <a:latin typeface="Cambria Math"/>
                          <a:sym typeface="Symbol" pitchFamily="18" charset="2"/>
                        </a:rPr>
                        <m:t>=</m:t>
                      </m:r>
                      <m:r>
                        <a:rPr lang="sv-SE" sz="2000" b="0" i="1" smtClean="0">
                          <a:latin typeface="Cambria Math"/>
                          <a:sym typeface="Symbol" pitchFamily="18" charset="2"/>
                        </a:rPr>
                        <m:t>{1,</m:t>
                      </m:r>
                      <m:sSub>
                        <m:sSubPr>
                          <m:ctrlPr>
                            <a:rPr lang="sv-SE" sz="2000" b="0" i="1" smtClean="0">
                              <a:latin typeface="Cambria Math" panose="02040503050406030204" pitchFamily="18" charset="0"/>
                              <a:sym typeface="Symbol" pitchFamily="18" charset="2"/>
                            </a:rPr>
                          </m:ctrlPr>
                        </m:sSubPr>
                        <m:e>
                          <m:r>
                            <a:rPr lang="sv-SE" sz="2000" b="0" i="1" smtClean="0">
                              <a:latin typeface="Cambria Math"/>
                              <a:sym typeface="Symbol" pitchFamily="18" charset="2"/>
                            </a:rPr>
                            <m:t>𝑥</m:t>
                          </m:r>
                        </m:e>
                        <m:sub>
                          <m:r>
                            <a:rPr lang="sv-SE" sz="2000" b="0" i="1" smtClean="0">
                              <a:latin typeface="Cambria Math"/>
                              <a:sym typeface="Symbol" pitchFamily="18" charset="2"/>
                            </a:rPr>
                            <m:t>1</m:t>
                          </m:r>
                        </m:sub>
                      </m:sSub>
                      <m:r>
                        <a:rPr lang="sv-SE" sz="2000" b="0" i="1" smtClean="0">
                          <a:latin typeface="Cambria Math"/>
                          <a:sym typeface="Symbol" pitchFamily="18" charset="2"/>
                        </a:rPr>
                        <m:t>,…</m:t>
                      </m:r>
                      <m:sSub>
                        <m:sSubPr>
                          <m:ctrlPr>
                            <a:rPr lang="sv-SE" sz="2000" b="0" i="1" smtClean="0">
                              <a:latin typeface="Cambria Math" panose="02040503050406030204" pitchFamily="18" charset="0"/>
                              <a:sym typeface="Symbol" pitchFamily="18" charset="2"/>
                            </a:rPr>
                          </m:ctrlPr>
                        </m:sSubPr>
                        <m:e>
                          <m:r>
                            <a:rPr lang="sv-SE" sz="2000" b="0" i="1" smtClean="0">
                              <a:latin typeface="Cambria Math"/>
                              <a:sym typeface="Symbol" pitchFamily="18" charset="2"/>
                            </a:rPr>
                            <m:t>𝑥</m:t>
                          </m:r>
                        </m:e>
                        <m:sub>
                          <m:r>
                            <a:rPr lang="sv-SE" sz="2000" b="0" i="1" smtClean="0">
                              <a:latin typeface="Cambria Math" panose="02040503050406030204" pitchFamily="18" charset="0"/>
                              <a:sym typeface="Symbol" pitchFamily="18" charset="2"/>
                            </a:rPr>
                            <m:t>𝑝</m:t>
                          </m:r>
                        </m:sub>
                      </m:sSub>
                      <m:r>
                        <a:rPr lang="sv-SE" sz="2000" b="0" i="1" smtClean="0">
                          <a:latin typeface="Cambria Math"/>
                          <a:sym typeface="Symbol" pitchFamily="18" charset="2"/>
                        </a:rPr>
                        <m:t>}</m:t>
                      </m:r>
                    </m:oMath>
                  </m:oMathPara>
                </a14:m>
                <a:endParaRPr lang="en-GB" sz="2000" b="1" i="1" dirty="0">
                  <a:latin typeface="+mn-lt"/>
                  <a:sym typeface="Symbol" pitchFamily="18" charset="2"/>
                </a:endParaRPr>
              </a:p>
            </p:txBody>
          </p:sp>
        </mc:Choice>
        <mc:Fallback xmlns="">
          <p:sp>
            <p:nvSpPr>
              <p:cNvPr id="3087" name="Text 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67544" y="2050202"/>
                <a:ext cx="3743325" cy="2390591"/>
              </a:xfrm>
              <a:prstGeom prst="rect">
                <a:avLst/>
              </a:prstGeom>
              <a:blipFill>
                <a:blip r:embed="rId3"/>
                <a:stretch>
                  <a:fillRect l="-1792" t="-1276" b="-1020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128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625" y="1844675"/>
            <a:ext cx="2879725" cy="269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E143A0B-D25E-4CEE-9A8D-A89D71CA941C}" type="slidenum">
              <a:rPr lang="sv-SE" smtClean="0"/>
              <a:pPr>
                <a:defRPr/>
              </a:pPr>
              <a:t>4</a:t>
            </a:fld>
            <a:endParaRPr lang="sv-SE"/>
          </a:p>
        </p:txBody>
      </p:sp>
      <p:sp>
        <p:nvSpPr>
          <p:cNvPr id="2" name="TextBox 1"/>
          <p:cNvSpPr txBox="1"/>
          <p:nvPr/>
        </p:nvSpPr>
        <p:spPr>
          <a:xfrm>
            <a:off x="3762884" y="4372120"/>
            <a:ext cx="27363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dirty="0" err="1">
                <a:solidFill>
                  <a:srgbClr val="7030A0"/>
                </a:solidFill>
              </a:rPr>
              <a:t>Why</a:t>
            </a:r>
            <a:r>
              <a:rPr lang="sv-SE" dirty="0">
                <a:solidFill>
                  <a:srgbClr val="7030A0"/>
                </a:solidFill>
              </a:rPr>
              <a:t> is ”1” </a:t>
            </a:r>
            <a:r>
              <a:rPr lang="sv-SE" dirty="0" err="1">
                <a:solidFill>
                  <a:srgbClr val="7030A0"/>
                </a:solidFill>
              </a:rPr>
              <a:t>here</a:t>
            </a:r>
            <a:r>
              <a:rPr lang="sv-SE" dirty="0">
                <a:solidFill>
                  <a:srgbClr val="7030A0"/>
                </a:solidFill>
              </a:rPr>
              <a:t>?</a:t>
            </a:r>
          </a:p>
        </p:txBody>
      </p:sp>
      <p:cxnSp>
        <p:nvCxnSpPr>
          <p:cNvPr id="6" name="Straight Arrow Connector 5"/>
          <p:cNvCxnSpPr>
            <a:cxnSpLocks/>
          </p:cNvCxnSpPr>
          <p:nvPr/>
        </p:nvCxnSpPr>
        <p:spPr>
          <a:xfrm flipH="1" flipV="1">
            <a:off x="2123728" y="4372120"/>
            <a:ext cx="1512168" cy="18466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ruta 7">
                <a:extLst>
                  <a:ext uri="{FF2B5EF4-FFF2-40B4-BE49-F238E27FC236}">
                    <a16:creationId xmlns:a16="http://schemas.microsoft.com/office/drawing/2014/main" id="{6894F346-10D6-4AD2-A91E-6479E42ABF8B}"/>
                  </a:ext>
                </a:extLst>
              </p:cNvPr>
              <p:cNvSpPr txBox="1"/>
              <p:nvPr/>
            </p:nvSpPr>
            <p:spPr>
              <a:xfrm>
                <a:off x="1187624" y="5301208"/>
                <a:ext cx="3240360" cy="6798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sv-SE" dirty="0"/>
                  <a:t>Aim: </a:t>
                </a:r>
                <a:r>
                  <a:rPr lang="sv-SE" dirty="0" err="1"/>
                  <a:t>learn</a:t>
                </a:r>
                <a:r>
                  <a:rPr lang="sv-SE" dirty="0"/>
                  <a:t> optimal parameters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sv-SE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sv-SE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sv-SE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acc>
                      </m:e>
                      <m:sub>
                        <m:r>
                          <a:rPr lang="sv-SE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sv-SE" b="0" i="1" dirty="0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sv-SE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sv-SE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sv-SE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acc>
                      </m:e>
                      <m:sub>
                        <m:r>
                          <a:rPr lang="sv-SE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endParaRPr lang="sv-SE" dirty="0"/>
              </a:p>
            </p:txBody>
          </p:sp>
        </mc:Choice>
        <mc:Fallback xmlns="">
          <p:sp>
            <p:nvSpPr>
              <p:cNvPr id="8" name="textruta 7">
                <a:extLst>
                  <a:ext uri="{FF2B5EF4-FFF2-40B4-BE49-F238E27FC236}">
                    <a16:creationId xmlns:a16="http://schemas.microsoft.com/office/drawing/2014/main" id="{6894F346-10D6-4AD2-A91E-6479E42ABF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7624" y="5301208"/>
                <a:ext cx="3240360" cy="679801"/>
              </a:xfrm>
              <a:prstGeom prst="rect">
                <a:avLst/>
              </a:prstGeom>
              <a:blipFill>
                <a:blip r:embed="rId5"/>
                <a:stretch>
                  <a:fillRect l="-1695" t="-5405" r="-3013" b="-2703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52114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ubrik 6">
            <a:extLst>
              <a:ext uri="{FF2B5EF4-FFF2-40B4-BE49-F238E27FC236}">
                <a16:creationId xmlns:a16="http://schemas.microsoft.com/office/drawing/2014/main" id="{C4354778-B506-41C0-8AFF-1C6A2C0CC5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 err="1"/>
              <a:t>Linear</a:t>
            </a:r>
            <a:r>
              <a:rPr lang="sv-SE" dirty="0"/>
              <a:t> regression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Platshållare för innehåll 7">
                <a:extLst>
                  <a:ext uri="{FF2B5EF4-FFF2-40B4-BE49-F238E27FC236}">
                    <a16:creationId xmlns:a16="http://schemas.microsoft.com/office/drawing/2014/main" id="{3A377958-7850-4C74-B9D9-703E338604A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sv-SE" sz="2400" dirty="0"/>
                  <a:t>Prediction </a:t>
                </a:r>
                <a:r>
                  <a:rPr lang="sv-SE" sz="2400" dirty="0" err="1"/>
                  <a:t>with</a:t>
                </a:r>
                <a:r>
                  <a:rPr lang="sv-SE" sz="2400" dirty="0"/>
                  <a:t> </a:t>
                </a:r>
                <a:r>
                  <a:rPr lang="sv-SE" sz="2400" dirty="0" err="1"/>
                  <a:t>linear</a:t>
                </a:r>
                <a:r>
                  <a:rPr lang="sv-SE" sz="2400" dirty="0"/>
                  <a:t> regression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sv-SE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sv-SE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sv-SE" sz="24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b>
                    </m:sSub>
                  </m:oMath>
                </a14:m>
                <a:endParaRPr lang="sv-SE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sv-SE" sz="24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sv-SE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d>
                        <m:dPr>
                          <m:ctrlPr>
                            <a:rPr lang="sv-SE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sv-SE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sv-SE" sz="2400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sv-SE" sz="2400" b="0" i="1" dirty="0" smtClean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b>
                          </m:sSub>
                          <m:r>
                            <a:rPr lang="sv-SE" sz="2400" b="0" i="1" dirty="0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acc>
                            <m:accPr>
                              <m:chr m:val="̂"/>
                              <m:ctrlPr>
                                <a:rPr lang="sv-SE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sv-SE" sz="2400" b="1" i="1" dirty="0" smtClean="0">
                                  <a:latin typeface="Cambria Math" panose="02040503050406030204" pitchFamily="18" charset="0"/>
                                </a:rPr>
                                <m:t>𝜽</m:t>
                              </m:r>
                            </m:e>
                          </m:acc>
                        </m:e>
                      </m:d>
                      <m:r>
                        <a:rPr lang="sv-SE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sv-SE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sv-SE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sv-SE" sz="24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sv-SE" sz="2400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acc>
                            </m:e>
                            <m:sub>
                              <m:r>
                                <a:rPr lang="sv-SE" sz="2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sv-SE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acc>
                            <m:accPr>
                              <m:chr m:val="̂"/>
                              <m:ctrlPr>
                                <a:rPr lang="sv-SE" sz="2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sv-SE" sz="24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acc>
                        </m:e>
                        <m:sub>
                          <m:r>
                            <a:rPr lang="sv-SE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sv-SE" sz="2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sv-SE" sz="2400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sv-SE" sz="2400" b="0" i="1" dirty="0" smtClean="0">
                              <a:latin typeface="Cambria Math" panose="02040503050406030204" pitchFamily="18" charset="0"/>
                            </a:rPr>
                            <m:t>∗1</m:t>
                          </m:r>
                        </m:sub>
                      </m:sSub>
                      <m:r>
                        <a:rPr lang="sv-SE" sz="2400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sv-SE" sz="2400" i="1" dirty="0">
                          <a:latin typeface="Cambria Math" panose="02040503050406030204" pitchFamily="18" charset="0"/>
                        </a:rPr>
                        <m:t>…</m:t>
                      </m:r>
                      <m:sSub>
                        <m:sSubPr>
                          <m:ctrlPr>
                            <a:rPr lang="sv-SE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sv-SE" sz="2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sv-SE" sz="24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acc>
                        </m:e>
                        <m:sub>
                          <m:r>
                            <a:rPr lang="sv-SE" sz="2400" i="1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sSub>
                        <m:sSubPr>
                          <m:ctrlPr>
                            <a:rPr lang="sv-SE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sv-SE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sv-SE" sz="24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  <m:r>
                            <a:rPr lang="sv-SE" sz="24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sv-SE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̂"/>
                          <m:ctrlPr>
                            <a:rPr lang="sv-SE" sz="2400" b="1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sv-SE" sz="2400" b="1" i="1" smtClean="0"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</m:acc>
                      <m:sSub>
                        <m:sSubPr>
                          <m:ctrlPr>
                            <a:rPr lang="sv-SE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sv-SE" sz="24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sv-SE" sz="2400" b="1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b>
                      </m:sSub>
                    </m:oMath>
                  </m:oMathPara>
                </a14:m>
                <a:endParaRPr lang="sv-SE" sz="2400" b="1" dirty="0"/>
              </a:p>
              <a:p>
                <a:r>
                  <a:rPr lang="sv-SE" sz="2400" dirty="0" err="1"/>
                  <a:t>Irreducible</a:t>
                </a:r>
                <a:r>
                  <a:rPr lang="sv-SE" sz="2400" dirty="0"/>
                  <a:t> </a:t>
                </a:r>
                <a:r>
                  <a:rPr lang="sv-SE" sz="2400" dirty="0" err="1"/>
                  <a:t>error</a:t>
                </a:r>
                <a:r>
                  <a:rPr lang="sv-SE" sz="2400" dirty="0"/>
                  <a:t> </a:t>
                </a:r>
                <a14:m>
                  <m:oMath xmlns:m="http://schemas.openxmlformats.org/officeDocument/2006/math">
                    <m:r>
                      <a:rPr lang="sv-SE" sz="2400" b="0" i="1" smtClean="0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endParaRPr lang="sv-SE" sz="2400" dirty="0"/>
              </a:p>
            </p:txBody>
          </p:sp>
        </mc:Choice>
        <mc:Fallback xmlns="">
          <p:sp>
            <p:nvSpPr>
              <p:cNvPr id="8" name="Platshållare för innehåll 7">
                <a:extLst>
                  <a:ext uri="{FF2B5EF4-FFF2-40B4-BE49-F238E27FC236}">
                    <a16:creationId xmlns:a16="http://schemas.microsoft.com/office/drawing/2014/main" id="{3A377958-7850-4C74-B9D9-703E338604A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63" t="-1078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ADA46CF5-44F5-4369-96E4-A93C3BADD4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732A99/TDDE01</a:t>
            </a:r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DE18E098-E2C0-44D3-93FF-E9CFFD5DA3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E143A0B-D25E-4CEE-9A8D-A89D71CA941C}" type="slidenum">
              <a:rPr lang="sv-SE" smtClean="0"/>
              <a:pPr>
                <a:defRPr/>
              </a:pPr>
              <a:t>5</a:t>
            </a:fld>
            <a:endParaRPr lang="sv-SE"/>
          </a:p>
        </p:txBody>
      </p:sp>
      <p:pic>
        <p:nvPicPr>
          <p:cNvPr id="10" name="Bildobjekt 9">
            <a:extLst>
              <a:ext uri="{FF2B5EF4-FFF2-40B4-BE49-F238E27FC236}">
                <a16:creationId xmlns:a16="http://schemas.microsoft.com/office/drawing/2014/main" id="{BC092739-2E66-4B0F-B03A-D9DBF8ABE5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6408" y="3290395"/>
            <a:ext cx="6371183" cy="3059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01127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D1DB823E-45D4-4564-AAAF-BD38A6868F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 err="1"/>
              <a:t>Linear</a:t>
            </a:r>
            <a:r>
              <a:rPr lang="sv-SE" dirty="0"/>
              <a:t> </a:t>
            </a:r>
            <a:r>
              <a:rPr lang="sv-SE" dirty="0" err="1"/>
              <a:t>model</a:t>
            </a:r>
            <a:r>
              <a:rPr lang="sv-SE" dirty="0"/>
              <a:t>: </a:t>
            </a:r>
            <a:r>
              <a:rPr lang="sv-SE" dirty="0" err="1"/>
              <a:t>learning</a:t>
            </a:r>
            <a:endParaRPr lang="sv-S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latshållare för innehåll 2">
                <a:extLst>
                  <a:ext uri="{FF2B5EF4-FFF2-40B4-BE49-F238E27FC236}">
                    <a16:creationId xmlns:a16="http://schemas.microsoft.com/office/drawing/2014/main" id="{045506E0-FEF1-4AE5-A4E4-F84A92C76DC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sv-SE" dirty="0"/>
                  <a:t>How to </a:t>
                </a:r>
                <a:r>
                  <a:rPr lang="sv-SE" dirty="0" err="1"/>
                  <a:t>learn</a:t>
                </a:r>
                <a:r>
                  <a:rPr lang="sv-SE" dirty="0"/>
                  <a:t> parameters?</a:t>
                </a:r>
              </a:p>
              <a:p>
                <a:pPr lvl="1"/>
                <a:r>
                  <a:rPr lang="sv-SE" b="1" dirty="0"/>
                  <a:t>Approach A</a:t>
                </a:r>
                <a:r>
                  <a:rPr lang="sv-SE" dirty="0"/>
                  <a:t>: </a:t>
                </a:r>
                <a:r>
                  <a:rPr lang="sv-SE" dirty="0" err="1"/>
                  <a:t>Minimize</a:t>
                </a:r>
                <a:r>
                  <a:rPr lang="sv-SE" dirty="0"/>
                  <a:t> the </a:t>
                </a:r>
                <a:r>
                  <a:rPr lang="sv-SE" dirty="0" err="1"/>
                  <a:t>cost</a:t>
                </a:r>
                <a:endParaRPr lang="sv-SE" dirty="0"/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sv-SE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sv-SE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acc>
                      <m:r>
                        <a:rPr lang="sv-SE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sv-SE" b="0" i="1" dirty="0" smtClean="0">
                          <a:latin typeface="Cambria Math" panose="02040503050406030204" pitchFamily="18" charset="0"/>
                        </a:rPr>
                        <m:t>arg</m:t>
                      </m:r>
                      <m:r>
                        <a:rPr lang="sv-SE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limLow>
                        <m:limLowPr>
                          <m:ctrlPr>
                            <a:rPr lang="sv-SE" b="0" i="1" dirty="0" smtClean="0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sv-SE" b="0" i="0" dirty="0" smtClean="0">
                              <a:latin typeface="Cambria Math" panose="02040503050406030204" pitchFamily="18" charset="0"/>
                            </a:rPr>
                            <m:t>min</m:t>
                          </m:r>
                        </m:e>
                        <m:lim>
                          <m:r>
                            <a:rPr lang="sv-SE" b="1" i="1" dirty="0" smtClean="0">
                              <a:latin typeface="Cambria Math" panose="02040503050406030204" pitchFamily="18" charset="0"/>
                            </a:rPr>
                            <m:t>𝜽</m:t>
                          </m:r>
                        </m:lim>
                      </m:limLow>
                      <m:f>
                        <m:fPr>
                          <m:ctrlPr>
                            <a:rPr lang="sv-SE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sv-SE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sv-SE" b="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sv-SE" b="0" i="1" dirty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sv-SE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sv-SE" b="0" i="1" dirty="0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sv-SE" b="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sv-SE" b="0" i="1" dirty="0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sv-SE" b="0" i="1" dirty="0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sv-SE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sv-SE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sv-SE" b="0" i="1" dirty="0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  <m:d>
                                <m:dPr>
                                  <m:ctrlPr>
                                    <a:rPr lang="sv-SE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sv-SE" b="0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sv-SE" b="0" i="1" dirty="0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sv-SE" b="0" i="1" dirty="0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sv-SE" b="0" i="1" dirty="0" smtClean="0"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  <m:r>
                                    <a:rPr lang="sv-SE" b="1" i="1" dirty="0" smtClean="0">
                                      <a:latin typeface="Cambria Math" panose="02040503050406030204" pitchFamily="18" charset="0"/>
                                    </a:rPr>
                                    <m:t>𝜽</m:t>
                                  </m:r>
                                </m:e>
                              </m:d>
                              <m:r>
                                <a:rPr lang="sv-SE" b="0" i="1" dirty="0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sv-SE" b="0" i="1" dirty="0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sv-SE" b="0" i="1" dirty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sv-SE" b="0" i="1" dirty="0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sv-SE" dirty="0"/>
              </a:p>
              <a:p>
                <a:pPr marL="457200" lvl="1" indent="0">
                  <a:buNone/>
                </a:pPr>
                <a:endParaRPr lang="sv-SE" dirty="0"/>
              </a:p>
              <a:p>
                <a:pPr marL="457200" lvl="1" indent="0">
                  <a:buNone/>
                </a:pPr>
                <a:endParaRPr lang="sv-SE" dirty="0"/>
              </a:p>
              <a:p>
                <a:pPr marL="457200" lvl="1" indent="0">
                  <a:buNone/>
                </a:pPr>
                <a:endParaRPr lang="sv-SE" dirty="0"/>
              </a:p>
              <a:p>
                <a:pPr marL="57150" indent="0">
                  <a:buNone/>
                </a:pPr>
                <a:r>
                  <a:rPr lang="sv-SE" sz="2400" dirty="0" err="1"/>
                  <a:t>Usual</a:t>
                </a:r>
                <a:r>
                  <a:rPr lang="sv-SE" sz="2400" dirty="0"/>
                  <a:t> choice: </a:t>
                </a:r>
                <a:r>
                  <a:rPr lang="sv-SE" sz="2400" dirty="0" err="1">
                    <a:solidFill>
                      <a:srgbClr val="0000FF"/>
                    </a:solidFill>
                  </a:rPr>
                  <a:t>squared</a:t>
                </a:r>
                <a:r>
                  <a:rPr lang="sv-SE" sz="2400" dirty="0">
                    <a:solidFill>
                      <a:srgbClr val="0000FF"/>
                    </a:solidFill>
                  </a:rPr>
                  <a:t> loss </a:t>
                </a:r>
                <a14:m>
                  <m:oMath xmlns:m="http://schemas.openxmlformats.org/officeDocument/2006/math">
                    <m:r>
                      <a:rPr lang="sv-SE" sz="2400" b="0" i="1" dirty="0" smtClean="0"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sv-SE" sz="24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sv-SE" sz="24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sv-SE" sz="2400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sv-SE" sz="2400" b="0" i="1" dirty="0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  <m:d>
                              <m:dPr>
                                <m:ctrlPr>
                                  <a:rPr lang="sv-SE" sz="2400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sv-SE" sz="24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sv-SE" sz="2400" b="0" i="1" dirty="0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sv-SE" sz="2400" b="0" i="1" dirty="0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sv-SE" sz="2400" b="0" i="1" dirty="0" smtClean="0"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r>
                                  <a:rPr lang="sv-SE" sz="2400" b="1" i="1" dirty="0" smtClean="0">
                                    <a:latin typeface="Cambria Math" panose="02040503050406030204" pitchFamily="18" charset="0"/>
                                  </a:rPr>
                                  <m:t>𝜽</m:t>
                                </m:r>
                              </m:e>
                            </m:d>
                            <m:r>
                              <a:rPr lang="sv-SE" sz="2400" b="0" i="1" dirty="0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sv-SE" sz="2400" b="0" i="1" dirty="0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sv-SE" sz="2400" b="0" i="1" dirty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sv-SE" sz="2400" b="0" i="1" dirty="0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sv-SE" sz="24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sv-SE" sz="2400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̂"/>
                                <m:ctrlPr>
                                  <a:rPr lang="sv-SE" sz="2400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sv-SE" sz="2400" b="0" i="1" dirty="0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  <m:d>
                              <m:dPr>
                                <m:ctrlPr>
                                  <a:rPr lang="sv-SE" sz="2400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sv-SE" sz="24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sv-SE" sz="2400" b="0" i="1" dirty="0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sv-SE" sz="2400" b="0" i="1" dirty="0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sv-SE" sz="2400" b="0" i="1" dirty="0" smtClean="0"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r>
                                  <a:rPr lang="sv-SE" sz="2400" b="0" i="1" dirty="0" smtClean="0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d>
                            <m:r>
                              <a:rPr lang="sv-SE" sz="2400" b="0" i="1" dirty="0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sv-SE" sz="2400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sv-SE" sz="2400" b="0" i="1" dirty="0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sv-SE" sz="2400" b="0" i="1" dirty="0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sv-SE" sz="24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sv-SE" sz="2400" dirty="0"/>
              </a:p>
            </p:txBody>
          </p:sp>
        </mc:Choice>
        <mc:Fallback xmlns="">
          <p:sp>
            <p:nvSpPr>
              <p:cNvPr id="3" name="Platshållare för innehåll 2">
                <a:extLst>
                  <a:ext uri="{FF2B5EF4-FFF2-40B4-BE49-F238E27FC236}">
                    <a16:creationId xmlns:a16="http://schemas.microsoft.com/office/drawing/2014/main" id="{045506E0-FEF1-4AE5-A4E4-F84A92C76DC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704" t="-1752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37048258-946D-4017-A625-224C9CB440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732A99/TDDE01</a:t>
            </a:r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3608EC4F-C61F-41A8-AC0F-7FB12CC1AF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7B2DAB0-3E44-4037-BFD8-EC40824E78A2}" type="slidenum">
              <a:rPr lang="sv-SE" smtClean="0"/>
              <a:pPr>
                <a:defRPr/>
              </a:pPr>
              <a:t>6</a:t>
            </a:fld>
            <a:endParaRPr lang="sv-SE"/>
          </a:p>
        </p:txBody>
      </p:sp>
      <p:sp>
        <p:nvSpPr>
          <p:cNvPr id="6" name="Ellips 5">
            <a:extLst>
              <a:ext uri="{FF2B5EF4-FFF2-40B4-BE49-F238E27FC236}">
                <a16:creationId xmlns:a16="http://schemas.microsoft.com/office/drawing/2014/main" id="{0739D590-D6D2-48AB-AFF0-0E34F1C4A3DB}"/>
              </a:ext>
            </a:extLst>
          </p:cNvPr>
          <p:cNvSpPr/>
          <p:nvPr/>
        </p:nvSpPr>
        <p:spPr>
          <a:xfrm>
            <a:off x="4644008" y="2924944"/>
            <a:ext cx="2520280" cy="72008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7" name="Ellips 6">
            <a:extLst>
              <a:ext uri="{FF2B5EF4-FFF2-40B4-BE49-F238E27FC236}">
                <a16:creationId xmlns:a16="http://schemas.microsoft.com/office/drawing/2014/main" id="{76E7AD3D-F89D-42C3-B00C-B6EC75A43D56}"/>
              </a:ext>
            </a:extLst>
          </p:cNvPr>
          <p:cNvSpPr/>
          <p:nvPr/>
        </p:nvSpPr>
        <p:spPr>
          <a:xfrm>
            <a:off x="3851920" y="2742382"/>
            <a:ext cx="4032448" cy="1118666"/>
          </a:xfrm>
          <a:prstGeom prst="ellipse">
            <a:avLst/>
          </a:prstGeom>
          <a:noFill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cxnSp>
        <p:nvCxnSpPr>
          <p:cNvPr id="9" name="Rak koppling 8">
            <a:extLst>
              <a:ext uri="{FF2B5EF4-FFF2-40B4-BE49-F238E27FC236}">
                <a16:creationId xmlns:a16="http://schemas.microsoft.com/office/drawing/2014/main" id="{ABB8261E-9A3A-449C-91FA-F581755B705A}"/>
              </a:ext>
            </a:extLst>
          </p:cNvPr>
          <p:cNvCxnSpPr/>
          <p:nvPr/>
        </p:nvCxnSpPr>
        <p:spPr>
          <a:xfrm flipH="1">
            <a:off x="4716016" y="3645024"/>
            <a:ext cx="720080" cy="108012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Rak koppling 10">
            <a:extLst>
              <a:ext uri="{FF2B5EF4-FFF2-40B4-BE49-F238E27FC236}">
                <a16:creationId xmlns:a16="http://schemas.microsoft.com/office/drawing/2014/main" id="{5D1F617B-9120-47C9-986C-F17F0D285E84}"/>
              </a:ext>
            </a:extLst>
          </p:cNvPr>
          <p:cNvCxnSpPr/>
          <p:nvPr/>
        </p:nvCxnSpPr>
        <p:spPr>
          <a:xfrm>
            <a:off x="6804248" y="3861048"/>
            <a:ext cx="792088" cy="6480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ruta 12">
            <a:extLst>
              <a:ext uri="{FF2B5EF4-FFF2-40B4-BE49-F238E27FC236}">
                <a16:creationId xmlns:a16="http://schemas.microsoft.com/office/drawing/2014/main" id="{6B5374FB-FDF9-4E1B-9C3D-109044336CC1}"/>
              </a:ext>
            </a:extLst>
          </p:cNvPr>
          <p:cNvSpPr txBox="1"/>
          <p:nvPr/>
        </p:nvSpPr>
        <p:spPr>
          <a:xfrm>
            <a:off x="4572000" y="4606280"/>
            <a:ext cx="15440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dirty="0"/>
              <a:t>Loss </a:t>
            </a:r>
            <a:r>
              <a:rPr lang="sv-SE" dirty="0" err="1"/>
              <a:t>function</a:t>
            </a:r>
            <a:endParaRPr lang="sv-SE" dirty="0"/>
          </a:p>
        </p:txBody>
      </p:sp>
      <p:sp>
        <p:nvSpPr>
          <p:cNvPr id="14" name="textruta 13">
            <a:extLst>
              <a:ext uri="{FF2B5EF4-FFF2-40B4-BE49-F238E27FC236}">
                <a16:creationId xmlns:a16="http://schemas.microsoft.com/office/drawing/2014/main" id="{734A85A3-7927-482E-AFC3-A84A252AB9EF}"/>
              </a:ext>
            </a:extLst>
          </p:cNvPr>
          <p:cNvSpPr txBox="1"/>
          <p:nvPr/>
        </p:nvSpPr>
        <p:spPr>
          <a:xfrm>
            <a:off x="6948264" y="4509120"/>
            <a:ext cx="15311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dirty="0" err="1"/>
              <a:t>Cost</a:t>
            </a:r>
            <a:r>
              <a:rPr lang="sv-SE" dirty="0"/>
              <a:t> </a:t>
            </a:r>
            <a:r>
              <a:rPr lang="sv-SE" dirty="0" err="1"/>
              <a:t>function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8412342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 sz="quarter"/>
          </p:nvPr>
        </p:nvSpPr>
        <p:spPr>
          <a:xfrm>
            <a:off x="684213" y="260350"/>
            <a:ext cx="7772400" cy="1143000"/>
          </a:xfrm>
        </p:spPr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en-GB" altLang="sv-SE" sz="3200" b="1" dirty="0">
                <a:latin typeface="Arial" pitchFamily="34" charset="0"/>
              </a:rPr>
              <a:t>Linear model: learning</a:t>
            </a:r>
            <a:endParaRPr lang="en-GB" altLang="sv-SE" sz="3200" dirty="0"/>
          </a:p>
        </p:txBody>
      </p:sp>
      <p:graphicFrame>
        <p:nvGraphicFramePr>
          <p:cNvPr id="7172" name="Rectangle 4"/>
          <p:cNvGraphicFramePr>
            <a:graphicFrameLocks noGrp="1"/>
          </p:cNvGraphicFramePr>
          <p:nvPr>
            <p:ph sz="quarter" idx="2"/>
          </p:nvPr>
        </p:nvGraphicFramePr>
        <p:xfrm>
          <a:off x="6553200" y="2971800"/>
          <a:ext cx="0" cy="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0" imgH="0" progId="Equation.3">
                  <p:embed/>
                </p:oleObj>
              </mc:Choice>
              <mc:Fallback>
                <p:oleObj name="Equation" r:id="rId3" imgW="0" imgH="0" progId="Equation.3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53200" y="2971800"/>
                        <a:ext cx="0" cy="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7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732A99/TDDE01</a:t>
            </a:r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176" name="Text Box 6"/>
              <p:cNvSpPr txBox="1">
                <a:spLocks noChangeArrowheads="1"/>
              </p:cNvSpPr>
              <p:nvPr/>
            </p:nvSpPr>
            <p:spPr bwMode="auto">
              <a:xfrm>
                <a:off x="551211" y="1738312"/>
                <a:ext cx="7758887" cy="470968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marL="457200" indent="-457200">
                  <a:defRPr sz="28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>
                  <a:defRPr sz="28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>
                  <a:defRPr sz="28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>
                  <a:defRPr sz="28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>
                  <a:defRPr sz="28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r>
                  <a:rPr lang="en-US" altLang="sv-SE" sz="1800" b="1" dirty="0">
                    <a:latin typeface="Arial" pitchFamily="34" charset="0"/>
                  </a:rPr>
                  <a:t>	</a:t>
                </a:r>
                <a:r>
                  <a:rPr lang="en-US" altLang="sv-SE" sz="1800" b="1" dirty="0">
                    <a:solidFill>
                      <a:srgbClr val="0000FF"/>
                    </a:solidFill>
                    <a:latin typeface="Arial" pitchFamily="34" charset="0"/>
                  </a:rPr>
                  <a:t>Ordinary least squares</a:t>
                </a:r>
              </a:p>
              <a:p>
                <a:r>
                  <a:rPr lang="en-US" altLang="sv-SE" sz="1800" b="1" dirty="0">
                    <a:latin typeface="Arial" pitchFamily="34" charset="0"/>
                  </a:rPr>
                  <a:t>Objective: </a:t>
                </a:r>
                <a14:m>
                  <m:oMath xmlns:m="http://schemas.openxmlformats.org/officeDocument/2006/math">
                    <m:limLow>
                      <m:limLowPr>
                        <m:ctrlPr>
                          <a:rPr lang="sv-SE" sz="2000" b="0" i="1" dirty="0" smtClean="0"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sv-SE" sz="2000" b="0" i="0" dirty="0" smtClean="0">
                            <a:latin typeface="Cambria Math" panose="02040503050406030204" pitchFamily="18" charset="0"/>
                          </a:rPr>
                          <m:t>min</m:t>
                        </m:r>
                      </m:e>
                      <m:lim>
                        <m:r>
                          <a:rPr lang="sv-SE" sz="2000" b="1" i="1" dirty="0" smtClean="0">
                            <a:latin typeface="Cambria Math" panose="02040503050406030204" pitchFamily="18" charset="0"/>
                          </a:rPr>
                          <m:t>𝜽</m:t>
                        </m:r>
                      </m:lim>
                    </m:limLow>
                    <m:f>
                      <m:fPr>
                        <m:ctrlPr>
                          <a:rPr lang="sv-SE" sz="2000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sv-SE" sz="20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sv-SE" sz="2000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nary>
                      <m:naryPr>
                        <m:chr m:val="∑"/>
                        <m:ctrlPr>
                          <a:rPr lang="sv-SE" sz="2000" b="0" i="1" dirty="0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sv-SE" sz="2000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sv-SE" sz="2000" b="0" i="1" dirty="0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sv-SE" sz="2000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p>
                          <m:sSupPr>
                            <m:ctrlPr>
                              <a:rPr lang="sv-SE" sz="2000" b="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sv-SE" sz="2000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sv-SE" sz="20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sv-SE" sz="2000" b="0" i="1" dirty="0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sv-SE" sz="2000" b="0" i="1" dirty="0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sv-SE" sz="2000" b="0" i="1" dirty="0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sv-SE" sz="20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sv-SE" sz="2000" b="1" i="1" dirty="0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sv-SE" sz="2000" b="0" i="1" dirty="0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sv-SE" sz="2000" b="1" i="1" dirty="0" smtClean="0">
                                    <a:latin typeface="Cambria Math" panose="02040503050406030204" pitchFamily="18" charset="0"/>
                                  </a:rPr>
                                  <m:t>𝜽</m:t>
                                </m:r>
                              </m:e>
                            </m:d>
                          </m:e>
                          <m:sup>
                            <m:r>
                              <a:rPr lang="sv-SE" sz="2000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a:rPr lang="sv-SE" sz="2000" b="0" i="1" dirty="0" smtClean="0">
                        <a:latin typeface="Cambria Math" panose="02040503050406030204" pitchFamily="18" charset="0"/>
                      </a:rPr>
                      <m:t>=</m:t>
                    </m:r>
                    <m:limLow>
                      <m:limLowPr>
                        <m:ctrlPr>
                          <a:rPr lang="sv-SE" sz="1800" i="1" dirty="0"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sv-SE" sz="1800" dirty="0">
                            <a:latin typeface="Cambria Math" panose="02040503050406030204" pitchFamily="18" charset="0"/>
                          </a:rPr>
                          <m:t>min</m:t>
                        </m:r>
                      </m:e>
                      <m:lim>
                        <m:r>
                          <a:rPr lang="sv-SE" sz="1800" b="1" i="1" dirty="0">
                            <a:latin typeface="Cambria Math" panose="02040503050406030204" pitchFamily="18" charset="0"/>
                          </a:rPr>
                          <m:t>𝜽</m:t>
                        </m:r>
                      </m:lim>
                    </m:limLow>
                    <m:r>
                      <a:rPr lang="sv-SE" sz="1800" b="0" i="1" dirty="0" smtClean="0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sv-SE" sz="18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sv-SE" sz="1800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sv-SE" sz="1800" b="0" i="1" dirty="0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sv-SE" sz="1800" b="0" i="1" dirty="0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sv-SE" sz="1800" b="1" i="1" dirty="0" smtClean="0">
                                <a:latin typeface="Cambria Math" panose="02040503050406030204" pitchFamily="18" charset="0"/>
                              </a:rPr>
                              <m:t>𝑿</m:t>
                            </m:r>
                            <m:r>
                              <a:rPr lang="sv-SE" sz="1800" b="1" i="1" dirty="0" smtClean="0">
                                <a:latin typeface="Cambria Math" panose="02040503050406030204" pitchFamily="18" charset="0"/>
                              </a:rPr>
                              <m:t>𝜽</m:t>
                            </m:r>
                          </m:e>
                        </m:d>
                      </m:e>
                      <m:sup>
                        <m:r>
                          <a:rPr lang="sv-SE" sz="1800" b="0" i="1" dirty="0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sv-SE" sz="1800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sv-SE" sz="1800" b="0" i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sv-SE" sz="1800" b="0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sv-SE" sz="1800" b="1" i="1" dirty="0" smtClean="0">
                        <a:latin typeface="Cambria Math" panose="02040503050406030204" pitchFamily="18" charset="0"/>
                      </a:rPr>
                      <m:t>𝑿</m:t>
                    </m:r>
                    <m:r>
                      <a:rPr lang="sv-SE" sz="1800" b="1" i="1" dirty="0" smtClean="0">
                        <a:latin typeface="Cambria Math" panose="02040503050406030204" pitchFamily="18" charset="0"/>
                      </a:rPr>
                      <m:t>𝜽</m:t>
                    </m:r>
                    <m:r>
                      <a:rPr lang="sv-SE" sz="1800" b="1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sv-SE" sz="1800" b="1" dirty="0">
                    <a:latin typeface="Arial" pitchFamily="34" charset="0"/>
                  </a:rPr>
                  <a:t> </a:t>
                </a:r>
              </a:p>
              <a:p>
                <a:endParaRPr lang="en-US" altLang="sv-SE" sz="1800" b="1" dirty="0">
                  <a:latin typeface="Arial" pitchFamily="34" charset="0"/>
                </a:endParaRPr>
              </a:p>
              <a:p>
                <a:endParaRPr lang="en-US" altLang="sv-SE" sz="1800" b="1" dirty="0">
                  <a:latin typeface="Arial" pitchFamily="34" charset="0"/>
                </a:endParaRPr>
              </a:p>
              <a:p>
                <a:r>
                  <a:rPr lang="en-US" altLang="sv-SE" sz="1800" dirty="0">
                    <a:latin typeface="Arial" pitchFamily="34" charset="0"/>
                  </a:rPr>
                  <a:t>	Optimality condition:</a:t>
                </a:r>
              </a:p>
              <a:p>
                <a:endParaRPr lang="en-US" altLang="sv-SE" sz="1800" b="1" dirty="0">
                  <a:latin typeface="Arial" pitchFamily="34" charset="0"/>
                </a:endParaRPr>
              </a:p>
              <a:p>
                <a:endParaRPr lang="en-US" altLang="sv-SE" sz="1800" b="1" dirty="0">
                  <a:latin typeface="Arial" pitchFamily="34" charset="0"/>
                </a:endParaRPr>
              </a:p>
              <a:p>
                <a:r>
                  <a:rPr lang="en-GB" altLang="sv-SE" sz="1800" b="1" dirty="0">
                    <a:latin typeface="Arial" pitchFamily="34" charset="0"/>
                  </a:rPr>
                  <a:t>	</a:t>
                </a:r>
                <a:r>
                  <a:rPr lang="en-GB" altLang="sv-SE" sz="1800" dirty="0">
                    <a:latin typeface="Arial" pitchFamily="34" charset="0"/>
                  </a:rPr>
                  <a:t>where</a:t>
                </a:r>
              </a:p>
              <a:p>
                <a:endParaRPr lang="en-GB" altLang="sv-SE" sz="1800" b="1" dirty="0">
                  <a:latin typeface="Arial" pitchFamily="34" charset="0"/>
                </a:endParaRPr>
              </a:p>
              <a:p>
                <a:endParaRPr lang="en-GB" altLang="sv-SE" sz="1800" b="1" dirty="0">
                  <a:latin typeface="Arial" pitchFamily="34" charset="0"/>
                </a:endParaRPr>
              </a:p>
              <a:p>
                <a:endParaRPr lang="en-GB" altLang="sv-SE" sz="1800" b="1" dirty="0">
                  <a:latin typeface="Arial" pitchFamily="34" charset="0"/>
                </a:endParaRPr>
              </a:p>
              <a:p>
                <a:r>
                  <a:rPr lang="en-GB" altLang="sv-SE" sz="1800" b="1" dirty="0">
                    <a:latin typeface="Arial" pitchFamily="34" charset="0"/>
                  </a:rPr>
                  <a:t>						and</a:t>
                </a:r>
              </a:p>
              <a:p>
                <a:endParaRPr lang="en-GB" altLang="sv-SE" sz="1800" b="1" dirty="0">
                  <a:latin typeface="Arial" pitchFamily="34" charset="0"/>
                </a:endParaRPr>
              </a:p>
              <a:p>
                <a:endParaRPr lang="en-GB" altLang="sv-SE" sz="1800" b="1" dirty="0">
                  <a:latin typeface="Arial" pitchFamily="34" charset="0"/>
                </a:endParaRPr>
              </a:p>
              <a:p>
                <a:endParaRPr lang="en-GB" altLang="sv-SE" sz="1800" b="1" dirty="0">
                  <a:latin typeface="Arial" pitchFamily="34" charset="0"/>
                </a:endParaRPr>
              </a:p>
              <a:p>
                <a:endParaRPr lang="en-GB" altLang="sv-SE" sz="1800" b="1" dirty="0">
                  <a:latin typeface="Arial" pitchFamily="34" charset="0"/>
                </a:endParaRPr>
              </a:p>
            </p:txBody>
          </p:sp>
        </mc:Choice>
        <mc:Fallback xmlns="">
          <p:sp>
            <p:nvSpPr>
              <p:cNvPr id="7176" name="Text 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51211" y="1738312"/>
                <a:ext cx="7758887" cy="4709687"/>
              </a:xfrm>
              <a:prstGeom prst="rect">
                <a:avLst/>
              </a:prstGeom>
              <a:blipFill>
                <a:blip r:embed="rId5"/>
                <a:stretch>
                  <a:fillRect l="-628" t="-647"/>
                </a:stretch>
              </a:blip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77" name="Object 10"/>
              <p:cNvSpPr txBox="1"/>
              <p:nvPr/>
            </p:nvSpPr>
            <p:spPr bwMode="auto">
              <a:xfrm>
                <a:off x="6353174" y="4005263"/>
                <a:ext cx="1459185" cy="201612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sv-SE" b="1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sv-SE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sv-SE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sv-SE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sv-SE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sv-SE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sv-SE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sv-SE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sv-SE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sv-SE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  <m:mr>
                              <m:e/>
                            </m:mr>
                            <m:mr>
                              <m:e/>
                            </m:mr>
                            <m:mr>
                              <m:e/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sv-SE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sv-SE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sv-SE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sv-SE" dirty="0"/>
              </a:p>
            </p:txBody>
          </p:sp>
        </mc:Choice>
        <mc:Fallback xmlns="">
          <p:sp>
            <p:nvSpPr>
              <p:cNvPr id="7177" name="Object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353174" y="4005263"/>
                <a:ext cx="1459185" cy="201612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79" name="Object 9"/>
              <p:cNvSpPr txBox="1"/>
              <p:nvPr/>
            </p:nvSpPr>
            <p:spPr bwMode="auto">
              <a:xfrm>
                <a:off x="1028427" y="4307681"/>
                <a:ext cx="3024981" cy="188118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85000" lnSpcReduction="1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sv-SE" b="1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𝑿</m:t>
                      </m:r>
                      <m:r>
                        <a:rPr lang="sv-SE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sv-SE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6"/>
                                    <m:mcJc m:val="center"/>
                                  </m:mcPr>
                                </m:mc>
                              </m:mcs>
                              <m:ctrlPr>
                                <a:rPr lang="sv-SE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sv-SE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sv-SE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sv-SE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sv-SE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sv-SE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sv-SE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sv-SE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12</m:t>
                                    </m:r>
                                  </m:sub>
                                </m:sSub>
                              </m:e>
                              <m:e/>
                              <m:e/>
                              <m:e>
                                <m:sSub>
                                  <m:sSubPr>
                                    <m:ctrlPr>
                                      <a:rPr lang="sv-SE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sv-SE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sv-SE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sv-SE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sv-SE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sv-SE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sv-SE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sv-SE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sv-SE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sv-SE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sv-SE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22</m:t>
                                    </m:r>
                                  </m:sub>
                                </m:sSub>
                              </m:e>
                              <m:e/>
                              <m:e/>
                              <m:e>
                                <m:sSub>
                                  <m:sSubPr>
                                    <m:ctrlPr>
                                      <a:rPr lang="sv-SE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sv-SE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sv-SE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sv-SE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sub>
                                </m:sSub>
                              </m:e>
                            </m:mr>
                            <m:mr>
                              <m:e/>
                              <m:e/>
                              <m:e/>
                              <m:e/>
                              <m:e/>
                              <m:e/>
                            </m:mr>
                            <m:mr>
                              <m:e/>
                              <m:e/>
                              <m:e/>
                              <m:e/>
                              <m:e/>
                              <m:e/>
                            </m:mr>
                            <m:mr>
                              <m:e/>
                              <m:e/>
                              <m:e/>
                              <m:e/>
                              <m:e/>
                              <m:e/>
                            </m:mr>
                            <m:mr>
                              <m:e>
                                <m:r>
                                  <a:rPr lang="sv-SE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sv-SE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sv-SE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sv-SE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sv-SE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sv-SE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sv-SE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sv-SE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sv-SE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  <m:e/>
                              <m:e/>
                              <m:e>
                                <m:sSub>
                                  <m:sSubPr>
                                    <m:ctrlPr>
                                      <a:rPr lang="sv-SE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sv-SE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sv-SE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𝑛𝑝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sv-SE" dirty="0"/>
              </a:p>
            </p:txBody>
          </p:sp>
        </mc:Choice>
        <mc:Fallback xmlns="">
          <p:sp>
            <p:nvSpPr>
              <p:cNvPr id="7179" name="Object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028427" y="4307681"/>
                <a:ext cx="3024981" cy="188118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254C237-546F-4CF8-BFC8-498794181E87}" type="slidenum">
              <a:rPr lang="en-GB" smtClean="0"/>
              <a:pPr>
                <a:defRPr/>
              </a:pPr>
              <a:t>7</a:t>
            </a:fld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174" name="Object 7"/>
              <p:cNvSpPr txBox="1">
                <a:spLocks noGrp="1"/>
              </p:cNvSpPr>
              <p:nvPr>
                <p:ph sz="quarter" idx="4"/>
              </p:nvPr>
            </p:nvSpPr>
            <p:spPr bwMode="auto">
              <a:xfrm>
                <a:off x="3429000" y="3328988"/>
                <a:ext cx="1993900" cy="44291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62500" lnSpcReduction="20000"/>
              </a:bodyPr>
              <a:lstStyle/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sv-SE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sv-SE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a:rPr lang="sv-SE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sv-SE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sv-SE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sv-SE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sv-SE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𝑿</m:t>
                      </m:r>
                      <m:r>
                        <a:rPr lang="sv-SE" b="1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𝜽</m:t>
                      </m:r>
                      <m:r>
                        <a:rPr lang="sv-SE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)=0</m:t>
                      </m:r>
                    </m:oMath>
                  </m:oMathPara>
                </a14:m>
                <a:endParaRPr lang="sv-SE" dirty="0"/>
              </a:p>
            </p:txBody>
          </p:sp>
        </mc:Choice>
        <mc:Fallback xmlns="">
          <p:sp>
            <p:nvSpPr>
              <p:cNvPr id="7174" name="Object 7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ph sz="quarter" idx="4"/>
              </p:nvPr>
            </p:nvSpPr>
            <p:spPr bwMode="auto">
              <a:xfrm>
                <a:off x="3429000" y="3328988"/>
                <a:ext cx="1993900" cy="442912"/>
              </a:xfrm>
              <a:prstGeom prst="rect">
                <a:avLst/>
              </a:prstGeom>
              <a:blipFill>
                <a:blip r:embed="rId8"/>
                <a:stretch>
                  <a:fillRect b="-4110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709584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55" name="Picture 183" descr="http://a.tgcdn.net/images/products/frontsquare/11af_4th_doctors_hat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6028" y="1604850"/>
            <a:ext cx="2435640" cy="24356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194" name="Rectangle 2"/>
          <p:cNvSpPr>
            <a:spLocks noGrp="1" noChangeArrowheads="1"/>
          </p:cNvSpPr>
          <p:nvPr>
            <p:ph type="title" sz="quarter"/>
          </p:nvPr>
        </p:nvSpPr>
        <p:spPr>
          <a:xfrm>
            <a:off x="684213" y="260350"/>
            <a:ext cx="7772400" cy="1143000"/>
          </a:xfrm>
        </p:spPr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en-GB" altLang="sv-SE" sz="3200" b="1" dirty="0">
                <a:latin typeface="Arial" pitchFamily="34" charset="0"/>
              </a:rPr>
              <a:t>Linear model: learning</a:t>
            </a:r>
            <a:endParaRPr lang="en-GB" altLang="sv-SE" sz="3200" dirty="0"/>
          </a:p>
        </p:txBody>
      </p:sp>
      <p:graphicFrame>
        <p:nvGraphicFramePr>
          <p:cNvPr id="8196" name="Rectangle 4"/>
          <p:cNvGraphicFramePr>
            <a:graphicFrameLocks noGrp="1"/>
          </p:cNvGraphicFramePr>
          <p:nvPr>
            <p:ph sz="quarter" idx="2"/>
          </p:nvPr>
        </p:nvGraphicFramePr>
        <p:xfrm>
          <a:off x="6553200" y="2971800"/>
          <a:ext cx="0" cy="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0" imgH="0" progId="Equation.3">
                  <p:embed/>
                </p:oleObj>
              </mc:Choice>
              <mc:Fallback>
                <p:oleObj name="Equation" r:id="rId4" imgW="0" imgH="0" progId="Equation.3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53200" y="2971800"/>
                        <a:ext cx="0" cy="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51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732A99/TDDE01</a:t>
            </a:r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199" name="Text Box 7"/>
              <p:cNvSpPr txBox="1">
                <a:spLocks noChangeArrowheads="1"/>
              </p:cNvSpPr>
              <p:nvPr/>
            </p:nvSpPr>
            <p:spPr bwMode="auto">
              <a:xfrm>
                <a:off x="551900" y="1916831"/>
                <a:ext cx="5467900" cy="52398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>
                <a:lvl1pPr marL="457200" indent="-457200">
                  <a:defRPr sz="28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>
                  <a:defRPr sz="28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>
                  <a:defRPr sz="28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>
                  <a:defRPr sz="28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>
                  <a:defRPr sz="28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>
                  <a:buFont typeface="Arial" panose="020B0604020202020204" pitchFamily="34" charset="0"/>
                  <a:buChar char="•"/>
                </a:pPr>
                <a:r>
                  <a:rPr lang="en-US" altLang="sv-SE" sz="1800" dirty="0">
                    <a:latin typeface="Arial" pitchFamily="34" charset="0"/>
                  </a:rPr>
                  <a:t>Least squares estimates of the parameters</a:t>
                </a:r>
              </a:p>
              <a:p>
                <a:endParaRPr lang="en-US" altLang="sv-SE" sz="1800" b="1" dirty="0">
                  <a:latin typeface="Arial" pitchFamily="34" charset="0"/>
                </a:endParaRPr>
              </a:p>
              <a:p>
                <a:endParaRPr lang="en-US" altLang="sv-SE" sz="1800" b="1" dirty="0">
                  <a:latin typeface="Arial" pitchFamily="34" charset="0"/>
                </a:endParaRPr>
              </a:p>
              <a:p>
                <a:r>
                  <a:rPr lang="en-GB" altLang="sv-SE" sz="1800" b="1" dirty="0">
                    <a:latin typeface="Arial" pitchFamily="34" charset="0"/>
                  </a:rPr>
                  <a:t>		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GB" altLang="sv-SE" sz="1800" dirty="0">
                    <a:latin typeface="Arial" pitchFamily="34" charset="0"/>
                  </a:rPr>
                  <a:t>Predicted values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endParaRPr lang="en-GB" altLang="sv-SE" sz="1800" dirty="0">
                  <a:latin typeface="Arial" pitchFamily="34" charset="0"/>
                </a:endParaRPr>
              </a:p>
              <a:p>
                <a:pPr>
                  <a:buFont typeface="Arial" panose="020B0604020202020204" pitchFamily="34" charset="0"/>
                  <a:buChar char="•"/>
                </a:pPr>
                <a:endParaRPr lang="en-GB" altLang="sv-SE" sz="1800" dirty="0">
                  <a:latin typeface="Arial" pitchFamily="34" charset="0"/>
                </a:endParaRPr>
              </a:p>
              <a:p>
                <a:pPr>
                  <a:buFont typeface="Arial" panose="020B0604020202020204" pitchFamily="34" charset="0"/>
                  <a:buChar char="•"/>
                </a:pPr>
                <a:endParaRPr lang="en-GB" altLang="sv-SE" sz="1800" dirty="0">
                  <a:latin typeface="Arial" pitchFamily="34" charset="0"/>
                </a:endParaRP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GB" altLang="sv-SE" sz="1800" dirty="0">
                    <a:latin typeface="Arial" pitchFamily="34" charset="0"/>
                  </a:rPr>
                  <a:t>Linear regression belongs to the class of </a:t>
                </a:r>
                <a:r>
                  <a:rPr lang="en-GB" altLang="sv-SE" sz="1800" b="1" dirty="0">
                    <a:solidFill>
                      <a:srgbClr val="0000FF"/>
                    </a:solidFill>
                    <a:latin typeface="Arial" pitchFamily="34" charset="0"/>
                  </a:rPr>
                  <a:t>linear smoothers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endParaRPr lang="en-GB" altLang="sv-SE" sz="1800" b="1" dirty="0">
                  <a:solidFill>
                    <a:srgbClr val="0000FF"/>
                  </a:solidFill>
                  <a:latin typeface="Arial" pitchFamily="34" charset="0"/>
                </a:endParaRP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GB" altLang="sv-SE" sz="1800" b="1" dirty="0">
                    <a:solidFill>
                      <a:srgbClr val="C00000"/>
                    </a:solidFill>
                    <a:latin typeface="Arial" pitchFamily="34" charset="0"/>
                  </a:rPr>
                  <a:t>Note: </a:t>
                </a:r>
                <a:r>
                  <a:rPr lang="en-GB" altLang="sv-SE" sz="1800" dirty="0">
                    <a:latin typeface="Arial" pitchFamily="34" charset="0"/>
                  </a:rPr>
                  <a:t>if </a:t>
                </a:r>
                <a14:m>
                  <m:oMath xmlns:m="http://schemas.openxmlformats.org/officeDocument/2006/math">
                    <m:r>
                      <a:rPr lang="sv-SE" altLang="sv-SE" sz="1800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sv-SE" altLang="sv-SE" sz="1800" b="0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sv-SE" altLang="sv-SE" sz="18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GB" altLang="sv-SE" sz="1800" dirty="0">
                    <a:solidFill>
                      <a:srgbClr val="C00000"/>
                    </a:solidFill>
                    <a:latin typeface="Arial" pitchFamily="34" charset="0"/>
                  </a:rPr>
                  <a:t> </a:t>
                </a:r>
                <a:r>
                  <a:rPr lang="en-GB" altLang="sv-SE" sz="1800" dirty="0">
                    <a:latin typeface="Arial" pitchFamily="34" charset="0"/>
                  </a:rPr>
                  <a:t>then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sv-SE" sz="18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sv-SE" sz="18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p>
                        <m:r>
                          <a:rPr lang="sv-SE" sz="18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𝑻</m:t>
                        </m:r>
                      </m:sup>
                    </m:sSup>
                    <m:r>
                      <a:rPr lang="sv-SE" sz="1800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𝑿</m:t>
                    </m:r>
                  </m:oMath>
                </a14:m>
                <a:r>
                  <a:rPr lang="en-GB" altLang="sv-SE" sz="1800" dirty="0">
                    <a:latin typeface="Arial" pitchFamily="34" charset="0"/>
                  </a:rPr>
                  <a:t> is not invertible</a:t>
                </a:r>
              </a:p>
              <a:p>
                <a:endParaRPr lang="en-GB" altLang="sv-SE" sz="1800" b="1" dirty="0">
                  <a:latin typeface="Arial" pitchFamily="34" charset="0"/>
                </a:endParaRPr>
              </a:p>
              <a:p>
                <a:r>
                  <a:rPr lang="en-GB" altLang="sv-SE" sz="1800" b="1" dirty="0">
                    <a:latin typeface="Arial" pitchFamily="34" charset="0"/>
                  </a:rPr>
                  <a:t>	</a:t>
                </a:r>
              </a:p>
              <a:p>
                <a:endParaRPr lang="en-GB" altLang="sv-SE" sz="1800" b="1" dirty="0">
                  <a:latin typeface="Arial" pitchFamily="34" charset="0"/>
                </a:endParaRPr>
              </a:p>
              <a:p>
                <a:endParaRPr lang="en-GB" altLang="sv-SE" sz="1800" b="1" dirty="0">
                  <a:latin typeface="Arial" pitchFamily="34" charset="0"/>
                </a:endParaRPr>
              </a:p>
              <a:p>
                <a:endParaRPr lang="en-GB" altLang="sv-SE" sz="1800" b="1" dirty="0">
                  <a:latin typeface="Arial" pitchFamily="34" charset="0"/>
                </a:endParaRPr>
              </a:p>
              <a:p>
                <a:endParaRPr lang="en-GB" altLang="sv-SE" sz="1800" b="1" dirty="0">
                  <a:latin typeface="Arial" pitchFamily="34" charset="0"/>
                </a:endParaRPr>
              </a:p>
            </p:txBody>
          </p:sp>
        </mc:Choice>
        <mc:Fallback xmlns="">
          <p:sp>
            <p:nvSpPr>
              <p:cNvPr id="8199" name="Text 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51900" y="1916831"/>
                <a:ext cx="5467900" cy="5239896"/>
              </a:xfrm>
              <a:prstGeom prst="rect">
                <a:avLst/>
              </a:prstGeom>
              <a:blipFill>
                <a:blip r:embed="rId6"/>
                <a:stretch>
                  <a:fillRect l="-780" t="-581" r="-111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200" name="Object 8"/>
              <p:cNvSpPr txBox="1"/>
              <p:nvPr/>
            </p:nvSpPr>
            <p:spPr bwMode="auto">
              <a:xfrm>
                <a:off x="2916238" y="2349500"/>
                <a:ext cx="2160587" cy="42862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sv-SE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sv-SE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</m:acc>
                      <m:r>
                        <a:rPr lang="sv-SE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=(</m:t>
                      </m:r>
                      <m:sSup>
                        <m:sSupPr>
                          <m:ctrlPr>
                            <a:rPr lang="sv-SE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sv-SE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a:rPr lang="sv-SE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a:rPr lang="sv-SE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𝑿</m:t>
                      </m:r>
                      <m:sSup>
                        <m:sSupPr>
                          <m:ctrlPr>
                            <a:rPr lang="sv-SE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sv-SE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sv-SE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sv-SE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  <m:sSup>
                        <m:sSupPr>
                          <m:ctrlPr>
                            <a:rPr lang="sv-SE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sv-SE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a:rPr lang="sv-SE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a:rPr lang="sv-SE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</m:oMath>
                  </m:oMathPara>
                </a14:m>
                <a:endParaRPr lang="sv-SE" b="1" dirty="0"/>
              </a:p>
            </p:txBody>
          </p:sp>
        </mc:Choice>
        <mc:Fallback xmlns="">
          <p:sp>
            <p:nvSpPr>
              <p:cNvPr id="8200" name="Object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916238" y="2349500"/>
                <a:ext cx="2160587" cy="428625"/>
              </a:xfrm>
              <a:prstGeom prst="rect">
                <a:avLst/>
              </a:prstGeom>
              <a:blipFill>
                <a:blip r:embed="rId7"/>
                <a:stretch>
                  <a:fillRect b="-1408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201" name="Object 9"/>
              <p:cNvSpPr txBox="1"/>
              <p:nvPr/>
            </p:nvSpPr>
            <p:spPr bwMode="auto">
              <a:xfrm>
                <a:off x="3014663" y="3113088"/>
                <a:ext cx="4057650" cy="4699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sv-SE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sv-SE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</m:acc>
                      <m:r>
                        <a:rPr lang="sv-SE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sv-SE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𝑿</m:t>
                      </m:r>
                      <m:acc>
                        <m:accPr>
                          <m:chr m:val="̂"/>
                          <m:ctrlPr>
                            <a:rPr lang="sv-SE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sv-SE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</m:acc>
                      <m:r>
                        <a:rPr lang="sv-SE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sv-SE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𝑿</m:t>
                      </m:r>
                      <m:r>
                        <a:rPr lang="sv-SE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sv-SE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sv-SE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a:rPr lang="sv-SE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a:rPr lang="sv-SE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𝑿</m:t>
                      </m:r>
                      <m:sSup>
                        <m:sSupPr>
                          <m:ctrlPr>
                            <a:rPr lang="sv-SE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sv-SE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sv-SE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sv-SE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p>
                        <m:sSupPr>
                          <m:ctrlPr>
                            <a:rPr lang="sv-SE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sv-SE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a:rPr lang="sv-SE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a:rPr lang="sv-SE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sv-SE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sv-SE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𝑷𝒚</m:t>
                      </m:r>
                    </m:oMath>
                  </m:oMathPara>
                </a14:m>
                <a:endParaRPr lang="sv-SE" b="1" dirty="0"/>
              </a:p>
            </p:txBody>
          </p:sp>
        </mc:Choice>
        <mc:Fallback xmlns="">
          <p:sp>
            <p:nvSpPr>
              <p:cNvPr id="8201" name="Object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014663" y="3113088"/>
                <a:ext cx="4057650" cy="469900"/>
              </a:xfrm>
              <a:prstGeom prst="rect">
                <a:avLst/>
              </a:prstGeom>
              <a:blipFill>
                <a:blip r:embed="rId8"/>
                <a:stretch>
                  <a:fillRect t="-1299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" name="Straight Arrow Connector 2"/>
          <p:cNvCxnSpPr>
            <a:cxnSpLocks/>
          </p:cNvCxnSpPr>
          <p:nvPr/>
        </p:nvCxnSpPr>
        <p:spPr>
          <a:xfrm flipH="1" flipV="1">
            <a:off x="6019800" y="3429000"/>
            <a:ext cx="1164249" cy="84868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272276" y="4277684"/>
            <a:ext cx="13681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dirty="0"/>
              <a:t>Hat matrix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254C237-546F-4CF8-BFC8-498794181E87}" type="slidenum">
              <a:rPr lang="en-GB" smtClean="0"/>
              <a:pPr>
                <a:defRPr/>
              </a:pPr>
              <a:t>8</a:t>
            </a:fld>
            <a:endParaRPr lang="en-GB"/>
          </a:p>
        </p:txBody>
      </p:sp>
      <p:sp>
        <p:nvSpPr>
          <p:cNvPr id="2" name="TextBox 1"/>
          <p:cNvSpPr txBox="1"/>
          <p:nvPr/>
        </p:nvSpPr>
        <p:spPr>
          <a:xfrm>
            <a:off x="6539012" y="4779154"/>
            <a:ext cx="25922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dirty="0" err="1">
                <a:solidFill>
                  <a:srgbClr val="7030A0"/>
                </a:solidFill>
              </a:rPr>
              <a:t>Why</a:t>
            </a:r>
            <a:r>
              <a:rPr lang="sv-SE" dirty="0">
                <a:solidFill>
                  <a:srgbClr val="7030A0"/>
                </a:solidFill>
              </a:rPr>
              <a:t> is it </a:t>
            </a:r>
            <a:r>
              <a:rPr lang="sv-SE" dirty="0" err="1">
                <a:solidFill>
                  <a:srgbClr val="7030A0"/>
                </a:solidFill>
              </a:rPr>
              <a:t>called</a:t>
            </a:r>
            <a:r>
              <a:rPr lang="sv-SE" dirty="0">
                <a:solidFill>
                  <a:srgbClr val="7030A0"/>
                </a:solidFill>
              </a:rPr>
              <a:t> so?</a:t>
            </a:r>
          </a:p>
        </p:txBody>
      </p:sp>
    </p:spTree>
    <p:extLst>
      <p:ext uri="{BB962C8B-B14F-4D97-AF65-F5344CB8AC3E}">
        <p14:creationId xmlns:p14="http://schemas.microsoft.com/office/powerpoint/2010/main" val="3824080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ubrik 8">
            <a:extLst>
              <a:ext uri="{FF2B5EF4-FFF2-40B4-BE49-F238E27FC236}">
                <a16:creationId xmlns:a16="http://schemas.microsoft.com/office/drawing/2014/main" id="{732AC6CB-935B-422E-82CC-E74122396C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sz="4000" dirty="0" err="1"/>
              <a:t>Linear</a:t>
            </a:r>
            <a:r>
              <a:rPr lang="sv-SE" sz="4000" dirty="0"/>
              <a:t> regression: </a:t>
            </a:r>
            <a:r>
              <a:rPr lang="sv-SE" sz="4000" dirty="0" err="1"/>
              <a:t>learning</a:t>
            </a:r>
            <a:r>
              <a:rPr lang="sv-SE" sz="4000" dirty="0"/>
              <a:t> </a:t>
            </a:r>
            <a:r>
              <a:rPr lang="sv-SE" sz="4000" dirty="0" err="1"/>
              <a:t>algorithm</a:t>
            </a:r>
            <a:endParaRPr lang="sv-SE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Platshållare för innehåll 9">
                <a:extLst>
                  <a:ext uri="{FF2B5EF4-FFF2-40B4-BE49-F238E27FC236}">
                    <a16:creationId xmlns:a16="http://schemas.microsoft.com/office/drawing/2014/main" id="{A4A138AC-877B-4053-918E-EBDC00C0AB6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sv-SE" sz="2400" dirty="0"/>
                  <a:t>Training</a:t>
                </a:r>
              </a:p>
              <a:p>
                <a:pPr marL="971550" lvl="1" indent="-514350">
                  <a:buFont typeface="+mj-lt"/>
                  <a:buAutoNum type="arabicPeriod"/>
                </a:pPr>
                <a:r>
                  <a:rPr lang="sv-SE" sz="2000" dirty="0" err="1"/>
                  <a:t>Construct</a:t>
                </a:r>
                <a:r>
                  <a:rPr lang="sv-SE" sz="2000" dirty="0"/>
                  <a:t> </a:t>
                </a:r>
                <a14:m>
                  <m:oMath xmlns:m="http://schemas.openxmlformats.org/officeDocument/2006/math">
                    <m:r>
                      <a:rPr lang="sv-SE" sz="2000" b="1" i="1" smtClean="0">
                        <a:latin typeface="Cambria Math" panose="02040503050406030204" pitchFamily="18" charset="0"/>
                      </a:rPr>
                      <m:t>𝑿</m:t>
                    </m:r>
                  </m:oMath>
                </a14:m>
                <a:r>
                  <a:rPr lang="sv-SE" sz="2000" b="1" dirty="0"/>
                  <a:t> </a:t>
                </a:r>
                <a:r>
                  <a:rPr lang="sv-SE" sz="2000" dirty="0"/>
                  <a:t>and </a:t>
                </a:r>
                <a14:m>
                  <m:oMath xmlns:m="http://schemas.openxmlformats.org/officeDocument/2006/math">
                    <m:r>
                      <a:rPr lang="sv-SE" sz="2000" b="1" i="1" smtClean="0">
                        <a:latin typeface="Cambria Math" panose="02040503050406030204" pitchFamily="18" charset="0"/>
                      </a:rPr>
                      <m:t>𝒚</m:t>
                    </m:r>
                  </m:oMath>
                </a14:m>
                <a:endParaRPr lang="sv-SE" sz="2000" b="1" dirty="0"/>
              </a:p>
              <a:p>
                <a:pPr marL="971550" lvl="1" indent="-514350">
                  <a:buFont typeface="+mj-lt"/>
                  <a:buAutoNum type="arabicPeriod"/>
                </a:pPr>
                <a:r>
                  <a:rPr lang="sv-SE" sz="2000" dirty="0" err="1"/>
                  <a:t>Compute</a:t>
                </a:r>
                <a:r>
                  <a:rPr lang="sv-SE" sz="2000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sv-SE" sz="20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sv-SE" sz="20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𝜽</m:t>
                        </m:r>
                      </m:e>
                    </m:acc>
                    <m:r>
                      <a:rPr lang="sv-SE" sz="2000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=(</m:t>
                    </m:r>
                    <m:sSup>
                      <m:sSupPr>
                        <m:ctrlPr>
                          <a:rPr lang="sv-SE" sz="20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sv-SE" sz="20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p>
                        <m:r>
                          <a:rPr lang="sv-SE" sz="20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𝑻</m:t>
                        </m:r>
                      </m:sup>
                    </m:sSup>
                    <m:r>
                      <a:rPr lang="sv-SE" sz="2000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𝑿</m:t>
                    </m:r>
                    <m:sSup>
                      <m:sSupPr>
                        <m:ctrlPr>
                          <a:rPr lang="sv-SE" sz="20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sv-SE" sz="20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sv-SE" sz="20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sv-SE" sz="20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p>
                    </m:sSup>
                    <m:sSup>
                      <m:sSupPr>
                        <m:ctrlPr>
                          <a:rPr lang="sv-SE" sz="20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sv-SE" sz="20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p>
                        <m:r>
                          <a:rPr lang="sv-SE" sz="20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𝑻</m:t>
                        </m:r>
                      </m:sup>
                    </m:sSup>
                    <m:r>
                      <a:rPr lang="sv-SE" sz="2000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𝒚</m:t>
                    </m:r>
                  </m:oMath>
                </a14:m>
                <a:endParaRPr lang="sv-SE" sz="2000" b="1" dirty="0">
                  <a:solidFill>
                    <a:srgbClr val="000000"/>
                  </a:solidFill>
                </a:endParaRPr>
              </a:p>
              <a:p>
                <a:pPr marL="971550" lvl="1" indent="-514350">
                  <a:buFont typeface="+mj-lt"/>
                  <a:buAutoNum type="arabicPeriod"/>
                </a:pPr>
                <a:endParaRPr lang="sv-SE" sz="2000" b="1" dirty="0">
                  <a:solidFill>
                    <a:srgbClr val="000000"/>
                  </a:solidFill>
                </a:endParaRPr>
              </a:p>
              <a:p>
                <a:r>
                  <a:rPr lang="sv-SE" sz="2400" dirty="0" err="1"/>
                  <a:t>Prediction</a:t>
                </a:r>
                <a:endParaRPr lang="sv-SE" sz="2400" dirty="0"/>
              </a:p>
              <a:p>
                <a:pPr lvl="1"/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sv-SE" sz="20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sv-SE" sz="20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d>
                      <m:dPr>
                        <m:ctrlPr>
                          <a:rPr lang="sv-SE" sz="20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sv-SE" sz="2000" b="1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sv-SE" sz="2000" b="1" i="1" dirty="0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sv-SE" sz="2000" b="1" i="1" dirty="0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b>
                        </m:sSub>
                      </m:e>
                    </m:d>
                    <m:r>
                      <a:rPr lang="sv-SE" sz="2000" b="0" i="1" dirty="0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sv-SE" sz="20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̂"/>
                            <m:ctrlPr>
                              <a:rPr lang="sv-SE" sz="2000" b="1" i="1" dirty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sv-SE" sz="2000" b="1" i="1" dirty="0" smtClean="0">
                                <a:latin typeface="Cambria Math" panose="02040503050406030204" pitchFamily="18" charset="0"/>
                              </a:rPr>
                              <m:t>𝜽</m:t>
                            </m:r>
                          </m:e>
                        </m:acc>
                      </m:e>
                      <m:sup>
                        <m:r>
                          <a:rPr lang="sv-SE" sz="2000" b="0" i="1" dirty="0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sSub>
                      <m:sSubPr>
                        <m:ctrlPr>
                          <a:rPr lang="sv-SE" sz="20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sv-SE" sz="2000" b="1" i="1" dirty="0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sv-SE" sz="2000" b="0" i="1" dirty="0" smtClean="0">
                            <a:latin typeface="Cambria Math" panose="02040503050406030204" pitchFamily="18" charset="0"/>
                          </a:rPr>
                          <m:t>∗</m:t>
                        </m:r>
                      </m:sub>
                    </m:sSub>
                    <m:r>
                      <a:rPr lang="sv-SE" sz="2000" b="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sv-SE" sz="2000" dirty="0"/>
              </a:p>
            </p:txBody>
          </p:sp>
        </mc:Choice>
        <mc:Fallback xmlns="">
          <p:sp>
            <p:nvSpPr>
              <p:cNvPr id="10" name="Platshållare för innehåll 9">
                <a:extLst>
                  <a:ext uri="{FF2B5EF4-FFF2-40B4-BE49-F238E27FC236}">
                    <a16:creationId xmlns:a16="http://schemas.microsoft.com/office/drawing/2014/main" id="{A4A138AC-877B-4053-918E-EBDC00C0AB6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63" t="-1078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Platshållare för sidfot 6">
            <a:extLst>
              <a:ext uri="{FF2B5EF4-FFF2-40B4-BE49-F238E27FC236}">
                <a16:creationId xmlns:a16="http://schemas.microsoft.com/office/drawing/2014/main" id="{C7AE434C-C1DB-4297-A8CB-78A7524BD0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732A99/TDDE01</a:t>
            </a:r>
            <a:endParaRPr lang="en-GB"/>
          </a:p>
        </p:txBody>
      </p:sp>
      <p:sp>
        <p:nvSpPr>
          <p:cNvPr id="8" name="Platshållare för bildnummer 7">
            <a:extLst>
              <a:ext uri="{FF2B5EF4-FFF2-40B4-BE49-F238E27FC236}">
                <a16:creationId xmlns:a16="http://schemas.microsoft.com/office/drawing/2014/main" id="{1E154FFA-11DD-4B90-9C68-3D129EB4E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254C237-546F-4CF8-BFC8-498794181E87}" type="slidenum">
              <a:rPr lang="en-GB" smtClean="0"/>
              <a:pPr>
                <a:defRPr/>
              </a:pPr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531597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A8605B45-4C7F-4CF1-8F48-193BF770A5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 err="1"/>
              <a:t>Linear</a:t>
            </a:r>
            <a:r>
              <a:rPr lang="sv-SE" dirty="0"/>
              <a:t> </a:t>
            </a:r>
            <a:r>
              <a:rPr lang="sv-SE" dirty="0" err="1"/>
              <a:t>model</a:t>
            </a:r>
            <a:r>
              <a:rPr lang="sv-SE" dirty="0"/>
              <a:t> </a:t>
            </a:r>
            <a:r>
              <a:rPr lang="sv-SE" dirty="0" err="1"/>
              <a:t>learning</a:t>
            </a:r>
            <a:endParaRPr lang="sv-S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latshållare för innehåll 2">
                <a:extLst>
                  <a:ext uri="{FF2B5EF4-FFF2-40B4-BE49-F238E27FC236}">
                    <a16:creationId xmlns:a16="http://schemas.microsoft.com/office/drawing/2014/main" id="{ECFB97CB-7D13-42B4-BA70-F84924A3A78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sv-SE" sz="2400" dirty="0"/>
                  <a:t>How to </a:t>
                </a:r>
                <a:r>
                  <a:rPr lang="sv-SE" sz="2400" dirty="0" err="1"/>
                  <a:t>learn</a:t>
                </a:r>
                <a:r>
                  <a:rPr lang="sv-SE" sz="2400" dirty="0"/>
                  <a:t> parameters?</a:t>
                </a:r>
              </a:p>
              <a:p>
                <a:pPr lvl="1"/>
                <a:r>
                  <a:rPr lang="sv-SE" sz="2000" b="1" dirty="0"/>
                  <a:t>Approach B</a:t>
                </a:r>
                <a:r>
                  <a:rPr lang="sv-SE" sz="2000" dirty="0"/>
                  <a:t>: </a:t>
                </a:r>
                <a:r>
                  <a:rPr lang="sv-SE" sz="2000" dirty="0" err="1"/>
                  <a:t>Maximize</a:t>
                </a:r>
                <a:r>
                  <a:rPr lang="sv-SE" sz="2000" dirty="0"/>
                  <a:t> the </a:t>
                </a:r>
                <a:r>
                  <a:rPr lang="sv-SE" sz="2000" dirty="0" err="1"/>
                  <a:t>likelihood</a:t>
                </a:r>
                <a:endParaRPr lang="sv-SE" sz="20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sv-SE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sv-SE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</m:acc>
                      <m:r>
                        <a:rPr lang="sv-SE" sz="2400" b="0" i="1" dirty="0" smtClean="0">
                          <a:solidFill>
                            <a:schemeClr val="tx1"/>
                          </a:solidFill>
                          <a:latin typeface="Cambria Math"/>
                        </a:rPr>
                        <m:t>=</m:t>
                      </m:r>
                      <m:func>
                        <m:funcPr>
                          <m:ctrlPr>
                            <a:rPr lang="sv-SE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sv-SE" sz="24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a:rPr lang="sv-SE" sz="2400" b="0" i="0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sv-SE" sz="2400" b="0" i="0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arg</m:t>
                              </m:r>
                              <m:r>
                                <a:rPr lang="sv-SE" sz="2400" b="0" i="0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sv-SE" sz="2400" b="0" i="0" dirty="0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max</m:t>
                              </m:r>
                            </m:e>
                            <m:lim>
                              <m:r>
                                <a:rPr lang="sv-SE" sz="24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lim>
                          </m:limLow>
                        </m:fName>
                        <m:e>
                          <m:r>
                            <a:rPr lang="sv-SE" sz="2400" b="0" i="1" dirty="0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𝑝</m:t>
                          </m:r>
                          <m:d>
                            <m:dPr>
                              <m:ctrlPr>
                                <a:rPr lang="sv-SE" sz="24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sv-SE" sz="2400" b="0" i="0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Τ</m:t>
                              </m:r>
                            </m:e>
                            <m:e>
                              <m:r>
                                <a:rPr lang="sv-SE" sz="2400" b="1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𝜽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sv-SE" sz="2400" dirty="0"/>
              </a:p>
              <a:p>
                <a:pPr marL="0" indent="0">
                  <a:buNone/>
                </a:pPr>
                <a:endParaRPr lang="sv-SE" sz="2400" dirty="0"/>
              </a:p>
              <a:p>
                <a:pPr marL="0" indent="0">
                  <a:buNone/>
                </a:pPr>
                <a:r>
                  <a:rPr lang="sv-SE" sz="2400" dirty="0" err="1">
                    <a:solidFill>
                      <a:srgbClr val="C00000"/>
                    </a:solidFill>
                  </a:rPr>
                  <a:t>Exercise</a:t>
                </a:r>
                <a:r>
                  <a:rPr lang="sv-SE" sz="2400" dirty="0"/>
                  <a:t>: Approach A and B </a:t>
                </a:r>
                <a:r>
                  <a:rPr lang="sv-SE" sz="2400" dirty="0" err="1"/>
                  <a:t>are</a:t>
                </a:r>
                <a:r>
                  <a:rPr lang="sv-SE" sz="2400" dirty="0"/>
                  <a:t> </a:t>
                </a:r>
                <a:r>
                  <a:rPr lang="sv-SE" sz="2400" dirty="0" err="1"/>
                  <a:t>equivalent</a:t>
                </a:r>
                <a:endParaRPr lang="sv-SE" sz="2400" dirty="0"/>
              </a:p>
            </p:txBody>
          </p:sp>
        </mc:Choice>
        <mc:Fallback xmlns="">
          <p:sp>
            <p:nvSpPr>
              <p:cNvPr id="3" name="Platshållare för innehåll 2">
                <a:extLst>
                  <a:ext uri="{FF2B5EF4-FFF2-40B4-BE49-F238E27FC236}">
                    <a16:creationId xmlns:a16="http://schemas.microsoft.com/office/drawing/2014/main" id="{ECFB97CB-7D13-42B4-BA70-F84924A3A78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11" t="-1078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BF9E5A88-96D3-4C9F-8A53-D07F939E78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732A99/TDDE01</a:t>
            </a:r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3E7CB11F-2F7A-46B8-A1A3-27C80176C7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7B2DAB0-3E44-4037-BFD8-EC40824E78A2}" type="slidenum">
              <a:rPr lang="sv-SE" smtClean="0"/>
              <a:pPr>
                <a:defRPr/>
              </a:pPr>
              <a:t>10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3649425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 err="1"/>
              <a:t>Linear</a:t>
            </a:r>
            <a:r>
              <a:rPr lang="sv-SE" dirty="0"/>
              <a:t> regression in 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sv-SE" sz="2000" dirty="0"/>
              <a:t>fit=lm(</a:t>
            </a:r>
            <a:r>
              <a:rPr lang="sv-SE" sz="2000" dirty="0" err="1"/>
              <a:t>formula</a:t>
            </a:r>
            <a:r>
              <a:rPr lang="sv-SE" sz="2000" dirty="0"/>
              <a:t>, data, </a:t>
            </a:r>
            <a:r>
              <a:rPr lang="sv-SE" sz="2000" dirty="0" err="1"/>
              <a:t>subset</a:t>
            </a:r>
            <a:r>
              <a:rPr lang="sv-SE" sz="2000" dirty="0"/>
              <a:t>, </a:t>
            </a:r>
            <a:r>
              <a:rPr lang="sv-SE" sz="2000" dirty="0" err="1"/>
              <a:t>weights</a:t>
            </a:r>
            <a:r>
              <a:rPr lang="sv-SE" sz="2000" dirty="0"/>
              <a:t>,…)</a:t>
            </a:r>
          </a:p>
          <a:p>
            <a:pPr lvl="1"/>
            <a:r>
              <a:rPr lang="sv-SE" sz="1800" b="1" dirty="0"/>
              <a:t>data </a:t>
            </a:r>
            <a:r>
              <a:rPr lang="sv-SE" sz="1800" dirty="0"/>
              <a:t>is the data </a:t>
            </a:r>
            <a:r>
              <a:rPr lang="sv-SE" sz="1800" dirty="0" err="1"/>
              <a:t>frame</a:t>
            </a:r>
            <a:r>
              <a:rPr lang="sv-SE" sz="1800" dirty="0"/>
              <a:t> </a:t>
            </a:r>
            <a:r>
              <a:rPr lang="sv-SE" sz="1800" dirty="0" err="1"/>
              <a:t>containing</a:t>
            </a:r>
            <a:r>
              <a:rPr lang="sv-SE" sz="1800" dirty="0"/>
              <a:t> the </a:t>
            </a:r>
            <a:r>
              <a:rPr lang="sv-SE" sz="1800" dirty="0" err="1"/>
              <a:t>predictors</a:t>
            </a:r>
            <a:r>
              <a:rPr lang="sv-SE" sz="1800" dirty="0"/>
              <a:t> and </a:t>
            </a:r>
            <a:r>
              <a:rPr lang="sv-SE" sz="1800" dirty="0" err="1"/>
              <a:t>response</a:t>
            </a:r>
            <a:r>
              <a:rPr lang="sv-SE" sz="1800" dirty="0"/>
              <a:t> </a:t>
            </a:r>
            <a:r>
              <a:rPr lang="sv-SE" sz="1800" dirty="0" err="1"/>
              <a:t>values</a:t>
            </a:r>
            <a:endParaRPr lang="sv-SE" sz="1800" dirty="0"/>
          </a:p>
          <a:p>
            <a:pPr lvl="1"/>
            <a:r>
              <a:rPr lang="sv-SE" sz="1800" b="1" dirty="0" err="1"/>
              <a:t>formula</a:t>
            </a:r>
            <a:r>
              <a:rPr lang="sv-SE" sz="1800" b="1" dirty="0"/>
              <a:t> </a:t>
            </a:r>
            <a:r>
              <a:rPr lang="sv-SE" sz="1800" dirty="0"/>
              <a:t>is expression for the </a:t>
            </a:r>
            <a:r>
              <a:rPr lang="sv-SE" sz="1800" dirty="0" err="1"/>
              <a:t>model</a:t>
            </a:r>
            <a:endParaRPr lang="sv-SE" sz="1800" dirty="0"/>
          </a:p>
          <a:p>
            <a:pPr lvl="1"/>
            <a:r>
              <a:rPr lang="sv-SE" sz="1800" b="1" dirty="0" err="1"/>
              <a:t>subset</a:t>
            </a:r>
            <a:r>
              <a:rPr lang="sv-SE" sz="1800" b="1" dirty="0"/>
              <a:t> </a:t>
            </a:r>
            <a:r>
              <a:rPr lang="sv-SE" sz="1800" dirty="0" err="1"/>
              <a:t>which</a:t>
            </a:r>
            <a:r>
              <a:rPr lang="sv-SE" sz="1800" dirty="0"/>
              <a:t> observations </a:t>
            </a:r>
            <a:r>
              <a:rPr lang="sv-SE" sz="1800" dirty="0" err="1"/>
              <a:t>to</a:t>
            </a:r>
            <a:r>
              <a:rPr lang="sv-SE" sz="1800" dirty="0"/>
              <a:t> </a:t>
            </a:r>
            <a:r>
              <a:rPr lang="sv-SE" sz="1800" dirty="0" err="1"/>
              <a:t>use</a:t>
            </a:r>
            <a:r>
              <a:rPr lang="sv-SE" sz="1800" dirty="0"/>
              <a:t> (</a:t>
            </a:r>
            <a:r>
              <a:rPr lang="sv-SE" sz="1800" dirty="0" err="1"/>
              <a:t>training</a:t>
            </a:r>
            <a:r>
              <a:rPr lang="sv-SE" sz="1800" dirty="0"/>
              <a:t> data)?</a:t>
            </a:r>
          </a:p>
          <a:p>
            <a:pPr lvl="1"/>
            <a:r>
              <a:rPr lang="sv-SE" sz="1800" b="1" dirty="0" err="1"/>
              <a:t>weights</a:t>
            </a:r>
            <a:r>
              <a:rPr lang="sv-SE" sz="1800" dirty="0"/>
              <a:t> </a:t>
            </a:r>
            <a:r>
              <a:rPr lang="sv-SE" sz="1800" dirty="0" err="1"/>
              <a:t>should</a:t>
            </a:r>
            <a:r>
              <a:rPr lang="sv-SE" sz="1800" dirty="0"/>
              <a:t> </a:t>
            </a:r>
            <a:r>
              <a:rPr lang="sv-SE" sz="1800" dirty="0" err="1"/>
              <a:t>weights</a:t>
            </a:r>
            <a:r>
              <a:rPr lang="sv-SE" sz="1800" dirty="0"/>
              <a:t> be </a:t>
            </a:r>
            <a:r>
              <a:rPr lang="sv-SE" sz="1800" dirty="0" err="1"/>
              <a:t>used</a:t>
            </a:r>
            <a:r>
              <a:rPr lang="sv-SE" sz="1800" dirty="0"/>
              <a:t>?</a:t>
            </a:r>
            <a:endParaRPr lang="sv-SE" sz="1800" b="1" dirty="0"/>
          </a:p>
          <a:p>
            <a:pPr marL="457200" lvl="1" indent="0">
              <a:buNone/>
            </a:pPr>
            <a:endParaRPr lang="sv-SE" sz="1800" b="1" dirty="0"/>
          </a:p>
          <a:p>
            <a:pPr marL="57150" indent="0">
              <a:buNone/>
            </a:pPr>
            <a:r>
              <a:rPr lang="sv-SE" sz="2000" b="1" dirty="0"/>
              <a:t>fit </a:t>
            </a:r>
            <a:r>
              <a:rPr lang="sv-SE" sz="2000" dirty="0"/>
              <a:t>is </a:t>
            </a:r>
            <a:r>
              <a:rPr lang="sv-SE" sz="2000" dirty="0" err="1"/>
              <a:t>object</a:t>
            </a:r>
            <a:r>
              <a:rPr lang="sv-SE" sz="2000" dirty="0"/>
              <a:t> </a:t>
            </a:r>
            <a:r>
              <a:rPr lang="sv-SE" sz="2000" dirty="0" err="1"/>
              <a:t>of</a:t>
            </a:r>
            <a:r>
              <a:rPr lang="sv-SE" sz="2000" dirty="0"/>
              <a:t> </a:t>
            </a:r>
            <a:r>
              <a:rPr lang="sv-SE" sz="2000" dirty="0" err="1"/>
              <a:t>class</a:t>
            </a:r>
            <a:r>
              <a:rPr lang="sv-SE" sz="2000" dirty="0"/>
              <a:t> </a:t>
            </a:r>
            <a:r>
              <a:rPr lang="sv-SE" sz="2000" b="1" dirty="0"/>
              <a:t>lm </a:t>
            </a:r>
            <a:r>
              <a:rPr lang="sv-SE" sz="2000" dirty="0" err="1"/>
              <a:t>containing</a:t>
            </a:r>
            <a:r>
              <a:rPr lang="sv-SE" sz="2000" dirty="0"/>
              <a:t> </a:t>
            </a:r>
            <a:r>
              <a:rPr lang="sv-SE" sz="2000" dirty="0" err="1"/>
              <a:t>various</a:t>
            </a:r>
            <a:r>
              <a:rPr lang="sv-SE" sz="2000" dirty="0"/>
              <a:t> regression </a:t>
            </a:r>
            <a:r>
              <a:rPr lang="sv-SE" sz="2000" dirty="0" err="1"/>
              <a:t>results</a:t>
            </a:r>
            <a:r>
              <a:rPr lang="sv-SE" sz="2000" dirty="0"/>
              <a:t>. </a:t>
            </a:r>
          </a:p>
          <a:p>
            <a:pPr marL="400050"/>
            <a:r>
              <a:rPr lang="sv-SE" sz="2000" dirty="0" err="1"/>
              <a:t>Useful</a:t>
            </a:r>
            <a:r>
              <a:rPr lang="sv-SE" sz="2000" dirty="0"/>
              <a:t> </a:t>
            </a:r>
            <a:r>
              <a:rPr lang="sv-SE" sz="2000" dirty="0" err="1"/>
              <a:t>functions</a:t>
            </a:r>
            <a:r>
              <a:rPr lang="sv-SE" sz="2000" dirty="0"/>
              <a:t> (</a:t>
            </a:r>
            <a:r>
              <a:rPr lang="sv-SE" sz="2000" dirty="0" err="1"/>
              <a:t>many</a:t>
            </a:r>
            <a:r>
              <a:rPr lang="sv-SE" sz="2000" dirty="0"/>
              <a:t> </a:t>
            </a:r>
            <a:r>
              <a:rPr lang="sv-SE" sz="2000" dirty="0" err="1"/>
              <a:t>are</a:t>
            </a:r>
            <a:r>
              <a:rPr lang="sv-SE" sz="2000" dirty="0"/>
              <a:t> </a:t>
            </a:r>
            <a:r>
              <a:rPr lang="sv-SE" sz="2000" dirty="0" err="1"/>
              <a:t>generic</a:t>
            </a:r>
            <a:r>
              <a:rPr lang="sv-SE" sz="2000" dirty="0"/>
              <a:t>, </a:t>
            </a:r>
            <a:r>
              <a:rPr lang="sv-SE" sz="2000" dirty="0" err="1"/>
              <a:t>used</a:t>
            </a:r>
            <a:r>
              <a:rPr lang="sv-SE" sz="2000" dirty="0"/>
              <a:t> in </a:t>
            </a:r>
            <a:r>
              <a:rPr lang="sv-SE" sz="2000" dirty="0" err="1"/>
              <a:t>many</a:t>
            </a:r>
            <a:r>
              <a:rPr lang="sv-SE" sz="2000" dirty="0"/>
              <a:t> </a:t>
            </a:r>
            <a:r>
              <a:rPr lang="sv-SE" sz="2000" dirty="0" err="1"/>
              <a:t>other</a:t>
            </a:r>
            <a:r>
              <a:rPr lang="sv-SE" sz="2000" dirty="0"/>
              <a:t> </a:t>
            </a:r>
            <a:r>
              <a:rPr lang="sv-SE" sz="2000" dirty="0" err="1"/>
              <a:t>models</a:t>
            </a:r>
            <a:r>
              <a:rPr lang="sv-SE" sz="2000" dirty="0"/>
              <a:t>)</a:t>
            </a:r>
          </a:p>
          <a:p>
            <a:pPr marL="800100" lvl="1"/>
            <a:r>
              <a:rPr lang="sv-SE" sz="1600" dirty="0"/>
              <a:t>Get </a:t>
            </a:r>
            <a:r>
              <a:rPr lang="sv-SE" sz="1600" dirty="0" err="1"/>
              <a:t>details</a:t>
            </a:r>
            <a:r>
              <a:rPr lang="sv-SE" sz="1600" dirty="0"/>
              <a:t> </a:t>
            </a:r>
            <a:r>
              <a:rPr lang="sv-SE" sz="1600" dirty="0" err="1"/>
              <a:t>about</a:t>
            </a:r>
            <a:r>
              <a:rPr lang="sv-SE" sz="1600" dirty="0"/>
              <a:t> the </a:t>
            </a:r>
            <a:r>
              <a:rPr lang="sv-SE" sz="1600" dirty="0" err="1"/>
              <a:t>particular</a:t>
            </a:r>
            <a:r>
              <a:rPr lang="sv-SE" sz="1600" dirty="0"/>
              <a:t> </a:t>
            </a:r>
            <a:r>
              <a:rPr lang="sv-SE" sz="1600" dirty="0" err="1"/>
              <a:t>function</a:t>
            </a:r>
            <a:r>
              <a:rPr lang="sv-SE" sz="1600" dirty="0"/>
              <a:t> by ”.”,  for ex. </a:t>
            </a:r>
            <a:r>
              <a:rPr lang="sv-SE" sz="1600" dirty="0" err="1"/>
              <a:t>predict.lm</a:t>
            </a:r>
            <a:endParaRPr lang="sv-SE" sz="1600" dirty="0"/>
          </a:p>
          <a:p>
            <a:pPr marL="57150" indent="0">
              <a:buNone/>
            </a:pPr>
            <a:br>
              <a:rPr lang="sv-SE" sz="1400" dirty="0"/>
            </a:br>
            <a:r>
              <a:rPr lang="sv-SE" sz="1400" dirty="0" err="1"/>
              <a:t>summary</a:t>
            </a:r>
            <a:r>
              <a:rPr lang="sv-SE" sz="1400" dirty="0"/>
              <a:t>(fit)</a:t>
            </a:r>
          </a:p>
          <a:p>
            <a:pPr marL="57150" indent="0">
              <a:buNone/>
            </a:pPr>
            <a:r>
              <a:rPr lang="sv-SE" sz="1400" dirty="0" err="1"/>
              <a:t>predict</a:t>
            </a:r>
            <a:r>
              <a:rPr lang="sv-SE" sz="1400" dirty="0"/>
              <a:t>(fit, </a:t>
            </a:r>
            <a:r>
              <a:rPr lang="sv-SE" sz="1400" dirty="0" err="1"/>
              <a:t>newdata</a:t>
            </a:r>
            <a:r>
              <a:rPr lang="sv-SE" sz="1400" dirty="0"/>
              <a:t>, </a:t>
            </a:r>
            <a:r>
              <a:rPr lang="sv-SE" sz="1400" dirty="0" err="1"/>
              <a:t>se.fit</a:t>
            </a:r>
            <a:r>
              <a:rPr lang="sv-SE" sz="1400" dirty="0"/>
              <a:t>, interval)</a:t>
            </a:r>
          </a:p>
          <a:p>
            <a:pPr marL="57150" indent="0">
              <a:buNone/>
            </a:pPr>
            <a:r>
              <a:rPr lang="sv-SE" sz="1400" dirty="0" err="1"/>
              <a:t>coefficients</a:t>
            </a:r>
            <a:r>
              <a:rPr lang="sv-SE" sz="1400" dirty="0"/>
              <a:t>(fit) # </a:t>
            </a:r>
            <a:r>
              <a:rPr lang="sv-SE" sz="1400" dirty="0" err="1"/>
              <a:t>model</a:t>
            </a:r>
            <a:r>
              <a:rPr lang="sv-SE" sz="1400" dirty="0"/>
              <a:t> </a:t>
            </a:r>
            <a:r>
              <a:rPr lang="sv-SE" sz="1400" dirty="0" err="1"/>
              <a:t>coefficients</a:t>
            </a:r>
            <a:br>
              <a:rPr lang="sv-SE" sz="1400" dirty="0"/>
            </a:br>
            <a:r>
              <a:rPr lang="sv-SE" sz="1400" dirty="0" err="1"/>
              <a:t>confint</a:t>
            </a:r>
            <a:r>
              <a:rPr lang="sv-SE" sz="1400" dirty="0"/>
              <a:t>(fit, </a:t>
            </a:r>
            <a:r>
              <a:rPr lang="sv-SE" sz="1400" dirty="0" err="1"/>
              <a:t>level</a:t>
            </a:r>
            <a:r>
              <a:rPr lang="sv-SE" sz="1400" dirty="0"/>
              <a:t>=0.95) # </a:t>
            </a:r>
            <a:r>
              <a:rPr lang="sv-SE" sz="1400" dirty="0" err="1"/>
              <a:t>CIs</a:t>
            </a:r>
            <a:r>
              <a:rPr lang="sv-SE" sz="1400" dirty="0"/>
              <a:t> for </a:t>
            </a:r>
            <a:r>
              <a:rPr lang="sv-SE" sz="1400" dirty="0" err="1"/>
              <a:t>model</a:t>
            </a:r>
            <a:r>
              <a:rPr lang="sv-SE" sz="1400" dirty="0"/>
              <a:t> parameters </a:t>
            </a:r>
            <a:br>
              <a:rPr lang="sv-SE" sz="1400" dirty="0"/>
            </a:br>
            <a:r>
              <a:rPr lang="sv-SE" sz="1400" dirty="0" err="1"/>
              <a:t>fitted</a:t>
            </a:r>
            <a:r>
              <a:rPr lang="sv-SE" sz="1400" dirty="0"/>
              <a:t>(fit) # </a:t>
            </a:r>
            <a:r>
              <a:rPr lang="sv-SE" sz="1400" dirty="0" err="1"/>
              <a:t>predicted</a:t>
            </a:r>
            <a:r>
              <a:rPr lang="sv-SE" sz="1400" dirty="0"/>
              <a:t> </a:t>
            </a:r>
            <a:r>
              <a:rPr lang="sv-SE" sz="1400" dirty="0" err="1"/>
              <a:t>values</a:t>
            </a:r>
            <a:br>
              <a:rPr lang="sv-SE" sz="1400" dirty="0"/>
            </a:br>
            <a:r>
              <a:rPr lang="sv-SE" sz="1400" dirty="0" err="1"/>
              <a:t>residuals</a:t>
            </a:r>
            <a:r>
              <a:rPr lang="sv-SE" sz="1400" dirty="0"/>
              <a:t>(fit) # </a:t>
            </a:r>
            <a:r>
              <a:rPr lang="sv-SE" sz="1400" dirty="0" err="1"/>
              <a:t>residuals</a:t>
            </a:r>
            <a:br>
              <a:rPr lang="sv-SE" sz="1400" dirty="0"/>
            </a:br>
            <a:endParaRPr lang="sv-SE" sz="14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732A99/TDDE01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7B2DAB0-3E44-4037-BFD8-EC40824E78A2}" type="slidenum">
              <a:rPr lang="sv-SE" smtClean="0"/>
              <a:pPr>
                <a:defRPr/>
              </a:pPr>
              <a:t>11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1760034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An example of ordinary least squares regression</a:t>
            </a:r>
            <a:endParaRPr lang="sv-SE" sz="32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732A99/TDDE01</a:t>
            </a:r>
          </a:p>
        </p:txBody>
      </p:sp>
      <p:sp>
        <p:nvSpPr>
          <p:cNvPr id="5" name="Rectangle 4"/>
          <p:cNvSpPr/>
          <p:nvPr/>
        </p:nvSpPr>
        <p:spPr>
          <a:xfrm>
            <a:off x="683567" y="1700808"/>
            <a:ext cx="5426199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sv-SE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mydata</a:t>
            </a:r>
            <a:r>
              <a:rPr lang="sv-SE" sz="1400" dirty="0">
                <a:latin typeface="Consolas" panose="020B0609020204030204" pitchFamily="49" charset="0"/>
                <a:cs typeface="Consolas" panose="020B0609020204030204" pitchFamily="49" charset="0"/>
              </a:rPr>
              <a:t>=read.csv2("Bilexempel.csv")</a:t>
            </a:r>
          </a:p>
          <a:p>
            <a:r>
              <a:rPr lang="sv-SE" sz="1400" dirty="0">
                <a:latin typeface="Consolas" panose="020B0609020204030204" pitchFamily="49" charset="0"/>
                <a:cs typeface="Consolas" panose="020B0609020204030204" pitchFamily="49" charset="0"/>
              </a:rPr>
              <a:t>fit1=lm(</a:t>
            </a:r>
            <a:r>
              <a:rPr lang="sv-SE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Price~Year</a:t>
            </a:r>
            <a:r>
              <a:rPr lang="sv-SE" sz="1400" dirty="0">
                <a:latin typeface="Consolas" panose="020B0609020204030204" pitchFamily="49" charset="0"/>
                <a:cs typeface="Consolas" panose="020B0609020204030204" pitchFamily="49" charset="0"/>
              </a:rPr>
              <a:t>, data=</a:t>
            </a:r>
            <a:r>
              <a:rPr lang="sv-SE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mydata</a:t>
            </a:r>
            <a:r>
              <a:rPr lang="sv-SE" sz="1400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r>
              <a:rPr lang="sv-SE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summary</a:t>
            </a:r>
            <a:r>
              <a:rPr lang="sv-SE" sz="1400" dirty="0">
                <a:latin typeface="Consolas" panose="020B0609020204030204" pitchFamily="49" charset="0"/>
                <a:cs typeface="Consolas" panose="020B0609020204030204" pitchFamily="49" charset="0"/>
              </a:rPr>
              <a:t>(fit1)</a:t>
            </a:r>
          </a:p>
          <a:p>
            <a:r>
              <a:rPr lang="sv-SE" sz="1400" dirty="0">
                <a:latin typeface="Consolas" panose="020B0609020204030204" pitchFamily="49" charset="0"/>
                <a:cs typeface="Consolas" panose="020B0609020204030204" pitchFamily="49" charset="0"/>
              </a:rPr>
              <a:t>fit2=lm(</a:t>
            </a:r>
            <a:r>
              <a:rPr lang="sv-SE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Price~Year+Mileage+Equipment</a:t>
            </a:r>
            <a:r>
              <a:rPr lang="sv-SE" sz="1400" dirty="0">
                <a:latin typeface="Consolas" panose="020B0609020204030204" pitchFamily="49" charset="0"/>
                <a:cs typeface="Consolas" panose="020B0609020204030204" pitchFamily="49" charset="0"/>
              </a:rPr>
              <a:t>, data=</a:t>
            </a:r>
            <a:r>
              <a:rPr lang="sv-SE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mydata</a:t>
            </a:r>
            <a:r>
              <a:rPr lang="sv-SE" sz="1400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r>
              <a:rPr lang="sv-SE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summary</a:t>
            </a:r>
            <a:r>
              <a:rPr lang="sv-SE" sz="1400" dirty="0">
                <a:latin typeface="Consolas" panose="020B0609020204030204" pitchFamily="49" charset="0"/>
                <a:cs typeface="Consolas" panose="020B0609020204030204" pitchFamily="49" charset="0"/>
              </a:rPr>
              <a:t>(fit2)</a:t>
            </a: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3572473"/>
            <a:ext cx="5210175" cy="281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7B2DAB0-3E44-4037-BFD8-EC40824E78A2}" type="slidenum">
              <a:rPr lang="sv-SE" smtClean="0"/>
              <a:pPr>
                <a:defRPr/>
              </a:pPr>
              <a:t>12</a:t>
            </a:fld>
            <a:endParaRPr lang="sv-SE"/>
          </a:p>
        </p:txBody>
      </p:sp>
      <p:sp>
        <p:nvSpPr>
          <p:cNvPr id="7" name="Rectangle 6"/>
          <p:cNvSpPr/>
          <p:nvPr/>
        </p:nvSpPr>
        <p:spPr>
          <a:xfrm>
            <a:off x="5580112" y="2276872"/>
            <a:ext cx="3131840" cy="24006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altLang="sv-SE" sz="1600" dirty="0">
              <a:latin typeface="Arial" pitchFamily="34" charset="0"/>
            </a:endParaRPr>
          </a:p>
          <a:p>
            <a:r>
              <a:rPr lang="en-US" altLang="sv-SE" sz="1600" b="1" dirty="0">
                <a:latin typeface="Arial" pitchFamily="34" charset="0"/>
              </a:rPr>
              <a:t>	Response variable: </a:t>
            </a:r>
          </a:p>
          <a:p>
            <a:r>
              <a:rPr lang="en-US" altLang="sv-SE" sz="1400" dirty="0">
                <a:latin typeface="Arial" pitchFamily="34" charset="0"/>
              </a:rPr>
              <a:t>Requested price of used Porsche cars (1000 SEK)</a:t>
            </a:r>
          </a:p>
          <a:p>
            <a:endParaRPr lang="en-US" altLang="sv-SE" sz="1600" dirty="0">
              <a:latin typeface="Arial" pitchFamily="34" charset="0"/>
            </a:endParaRPr>
          </a:p>
          <a:p>
            <a:endParaRPr lang="en-US" altLang="sv-SE" sz="1600" dirty="0">
              <a:latin typeface="Arial" pitchFamily="34" charset="0"/>
            </a:endParaRPr>
          </a:p>
          <a:p>
            <a:r>
              <a:rPr lang="en-US" altLang="sv-SE" sz="1600" b="1" dirty="0">
                <a:latin typeface="Arial" pitchFamily="34" charset="0"/>
              </a:rPr>
              <a:t>	Inputs:</a:t>
            </a:r>
          </a:p>
          <a:p>
            <a:r>
              <a:rPr lang="en-US" altLang="sv-SE" sz="1400" dirty="0">
                <a:latin typeface="Arial" pitchFamily="34" charset="0"/>
              </a:rPr>
              <a:t>	</a:t>
            </a:r>
            <a:r>
              <a:rPr lang="en-US" altLang="sv-SE" sz="1400" i="1" dirty="0"/>
              <a:t>X</a:t>
            </a:r>
            <a:r>
              <a:rPr lang="en-US" altLang="sv-SE" sz="1400" baseline="-25000" dirty="0"/>
              <a:t>1</a:t>
            </a:r>
            <a:r>
              <a:rPr lang="en-US" altLang="sv-SE" sz="1400" dirty="0">
                <a:latin typeface="Arial" pitchFamily="34" charset="0"/>
              </a:rPr>
              <a:t> = Manufacturing year</a:t>
            </a:r>
          </a:p>
          <a:p>
            <a:r>
              <a:rPr lang="en-US" altLang="sv-SE" sz="1400" dirty="0">
                <a:latin typeface="Arial" pitchFamily="34" charset="0"/>
              </a:rPr>
              <a:t>	</a:t>
            </a:r>
            <a:r>
              <a:rPr lang="en-US" altLang="sv-SE" sz="1400" i="1" dirty="0"/>
              <a:t>X</a:t>
            </a:r>
            <a:r>
              <a:rPr lang="en-US" altLang="sv-SE" sz="1400" baseline="-25000" dirty="0"/>
              <a:t>2</a:t>
            </a:r>
            <a:r>
              <a:rPr lang="en-US" altLang="sv-SE" sz="1400" dirty="0">
                <a:latin typeface="Arial" pitchFamily="34" charset="0"/>
              </a:rPr>
              <a:t> = </a:t>
            </a:r>
            <a:r>
              <a:rPr lang="en-US" altLang="sv-SE" sz="1400" dirty="0" err="1">
                <a:latin typeface="Arial" pitchFamily="34" charset="0"/>
              </a:rPr>
              <a:t>Milage</a:t>
            </a:r>
            <a:r>
              <a:rPr lang="en-US" altLang="sv-SE" sz="1400" dirty="0">
                <a:latin typeface="Arial" pitchFamily="34" charset="0"/>
              </a:rPr>
              <a:t> (km)</a:t>
            </a:r>
          </a:p>
          <a:p>
            <a:r>
              <a:rPr lang="en-US" altLang="sv-SE" sz="1400" dirty="0">
                <a:latin typeface="Arial" pitchFamily="34" charset="0"/>
              </a:rPr>
              <a:t>	</a:t>
            </a:r>
            <a:r>
              <a:rPr lang="en-US" altLang="sv-SE" sz="1400" i="1" dirty="0"/>
              <a:t>X</a:t>
            </a:r>
            <a:r>
              <a:rPr lang="en-US" altLang="sv-SE" sz="1400" baseline="-25000" dirty="0"/>
              <a:t>4</a:t>
            </a:r>
            <a:r>
              <a:rPr lang="en-US" altLang="sv-SE" sz="1400" dirty="0">
                <a:latin typeface="Arial" pitchFamily="34" charset="0"/>
              </a:rPr>
              <a:t> = Equipment (0 or 1)</a:t>
            </a:r>
          </a:p>
        </p:txBody>
      </p:sp>
    </p:spTree>
    <p:extLst>
      <p:ext uri="{BB962C8B-B14F-4D97-AF65-F5344CB8AC3E}">
        <p14:creationId xmlns:p14="http://schemas.microsoft.com/office/powerpoint/2010/main" val="20318198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An example of ordinary least squares regression</a:t>
            </a:r>
            <a:endParaRPr lang="sv-SE" sz="32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732A99/TDDE01</a:t>
            </a:r>
          </a:p>
        </p:txBody>
      </p:sp>
      <p:pic>
        <p:nvPicPr>
          <p:cNvPr id="819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1988840"/>
            <a:ext cx="5400675" cy="300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7B2DAB0-3E44-4037-BFD8-EC40824E78A2}" type="slidenum">
              <a:rPr lang="sv-SE" smtClean="0"/>
              <a:pPr>
                <a:defRPr/>
              </a:pPr>
              <a:t>13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5899189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An example of ordinary least squares regression</a:t>
            </a:r>
            <a:endParaRPr lang="sv-SE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v-SE" dirty="0" err="1"/>
              <a:t>Prediction</a:t>
            </a:r>
            <a:endParaRPr lang="sv-SE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732A99/TDDE01</a:t>
            </a:r>
          </a:p>
        </p:txBody>
      </p:sp>
      <p:sp>
        <p:nvSpPr>
          <p:cNvPr id="5" name="Rectangle 4"/>
          <p:cNvSpPr/>
          <p:nvPr/>
        </p:nvSpPr>
        <p:spPr>
          <a:xfrm>
            <a:off x="395536" y="2492896"/>
            <a:ext cx="4572000" cy="310854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fitted &lt;- predict(fit1, interval = "confidence")</a:t>
            </a:r>
          </a:p>
          <a:p>
            <a:endParaRPr lang="en-US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# plot the data and the fitted line</a:t>
            </a:r>
          </a:p>
          <a:p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attach(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mydata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plot(Year, Price)</a:t>
            </a:r>
          </a:p>
          <a:p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lines(Year, fitted[, "fit"])</a:t>
            </a:r>
          </a:p>
          <a:p>
            <a:endParaRPr lang="en-US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# plot the confidence bands</a:t>
            </a:r>
          </a:p>
          <a:p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lines(Year, fitted[, "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lwr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"],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lty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= "dotted", col="blue")</a:t>
            </a:r>
          </a:p>
          <a:p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lines(Year, fitted[, "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upr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"],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lty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= "dotted", col="blue")</a:t>
            </a:r>
          </a:p>
          <a:p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detach(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mydata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endParaRPr lang="sv-SE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96001" y="1844824"/>
            <a:ext cx="4025890" cy="36078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7B2DAB0-3E44-4037-BFD8-EC40824E78A2}" type="slidenum">
              <a:rPr lang="sv-SE" smtClean="0"/>
              <a:pPr>
                <a:defRPr/>
              </a:pPr>
              <a:t>14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262157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3311BEF6-E7DF-4031-F748-0F21BA8FED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Data </a:t>
            </a:r>
            <a:r>
              <a:rPr lang="sv-SE" dirty="0" err="1"/>
              <a:t>scaling</a:t>
            </a:r>
            <a:endParaRPr lang="sv-SE" dirty="0"/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DC6D0A1B-6A96-4A77-2B93-8BF4A8CDA2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v-SE" sz="2400" dirty="0"/>
              <a:t>In </a:t>
            </a:r>
            <a:r>
              <a:rPr lang="sv-SE" sz="2400" dirty="0" err="1"/>
              <a:t>linear</a:t>
            </a:r>
            <a:r>
              <a:rPr lang="sv-SE" sz="2400" dirty="0"/>
              <a:t> regression not </a:t>
            </a:r>
            <a:r>
              <a:rPr lang="sv-SE" sz="2400" dirty="0" err="1"/>
              <a:t>necessary</a:t>
            </a:r>
            <a:r>
              <a:rPr lang="sv-SE" sz="2400" dirty="0"/>
              <a:t> </a:t>
            </a:r>
            <a:r>
              <a:rPr lang="sv-SE" sz="2400" dirty="0" err="1"/>
              <a:t>but</a:t>
            </a:r>
            <a:r>
              <a:rPr lang="sv-SE" sz="2400" dirty="0"/>
              <a:t> </a:t>
            </a:r>
            <a:r>
              <a:rPr lang="sv-SE" sz="2400" dirty="0" err="1"/>
              <a:t>can</a:t>
            </a:r>
            <a:r>
              <a:rPr lang="sv-SE" sz="2400" dirty="0"/>
              <a:t> </a:t>
            </a:r>
            <a:r>
              <a:rPr lang="sv-SE" sz="2400" dirty="0" err="1"/>
              <a:t>improve</a:t>
            </a:r>
            <a:r>
              <a:rPr lang="sv-SE" sz="2400" dirty="0"/>
              <a:t> interpretation </a:t>
            </a:r>
            <a:r>
              <a:rPr lang="sv-SE" sz="2400" dirty="0" err="1"/>
              <a:t>when</a:t>
            </a:r>
            <a:r>
              <a:rPr lang="sv-SE" sz="2400" dirty="0"/>
              <a:t> </a:t>
            </a:r>
            <a:r>
              <a:rPr lang="sv-SE" sz="2400" dirty="0" err="1"/>
              <a:t>comparing</a:t>
            </a:r>
            <a:r>
              <a:rPr lang="sv-SE" sz="2400" dirty="0"/>
              <a:t> </a:t>
            </a:r>
            <a:r>
              <a:rPr lang="sv-SE" sz="2400" dirty="0" err="1"/>
              <a:t>coefficient</a:t>
            </a:r>
            <a:r>
              <a:rPr lang="sv-SE" sz="2400" dirty="0"/>
              <a:t> </a:t>
            </a:r>
            <a:r>
              <a:rPr lang="sv-SE" sz="2400" dirty="0" err="1"/>
              <a:t>values</a:t>
            </a:r>
            <a:endParaRPr lang="sv-SE" sz="2400" dirty="0"/>
          </a:p>
          <a:p>
            <a:endParaRPr lang="sv-SE" sz="2400" dirty="0"/>
          </a:p>
          <a:p>
            <a:r>
              <a:rPr lang="sv-SE" sz="2400" b="1" dirty="0"/>
              <a:t>Same transformation </a:t>
            </a:r>
            <a:r>
              <a:rPr lang="sv-SE" sz="2400" dirty="0"/>
              <a:t>on </a:t>
            </a:r>
            <a:r>
              <a:rPr lang="sv-SE" sz="2400" dirty="0" err="1"/>
              <a:t>train</a:t>
            </a:r>
            <a:r>
              <a:rPr lang="sv-SE" sz="2400" dirty="0"/>
              <a:t>, valid and test data</a:t>
            </a:r>
          </a:p>
          <a:p>
            <a:pPr lvl="1"/>
            <a:r>
              <a:rPr lang="sv-SE" sz="2000" dirty="0"/>
              <a:t>Never </a:t>
            </a:r>
            <a:r>
              <a:rPr lang="sv-SE" sz="2000" dirty="0" err="1"/>
              <a:t>scale</a:t>
            </a:r>
            <a:r>
              <a:rPr lang="sv-SE" sz="2000" dirty="0"/>
              <a:t> </a:t>
            </a:r>
            <a:r>
              <a:rPr lang="sv-SE" sz="2000" dirty="0" err="1"/>
              <a:t>these</a:t>
            </a:r>
            <a:r>
              <a:rPr lang="sv-SE" sz="2000" dirty="0"/>
              <a:t> </a:t>
            </a:r>
            <a:r>
              <a:rPr lang="sv-SE" sz="2000" dirty="0" err="1"/>
              <a:t>separately</a:t>
            </a:r>
            <a:endParaRPr lang="sv-SE" sz="2000" dirty="0"/>
          </a:p>
          <a:p>
            <a:pPr lvl="1"/>
            <a:r>
              <a:rPr lang="sv-SE" sz="2000" dirty="0" err="1"/>
              <a:t>Normally</a:t>
            </a:r>
            <a:r>
              <a:rPr lang="sv-SE" sz="2000" dirty="0"/>
              <a:t> </a:t>
            </a:r>
            <a:r>
              <a:rPr lang="sv-SE" sz="2000" dirty="0" err="1"/>
              <a:t>done</a:t>
            </a:r>
            <a:r>
              <a:rPr lang="sv-SE" sz="2000" dirty="0"/>
              <a:t> on </a:t>
            </a:r>
            <a:r>
              <a:rPr lang="sv-SE" sz="2000" dirty="0" err="1"/>
              <a:t>training</a:t>
            </a:r>
            <a:r>
              <a:rPr lang="sv-SE" sz="2000" dirty="0"/>
              <a:t> data as </a:t>
            </a:r>
            <a:r>
              <a:rPr lang="sv-SE" sz="2000" dirty="0" err="1"/>
              <a:t>required</a:t>
            </a:r>
            <a:r>
              <a:rPr lang="sv-SE" sz="2000" dirty="0"/>
              <a:t> by </a:t>
            </a:r>
            <a:r>
              <a:rPr lang="sv-SE" sz="2000" dirty="0" err="1"/>
              <a:t>many</a:t>
            </a:r>
            <a:r>
              <a:rPr lang="sv-SE" sz="2000" dirty="0"/>
              <a:t> ML </a:t>
            </a:r>
            <a:r>
              <a:rPr lang="sv-SE" sz="2000" dirty="0" err="1"/>
              <a:t>methods</a:t>
            </a:r>
            <a:endParaRPr lang="sv-SE" sz="2000" dirty="0"/>
          </a:p>
          <a:p>
            <a:pPr lvl="1"/>
            <a:endParaRPr lang="sv-SE" dirty="0"/>
          </a:p>
          <a:p>
            <a:r>
              <a:rPr lang="sv-SE" sz="2400" dirty="0"/>
              <a:t>In R: </a:t>
            </a:r>
            <a:r>
              <a:rPr lang="sv-SE" sz="2400" dirty="0" err="1"/>
              <a:t>library</a:t>
            </a:r>
            <a:r>
              <a:rPr lang="sv-SE" sz="2400" dirty="0"/>
              <a:t> </a:t>
            </a:r>
            <a:r>
              <a:rPr lang="sv-SE" sz="2400" b="1" dirty="0" err="1"/>
              <a:t>caret</a:t>
            </a:r>
            <a:endParaRPr lang="sv-SE" sz="2400" b="1" dirty="0"/>
          </a:p>
          <a:p>
            <a:pPr lvl="1"/>
            <a:r>
              <a:rPr lang="sv-SE" sz="2000" i="1" dirty="0" err="1"/>
              <a:t>preProcess</a:t>
            </a:r>
            <a:r>
              <a:rPr lang="sv-SE" sz="2000" i="1" dirty="0"/>
              <a:t>() </a:t>
            </a:r>
            <a:r>
              <a:rPr lang="sv-SE" sz="2000" dirty="0"/>
              <a:t>to </a:t>
            </a:r>
            <a:r>
              <a:rPr lang="sv-SE" sz="2000" dirty="0" err="1"/>
              <a:t>learn</a:t>
            </a:r>
            <a:r>
              <a:rPr lang="sv-SE" sz="2000" dirty="0"/>
              <a:t> transformation</a:t>
            </a:r>
          </a:p>
          <a:p>
            <a:pPr lvl="1"/>
            <a:r>
              <a:rPr lang="sv-SE" sz="2000" i="1" dirty="0" err="1"/>
              <a:t>predict</a:t>
            </a:r>
            <a:r>
              <a:rPr lang="sv-SE" sz="2000" i="1" dirty="0"/>
              <a:t>() to </a:t>
            </a:r>
            <a:r>
              <a:rPr lang="sv-SE" sz="2000" i="1" dirty="0" err="1"/>
              <a:t>apply</a:t>
            </a:r>
            <a:r>
              <a:rPr lang="sv-SE" sz="2000" i="1" dirty="0"/>
              <a:t> transformation</a:t>
            </a:r>
          </a:p>
        </p:txBody>
      </p:sp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EF85432C-EF9E-CC7A-CE55-68F7C92391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732A99/TDDE01</a:t>
            </a:r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1B449768-C539-CE8E-F54E-5BE46663AC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7B2DAB0-3E44-4037-BFD8-EC40824E78A2}" type="slidenum">
              <a:rPr lang="sv-SE" smtClean="0"/>
              <a:pPr>
                <a:defRPr/>
              </a:pPr>
              <a:t>15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1603751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5B73397B-B990-6DE7-C829-A9D0FB1B17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Data </a:t>
            </a:r>
            <a:r>
              <a:rPr lang="sv-SE" dirty="0" err="1"/>
              <a:t>scaling</a:t>
            </a:r>
            <a:endParaRPr lang="sv-SE" dirty="0"/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9C012C3A-1B03-C640-8A33-CA25E2096A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3872" y="1895351"/>
            <a:ext cx="3970784" cy="4525963"/>
          </a:xfrm>
        </p:spPr>
        <p:txBody>
          <a:bodyPr/>
          <a:lstStyle/>
          <a:p>
            <a:pPr marL="0" indent="0">
              <a:buNone/>
            </a:pPr>
            <a:r>
              <a:rPr lang="sv-SE" sz="1400" dirty="0" err="1">
                <a:latin typeface="Consolas" panose="020B0609020204030204" pitchFamily="49" charset="0"/>
              </a:rPr>
              <a:t>set.seed</a:t>
            </a:r>
            <a:r>
              <a:rPr lang="sv-SE" sz="1400" dirty="0">
                <a:latin typeface="Consolas" panose="020B0609020204030204" pitchFamily="49" charset="0"/>
              </a:rPr>
              <a:t>(12345)</a:t>
            </a:r>
          </a:p>
          <a:p>
            <a:pPr marL="0" indent="0">
              <a:buNone/>
            </a:pPr>
            <a:r>
              <a:rPr lang="sv-SE" sz="1400" dirty="0">
                <a:latin typeface="Consolas" panose="020B0609020204030204" pitchFamily="49" charset="0"/>
              </a:rPr>
              <a:t>n=</a:t>
            </a:r>
            <a:r>
              <a:rPr lang="sv-SE" sz="1400" dirty="0" err="1">
                <a:latin typeface="Consolas" panose="020B0609020204030204" pitchFamily="49" charset="0"/>
              </a:rPr>
              <a:t>nrow</a:t>
            </a:r>
            <a:r>
              <a:rPr lang="sv-SE" sz="1400" dirty="0">
                <a:latin typeface="Consolas" panose="020B0609020204030204" pitchFamily="49" charset="0"/>
              </a:rPr>
              <a:t>(data)</a:t>
            </a:r>
          </a:p>
          <a:p>
            <a:pPr marL="0" indent="0">
              <a:buNone/>
            </a:pPr>
            <a:r>
              <a:rPr lang="sv-SE" sz="1400" dirty="0">
                <a:latin typeface="Consolas" panose="020B0609020204030204" pitchFamily="49" charset="0"/>
              </a:rPr>
              <a:t>id=</a:t>
            </a:r>
            <a:r>
              <a:rPr lang="sv-SE" sz="1400" dirty="0" err="1">
                <a:latin typeface="Consolas" panose="020B0609020204030204" pitchFamily="49" charset="0"/>
              </a:rPr>
              <a:t>sample</a:t>
            </a:r>
            <a:r>
              <a:rPr lang="sv-SE" sz="1400" dirty="0">
                <a:latin typeface="Consolas" panose="020B0609020204030204" pitchFamily="49" charset="0"/>
              </a:rPr>
              <a:t>(1:n, </a:t>
            </a:r>
            <a:r>
              <a:rPr lang="sv-SE" sz="1400" dirty="0" err="1">
                <a:latin typeface="Consolas" panose="020B0609020204030204" pitchFamily="49" charset="0"/>
              </a:rPr>
              <a:t>floor</a:t>
            </a:r>
            <a:r>
              <a:rPr lang="sv-SE" sz="1400" dirty="0">
                <a:latin typeface="Consolas" panose="020B0609020204030204" pitchFamily="49" charset="0"/>
              </a:rPr>
              <a:t>(n*0.5))</a:t>
            </a:r>
          </a:p>
          <a:p>
            <a:pPr marL="0" indent="0">
              <a:buNone/>
            </a:pPr>
            <a:r>
              <a:rPr lang="sv-SE" sz="1400" dirty="0" err="1">
                <a:latin typeface="Consolas" panose="020B0609020204030204" pitchFamily="49" charset="0"/>
              </a:rPr>
              <a:t>train</a:t>
            </a:r>
            <a:r>
              <a:rPr lang="sv-SE" sz="1400" dirty="0">
                <a:latin typeface="Consolas" panose="020B0609020204030204" pitchFamily="49" charset="0"/>
              </a:rPr>
              <a:t>=data[id,]</a:t>
            </a:r>
          </a:p>
          <a:p>
            <a:pPr marL="0" indent="0">
              <a:buNone/>
            </a:pPr>
            <a:r>
              <a:rPr lang="sv-SE" sz="1400" dirty="0">
                <a:latin typeface="Consolas" panose="020B0609020204030204" pitchFamily="49" charset="0"/>
              </a:rPr>
              <a:t>test=data[-id,]</a:t>
            </a:r>
          </a:p>
          <a:p>
            <a:pPr marL="0" indent="0">
              <a:buNone/>
            </a:pPr>
            <a:endParaRPr lang="sv-SE" sz="14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sv-SE" sz="1400" dirty="0" err="1">
                <a:latin typeface="Consolas" panose="020B0609020204030204" pitchFamily="49" charset="0"/>
              </a:rPr>
              <a:t>library</a:t>
            </a:r>
            <a:r>
              <a:rPr lang="sv-SE" sz="1400" dirty="0">
                <a:latin typeface="Consolas" panose="020B0609020204030204" pitchFamily="49" charset="0"/>
              </a:rPr>
              <a:t>(</a:t>
            </a:r>
            <a:r>
              <a:rPr lang="sv-SE" sz="1400" dirty="0" err="1">
                <a:latin typeface="Consolas" panose="020B0609020204030204" pitchFamily="49" charset="0"/>
              </a:rPr>
              <a:t>caret</a:t>
            </a:r>
            <a:r>
              <a:rPr lang="sv-SE" sz="1400" dirty="0"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sv-SE" sz="1400" dirty="0" err="1">
                <a:latin typeface="Consolas" panose="020B0609020204030204" pitchFamily="49" charset="0"/>
              </a:rPr>
              <a:t>scaler</a:t>
            </a:r>
            <a:r>
              <a:rPr lang="sv-SE" sz="1400" dirty="0">
                <a:latin typeface="Consolas" panose="020B0609020204030204" pitchFamily="49" charset="0"/>
              </a:rPr>
              <a:t>=</a:t>
            </a:r>
            <a:r>
              <a:rPr lang="sv-SE" sz="1400" dirty="0" err="1">
                <a:latin typeface="Consolas" panose="020B0609020204030204" pitchFamily="49" charset="0"/>
              </a:rPr>
              <a:t>preProcess</a:t>
            </a:r>
            <a:r>
              <a:rPr lang="sv-SE" sz="1400" dirty="0">
                <a:latin typeface="Consolas" panose="020B0609020204030204" pitchFamily="49" charset="0"/>
              </a:rPr>
              <a:t>(</a:t>
            </a:r>
            <a:r>
              <a:rPr lang="sv-SE" sz="1400" dirty="0" err="1">
                <a:latin typeface="Consolas" panose="020B0609020204030204" pitchFamily="49" charset="0"/>
              </a:rPr>
              <a:t>train</a:t>
            </a:r>
            <a:r>
              <a:rPr lang="sv-SE" sz="1400" dirty="0"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sv-SE" sz="1400" dirty="0" err="1">
                <a:latin typeface="Consolas" panose="020B0609020204030204" pitchFamily="49" charset="0"/>
              </a:rPr>
              <a:t>trainS</a:t>
            </a:r>
            <a:r>
              <a:rPr lang="sv-SE" sz="1400" dirty="0">
                <a:latin typeface="Consolas" panose="020B0609020204030204" pitchFamily="49" charset="0"/>
              </a:rPr>
              <a:t>=</a:t>
            </a:r>
            <a:r>
              <a:rPr lang="sv-SE" sz="1400" dirty="0" err="1">
                <a:latin typeface="Consolas" panose="020B0609020204030204" pitchFamily="49" charset="0"/>
              </a:rPr>
              <a:t>predict</a:t>
            </a:r>
            <a:r>
              <a:rPr lang="sv-SE" sz="1400" dirty="0">
                <a:latin typeface="Consolas" panose="020B0609020204030204" pitchFamily="49" charset="0"/>
              </a:rPr>
              <a:t>(</a:t>
            </a:r>
            <a:r>
              <a:rPr lang="sv-SE" sz="1400" dirty="0" err="1">
                <a:latin typeface="Consolas" panose="020B0609020204030204" pitchFamily="49" charset="0"/>
              </a:rPr>
              <a:t>scaler,train</a:t>
            </a:r>
            <a:r>
              <a:rPr lang="sv-SE" sz="1400" dirty="0"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sv-SE" sz="1400" dirty="0" err="1">
                <a:latin typeface="Consolas" panose="020B0609020204030204" pitchFamily="49" charset="0"/>
              </a:rPr>
              <a:t>testS</a:t>
            </a:r>
            <a:r>
              <a:rPr lang="sv-SE" sz="1400" dirty="0">
                <a:latin typeface="Consolas" panose="020B0609020204030204" pitchFamily="49" charset="0"/>
              </a:rPr>
              <a:t>=</a:t>
            </a:r>
            <a:r>
              <a:rPr lang="sv-SE" sz="1400" dirty="0" err="1">
                <a:latin typeface="Consolas" panose="020B0609020204030204" pitchFamily="49" charset="0"/>
              </a:rPr>
              <a:t>predict</a:t>
            </a:r>
            <a:r>
              <a:rPr lang="sv-SE" sz="1400" dirty="0">
                <a:latin typeface="Consolas" panose="020B0609020204030204" pitchFamily="49" charset="0"/>
              </a:rPr>
              <a:t>(</a:t>
            </a:r>
            <a:r>
              <a:rPr lang="sv-SE" sz="1400" dirty="0" err="1">
                <a:latin typeface="Consolas" panose="020B0609020204030204" pitchFamily="49" charset="0"/>
              </a:rPr>
              <a:t>scaler,test</a:t>
            </a:r>
            <a:r>
              <a:rPr lang="sv-SE" sz="1400" dirty="0"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endParaRPr lang="sv-SE" sz="14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sv-SE" sz="1400" dirty="0">
                <a:latin typeface="Consolas" panose="020B0609020204030204" pitchFamily="49" charset="0"/>
              </a:rPr>
              <a:t>fit3=lm(</a:t>
            </a:r>
            <a:r>
              <a:rPr lang="sv-SE" sz="1400" dirty="0" err="1">
                <a:latin typeface="Consolas" panose="020B0609020204030204" pitchFamily="49" charset="0"/>
              </a:rPr>
              <a:t>Price~Year+Mileage+Equipment</a:t>
            </a:r>
            <a:r>
              <a:rPr lang="sv-SE" sz="1400" dirty="0">
                <a:latin typeface="Consolas" panose="020B0609020204030204" pitchFamily="49" charset="0"/>
              </a:rPr>
              <a:t>, data=</a:t>
            </a:r>
            <a:r>
              <a:rPr lang="sv-SE" sz="1400" dirty="0" err="1">
                <a:latin typeface="Consolas" panose="020B0609020204030204" pitchFamily="49" charset="0"/>
              </a:rPr>
              <a:t>trainS</a:t>
            </a:r>
            <a:r>
              <a:rPr lang="sv-SE" sz="1400" dirty="0"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sv-SE" sz="1400" dirty="0" err="1">
                <a:latin typeface="Consolas" panose="020B0609020204030204" pitchFamily="49" charset="0"/>
              </a:rPr>
              <a:t>summary</a:t>
            </a:r>
            <a:r>
              <a:rPr lang="sv-SE" sz="1400" dirty="0">
                <a:latin typeface="Consolas" panose="020B0609020204030204" pitchFamily="49" charset="0"/>
              </a:rPr>
              <a:t>(fit3)</a:t>
            </a:r>
          </a:p>
        </p:txBody>
      </p:sp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3E7EE721-88DD-3548-C8D5-5297824AC7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732A99/TDDE01</a:t>
            </a:r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42C6D859-47E5-7CF3-637D-EF1CEE0E7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7B2DAB0-3E44-4037-BFD8-EC40824E78A2}" type="slidenum">
              <a:rPr lang="sv-SE" smtClean="0"/>
              <a:pPr>
                <a:defRPr/>
              </a:pPr>
              <a:t>16</a:t>
            </a:fld>
            <a:endParaRPr lang="sv-SE"/>
          </a:p>
        </p:txBody>
      </p:sp>
      <p:pic>
        <p:nvPicPr>
          <p:cNvPr id="7" name="Bildobjekt 6">
            <a:extLst>
              <a:ext uri="{FF2B5EF4-FFF2-40B4-BE49-F238E27FC236}">
                <a16:creationId xmlns:a16="http://schemas.microsoft.com/office/drawing/2014/main" id="{95CE812C-CB4C-1D93-04A5-297C0B064C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7904" y="1818820"/>
            <a:ext cx="5328592" cy="2282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38190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sv-SE"/>
              <a:t>Degrees of freedom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603" name="Content Placeholder 7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eaLnBrk="1" hangingPunct="1">
                  <a:buFont typeface="Arial" pitchFamily="34" charset="0"/>
                  <a:buNone/>
                </a:pPr>
                <a:r>
                  <a:rPr lang="en-US" altLang="sv-SE" sz="2400" dirty="0"/>
                  <a:t>Definition:</a:t>
                </a:r>
              </a:p>
              <a:p>
                <a:pPr eaLnBrk="1" hangingPunct="1">
                  <a:buFont typeface="Arial" pitchFamily="34" charset="0"/>
                  <a:buNone/>
                </a:pPr>
                <a:endParaRPr lang="en-US" altLang="sv-SE" sz="2400" dirty="0"/>
              </a:p>
              <a:p>
                <a:pPr eaLnBrk="1" hangingPunct="1"/>
                <a:endParaRPr lang="en-US" altLang="sv-SE" sz="2400" dirty="0"/>
              </a:p>
              <a:p>
                <a:pPr eaLnBrk="1" hangingPunct="1"/>
                <a:r>
                  <a:rPr lang="en-US" altLang="sv-SE" sz="2400" dirty="0"/>
                  <a:t>Larger covariance </a:t>
                </a:r>
                <a:r>
                  <a:rPr lang="en-US" altLang="sv-SE" sz="2400" dirty="0">
                    <a:sym typeface="Wingdings" pitchFamily="2" charset="2"/>
                  </a:rPr>
                  <a:t> stronger connection  model can approximate data better model more flexible (complex)</a:t>
                </a:r>
              </a:p>
              <a:p>
                <a:pPr eaLnBrk="1" hangingPunct="1"/>
                <a:r>
                  <a:rPr lang="en-US" altLang="sv-SE" sz="2400" dirty="0">
                    <a:sym typeface="Wingdings" pitchFamily="2" charset="2"/>
                  </a:rPr>
                  <a:t>For linear smoothers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sv-SE" altLang="sv-SE" sz="2400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accPr>
                      <m:e>
                        <m:r>
                          <a:rPr lang="sv-SE" altLang="sv-SE" sz="2400" b="0" i="1" smtClean="0">
                            <a:latin typeface="Cambria Math"/>
                            <a:sym typeface="Wingdings" pitchFamily="2" charset="2"/>
                          </a:rPr>
                          <m:t>𝑌</m:t>
                        </m:r>
                      </m:e>
                    </m:acc>
                    <m:r>
                      <a:rPr lang="sv-SE" altLang="sv-SE" sz="2400" b="0" i="1" dirty="0" smtClean="0">
                        <a:latin typeface="Cambria Math"/>
                      </a:rPr>
                      <m:t>=</m:t>
                    </m:r>
                    <m:r>
                      <a:rPr lang="sv-SE" altLang="sv-SE" sz="2400" b="0" i="1" dirty="0" smtClean="0">
                        <a:latin typeface="Cambria Math"/>
                      </a:rPr>
                      <m:t>𝑆</m:t>
                    </m:r>
                    <m:d>
                      <m:dPr>
                        <m:ctrlPr>
                          <a:rPr lang="sv-SE" altLang="sv-SE" sz="24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sv-SE" altLang="sv-SE" sz="2400" b="0" i="1" dirty="0" smtClean="0">
                            <a:latin typeface="Cambria Math"/>
                          </a:rPr>
                          <m:t>𝑋</m:t>
                        </m:r>
                      </m:e>
                    </m:d>
                    <m:r>
                      <a:rPr lang="sv-SE" altLang="sv-SE" sz="2400" b="0" i="1" dirty="0" smtClean="0">
                        <a:latin typeface="Cambria Math"/>
                      </a:rPr>
                      <m:t>𝑌</m:t>
                    </m:r>
                  </m:oMath>
                </a14:m>
                <a:endParaRPr lang="en-US" altLang="sv-SE" sz="2400" dirty="0">
                  <a:sym typeface="Wingdings" pitchFamily="2" charset="2"/>
                </a:endParaRPr>
              </a:p>
              <a:p>
                <a:pPr marL="457200" lvl="1" indent="0" eaLnBrk="1" hangingPunct="1">
                  <a:buNone/>
                </a:pPr>
                <a:endParaRPr lang="sv-SE" altLang="sv-SE" sz="2000" b="0" i="1" dirty="0">
                  <a:latin typeface="Cambria Math"/>
                  <a:sym typeface="Wingdings" pitchFamily="2" charset="2"/>
                </a:endParaRPr>
              </a:p>
              <a:p>
                <a:pPr marL="457200" lvl="1" indent="0" eaLnBrk="1" hangingPunct="1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sv-SE" altLang="sv-SE" sz="2000" b="0" i="1" smtClean="0">
                          <a:latin typeface="Cambria Math"/>
                          <a:sym typeface="Wingdings" pitchFamily="2" charset="2"/>
                        </a:rPr>
                        <m:t>𝑑𝑓</m:t>
                      </m:r>
                      <m:r>
                        <a:rPr lang="sv-SE" altLang="sv-SE" sz="2000" b="0" i="1" smtClean="0">
                          <a:latin typeface="Cambria Math"/>
                          <a:sym typeface="Wingdings" pitchFamily="2" charset="2"/>
                        </a:rPr>
                        <m:t>=</m:t>
                      </m:r>
                      <m:r>
                        <a:rPr lang="sv-SE" altLang="sv-SE" sz="2000" b="0" i="1" smtClean="0">
                          <a:latin typeface="Cambria Math"/>
                          <a:sym typeface="Wingdings" pitchFamily="2" charset="2"/>
                        </a:rPr>
                        <m:t>𝑡𝑟𝑎𝑐𝑒</m:t>
                      </m:r>
                      <m:d>
                        <m:dPr>
                          <m:ctrlPr>
                            <a:rPr lang="sv-SE" altLang="sv-SE" sz="2000" b="0" i="1" smtClean="0">
                              <a:latin typeface="Cambria Math" panose="02040503050406030204" pitchFamily="18" charset="0"/>
                              <a:sym typeface="Wingdings" pitchFamily="2" charset="2"/>
                            </a:rPr>
                          </m:ctrlPr>
                        </m:dPr>
                        <m:e>
                          <m:r>
                            <a:rPr lang="sv-SE" altLang="sv-SE" sz="2000" b="0" i="1" smtClean="0">
                              <a:latin typeface="Cambria Math"/>
                              <a:sym typeface="Wingdings" pitchFamily="2" charset="2"/>
                            </a:rPr>
                            <m:t>𝑆</m:t>
                          </m:r>
                        </m:e>
                      </m:d>
                    </m:oMath>
                  </m:oMathPara>
                </a14:m>
                <a:endParaRPr lang="sv-SE" altLang="sv-SE" sz="2000" b="0" dirty="0">
                  <a:sym typeface="Wingdings" pitchFamily="2" charset="2"/>
                </a:endParaRPr>
              </a:p>
              <a:p>
                <a:pPr marL="457200" lvl="1" indent="0" eaLnBrk="1" hangingPunct="1">
                  <a:buNone/>
                </a:pPr>
                <a:endParaRPr lang="sv-SE" altLang="sv-SE" sz="2000" b="0" dirty="0">
                  <a:sym typeface="Wingdings" pitchFamily="2" charset="2"/>
                </a:endParaRPr>
              </a:p>
              <a:p>
                <a:pPr eaLnBrk="1" hangingPunct="1"/>
                <a:r>
                  <a:rPr lang="en-US" altLang="sv-SE" sz="2400" dirty="0">
                    <a:sym typeface="Wingdings" pitchFamily="2" charset="2"/>
                  </a:rPr>
                  <a:t>For linear regression, degrees of freedom is </a:t>
                </a:r>
              </a:p>
              <a:p>
                <a:pPr marL="0" indent="0" eaLnBrk="1" hangingPunct="1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sv-SE" altLang="sv-SE" sz="2400" b="0" i="1" smtClean="0">
                          <a:latin typeface="Cambria Math"/>
                          <a:sym typeface="Wingdings" pitchFamily="2" charset="2"/>
                        </a:rPr>
                        <m:t>𝑑𝑓</m:t>
                      </m:r>
                      <m:r>
                        <a:rPr lang="sv-SE" altLang="sv-SE" sz="2400" b="0" i="1" smtClean="0">
                          <a:latin typeface="Cambria Math"/>
                          <a:sym typeface="Wingdings" pitchFamily="2" charset="2"/>
                        </a:rPr>
                        <m:t>=</m:t>
                      </m:r>
                      <m:r>
                        <a:rPr lang="sv-SE" altLang="sv-SE" sz="2400" b="0" i="1" smtClean="0">
                          <a:latin typeface="Cambria Math"/>
                          <a:sym typeface="Wingdings" pitchFamily="2" charset="2"/>
                        </a:rPr>
                        <m:t>𝑡𝑟𝑎𝑐𝑒</m:t>
                      </m:r>
                      <m:d>
                        <m:dPr>
                          <m:ctrlPr>
                            <a:rPr lang="sv-SE" altLang="sv-SE" sz="2400" b="0" i="1" smtClean="0">
                              <a:latin typeface="Cambria Math" panose="02040503050406030204" pitchFamily="18" charset="0"/>
                              <a:sym typeface="Wingdings" pitchFamily="2" charset="2"/>
                            </a:rPr>
                          </m:ctrlPr>
                        </m:dPr>
                        <m:e>
                          <m:r>
                            <a:rPr lang="sv-SE" altLang="sv-SE" sz="2400" b="0" i="1" smtClean="0">
                              <a:latin typeface="Cambria Math"/>
                              <a:sym typeface="Wingdings" pitchFamily="2" charset="2"/>
                            </a:rPr>
                            <m:t>𝑃</m:t>
                          </m:r>
                        </m:e>
                      </m:d>
                      <m:r>
                        <a:rPr lang="sv-SE" altLang="sv-SE" sz="2400" b="0" i="1" smtClean="0">
                          <a:latin typeface="Cambria Math"/>
                          <a:sym typeface="Wingdings" pitchFamily="2" charset="2"/>
                        </a:rPr>
                        <m:t>=</m:t>
                      </m:r>
                      <m:r>
                        <a:rPr lang="sv-SE" altLang="sv-SE" sz="2400" b="0" i="1" smtClean="0">
                          <a:latin typeface="Cambria Math"/>
                          <a:sym typeface="Wingdings" pitchFamily="2" charset="2"/>
                        </a:rPr>
                        <m:t>𝑝</m:t>
                      </m:r>
                    </m:oMath>
                  </m:oMathPara>
                </a14:m>
                <a:endParaRPr lang="en-US" altLang="sv-SE" sz="2400" dirty="0"/>
              </a:p>
            </p:txBody>
          </p:sp>
        </mc:Choice>
        <mc:Fallback xmlns="">
          <p:sp>
            <p:nvSpPr>
              <p:cNvPr id="25603" name="Content Placeholder 7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4"/>
                <a:stretch>
                  <a:fillRect l="-1111" t="-1078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732A99/TDDE01</a:t>
            </a:r>
            <a:endParaRPr lang="en-GB"/>
          </a:p>
        </p:txBody>
      </p:sp>
      <p:graphicFrame>
        <p:nvGraphicFramePr>
          <p:cNvPr id="25605" name="Object 2"/>
          <p:cNvGraphicFramePr>
            <a:graphicFrameLocks noChangeAspect="1"/>
          </p:cNvGraphicFramePr>
          <p:nvPr/>
        </p:nvGraphicFramePr>
        <p:xfrm>
          <a:off x="3276600" y="1989138"/>
          <a:ext cx="2667000" cy="719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kvation" r:id="rId5" imgW="1600200" imgH="431640" progId="Equation.3">
                  <p:embed/>
                </p:oleObj>
              </mc:Choice>
              <mc:Fallback>
                <p:oleObj name="Ekvation" r:id="rId5" imgW="1600200" imgH="431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1989138"/>
                        <a:ext cx="2667000" cy="719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7B2DAB0-3E44-4037-BFD8-EC40824E78A2}" type="slidenum">
              <a:rPr lang="sv-SE" smtClean="0"/>
              <a:pPr>
                <a:defRPr/>
              </a:pPr>
              <a:t>17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9927214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 sz="quarter"/>
          </p:nvPr>
        </p:nvSpPr>
        <p:spPr>
          <a:xfrm>
            <a:off x="684213" y="333375"/>
            <a:ext cx="7772400" cy="1143000"/>
          </a:xfrm>
        </p:spPr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en-GB" altLang="sv-SE" sz="4000" dirty="0">
                <a:latin typeface="Arial" pitchFamily="34" charset="0"/>
              </a:rPr>
              <a:t>Different  types of features</a:t>
            </a:r>
            <a:endParaRPr lang="en-GB" altLang="sv-SE" sz="4000" dirty="0"/>
          </a:p>
        </p:txBody>
      </p:sp>
      <p:graphicFrame>
        <p:nvGraphicFramePr>
          <p:cNvPr id="9219" name="Rectangle 4"/>
          <p:cNvGraphicFramePr>
            <a:graphicFrameLocks noGrp="1"/>
          </p:cNvGraphicFramePr>
          <p:nvPr>
            <p:ph sz="quarter" idx="1"/>
          </p:nvPr>
        </p:nvGraphicFramePr>
        <p:xfrm>
          <a:off x="2590800" y="2971800"/>
          <a:ext cx="0" cy="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0" imgH="0" progId="Equation.3">
                  <p:embed/>
                </p:oleObj>
              </mc:Choice>
              <mc:Fallback>
                <p:oleObj name="Equation" r:id="rId3" imgW="0" imgH="0" progId="Equation.3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0800" y="2971800"/>
                        <a:ext cx="0" cy="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72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732A99/TDDE01</a:t>
            </a:r>
            <a:endParaRPr lang="en-GB" dirty="0"/>
          </a:p>
        </p:txBody>
      </p:sp>
      <p:sp>
        <p:nvSpPr>
          <p:cNvPr id="9221" name="Text Box 7"/>
          <p:cNvSpPr txBox="1">
            <a:spLocks noChangeArrowheads="1"/>
          </p:cNvSpPr>
          <p:nvPr/>
        </p:nvSpPr>
        <p:spPr bwMode="auto">
          <a:xfrm>
            <a:off x="611560" y="1678000"/>
            <a:ext cx="4535983" cy="2308324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>
              <a:defRPr sz="28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en-US" altLang="sv-SE" sz="1800" dirty="0">
                <a:latin typeface="Arial" pitchFamily="34" charset="0"/>
              </a:rPr>
              <a:t>Interval variables</a:t>
            </a:r>
          </a:p>
          <a:p>
            <a:pPr>
              <a:buFont typeface="Arial" panose="020B0604020202020204" pitchFamily="34" charset="0"/>
              <a:buChar char="•"/>
            </a:pPr>
            <a:endParaRPr lang="en-US" altLang="sv-SE" sz="1800" dirty="0">
              <a:latin typeface="Arial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sv-SE" sz="1800" dirty="0">
                <a:latin typeface="Arial" pitchFamily="34" charset="0"/>
              </a:rPr>
              <a:t>Numerically coded ordinal variables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sv-SE" sz="1800" dirty="0">
                <a:latin typeface="Arial" pitchFamily="34" charset="0"/>
              </a:rPr>
              <a:t>(small=1, medium=2, large=3)</a:t>
            </a:r>
          </a:p>
          <a:p>
            <a:pPr>
              <a:buFont typeface="Arial" panose="020B0604020202020204" pitchFamily="34" charset="0"/>
              <a:buChar char="•"/>
            </a:pPr>
            <a:endParaRPr lang="en-US" altLang="sv-SE" sz="1800" dirty="0">
              <a:latin typeface="Arial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sv-SE" sz="1800" dirty="0">
                <a:latin typeface="Arial" pitchFamily="34" charset="0"/>
              </a:rPr>
              <a:t>Dummy coded qualitative variables</a:t>
            </a:r>
            <a:endParaRPr lang="en-GB" altLang="sv-SE" sz="1800" dirty="0">
              <a:latin typeface="Arial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GB" altLang="sv-SE" sz="1800" dirty="0">
              <a:latin typeface="Arial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GB" altLang="sv-SE" sz="1800" dirty="0">
              <a:latin typeface="Arial" pitchFamily="34" charset="0"/>
            </a:endParaRPr>
          </a:p>
        </p:txBody>
      </p:sp>
      <p:sp>
        <p:nvSpPr>
          <p:cNvPr id="9222" name="Text Box 7"/>
          <p:cNvSpPr txBox="1">
            <a:spLocks noChangeArrowheads="1"/>
          </p:cNvSpPr>
          <p:nvPr/>
        </p:nvSpPr>
        <p:spPr bwMode="auto">
          <a:xfrm>
            <a:off x="5292080" y="1989137"/>
            <a:ext cx="3529012" cy="397033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defRPr sz="28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altLang="sv-SE" sz="1800" b="1" dirty="0">
                <a:latin typeface="Arial" pitchFamily="34" charset="0"/>
              </a:rPr>
              <a:t>	</a:t>
            </a:r>
            <a:endParaRPr lang="en-GB" altLang="sv-SE" sz="1800" b="1" dirty="0">
              <a:latin typeface="Arial" pitchFamily="34" charset="0"/>
            </a:endParaRPr>
          </a:p>
          <a:p>
            <a:r>
              <a:rPr lang="en-GB" altLang="sv-SE" sz="1800" b="1" dirty="0">
                <a:latin typeface="Arial" pitchFamily="34" charset="0"/>
              </a:rPr>
              <a:t>  Example of dummy coding:</a:t>
            </a:r>
          </a:p>
          <a:p>
            <a:endParaRPr lang="en-GB" altLang="sv-SE" sz="1800" b="1" dirty="0">
              <a:latin typeface="Arial" pitchFamily="34" charset="0"/>
            </a:endParaRPr>
          </a:p>
          <a:p>
            <a:endParaRPr lang="en-GB" altLang="sv-SE" sz="1800" b="1" dirty="0">
              <a:latin typeface="Arial" pitchFamily="34" charset="0"/>
            </a:endParaRPr>
          </a:p>
          <a:p>
            <a:endParaRPr lang="en-GB" altLang="sv-SE" sz="1800" b="1" dirty="0">
              <a:latin typeface="Arial" pitchFamily="34" charset="0"/>
            </a:endParaRPr>
          </a:p>
          <a:p>
            <a:endParaRPr lang="en-GB" altLang="sv-SE" sz="1800" b="1" dirty="0">
              <a:latin typeface="Arial" pitchFamily="34" charset="0"/>
            </a:endParaRPr>
          </a:p>
          <a:p>
            <a:r>
              <a:rPr lang="en-GB" altLang="sv-SE" sz="1800" b="1" dirty="0">
                <a:latin typeface="Arial" pitchFamily="34" charset="0"/>
              </a:rPr>
              <a:t>	</a:t>
            </a:r>
          </a:p>
          <a:p>
            <a:endParaRPr lang="en-GB" altLang="sv-SE" sz="1800" b="1" dirty="0">
              <a:latin typeface="Arial" pitchFamily="34" charset="0"/>
            </a:endParaRPr>
          </a:p>
          <a:p>
            <a:r>
              <a:rPr lang="en-GB" altLang="sv-SE" sz="1800" b="1" dirty="0">
                <a:latin typeface="Arial" pitchFamily="34" charset="0"/>
              </a:rPr>
              <a:t>	</a:t>
            </a:r>
          </a:p>
          <a:p>
            <a:r>
              <a:rPr lang="en-GB" altLang="sv-SE" sz="1800" b="1" dirty="0">
                <a:latin typeface="Arial" pitchFamily="34" charset="0"/>
              </a:rPr>
              <a:t>	</a:t>
            </a:r>
          </a:p>
          <a:p>
            <a:endParaRPr lang="en-GB" altLang="sv-SE" sz="1800" b="1" dirty="0">
              <a:latin typeface="Arial" pitchFamily="34" charset="0"/>
            </a:endParaRPr>
          </a:p>
          <a:p>
            <a:endParaRPr lang="en-GB" altLang="sv-SE" sz="1800" b="1" dirty="0">
              <a:latin typeface="Arial" pitchFamily="34" charset="0"/>
            </a:endParaRPr>
          </a:p>
          <a:p>
            <a:endParaRPr lang="en-GB" altLang="sv-SE" sz="1800" b="1" dirty="0">
              <a:latin typeface="Arial" pitchFamily="34" charset="0"/>
            </a:endParaRPr>
          </a:p>
          <a:p>
            <a:endParaRPr lang="en-GB" altLang="sv-SE" sz="1800" b="1" dirty="0">
              <a:latin typeface="Arial" pitchFamily="34" charset="0"/>
            </a:endParaRPr>
          </a:p>
        </p:txBody>
      </p:sp>
      <p:graphicFrame>
        <p:nvGraphicFramePr>
          <p:cNvPr id="9223" name="Object 8"/>
          <p:cNvGraphicFramePr>
            <a:graphicFrameLocks noChangeAspect="1"/>
          </p:cNvGraphicFramePr>
          <p:nvPr/>
        </p:nvGraphicFramePr>
        <p:xfrm>
          <a:off x="5470525" y="2781300"/>
          <a:ext cx="1657350" cy="3059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kvation" r:id="rId4" imgW="1168400" imgH="2159000" progId="Equation.3">
                  <p:embed/>
                </p:oleObj>
              </mc:Choice>
              <mc:Fallback>
                <p:oleObj name="Ekvation" r:id="rId4" imgW="1168400" imgH="2159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70525" y="2781300"/>
                        <a:ext cx="1657350" cy="3059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254C237-546F-4CF8-BFC8-498794181E87}" type="slidenum">
              <a:rPr lang="en-GB" smtClean="0"/>
              <a:pPr>
                <a:defRPr/>
              </a:pPr>
              <a:t>18</a:t>
            </a:fld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755315" y="3717032"/>
                <a:ext cx="4248472" cy="25917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sv-SE" b="1" dirty="0">
                    <a:solidFill>
                      <a:srgbClr val="0070C0"/>
                    </a:solidFill>
                  </a:rPr>
                  <a:t>Basis </a:t>
                </a:r>
                <a:r>
                  <a:rPr lang="sv-SE" b="1" dirty="0" err="1">
                    <a:solidFill>
                      <a:srgbClr val="0070C0"/>
                    </a:solidFill>
                  </a:rPr>
                  <a:t>function</a:t>
                </a:r>
                <a:r>
                  <a:rPr lang="sv-SE" b="1" dirty="0">
                    <a:solidFill>
                      <a:srgbClr val="0070C0"/>
                    </a:solidFill>
                  </a:rPr>
                  <a:t> expansion</a:t>
                </a:r>
                <a:r>
                  <a:rPr lang="sv-SE" dirty="0"/>
                  <a:t>:</a:t>
                </a:r>
              </a:p>
              <a:p>
                <a:r>
                  <a:rPr lang="sv-SE" dirty="0"/>
                  <a:t>If </a:t>
                </a:r>
                <a14:m>
                  <m:oMath xmlns:m="http://schemas.openxmlformats.org/officeDocument/2006/math">
                    <m:r>
                      <a:rPr lang="sv-SE" b="0" i="1" smtClean="0">
                        <a:latin typeface="Cambria Math"/>
                      </a:rPr>
                      <m:t>𝑦</m:t>
                    </m:r>
                    <m:r>
                      <a:rPr lang="sv-SE" b="0" i="1" smtClean="0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sv-SE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sv-SE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sv-SE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sv-SE" b="0" i="1" smtClean="0">
                            <a:latin typeface="Cambria Math"/>
                          </a:rPr>
                          <m:t>0</m:t>
                        </m:r>
                      </m:sub>
                    </m:sSub>
                    <m:r>
                      <a:rPr lang="sv-SE" b="0" i="1" smtClean="0">
                        <a:latin typeface="Cambria Math"/>
                      </a:rPr>
                      <m:t>+</m:t>
                    </m:r>
                    <m:sSub>
                      <m:sSubPr>
                        <m:ctrlPr>
                          <a:rPr lang="sv-SE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sv-SE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sv-SE" b="0" i="1" smtClean="0">
                            <a:latin typeface="Cambria Math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sv-SE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sv-SE" b="0" i="1" smtClean="0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sv-SE" b="0" i="1" smtClean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sv-SE" b="0" i="1" smtClean="0">
                        <a:latin typeface="Cambria Math"/>
                      </a:rPr>
                      <m:t>+</m:t>
                    </m:r>
                    <m:sSub>
                      <m:sSubPr>
                        <m:ctrlPr>
                          <a:rPr lang="sv-SE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sv-SE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sv-SE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Sup>
                      <m:sSubSupPr>
                        <m:ctrlPr>
                          <a:rPr lang="sv-SE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sv-SE" b="0" i="1" smtClean="0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sv-SE" b="0" i="1" smtClean="0">
                            <a:latin typeface="Cambria Math"/>
                          </a:rPr>
                          <m:t>1</m:t>
                        </m:r>
                      </m:sub>
                      <m:sup>
                        <m:r>
                          <a:rPr lang="sv-SE" b="0" i="1" smtClean="0">
                            <a:latin typeface="Cambria Math"/>
                          </a:rPr>
                          <m:t>2</m:t>
                        </m:r>
                      </m:sup>
                    </m:sSubSup>
                    <m:r>
                      <a:rPr lang="sv-SE" b="0" i="1" smtClean="0">
                        <a:latin typeface="Cambria Math"/>
                      </a:rPr>
                      <m:t>+</m:t>
                    </m:r>
                    <m:sSub>
                      <m:sSubPr>
                        <m:ctrlPr>
                          <a:rPr lang="sv-SE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sv-SE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sv-SE" b="0" i="1" smtClean="0">
                            <a:latin typeface="Cambria Math"/>
                          </a:rPr>
                          <m:t>3</m:t>
                        </m:r>
                      </m:sub>
                    </m:sSub>
                    <m:sSup>
                      <m:sSupPr>
                        <m:ctrlPr>
                          <a:rPr lang="sv-SE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sv-SE" b="0" i="1" smtClean="0">
                            <a:latin typeface="Cambria Math"/>
                          </a:rPr>
                          <m:t>𝑒</m:t>
                        </m:r>
                      </m:e>
                      <m:sup>
                        <m:r>
                          <a:rPr lang="sv-SE" b="0" i="1" smtClean="0">
                            <a:latin typeface="Cambria Math"/>
                          </a:rPr>
                          <m:t>−</m:t>
                        </m:r>
                        <m:sSub>
                          <m:sSubPr>
                            <m:ctrlPr>
                              <a:rPr lang="sv-SE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sv-SE" b="0" i="1" smtClean="0"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sv-SE" b="0" i="1" smtClean="0">
                                <a:latin typeface="Cambria Math"/>
                              </a:rPr>
                              <m:t>2</m:t>
                            </m:r>
                          </m:sub>
                        </m:sSub>
                      </m:sup>
                    </m:sSup>
                    <m:r>
                      <a:rPr lang="sv-SE" b="0" i="1" smtClean="0">
                        <a:latin typeface="Cambria Math"/>
                      </a:rPr>
                      <m:t>+</m:t>
                    </m:r>
                    <m:r>
                      <a:rPr lang="sv-SE" b="0" i="1" smtClean="0">
                        <a:latin typeface="Cambria Math"/>
                      </a:rPr>
                      <m:t>𝜖</m:t>
                    </m:r>
                    <m:r>
                      <a:rPr lang="sv-SE" b="0" i="1" smtClean="0">
                        <a:latin typeface="Cambria Math"/>
                      </a:rPr>
                      <m:t>, </m:t>
                    </m:r>
                  </m:oMath>
                </a14:m>
                <a:endParaRPr lang="sv-SE" dirty="0"/>
              </a:p>
              <a:p>
                <a:endParaRPr lang="sv-SE" dirty="0"/>
              </a:p>
              <a:p>
                <a:r>
                  <a:rPr lang="sv-SE" dirty="0" err="1"/>
                  <a:t>Model</a:t>
                </a:r>
                <a:r>
                  <a:rPr lang="sv-SE" dirty="0"/>
                  <a:t> </a:t>
                </a:r>
                <a:r>
                  <a:rPr lang="sv-SE" dirty="0" err="1"/>
                  <a:t>becomes</a:t>
                </a:r>
                <a:r>
                  <a:rPr lang="sv-SE" dirty="0"/>
                  <a:t> </a:t>
                </a:r>
                <a:r>
                  <a:rPr lang="sv-SE" dirty="0" err="1"/>
                  <a:t>linear</a:t>
                </a:r>
                <a:r>
                  <a:rPr lang="sv-SE" dirty="0"/>
                  <a:t> </a:t>
                </a:r>
                <a:r>
                  <a:rPr lang="sv-SE" dirty="0" err="1"/>
                  <a:t>if</a:t>
                </a:r>
                <a:r>
                  <a:rPr lang="sv-SE" dirty="0"/>
                  <a:t> </a:t>
                </a:r>
                <a:r>
                  <a:rPr lang="sv-SE" dirty="0" err="1"/>
                  <a:t>to</a:t>
                </a:r>
                <a:r>
                  <a:rPr lang="sv-SE" dirty="0"/>
                  <a:t> </a:t>
                </a:r>
                <a:r>
                  <a:rPr lang="sv-SE" dirty="0" err="1"/>
                  <a:t>recompute</a:t>
                </a:r>
                <a:r>
                  <a:rPr lang="sv-SE" dirty="0"/>
                  <a:t>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sv-S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sv-SE" b="0" i="1" smtClean="0">
                              <a:latin typeface="Cambria Math"/>
                            </a:rPr>
                            <m:t>𝜙</m:t>
                          </m:r>
                        </m:e>
                        <m:sub>
                          <m:r>
                            <a:rPr lang="sv-SE" b="0" i="1" smtClean="0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sv-SE" b="0" i="1" smtClean="0">
                          <a:latin typeface="Cambria Math"/>
                        </a:rPr>
                        <m:t>(</m:t>
                      </m:r>
                      <m:sSub>
                        <m:sSubPr>
                          <m:ctrlPr>
                            <a:rPr lang="sv-S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sv-SE" i="1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sv-SE" i="1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sv-SE" b="0" i="1" smtClean="0">
                          <a:latin typeface="Cambria Math"/>
                        </a:rPr>
                        <m:t>)=</m:t>
                      </m:r>
                      <m:sSub>
                        <m:sSubPr>
                          <m:ctrlPr>
                            <a:rPr lang="sv-S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sv-SE" b="0" i="1" smtClean="0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sv-SE" b="0" i="1" smtClean="0">
                              <a:latin typeface="Cambria Math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sv-SE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sv-S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sv-SE" i="1">
                              <a:latin typeface="Cambria Math"/>
                            </a:rPr>
                            <m:t>𝜙</m:t>
                          </m:r>
                        </m:e>
                        <m:sub>
                          <m:r>
                            <a:rPr lang="sv-SE" b="0" i="1" smtClean="0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sv-SE" i="1">
                          <a:latin typeface="Cambria Math"/>
                        </a:rPr>
                        <m:t>(</m:t>
                      </m:r>
                      <m:sSub>
                        <m:sSubPr>
                          <m:ctrlPr>
                            <a:rPr lang="sv-S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sv-SE" i="1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sv-SE" i="1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sv-SE" i="1">
                          <a:latin typeface="Cambria Math"/>
                        </a:rPr>
                        <m:t>)=</m:t>
                      </m:r>
                      <m:sSubSup>
                        <m:sSubSupPr>
                          <m:ctrlPr>
                            <a:rPr lang="sv-SE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sv-SE" b="0" i="1" smtClean="0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sv-SE" b="0" i="1" smtClean="0">
                              <a:latin typeface="Cambria Math"/>
                            </a:rPr>
                            <m:t>1</m:t>
                          </m:r>
                        </m:sub>
                        <m:sup>
                          <m:r>
                            <a:rPr lang="sv-SE" b="0" i="1" smtClean="0">
                              <a:latin typeface="Cambria Math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sv-SE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sv-S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sv-SE" i="1">
                              <a:latin typeface="Cambria Math"/>
                            </a:rPr>
                            <m:t>𝜙</m:t>
                          </m:r>
                        </m:e>
                        <m:sub>
                          <m:r>
                            <a:rPr lang="sv-SE" b="0" i="1" smtClean="0">
                              <a:latin typeface="Cambria Math"/>
                            </a:rPr>
                            <m:t>3</m:t>
                          </m:r>
                        </m:sub>
                      </m:sSub>
                      <m:r>
                        <a:rPr lang="sv-SE" i="1">
                          <a:latin typeface="Cambria Math"/>
                        </a:rPr>
                        <m:t>(</m:t>
                      </m:r>
                      <m:sSub>
                        <m:sSubPr>
                          <m:ctrlPr>
                            <a:rPr lang="sv-S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sv-SE" i="1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sv-SE" i="1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sv-SE" i="1">
                          <a:latin typeface="Cambria Math"/>
                        </a:rPr>
                        <m:t>)=</m:t>
                      </m:r>
                      <m:sSup>
                        <m:sSupPr>
                          <m:ctrlPr>
                            <a:rPr lang="sv-SE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sv-SE" b="0" i="1" smtClean="0">
                              <a:latin typeface="Cambria Math"/>
                            </a:rPr>
                            <m:t>𝑒</m:t>
                          </m:r>
                        </m:e>
                        <m:sup>
                          <m:r>
                            <a:rPr lang="sv-SE" b="0" i="1" smtClean="0">
                              <a:latin typeface="Cambria Math"/>
                            </a:rPr>
                            <m:t>−</m:t>
                          </m:r>
                          <m:sSub>
                            <m:sSubPr>
                              <m:ctrlPr>
                                <a:rPr lang="sv-SE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sv-SE" b="0" i="1" smtClean="0"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sv-SE" b="0" i="1" smtClean="0"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</m:sup>
                      </m:sSup>
                    </m:oMath>
                  </m:oMathPara>
                </a14:m>
                <a:endParaRPr lang="sv-SE" b="0" dirty="0"/>
              </a:p>
              <a:p>
                <a:endParaRPr lang="sv-SE" b="0" dirty="0"/>
              </a:p>
              <a:p>
                <a:endParaRPr lang="sv-SE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315" y="3717032"/>
                <a:ext cx="4248472" cy="2591735"/>
              </a:xfrm>
              <a:prstGeom prst="rect">
                <a:avLst/>
              </a:prstGeom>
              <a:blipFill>
                <a:blip r:embed="rId7"/>
                <a:stretch>
                  <a:fillRect l="-1291" t="-1412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450390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Basis </a:t>
            </a:r>
            <a:r>
              <a:rPr lang="sv-SE" dirty="0" err="1"/>
              <a:t>function</a:t>
            </a:r>
            <a:r>
              <a:rPr lang="sv-SE" dirty="0"/>
              <a:t> expansion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sv-SE" sz="2400" dirty="0"/>
                  <a:t>In general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sv-SE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sv-SE" sz="2400" i="1">
                            <a:latin typeface="Cambria Math"/>
                          </a:rPr>
                          <m:t>𝜙</m:t>
                        </m:r>
                      </m:e>
                      <m:sub>
                        <m:r>
                          <a:rPr lang="sv-SE" sz="2400" i="1">
                            <a:latin typeface="Cambria Math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sv-SE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sv-SE" sz="2400" b="0" i="1" smtClean="0">
                            <a:latin typeface="Cambria Math"/>
                          </a:rPr>
                          <m:t>…</m:t>
                        </m:r>
                      </m:e>
                    </m:d>
                  </m:oMath>
                </a14:m>
                <a:r>
                  <a:rPr lang="sv-SE" sz="2400" dirty="0"/>
                  <a:t> </a:t>
                </a:r>
                <a:r>
                  <a:rPr lang="sv-SE" sz="2400" dirty="0" err="1"/>
                  <a:t>may</a:t>
                </a:r>
                <a:r>
                  <a:rPr lang="sv-SE" sz="2400" dirty="0"/>
                  <a:t> be a </a:t>
                </a:r>
                <a:r>
                  <a:rPr lang="sv-SE" sz="2400" dirty="0" err="1"/>
                  <a:t>function</a:t>
                </a:r>
                <a:r>
                  <a:rPr lang="sv-SE" sz="2400" dirty="0"/>
                  <a:t> </a:t>
                </a:r>
                <a:r>
                  <a:rPr lang="sv-SE" sz="2400" dirty="0" err="1"/>
                  <a:t>of</a:t>
                </a:r>
                <a:r>
                  <a:rPr lang="sv-SE" sz="2400" dirty="0"/>
                  <a:t> </a:t>
                </a:r>
                <a:r>
                  <a:rPr lang="sv-SE" sz="2400" dirty="0" err="1"/>
                  <a:t>several</a:t>
                </a:r>
                <a:r>
                  <a:rPr lang="sv-SE" sz="2400" dirty="0"/>
                  <a:t> </a:t>
                </a:r>
                <a14:m>
                  <m:oMath xmlns:m="http://schemas.openxmlformats.org/officeDocument/2006/math">
                    <m:r>
                      <a:rPr lang="sv-SE" sz="2400" b="0" i="1" smtClean="0">
                        <a:latin typeface="Cambria Math"/>
                      </a:rPr>
                      <m:t>𝑥</m:t>
                    </m:r>
                  </m:oMath>
                </a14:m>
                <a:r>
                  <a:rPr lang="sv-SE" sz="2400" dirty="0"/>
                  <a:t> components</a:t>
                </a:r>
              </a:p>
              <a:p>
                <a:r>
                  <a:rPr lang="sv-SE" sz="2400" dirty="0" err="1"/>
                  <a:t>Having</a:t>
                </a:r>
                <a:r>
                  <a:rPr lang="sv-SE" sz="2400" dirty="0"/>
                  <a:t> data given by </a:t>
                </a:r>
                <a:r>
                  <a:rPr lang="sv-SE" sz="2400" b="1" dirty="0"/>
                  <a:t>X, </a:t>
                </a:r>
                <a:r>
                  <a:rPr lang="sv-SE" sz="2400" dirty="0" err="1"/>
                  <a:t>compute</a:t>
                </a:r>
                <a:r>
                  <a:rPr lang="sv-SE" sz="2400" dirty="0"/>
                  <a:t> new data </a:t>
                </a:r>
                <a:r>
                  <a:rPr lang="sv-SE" sz="2400" dirty="0" err="1"/>
                  <a:t>with</a:t>
                </a:r>
                <a:r>
                  <a:rPr lang="sv-SE" sz="2400" dirty="0"/>
                  <a:t> </a:t>
                </a:r>
                <a14:m>
                  <m:oMath xmlns:m="http://schemas.openxmlformats.org/officeDocument/2006/math">
                    <m:r>
                      <a:rPr lang="sv-SE" sz="2400" b="0" i="1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sv-SE" sz="2400" dirty="0"/>
                  <a:t> features</a:t>
                </a:r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sv-SE" sz="2000" b="0" i="0" smtClean="0">
                        <a:latin typeface="Cambria Math"/>
                      </a:rPr>
                      <m:t>Φ</m:t>
                    </m:r>
                    <m:r>
                      <a:rPr lang="sv-SE" sz="2000" b="0" i="1" smtClean="0">
                        <a:latin typeface="Cambria Math"/>
                      </a:rPr>
                      <m:t>=</m:t>
                    </m:r>
                    <m:d>
                      <m:dPr>
                        <m:ctrlPr>
                          <a:rPr lang="sv-SE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sv-SE" sz="2000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sv-SE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sv-SE" sz="20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sv-SE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sv-SE" sz="2000" b="0" i="1" smtClean="0">
                                      <a:latin typeface="Cambria Math" panose="02040503050406030204" pitchFamily="18" charset="0"/>
                                    </a:rPr>
                                    <m:t>   </m:t>
                                  </m:r>
                                  <m:r>
                                    <a:rPr lang="sv-SE" sz="2000" i="1">
                                      <a:latin typeface="Cambria Math"/>
                                    </a:rPr>
                                    <m:t>𝜙</m:t>
                                  </m:r>
                                </m:e>
                                <m:sub>
                                  <m:r>
                                    <a:rPr lang="sv-SE" sz="2000" i="1">
                                      <a:latin typeface="Cambria Math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sv-SE" sz="2000" i="1">
                                  <a:latin typeface="Cambria Math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sv-SE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sv-SE" sz="2000" i="1"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sv-SE" sz="2000" i="1">
                                      <a:latin typeface="Cambria Math"/>
                                    </a:rPr>
                                    <m:t>1</m:t>
                                  </m:r>
                                  <m:r>
                                    <a:rPr lang="sv-SE" sz="2000" b="0" i="1" smtClean="0">
                                      <a:latin typeface="Cambria Math"/>
                                    </a:rPr>
                                    <m:t>1,</m:t>
                                  </m:r>
                                </m:sub>
                              </m:sSub>
                              <m:r>
                                <a:rPr lang="sv-SE" sz="2000" b="0" i="1" smtClean="0">
                                  <a:latin typeface="Cambria Math"/>
                                </a:rPr>
                                <m:t>…, </m:t>
                              </m:r>
                              <m:sSub>
                                <m:sSubPr>
                                  <m:ctrlPr>
                                    <a:rPr lang="sv-SE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sv-SE" sz="2000" b="0" i="1" smtClean="0"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sv-SE" sz="2000" b="0" i="1" smtClean="0">
                                      <a:latin typeface="Cambria Math"/>
                                    </a:rPr>
                                    <m:t>1</m:t>
                                  </m:r>
                                  <m:r>
                                    <a:rPr lang="sv-SE" sz="2000" b="0" i="1" smtClean="0">
                                      <a:latin typeface="Cambria Math"/>
                                    </a:rPr>
                                    <m:t>𝑝</m:t>
                                  </m:r>
                                </m:sub>
                              </m:sSub>
                              <m:r>
                                <a:rPr lang="sv-SE" sz="2000" i="1">
                                  <a:latin typeface="Cambria Math"/>
                                </a:rPr>
                                <m:t>)</m:t>
                              </m:r>
                            </m:e>
                            <m:e>
                              <m:r>
                                <a:rPr lang="sv-SE" sz="2000" b="0" i="1" smtClean="0">
                                  <a:latin typeface="Cambria Math"/>
                                </a:rPr>
                                <m:t>..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sv-SE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sv-SE" sz="2000" i="1">
                                      <a:latin typeface="Cambria Math"/>
                                    </a:rPr>
                                    <m:t>𝜙</m:t>
                                  </m:r>
                                </m:e>
                                <m:sub>
                                  <m:r>
                                    <a:rPr lang="sv-SE" sz="2000" b="0" i="1" smtClean="0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sub>
                              </m:sSub>
                              <m:r>
                                <a:rPr lang="sv-SE" sz="2000" i="1">
                                  <a:latin typeface="Cambria Math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sv-SE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sv-SE" sz="2000" i="1"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sv-SE" sz="2000" i="1">
                                      <a:latin typeface="Cambria Math"/>
                                    </a:rPr>
                                    <m:t>11,</m:t>
                                  </m:r>
                                </m:sub>
                              </m:sSub>
                              <m:r>
                                <a:rPr lang="sv-SE" sz="2000" i="1">
                                  <a:latin typeface="Cambria Math"/>
                                </a:rPr>
                                <m:t>…, </m:t>
                              </m:r>
                              <m:sSub>
                                <m:sSubPr>
                                  <m:ctrlPr>
                                    <a:rPr lang="sv-SE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sv-SE" sz="2000" i="1"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sv-SE" sz="2000" i="1">
                                      <a:latin typeface="Cambria Math"/>
                                    </a:rPr>
                                    <m:t>1</m:t>
                                  </m:r>
                                  <m:r>
                                    <a:rPr lang="sv-SE" sz="2000" i="1">
                                      <a:latin typeface="Cambria Math"/>
                                    </a:rPr>
                                    <m:t>𝑝</m:t>
                                  </m:r>
                                </m:sub>
                              </m:sSub>
                              <m:r>
                                <a:rPr lang="sv-SE" sz="2000" i="1">
                                  <a:latin typeface="Cambria Math"/>
                                </a:rPr>
                                <m:t>)</m:t>
                              </m:r>
                            </m:e>
                          </m:mr>
                          <m:mr>
                            <m:e>
                              <m:r>
                                <a:rPr lang="sv-SE" sz="2000" i="1" smtClean="0">
                                  <a:latin typeface="Cambria Math"/>
                                </a:rPr>
                                <m:t>…</m:t>
                              </m:r>
                            </m:e>
                            <m:e>
                              <m:r>
                                <a:rPr lang="sv-SE" sz="2000" b="0" i="1" smtClean="0">
                                  <a:latin typeface="Cambria Math"/>
                                </a:rPr>
                                <m:t>…</m:t>
                              </m:r>
                            </m:e>
                            <m:e>
                              <m:r>
                                <a:rPr lang="sv-SE" sz="2000" b="0" i="1" smtClean="0">
                                  <a:latin typeface="Cambria Math"/>
                                </a:rPr>
                                <m:t>…</m:t>
                              </m:r>
                            </m:e>
                          </m:mr>
                          <m:mr>
                            <m:e>
                              <m:r>
                                <a:rPr lang="sv-SE" sz="2000" b="0" i="1" smtClean="0">
                                  <a:latin typeface="Cambria Math" panose="02040503050406030204" pitchFamily="18" charset="0"/>
                                </a:rPr>
                                <m:t>1    </m:t>
                              </m:r>
                              <m:sSub>
                                <m:sSubPr>
                                  <m:ctrlPr>
                                    <a:rPr lang="sv-SE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sv-SE" sz="2000" i="1">
                                      <a:latin typeface="Cambria Math"/>
                                    </a:rPr>
                                    <m:t>𝜙</m:t>
                                  </m:r>
                                </m:e>
                                <m:sub>
                                  <m:r>
                                    <a:rPr lang="sv-SE" sz="2000" i="1">
                                      <a:latin typeface="Cambria Math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sv-SE" sz="2000" i="1">
                                  <a:latin typeface="Cambria Math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sv-SE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sv-SE" sz="2000" i="1"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sv-SE" sz="2000" b="0" i="1" smtClean="0">
                                      <a:latin typeface="Cambria Math"/>
                                    </a:rPr>
                                    <m:t>𝑛</m:t>
                                  </m:r>
                                  <m:r>
                                    <a:rPr lang="sv-SE" sz="2000" i="1">
                                      <a:latin typeface="Cambria Math"/>
                                    </a:rPr>
                                    <m:t>1,</m:t>
                                  </m:r>
                                </m:sub>
                              </m:sSub>
                              <m:r>
                                <a:rPr lang="sv-SE" sz="2000" i="1">
                                  <a:latin typeface="Cambria Math"/>
                                </a:rPr>
                                <m:t>…, </m:t>
                              </m:r>
                              <m:sSub>
                                <m:sSubPr>
                                  <m:ctrlPr>
                                    <a:rPr lang="sv-SE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sv-SE" sz="2000" i="1"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sv-SE" sz="2000" b="0" i="1" smtClean="0">
                                      <a:latin typeface="Cambria Math"/>
                                    </a:rPr>
                                    <m:t>𝑛</m:t>
                                  </m:r>
                                  <m:r>
                                    <a:rPr lang="sv-SE" sz="2000" i="1">
                                      <a:latin typeface="Cambria Math"/>
                                    </a:rPr>
                                    <m:t>𝑝</m:t>
                                  </m:r>
                                </m:sub>
                              </m:sSub>
                              <m:r>
                                <a:rPr lang="sv-SE" sz="2000" b="1" i="1">
                                  <a:latin typeface="Cambria Math"/>
                                </a:rPr>
                                <m:t>)</m:t>
                              </m:r>
                            </m:e>
                            <m:e>
                              <m:r>
                                <a:rPr lang="sv-SE" sz="2000" b="1" i="1" smtClean="0">
                                  <a:latin typeface="Cambria Math"/>
                                </a:rPr>
                                <m:t>…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sv-SE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sv-SE" sz="2000" i="1">
                                      <a:latin typeface="Cambria Math"/>
                                    </a:rPr>
                                    <m:t>𝜙</m:t>
                                  </m:r>
                                </m:e>
                                <m:sub>
                                  <m:r>
                                    <a:rPr lang="sv-SE" sz="2000" b="0" i="1" smtClean="0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sub>
                              </m:sSub>
                              <m:r>
                                <a:rPr lang="sv-SE" sz="2000" i="1">
                                  <a:latin typeface="Cambria Math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sv-SE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sv-SE" sz="2000" i="1"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sv-SE" sz="2000" b="0" i="1" smtClean="0">
                                      <a:latin typeface="Cambria Math"/>
                                    </a:rPr>
                                    <m:t>𝑛</m:t>
                                  </m:r>
                                  <m:r>
                                    <a:rPr lang="sv-SE" sz="2000" i="1">
                                      <a:latin typeface="Cambria Math"/>
                                    </a:rPr>
                                    <m:t>1,</m:t>
                                  </m:r>
                                </m:sub>
                              </m:sSub>
                              <m:r>
                                <a:rPr lang="sv-SE" sz="2000" i="1">
                                  <a:latin typeface="Cambria Math"/>
                                </a:rPr>
                                <m:t>…, </m:t>
                              </m:r>
                              <m:sSub>
                                <m:sSubPr>
                                  <m:ctrlPr>
                                    <a:rPr lang="sv-SE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sv-SE" sz="2000" i="1"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sv-SE" sz="2000" b="0" i="1" smtClean="0">
                                      <a:latin typeface="Cambria Math"/>
                                    </a:rPr>
                                    <m:t>𝑛</m:t>
                                  </m:r>
                                  <m:r>
                                    <a:rPr lang="sv-SE" sz="2000" i="1">
                                      <a:latin typeface="Cambria Math"/>
                                    </a:rPr>
                                    <m:t>𝑝</m:t>
                                  </m:r>
                                </m:sub>
                              </m:sSub>
                              <m:r>
                                <a:rPr lang="sv-SE" sz="2000" i="1">
                                  <a:latin typeface="Cambria Math"/>
                                </a:rPr>
                                <m:t>)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sv-SE" sz="2400" b="1" dirty="0"/>
              </a:p>
              <a:p>
                <a:r>
                  <a:rPr lang="sv-SE" sz="2400" dirty="0"/>
                  <a:t>If </a:t>
                </a:r>
                <a:r>
                  <a:rPr lang="sv-SE" sz="2400" dirty="0" err="1"/>
                  <a:t>doing</a:t>
                </a:r>
                <a:r>
                  <a:rPr lang="sv-SE" sz="2400" dirty="0"/>
                  <a:t> a basis </a:t>
                </a:r>
                <a:r>
                  <a:rPr lang="sv-SE" sz="2400" dirty="0" err="1"/>
                  <a:t>function</a:t>
                </a:r>
                <a:r>
                  <a:rPr lang="sv-SE" sz="2400" dirty="0"/>
                  <a:t> in a </a:t>
                </a:r>
                <a:r>
                  <a:rPr lang="sv-SE" sz="2400" dirty="0" err="1"/>
                  <a:t>model</a:t>
                </a:r>
                <a:r>
                  <a:rPr lang="sv-SE" sz="2400" dirty="0"/>
                  <a:t>, </a:t>
                </a:r>
                <a:r>
                  <a:rPr lang="sv-SE" sz="2400" dirty="0" err="1"/>
                  <a:t>replace</a:t>
                </a:r>
                <a:r>
                  <a:rPr lang="sv-SE" sz="2400" dirty="0"/>
                  <a:t> </a:t>
                </a:r>
                <a:r>
                  <a:rPr lang="sv-SE" sz="2400" b="1" dirty="0"/>
                  <a:t>X</a:t>
                </a:r>
                <a:r>
                  <a:rPr lang="sv-SE" sz="2400" dirty="0"/>
                  <a:t> by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sv-SE" sz="2400">
                        <a:latin typeface="Cambria Math"/>
                      </a:rPr>
                      <m:t>Φ</m:t>
                    </m:r>
                  </m:oMath>
                </a14:m>
                <a:r>
                  <a:rPr lang="sv-SE" sz="2400" dirty="0"/>
                  <a:t> </a:t>
                </a:r>
                <a:r>
                  <a:rPr lang="sv-SE" sz="2400" dirty="0" err="1"/>
                  <a:t>everywhere</a:t>
                </a:r>
                <a:r>
                  <a:rPr lang="sv-SE" sz="2400" dirty="0"/>
                  <a:t> </a:t>
                </a:r>
                <a:r>
                  <a:rPr lang="sv-SE" sz="2400" dirty="0" err="1"/>
                  <a:t>where</a:t>
                </a:r>
                <a:r>
                  <a:rPr lang="sv-SE" sz="2400" dirty="0"/>
                  <a:t> </a:t>
                </a:r>
                <a:r>
                  <a:rPr lang="sv-SE" sz="2400" b="1" dirty="0"/>
                  <a:t>X </a:t>
                </a:r>
                <a:r>
                  <a:rPr lang="sv-SE" sz="2400" dirty="0"/>
                  <a:t>is </a:t>
                </a:r>
                <a:r>
                  <a:rPr lang="sv-SE" sz="2400" dirty="0" err="1"/>
                  <a:t>used</a:t>
                </a:r>
                <a:r>
                  <a:rPr lang="sv-SE" sz="2400" dirty="0"/>
                  <a:t>:</a:t>
                </a:r>
              </a:p>
              <a:p>
                <a:pPr marL="0" indent="0">
                  <a:buNone/>
                </a:pPr>
                <a:endParaRPr lang="sv-SE" sz="2400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963" t="-1078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732A99/TDDE01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7B2DAB0-3E44-4037-BFD8-EC40824E78A2}" type="slidenum">
              <a:rPr lang="sv-SE" smtClean="0"/>
              <a:pPr>
                <a:defRPr/>
              </a:pPr>
              <a:t>19</a:t>
            </a:fld>
            <a:endParaRPr lang="sv-SE"/>
          </a:p>
        </p:txBody>
      </p:sp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80304994"/>
              </p:ext>
            </p:extLst>
          </p:nvPr>
        </p:nvGraphicFramePr>
        <p:xfrm>
          <a:off x="3130550" y="4652963"/>
          <a:ext cx="3421063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kvation" r:id="rId4" imgW="1206360" imgH="228600" progId="Equation.3">
                  <p:embed/>
                </p:oleObj>
              </mc:Choice>
              <mc:Fallback>
                <p:oleObj name="Ekvation" r:id="rId4" imgW="1206360" imgH="22860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130550" y="4652963"/>
                        <a:ext cx="3421063" cy="647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9047688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E2AF9E9B-9729-4203-BE8F-F6347802CC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 err="1"/>
              <a:t>Polynomial</a:t>
            </a:r>
            <a:r>
              <a:rPr lang="sv-SE" dirty="0"/>
              <a:t> regression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latshållare för innehåll 2">
                <a:extLst>
                  <a:ext uri="{FF2B5EF4-FFF2-40B4-BE49-F238E27FC236}">
                    <a16:creationId xmlns:a16="http://schemas.microsoft.com/office/drawing/2014/main" id="{45A39D7C-BC3A-403E-BC71-C3894152B30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sv-SE" sz="2800" dirty="0"/>
                  <a:t>Do by basis </a:t>
                </a:r>
                <a:r>
                  <a:rPr lang="sv-SE" sz="2800" dirty="0" err="1"/>
                  <a:t>function</a:t>
                </a:r>
                <a:r>
                  <a:rPr lang="sv-SE" sz="2800" dirty="0"/>
                  <a:t> trick: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sv-SE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sv-SE" sz="2400" b="0" i="1" smtClean="0">
                            <a:latin typeface="Cambria Math"/>
                          </a:rPr>
                          <m:t>𝜙</m:t>
                        </m:r>
                      </m:e>
                      <m:sub>
                        <m:r>
                          <a:rPr lang="sv-SE" sz="2400" b="0" i="1" smtClean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sv-SE" sz="2400" b="0" i="1" smtClean="0">
                        <a:latin typeface="Cambria Math"/>
                      </a:rPr>
                      <m:t>(</m:t>
                    </m:r>
                    <m:sSub>
                      <m:sSubPr>
                        <m:ctrlPr>
                          <a:rPr lang="sv-SE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sv-SE" sz="2400" i="1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sv-SE" sz="2400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sv-SE" sz="2400" b="0" i="1" smtClean="0">
                        <a:latin typeface="Cambria Math"/>
                      </a:rPr>
                      <m:t>)=</m:t>
                    </m:r>
                    <m:sSub>
                      <m:sSubPr>
                        <m:ctrlPr>
                          <a:rPr lang="sv-SE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sv-SE" sz="2400" b="0" i="1" smtClean="0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sv-SE" sz="2400" b="0" i="1" smtClean="0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sv-SE" sz="2400" b="0" dirty="0"/>
                  <a:t>,</a:t>
                </a:r>
                <a14:m>
                  <m:oMath xmlns:m="http://schemas.openxmlformats.org/officeDocument/2006/math">
                    <m:r>
                      <a:rPr lang="sv-SE" sz="2400" b="0" i="1" smtClean="0">
                        <a:latin typeface="Cambria Math" panose="02040503050406030204" pitchFamily="18" charset="0"/>
                      </a:rPr>
                      <m:t>…,</m:t>
                    </m:r>
                    <m:sSub>
                      <m:sSubPr>
                        <m:ctrlPr>
                          <a:rPr lang="sv-SE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sv-SE" sz="2400" i="1">
                            <a:latin typeface="Cambria Math"/>
                          </a:rPr>
                          <m:t>𝜙</m:t>
                        </m:r>
                      </m:e>
                      <m:sub>
                        <m:r>
                          <a:rPr lang="sv-SE" sz="2400" i="1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sv-SE" sz="2400" i="1">
                        <a:latin typeface="Cambria Math"/>
                      </a:rPr>
                      <m:t>(</m:t>
                    </m:r>
                    <m:sSub>
                      <m:sSubPr>
                        <m:ctrlPr>
                          <a:rPr lang="sv-SE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sv-SE" sz="2400" i="1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sv-SE" sz="2400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sv-SE" sz="2400" i="1">
                        <a:latin typeface="Cambria Math"/>
                      </a:rPr>
                      <m:t>)=</m:t>
                    </m:r>
                    <m:sSubSup>
                      <m:sSubSupPr>
                        <m:ctrlPr>
                          <a:rPr lang="sv-SE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sv-SE" sz="2400" i="1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sv-SE" sz="2400" i="1">
                            <a:latin typeface="Cambria Math"/>
                          </a:rPr>
                          <m:t>1</m:t>
                        </m:r>
                      </m:sub>
                      <m:sup>
                        <m:r>
                          <a:rPr lang="sv-SE" sz="2400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sup>
                    </m:sSubSup>
                  </m:oMath>
                </a14:m>
                <a:endParaRPr lang="sv-SE" sz="2400" dirty="0"/>
              </a:p>
              <a:p>
                <a:endParaRPr lang="sv-SE" dirty="0"/>
              </a:p>
            </p:txBody>
          </p:sp>
        </mc:Choice>
        <mc:Fallback xmlns="">
          <p:sp>
            <p:nvSpPr>
              <p:cNvPr id="3" name="Platshållare för innehåll 2">
                <a:extLst>
                  <a:ext uri="{FF2B5EF4-FFF2-40B4-BE49-F238E27FC236}">
                    <a16:creationId xmlns:a16="http://schemas.microsoft.com/office/drawing/2014/main" id="{45A39D7C-BC3A-403E-BC71-C3894152B30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33" t="-1348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FFFB0452-4D3F-4FC4-8A6E-0147E01478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732A99/TDDE01</a:t>
            </a:r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3BFF4903-F528-4D38-A4A4-C0747456D0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7B2DAB0-3E44-4037-BFD8-EC40824E78A2}" type="slidenum">
              <a:rPr lang="sv-SE" smtClean="0"/>
              <a:pPr>
                <a:defRPr/>
              </a:pPr>
              <a:t>20</a:t>
            </a:fld>
            <a:endParaRPr lang="sv-SE"/>
          </a:p>
        </p:txBody>
      </p:sp>
      <p:pic>
        <p:nvPicPr>
          <p:cNvPr id="7" name="Bildobjekt 6">
            <a:extLst>
              <a:ext uri="{FF2B5EF4-FFF2-40B4-BE49-F238E27FC236}">
                <a16:creationId xmlns:a16="http://schemas.microsoft.com/office/drawing/2014/main" id="{4AEA597C-8012-4DB0-B225-B1B4A9C5E1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042" y="2780929"/>
            <a:ext cx="5350995" cy="2736304"/>
          </a:xfrm>
          <a:prstGeom prst="rect">
            <a:avLst/>
          </a:prstGeom>
        </p:spPr>
      </p:pic>
      <p:sp>
        <p:nvSpPr>
          <p:cNvPr id="9" name="textruta 8">
            <a:extLst>
              <a:ext uri="{FF2B5EF4-FFF2-40B4-BE49-F238E27FC236}">
                <a16:creationId xmlns:a16="http://schemas.microsoft.com/office/drawing/2014/main" id="{666F0971-31FB-473C-B260-ABF84676B2BE}"/>
              </a:ext>
            </a:extLst>
          </p:cNvPr>
          <p:cNvSpPr txBox="1"/>
          <p:nvPr/>
        </p:nvSpPr>
        <p:spPr>
          <a:xfrm>
            <a:off x="1691680" y="5717525"/>
            <a:ext cx="57606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sv-SE" sz="1800" dirty="0" err="1">
                <a:solidFill>
                  <a:srgbClr val="C00000"/>
                </a:solidFill>
              </a:rPr>
              <a:t>High</a:t>
            </a:r>
            <a:r>
              <a:rPr lang="sv-SE" sz="1800" dirty="0">
                <a:solidFill>
                  <a:srgbClr val="C00000"/>
                </a:solidFill>
              </a:rPr>
              <a:t> </a:t>
            </a:r>
            <a:r>
              <a:rPr lang="sv-SE" sz="1800" dirty="0" err="1">
                <a:solidFill>
                  <a:srgbClr val="C00000"/>
                </a:solidFill>
              </a:rPr>
              <a:t>degree</a:t>
            </a:r>
            <a:r>
              <a:rPr lang="sv-SE" sz="1800" dirty="0">
                <a:solidFill>
                  <a:srgbClr val="C00000"/>
                </a:solidFill>
              </a:rPr>
              <a:t> </a:t>
            </a:r>
            <a:r>
              <a:rPr lang="sv-SE" sz="1800" dirty="0" err="1">
                <a:solidFill>
                  <a:srgbClr val="C00000"/>
                </a:solidFill>
              </a:rPr>
              <a:t>of</a:t>
            </a:r>
            <a:r>
              <a:rPr lang="sv-SE" sz="1800" dirty="0">
                <a:solidFill>
                  <a:srgbClr val="C00000"/>
                </a:solidFill>
              </a:rPr>
              <a:t> </a:t>
            </a:r>
            <a:r>
              <a:rPr lang="sv-SE" sz="1800" dirty="0" err="1">
                <a:solidFill>
                  <a:srgbClr val="C00000"/>
                </a:solidFill>
              </a:rPr>
              <a:t>polynomial</a:t>
            </a:r>
            <a:r>
              <a:rPr lang="sv-SE" sz="1800" dirty="0">
                <a:solidFill>
                  <a:srgbClr val="C00000"/>
                </a:solidFill>
              </a:rPr>
              <a:t> </a:t>
            </a:r>
            <a:r>
              <a:rPr lang="sv-SE" sz="1800" dirty="0" err="1">
                <a:solidFill>
                  <a:srgbClr val="C00000"/>
                </a:solidFill>
              </a:rPr>
              <a:t>leads</a:t>
            </a:r>
            <a:r>
              <a:rPr lang="sv-SE" sz="1800" dirty="0">
                <a:solidFill>
                  <a:srgbClr val="C00000"/>
                </a:solidFill>
              </a:rPr>
              <a:t> to </a:t>
            </a:r>
            <a:r>
              <a:rPr lang="sv-SE" sz="1800" dirty="0" err="1">
                <a:solidFill>
                  <a:srgbClr val="C00000"/>
                </a:solidFill>
              </a:rPr>
              <a:t>overfitting</a:t>
            </a:r>
            <a:r>
              <a:rPr lang="sv-SE" sz="1800" dirty="0">
                <a:solidFill>
                  <a:srgbClr val="C00000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5213569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8DC70901-7BBD-4F82-A7A6-0FD84FDA55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 err="1"/>
              <a:t>Regularization</a:t>
            </a:r>
            <a:endParaRPr lang="sv-S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latshållare för innehåll 2">
                <a:extLst>
                  <a:ext uri="{FF2B5EF4-FFF2-40B4-BE49-F238E27FC236}">
                    <a16:creationId xmlns:a16="http://schemas.microsoft.com/office/drawing/2014/main" id="{3D66806B-5968-4A1F-A4BA-2D05EF0E384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sv-SE" sz="2000" dirty="0"/>
                  <a:t>Used in a </a:t>
                </a:r>
                <a:r>
                  <a:rPr lang="sv-SE" sz="2000" dirty="0" err="1"/>
                  <a:t>huge</a:t>
                </a:r>
                <a:r>
                  <a:rPr lang="sv-SE" sz="2000" dirty="0"/>
                  <a:t> </a:t>
                </a:r>
                <a:r>
                  <a:rPr lang="sv-SE" sz="2000" dirty="0" err="1"/>
                  <a:t>variety</a:t>
                </a:r>
                <a:r>
                  <a:rPr lang="sv-SE" sz="2000" dirty="0"/>
                  <a:t> </a:t>
                </a:r>
                <a:r>
                  <a:rPr lang="sv-SE" sz="2000" dirty="0" err="1"/>
                  <a:t>of</a:t>
                </a:r>
                <a:r>
                  <a:rPr lang="sv-SE" sz="2000" dirty="0"/>
                  <a:t> </a:t>
                </a:r>
                <a:r>
                  <a:rPr lang="sv-SE" sz="2000" dirty="0" err="1"/>
                  <a:t>models</a:t>
                </a:r>
                <a:r>
                  <a:rPr lang="sv-SE" sz="2000" dirty="0"/>
                  <a:t>, for ex </a:t>
                </a:r>
                <a:r>
                  <a:rPr lang="sv-SE" sz="2000" dirty="0" err="1"/>
                  <a:t>deep</a:t>
                </a:r>
                <a:r>
                  <a:rPr lang="sv-SE" sz="2000" dirty="0"/>
                  <a:t> </a:t>
                </a:r>
                <a:r>
                  <a:rPr lang="sv-SE" sz="2000" dirty="0" err="1"/>
                  <a:t>learning</a:t>
                </a:r>
                <a:endParaRPr lang="sv-SE" sz="2000" dirty="0"/>
              </a:p>
              <a:p>
                <a:endParaRPr lang="sv-SE" sz="2000" dirty="0"/>
              </a:p>
              <a:p>
                <a:r>
                  <a:rPr lang="sv-SE" sz="2000" b="1" dirty="0"/>
                  <a:t>Problem </a:t>
                </a:r>
                <a:r>
                  <a:rPr lang="sv-SE" sz="2000" b="1" dirty="0" err="1"/>
                  <a:t>of</a:t>
                </a:r>
                <a:r>
                  <a:rPr lang="sv-SE" sz="2000" b="1" dirty="0"/>
                  <a:t> </a:t>
                </a:r>
                <a:r>
                  <a:rPr lang="sv-SE" sz="2000" b="1" dirty="0" err="1"/>
                  <a:t>overfitting</a:t>
                </a:r>
                <a:r>
                  <a:rPr lang="sv-SE" sz="2000" dirty="0"/>
                  <a:t>: </a:t>
                </a:r>
                <a:r>
                  <a:rPr lang="sv-SE" sz="2000" dirty="0" err="1"/>
                  <a:t>models</a:t>
                </a:r>
                <a:r>
                  <a:rPr lang="sv-SE" sz="2000" dirty="0"/>
                  <a:t> fit </a:t>
                </a:r>
                <a:r>
                  <a:rPr lang="sv-SE" sz="2000" dirty="0" err="1"/>
                  <a:t>training</a:t>
                </a:r>
                <a:r>
                  <a:rPr lang="sv-SE" sz="2000" dirty="0"/>
                  <a:t> data </a:t>
                </a:r>
                <a:r>
                  <a:rPr lang="sv-SE" sz="2000" dirty="0" err="1"/>
                  <a:t>perfectly</a:t>
                </a:r>
                <a:r>
                  <a:rPr lang="sv-SE" sz="2000" dirty="0"/>
                  <a:t> </a:t>
                </a:r>
                <a:r>
                  <a:rPr lang="sv-SE" sz="2000" dirty="0" err="1"/>
                  <a:t>but</a:t>
                </a:r>
                <a:r>
                  <a:rPr lang="sv-SE" sz="2000" dirty="0"/>
                  <a:t> </a:t>
                </a:r>
                <a:r>
                  <a:rPr lang="sv-SE" sz="2000" dirty="0" err="1"/>
                  <a:t>are</a:t>
                </a:r>
                <a:r>
                  <a:rPr lang="sv-SE" sz="2000" dirty="0"/>
                  <a:t> </a:t>
                </a:r>
                <a:r>
                  <a:rPr lang="sv-SE" sz="2000" dirty="0" err="1"/>
                  <a:t>too</a:t>
                </a:r>
                <a:r>
                  <a:rPr lang="sv-SE" sz="2000" dirty="0"/>
                  <a:t> </a:t>
                </a:r>
                <a:r>
                  <a:rPr lang="sv-SE" sz="2000" dirty="0" err="1"/>
                  <a:t>complex</a:t>
                </a:r>
                <a:r>
                  <a:rPr lang="sv-SE" sz="2000" dirty="0">
                    <a:sym typeface="Wingdings" panose="05000000000000000000" pitchFamily="2" charset="2"/>
                  </a:rPr>
                  <a:t> </a:t>
                </a:r>
                <a:r>
                  <a:rPr lang="sv-SE" sz="2000" dirty="0" err="1">
                    <a:sym typeface="Wingdings" panose="05000000000000000000" pitchFamily="2" charset="2"/>
                  </a:rPr>
                  <a:t>penalize</a:t>
                </a:r>
                <a:r>
                  <a:rPr lang="sv-SE" sz="2000" dirty="0">
                    <a:sym typeface="Wingdings" panose="05000000000000000000" pitchFamily="2" charset="2"/>
                  </a:rPr>
                  <a:t> </a:t>
                </a:r>
                <a:r>
                  <a:rPr lang="sv-SE" sz="2000" dirty="0" err="1">
                    <a:sym typeface="Wingdings" panose="05000000000000000000" pitchFamily="2" charset="2"/>
                  </a:rPr>
                  <a:t>complexity</a:t>
                </a:r>
                <a:r>
                  <a:rPr lang="sv-SE" sz="2000" dirty="0">
                    <a:sym typeface="Wingdings" panose="05000000000000000000" pitchFamily="2" charset="2"/>
                  </a:rPr>
                  <a:t>!</a:t>
                </a:r>
              </a:p>
              <a:p>
                <a:pPr lvl="1"/>
                <a:r>
                  <a:rPr lang="sv-SE" sz="1600" dirty="0">
                    <a:sym typeface="Wingdings" panose="05000000000000000000" pitchFamily="2" charset="2"/>
                  </a:rPr>
                  <a:t>The </a:t>
                </a:r>
                <a:r>
                  <a:rPr lang="sv-SE" sz="1600" dirty="0" err="1">
                    <a:sym typeface="Wingdings" panose="05000000000000000000" pitchFamily="2" charset="2"/>
                  </a:rPr>
                  <a:t>more</a:t>
                </a:r>
                <a:r>
                  <a:rPr lang="sv-SE" sz="1600" dirty="0">
                    <a:sym typeface="Wingdings" panose="05000000000000000000" pitchFamily="2" charset="2"/>
                  </a:rPr>
                  <a:t> </a:t>
                </a:r>
                <a:r>
                  <a:rPr lang="sv-SE" sz="1600" dirty="0" err="1">
                    <a:sym typeface="Wingdings" panose="05000000000000000000" pitchFamily="2" charset="2"/>
                  </a:rPr>
                  <a:t>coefficients</a:t>
                </a:r>
                <a:r>
                  <a:rPr lang="sv-SE" sz="1600" dirty="0">
                    <a:sym typeface="Wingdings" panose="05000000000000000000" pitchFamily="2" charset="2"/>
                  </a:rPr>
                  <a:t> </a:t>
                </a:r>
                <a:r>
                  <a:rPr lang="sv-SE" sz="1600" dirty="0" err="1">
                    <a:sym typeface="Wingdings" panose="05000000000000000000" pitchFamily="2" charset="2"/>
                  </a:rPr>
                  <a:t>close</a:t>
                </a:r>
                <a:r>
                  <a:rPr lang="sv-SE" sz="1600" dirty="0">
                    <a:sym typeface="Wingdings" panose="05000000000000000000" pitchFamily="2" charset="2"/>
                  </a:rPr>
                  <a:t> to </a:t>
                </a:r>
                <a:r>
                  <a:rPr lang="sv-SE" sz="1600" dirty="0" err="1">
                    <a:sym typeface="Wingdings" panose="05000000000000000000" pitchFamily="2" charset="2"/>
                  </a:rPr>
                  <a:t>zero</a:t>
                </a:r>
                <a:r>
                  <a:rPr lang="sv-SE" sz="1600" dirty="0">
                    <a:sym typeface="Wingdings" panose="05000000000000000000" pitchFamily="2" charset="2"/>
                  </a:rPr>
                  <a:t>, the less </a:t>
                </a:r>
                <a:r>
                  <a:rPr lang="sv-SE" sz="1600" dirty="0" err="1">
                    <a:sym typeface="Wingdings" panose="05000000000000000000" pitchFamily="2" charset="2"/>
                  </a:rPr>
                  <a:t>complex</a:t>
                </a:r>
                <a:r>
                  <a:rPr lang="sv-SE" sz="1600" dirty="0">
                    <a:sym typeface="Wingdings" panose="05000000000000000000" pitchFamily="2" charset="2"/>
                  </a:rPr>
                  <a:t> the </a:t>
                </a:r>
                <a:r>
                  <a:rPr lang="sv-SE" sz="1600" dirty="0" err="1">
                    <a:sym typeface="Wingdings" panose="05000000000000000000" pitchFamily="2" charset="2"/>
                  </a:rPr>
                  <a:t>model</a:t>
                </a:r>
                <a:r>
                  <a:rPr lang="sv-SE" sz="1600" dirty="0">
                    <a:sym typeface="Wingdings" panose="05000000000000000000" pitchFamily="2" charset="2"/>
                  </a:rPr>
                  <a:t> is</a:t>
                </a:r>
              </a:p>
              <a:p>
                <a:pPr lvl="1"/>
                <a:endParaRPr lang="sv-SE" sz="1600" dirty="0">
                  <a:sym typeface="Wingdings" panose="05000000000000000000" pitchFamily="2" charset="2"/>
                </a:endParaRPr>
              </a:p>
              <a:p>
                <a:r>
                  <a:rPr lang="sv-SE" sz="2000" b="1" dirty="0">
                    <a:solidFill>
                      <a:srgbClr val="0000FF"/>
                    </a:solidFill>
                    <a:sym typeface="Wingdings" panose="05000000000000000000" pitchFamily="2" charset="2"/>
                  </a:rPr>
                  <a:t>L2 </a:t>
                </a:r>
                <a:r>
                  <a:rPr lang="sv-SE" sz="2000" b="1" dirty="0" err="1">
                    <a:solidFill>
                      <a:srgbClr val="0000FF"/>
                    </a:solidFill>
                    <a:sym typeface="Wingdings" panose="05000000000000000000" pitchFamily="2" charset="2"/>
                  </a:rPr>
                  <a:t>regularization</a:t>
                </a:r>
                <a:r>
                  <a:rPr lang="sv-SE" sz="2000" dirty="0">
                    <a:sym typeface="Wingdings" panose="05000000000000000000" pitchFamily="2" charset="2"/>
                  </a:rPr>
                  <a:t> in </a:t>
                </a:r>
                <a:r>
                  <a:rPr lang="sv-SE" sz="2000" dirty="0" err="1">
                    <a:sym typeface="Wingdings" panose="05000000000000000000" pitchFamily="2" charset="2"/>
                  </a:rPr>
                  <a:t>linear</a:t>
                </a:r>
                <a:r>
                  <a:rPr lang="sv-SE" sz="2000" dirty="0">
                    <a:sym typeface="Wingdings" panose="05000000000000000000" pitchFamily="2" charset="2"/>
                  </a:rPr>
                  <a:t> (</a:t>
                </a:r>
                <a:r>
                  <a:rPr lang="sv-SE" sz="2000" dirty="0" err="1">
                    <a:sym typeface="Wingdings" panose="05000000000000000000" pitchFamily="2" charset="2"/>
                  </a:rPr>
                  <a:t>polynomial</a:t>
                </a:r>
                <a:r>
                  <a:rPr lang="sv-SE" sz="2000" dirty="0">
                    <a:sym typeface="Wingdings" panose="05000000000000000000" pitchFamily="2" charset="2"/>
                  </a:rPr>
                  <a:t>) regression = </a:t>
                </a:r>
                <a:r>
                  <a:rPr lang="sv-SE" sz="2000" b="1" dirty="0">
                    <a:solidFill>
                      <a:srgbClr val="0000FF"/>
                    </a:solidFill>
                    <a:sym typeface="Wingdings" panose="05000000000000000000" pitchFamily="2" charset="2"/>
                  </a:rPr>
                  <a:t>Ridge regression</a:t>
                </a:r>
              </a:p>
              <a:p>
                <a:pPr lvl="1"/>
                <a:r>
                  <a:rPr lang="sv-SE" sz="1600" dirty="0" err="1">
                    <a:sym typeface="Wingdings" panose="05000000000000000000" pitchFamily="2" charset="2"/>
                  </a:rPr>
                  <a:t>Training</a:t>
                </a:r>
                <a:r>
                  <a:rPr lang="sv-SE" sz="1600" dirty="0">
                    <a:sym typeface="Wingdings" panose="05000000000000000000" pitchFamily="2" charset="2"/>
                  </a:rPr>
                  <a:t> data </a:t>
                </a:r>
                <a:r>
                  <a:rPr lang="sv-SE" sz="1600" b="1" dirty="0" err="1">
                    <a:sym typeface="Wingdings" panose="05000000000000000000" pitchFamily="2" charset="2"/>
                  </a:rPr>
                  <a:t>are</a:t>
                </a:r>
                <a:r>
                  <a:rPr lang="sv-SE" sz="1600" b="1" dirty="0">
                    <a:sym typeface="Wingdings" panose="05000000000000000000" pitchFamily="2" charset="2"/>
                  </a:rPr>
                  <a:t> </a:t>
                </a:r>
                <a:r>
                  <a:rPr lang="sv-SE" sz="1600" b="1" dirty="0" err="1">
                    <a:sym typeface="Wingdings" panose="05000000000000000000" pitchFamily="2" charset="2"/>
                  </a:rPr>
                  <a:t>normally</a:t>
                </a:r>
                <a:r>
                  <a:rPr lang="sv-SE" sz="1600" b="1" dirty="0">
                    <a:sym typeface="Wingdings" panose="05000000000000000000" pitchFamily="2" charset="2"/>
                  </a:rPr>
                  <a:t> </a:t>
                </a:r>
                <a:r>
                  <a:rPr lang="sv-SE" sz="1600" dirty="0" err="1">
                    <a:sym typeface="Wingdings" panose="05000000000000000000" pitchFamily="2" charset="2"/>
                  </a:rPr>
                  <a:t>scaled</a:t>
                </a:r>
                <a:r>
                  <a:rPr lang="sv-SE" sz="1600" dirty="0">
                    <a:sym typeface="Wingdings" panose="05000000000000000000" pitchFamily="2" charset="2"/>
                  </a:rPr>
                  <a:t> (</a:t>
                </a:r>
                <a:r>
                  <a:rPr lang="sv-SE" sz="1600" dirty="0" err="1">
                    <a:sym typeface="Wingdings" panose="05000000000000000000" pitchFamily="2" charset="2"/>
                  </a:rPr>
                  <a:t>one</a:t>
                </a:r>
                <a:r>
                  <a:rPr lang="sv-SE" sz="1600" dirty="0">
                    <a:sym typeface="Wingdings" panose="05000000000000000000" pitchFamily="2" charset="2"/>
                  </a:rPr>
                  <a:t> </a:t>
                </a:r>
                <a14:m>
                  <m:oMath xmlns:m="http://schemas.openxmlformats.org/officeDocument/2006/math">
                    <m:r>
                      <a:rPr lang="sv-SE" sz="16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𝜆</m:t>
                    </m:r>
                  </m:oMath>
                </a14:m>
                <a:r>
                  <a:rPr lang="sv-SE" sz="1600" dirty="0">
                    <a:sym typeface="Wingdings" panose="05000000000000000000" pitchFamily="2" charset="2"/>
                  </a:rPr>
                  <a:t> for all features!)</a:t>
                </a:r>
              </a:p>
              <a:p>
                <a:pPr marL="457200" lvl="1" indent="0">
                  <a:buNone/>
                </a:pPr>
                <a:endParaRPr lang="sv-SE" sz="20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sv-SE" sz="20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sv-SE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sv-SE" sz="2000" b="0" i="0" smtClean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sv-SE" sz="2000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sv-SE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sv-SE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sv-SE" sz="20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  <m:nary>
                            <m:naryPr>
                              <m:chr m:val="∑"/>
                              <m:ctrlPr>
                                <a:rPr lang="sv-SE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sv-SE" sz="20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sv-SE" sz="2000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sv-SE" sz="20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sv-SE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sv-SE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sv-SE" sz="20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sv-SE" sz="2000" b="1" i="1" smtClean="0">
                                              <a:latin typeface="Cambria Math" panose="02040503050406030204" pitchFamily="18" charset="0"/>
                                            </a:rPr>
                                            <m:t>𝒚</m:t>
                                          </m:r>
                                        </m:e>
                                        <m:sub>
                                          <m:r>
                                            <a:rPr lang="sv-SE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sv-SE" sz="2000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p>
                                        <m:sSupPr>
                                          <m:ctrlPr>
                                            <a:rPr lang="sv-SE" sz="20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sv-SE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</m:e>
                                        <m:sup>
                                          <m:r>
                                            <a:rPr lang="sv-SE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𝑇</m:t>
                                          </m:r>
                                        </m:sup>
                                      </m:sSup>
                                      <m:sSub>
                                        <m:sSubPr>
                                          <m:ctrlPr>
                                            <a:rPr lang="sv-SE" sz="20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sv-SE" sz="2000" b="1" i="1" smtClean="0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  <m:sub>
                                          <m:r>
                                            <a:rPr lang="sv-SE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sv-SE" sz="20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sv-SE" sz="20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sv-SE" sz="2000" b="0" i="1" smtClean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  <m:nary>
                                <m:naryPr>
                                  <m:chr m:val="∑"/>
                                  <m:ctrlPr>
                                    <a:rPr lang="sv-SE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sv-SE" sz="2000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sv-SE" sz="2000" b="0" i="1" smtClean="0"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sv-SE" sz="2000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sup>
                                <m:e>
                                  <m:sSubSup>
                                    <m:sSubSupPr>
                                      <m:ctrlPr>
                                        <a:rPr lang="sv-SE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sv-SE" sz="2000" b="0" i="1" smtClean="0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sv-SE" sz="2000" b="0" i="1" smtClean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  <m:sup>
                                      <m:r>
                                        <a:rPr lang="sv-SE" sz="20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</m:e>
                              </m:nary>
                            </m:e>
                          </m:nary>
                        </m:e>
                      </m:func>
                      <m:r>
                        <a:rPr lang="sv-SE" sz="2000" b="0" i="1" smtClean="0">
                          <a:latin typeface="Cambria Math" panose="02040503050406030204" pitchFamily="18" charset="0"/>
                        </a:rPr>
                        <m:t>,     </m:t>
                      </m:r>
                      <m:r>
                        <a:rPr lang="sv-SE" sz="2000" b="0" i="1" smtClean="0"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sv-SE" sz="2000" b="0" i="1" smtClean="0">
                          <a:latin typeface="Cambria Math" panose="02040503050406030204" pitchFamily="18" charset="0"/>
                        </a:rPr>
                        <m:t>&gt;0</m:t>
                      </m:r>
                    </m:oMath>
                  </m:oMathPara>
                </a14:m>
                <a:endParaRPr lang="sv-SE" sz="2000" b="0" dirty="0"/>
              </a:p>
              <a:p>
                <a:pPr marL="0" indent="0">
                  <a:buNone/>
                </a:pPr>
                <a:endParaRPr lang="sv-SE" sz="2000" dirty="0"/>
              </a:p>
            </p:txBody>
          </p:sp>
        </mc:Choice>
        <mc:Fallback xmlns="">
          <p:sp>
            <p:nvSpPr>
              <p:cNvPr id="3" name="Platshållare för innehåll 2">
                <a:extLst>
                  <a:ext uri="{FF2B5EF4-FFF2-40B4-BE49-F238E27FC236}">
                    <a16:creationId xmlns:a16="http://schemas.microsoft.com/office/drawing/2014/main" id="{3D66806B-5968-4A1F-A4BA-2D05EF0E384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67" t="-809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0C07490C-DC8F-45DA-B3EC-13A8BA96D7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732A99/TDDE01</a:t>
            </a:r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785319A7-8A78-40D0-8EC9-12970B190F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7B2DAB0-3E44-4037-BFD8-EC40824E78A2}" type="slidenum">
              <a:rPr lang="sv-SE" smtClean="0"/>
              <a:pPr>
                <a:defRPr/>
              </a:pPr>
              <a:t>21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09750208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 err="1"/>
              <a:t>Regularization</a:t>
            </a:r>
            <a:endParaRPr lang="sv-S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ln>
                <a:noFill/>
              </a:ln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sz="2400" dirty="0"/>
                  <a:t>Equivalent form</a:t>
                </a:r>
              </a:p>
              <a:p>
                <a:pPr marL="0" indent="0">
                  <a:buNone/>
                </a:pPr>
                <a:endParaRPr lang="sv-SE" sz="2400" b="1" i="1" dirty="0">
                  <a:latin typeface="Cambria Math"/>
                </a:endParaRPr>
              </a:p>
              <a:p>
                <a:pPr marL="0" indent="0">
                  <a:buNone/>
                </a:pPr>
                <a:endParaRPr lang="sv-SE" sz="2400" b="1" i="1" dirty="0">
                  <a:solidFill>
                    <a:schemeClr val="tx1"/>
                  </a:solidFill>
                  <a:latin typeface="Cambria Math"/>
                </a:endParaRPr>
              </a:p>
              <a:p>
                <a:pPr marL="0" indent="0">
                  <a:buNone/>
                </a:pPr>
                <a:endParaRPr lang="sv-SE" sz="2400" b="1" i="1" dirty="0">
                  <a:latin typeface="Cambria Math"/>
                </a:endParaRPr>
              </a:p>
              <a:p>
                <a:pPr marL="0" indent="0">
                  <a:buNone/>
                </a:pPr>
                <a:endParaRPr lang="sv-SE" sz="2400" b="1" i="1" dirty="0">
                  <a:solidFill>
                    <a:schemeClr val="tx1"/>
                  </a:solidFill>
                  <a:latin typeface="Cambria Math"/>
                </a:endParaRPr>
              </a:p>
              <a:p>
                <a:pPr marL="0" indent="0">
                  <a:buNone/>
                </a:pPr>
                <a:r>
                  <a:rPr lang="sv-SE" sz="2400" b="1" i="1" dirty="0">
                    <a:latin typeface="Cambria Math"/>
                  </a:rPr>
                  <a:t>Solution           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sv-SE" sz="24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̂"/>
                            <m:ctrlPr>
                              <a:rPr lang="sv-SE" sz="24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sv-SE" sz="24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𝜽</m:t>
                            </m:r>
                          </m:e>
                        </m:acc>
                      </m:e>
                      <m:sup>
                        <m:r>
                          <a:rPr lang="sv-SE" sz="2400" b="1" i="1" dirty="0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𝒓𝒊𝒅𝒈𝒆</m:t>
                        </m:r>
                      </m:sup>
                    </m:sSup>
                    <m:r>
                      <a:rPr lang="sv-SE" sz="2400" b="1" i="1" dirty="0" smtClean="0">
                        <a:solidFill>
                          <a:schemeClr val="tx1"/>
                        </a:solidFill>
                        <a:latin typeface="Cambria Math"/>
                      </a:rPr>
                      <m:t>=</m:t>
                    </m:r>
                    <m:sSup>
                      <m:sSupPr>
                        <m:ctrlPr>
                          <a:rPr lang="sv-SE" sz="24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sv-SE" sz="2400" b="1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sv-SE" sz="2400" b="1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sv-SE" sz="2400" b="1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𝑿</m:t>
                                </m:r>
                              </m:e>
                              <m:sup>
                                <m:r>
                                  <a:rPr lang="sv-SE" sz="2400" b="1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𝑻</m:t>
                                </m:r>
                              </m:sup>
                            </m:sSup>
                            <m:r>
                              <a:rPr lang="sv-SE" sz="2400" b="1" i="1" dirty="0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𝑿</m:t>
                            </m:r>
                            <m:r>
                              <a:rPr lang="sv-SE" sz="2400" b="1" i="1" dirty="0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+</m:t>
                            </m:r>
                            <m:r>
                              <a:rPr lang="sv-SE" sz="2400" b="0" i="1" dirty="0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𝜆</m:t>
                            </m:r>
                            <m:r>
                              <a:rPr lang="sv-SE" sz="2400" b="1" i="1" dirty="0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𝑰</m:t>
                            </m:r>
                          </m:e>
                        </m:d>
                      </m:e>
                      <m:sup>
                        <m:r>
                          <a:rPr lang="sv-SE" sz="2400" b="1" i="1" dirty="0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−</m:t>
                        </m:r>
                        <m:r>
                          <a:rPr lang="sv-SE" sz="2400" b="1" i="1" dirty="0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𝟏</m:t>
                        </m:r>
                      </m:sup>
                    </m:sSup>
                    <m:sSup>
                      <m:sSupPr>
                        <m:ctrlPr>
                          <a:rPr lang="sv-SE" sz="24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sv-SE" sz="2400" b="1" i="1" dirty="0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𝑿</m:t>
                        </m:r>
                      </m:e>
                      <m:sup>
                        <m:r>
                          <a:rPr lang="sv-SE" sz="2400" b="1" i="1" dirty="0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𝑻</m:t>
                        </m:r>
                      </m:sup>
                    </m:sSup>
                    <m:r>
                      <a:rPr lang="sv-SE" sz="2400" b="1" i="1" dirty="0" smtClean="0">
                        <a:solidFill>
                          <a:schemeClr val="tx1"/>
                        </a:solidFill>
                        <a:latin typeface="Cambria Math"/>
                      </a:rPr>
                      <m:t>𝒚</m:t>
                    </m:r>
                  </m:oMath>
                </a14:m>
                <a:endParaRPr lang="sv-SE" sz="24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111" t="-107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732A99/TDDE01</a:t>
            </a:r>
            <a:endParaRPr lang="sv-SE" dirty="0"/>
          </a:p>
        </p:txBody>
      </p:sp>
      <p:sp>
        <p:nvSpPr>
          <p:cNvPr id="5" name="Rectangle 4"/>
          <p:cNvSpPr/>
          <p:nvPr/>
        </p:nvSpPr>
        <p:spPr>
          <a:xfrm>
            <a:off x="2483767" y="3840647"/>
            <a:ext cx="3816424" cy="50405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7B2DAB0-3E44-4037-BFD8-EC40824E78A2}" type="slidenum">
              <a:rPr lang="sv-SE" smtClean="0"/>
              <a:pPr>
                <a:defRPr/>
              </a:pPr>
              <a:t>22</a:t>
            </a:fld>
            <a:endParaRPr lang="sv-S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Object 6"/>
              <p:cNvSpPr txBox="1"/>
              <p:nvPr/>
            </p:nvSpPr>
            <p:spPr bwMode="auto">
              <a:xfrm>
                <a:off x="2627313" y="2060575"/>
                <a:ext cx="4746625" cy="151288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85000" lnSpcReduction="1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sv-SE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̂"/>
                              <m:ctrlPr>
                                <a:rPr lang="sv-SE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sv-SE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acc>
                        </m:e>
                        <m:sup>
                          <m:r>
                            <a:rPr lang="sv-SE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𝑟𝑖𝑑𝑔𝑒</m:t>
                          </m:r>
                        </m:sup>
                      </m:sSup>
                      <m:r>
                        <a:rPr lang="sv-SE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sv-SE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argmin</m:t>
                      </m:r>
                      <m:nary>
                        <m:naryPr>
                          <m:chr m:val="∑"/>
                          <m:ctrlPr>
                            <a:rPr lang="sv-SE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sv-SE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sv-SE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sv-SE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r>
                            <a:rPr lang="sv-SE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sv-SE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sv-SE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sv-SE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sv-SE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sv-SE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sv-SE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sv-SE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sv-SE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sv-SE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sv-SE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sv-SE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sv-SE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sv-SE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sv-SE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sv-SE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sv-SE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−...−</m:t>
                          </m:r>
                          <m:sSub>
                            <m:sSubPr>
                              <m:ctrlPr>
                                <a:rPr lang="sv-SE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sv-SE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sv-SE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  <m:sSub>
                            <m:sSubPr>
                              <m:ctrlPr>
                                <a:rPr lang="sv-SE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sv-SE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sv-SE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𝑝𝑗</m:t>
                              </m:r>
                            </m:sub>
                          </m:sSub>
                          <m:sSup>
                            <m:sSupPr>
                              <m:ctrlPr>
                                <a:rPr lang="sv-SE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sv-SE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sv-SE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  <m:oMath xmlns:m="http://schemas.openxmlformats.org/officeDocument/2006/math">
                      <m:r>
                        <m:rPr>
                          <m:sty m:val="p"/>
                        </m:rPr>
                        <a:rPr lang="sv-SE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subject</m:t>
                      </m:r>
                      <m:r>
                        <a:rPr lang="sv-SE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sv-SE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to</m:t>
                      </m:r>
                      <m:r>
                        <a:rPr lang="sv-SE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nary>
                        <m:naryPr>
                          <m:chr m:val="∑"/>
                          <m:ctrlPr>
                            <a:rPr lang="sv-SE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sv-SE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sv-SE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sv-SE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p>
                        <m:e>
                          <m:sSubSup>
                            <m:sSubSupPr>
                              <m:ctrlPr>
                                <a:rPr lang="sv-SE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sv-SE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sv-SE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sv-SE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sv-SE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sv-SE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sv-SE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       </m:t>
                          </m:r>
                          <m:r>
                            <a:rPr lang="sv-SE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sv-SE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&gt;0</m:t>
                          </m:r>
                        </m:e>
                      </m:nary>
                    </m:oMath>
                  </m:oMathPara>
                </a14:m>
                <a:endParaRPr lang="sv-SE" dirty="0"/>
              </a:p>
            </p:txBody>
          </p:sp>
        </mc:Choice>
        <mc:Fallback xmlns="">
          <p:sp>
            <p:nvSpPr>
              <p:cNvPr id="7" name="Object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627313" y="2060575"/>
                <a:ext cx="4746625" cy="151288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Object 9"/>
              <p:cNvSpPr txBox="1"/>
              <p:nvPr/>
            </p:nvSpPr>
            <p:spPr bwMode="auto">
              <a:xfrm>
                <a:off x="2339752" y="4624164"/>
                <a:ext cx="4686300" cy="4699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sv-SE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sv-SE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y</m:t>
                          </m:r>
                        </m:e>
                      </m:acc>
                      <m:r>
                        <a:rPr lang="sv-SE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sv-SE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𝑿</m:t>
                      </m:r>
                      <m:acc>
                        <m:accPr>
                          <m:chr m:val="̂"/>
                          <m:ctrlPr>
                            <a:rPr lang="sv-SE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sv-SE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</m:acc>
                      <m:r>
                        <a:rPr lang="sv-SE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sv-SE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𝑿</m:t>
                      </m:r>
                      <m:r>
                        <a:rPr lang="sv-SE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sv-SE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sv-SE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a:rPr lang="sv-SE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a:rPr lang="sv-SE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𝑿</m:t>
                      </m:r>
                      <m:r>
                        <a:rPr lang="sv-SE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sv-SE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sv-SE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𝑰</m:t>
                      </m:r>
                      <m:sSup>
                        <m:sSupPr>
                          <m:ctrlPr>
                            <a:rPr lang="sv-SE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sv-SE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sv-SE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sSup>
                        <m:sSupPr>
                          <m:ctrlPr>
                            <a:rPr lang="sv-SE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sv-SE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a:rPr lang="sv-SE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a:rPr lang="sv-SE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sv-SE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sv-SE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𝑷𝒚</m:t>
                      </m:r>
                    </m:oMath>
                  </m:oMathPara>
                </a14:m>
                <a:endParaRPr lang="sv-SE" b="1" dirty="0"/>
              </a:p>
            </p:txBody>
          </p:sp>
        </mc:Choice>
        <mc:Fallback xmlns="">
          <p:sp>
            <p:nvSpPr>
              <p:cNvPr id="10" name="Object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339752" y="4624164"/>
                <a:ext cx="4686300" cy="469900"/>
              </a:xfrm>
              <a:prstGeom prst="rect">
                <a:avLst/>
              </a:prstGeom>
              <a:blipFill>
                <a:blip r:embed="rId5"/>
                <a:stretch>
                  <a:fillRect t="-1299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/>
          <p:cNvSpPr txBox="1"/>
          <p:nvPr/>
        </p:nvSpPr>
        <p:spPr>
          <a:xfrm>
            <a:off x="7230961" y="4102700"/>
            <a:ext cx="1440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dirty="0"/>
              <a:t>Hat matrix</a:t>
            </a:r>
          </a:p>
        </p:txBody>
      </p:sp>
      <p:cxnSp>
        <p:nvCxnSpPr>
          <p:cNvPr id="13" name="Straight Arrow Connector 12"/>
          <p:cNvCxnSpPr>
            <a:cxnSpLocks/>
          </p:cNvCxnSpPr>
          <p:nvPr/>
        </p:nvCxnSpPr>
        <p:spPr>
          <a:xfrm flipH="1">
            <a:off x="5868144" y="4445145"/>
            <a:ext cx="1604022" cy="30687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870921" y="4624164"/>
            <a:ext cx="216024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dirty="0" err="1">
                <a:solidFill>
                  <a:srgbClr val="7030A0"/>
                </a:solidFill>
              </a:rPr>
              <a:t>How</a:t>
            </a:r>
            <a:r>
              <a:rPr lang="sv-SE" dirty="0">
                <a:solidFill>
                  <a:srgbClr val="7030A0"/>
                </a:solidFill>
              </a:rPr>
              <a:t> do </a:t>
            </a:r>
            <a:r>
              <a:rPr lang="sv-SE" dirty="0" err="1">
                <a:solidFill>
                  <a:srgbClr val="7030A0"/>
                </a:solidFill>
              </a:rPr>
              <a:t>we</a:t>
            </a:r>
            <a:r>
              <a:rPr lang="sv-SE" dirty="0">
                <a:solidFill>
                  <a:srgbClr val="7030A0"/>
                </a:solidFill>
              </a:rPr>
              <a:t> </a:t>
            </a:r>
            <a:r>
              <a:rPr lang="sv-SE" dirty="0" err="1">
                <a:solidFill>
                  <a:srgbClr val="7030A0"/>
                </a:solidFill>
              </a:rPr>
              <a:t>compute</a:t>
            </a:r>
            <a:r>
              <a:rPr lang="sv-SE" dirty="0">
                <a:solidFill>
                  <a:srgbClr val="7030A0"/>
                </a:solidFill>
              </a:rPr>
              <a:t> </a:t>
            </a:r>
            <a:r>
              <a:rPr lang="sv-SE" dirty="0" err="1">
                <a:solidFill>
                  <a:srgbClr val="7030A0"/>
                </a:solidFill>
              </a:rPr>
              <a:t>degrees</a:t>
            </a:r>
            <a:r>
              <a:rPr lang="sv-SE" dirty="0">
                <a:solidFill>
                  <a:srgbClr val="7030A0"/>
                </a:solidFill>
              </a:rPr>
              <a:t> </a:t>
            </a:r>
            <a:r>
              <a:rPr lang="sv-SE" dirty="0" err="1">
                <a:solidFill>
                  <a:srgbClr val="7030A0"/>
                </a:solidFill>
              </a:rPr>
              <a:t>of</a:t>
            </a:r>
            <a:r>
              <a:rPr lang="sv-SE" dirty="0">
                <a:solidFill>
                  <a:srgbClr val="7030A0"/>
                </a:solidFill>
              </a:rPr>
              <a:t> </a:t>
            </a:r>
            <a:r>
              <a:rPr lang="sv-SE" dirty="0" err="1">
                <a:solidFill>
                  <a:srgbClr val="7030A0"/>
                </a:solidFill>
              </a:rPr>
              <a:t>freedom</a:t>
            </a:r>
            <a:r>
              <a:rPr lang="sv-SE" dirty="0">
                <a:solidFill>
                  <a:srgbClr val="7030A0"/>
                </a:solidFill>
              </a:rPr>
              <a:t> </a:t>
            </a:r>
            <a:r>
              <a:rPr lang="sv-SE" dirty="0" err="1">
                <a:solidFill>
                  <a:srgbClr val="7030A0"/>
                </a:solidFill>
              </a:rPr>
              <a:t>here</a:t>
            </a:r>
            <a:r>
              <a:rPr lang="sv-SE" dirty="0">
                <a:solidFill>
                  <a:srgbClr val="7030A0"/>
                </a:solidFill>
              </a:rPr>
              <a:t>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ruta 16">
                <a:extLst>
                  <a:ext uri="{FF2B5EF4-FFF2-40B4-BE49-F238E27FC236}">
                    <a16:creationId xmlns:a16="http://schemas.microsoft.com/office/drawing/2014/main" id="{7838768E-C62C-4730-B398-CFE7E95C66B5}"/>
                  </a:ext>
                </a:extLst>
              </p:cNvPr>
              <p:cNvSpPr txBox="1"/>
              <p:nvPr/>
            </p:nvSpPr>
            <p:spPr>
              <a:xfrm>
                <a:off x="328808" y="5800326"/>
                <a:ext cx="5971383" cy="37427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Font typeface="Arial" panose="020B0604020202020204" pitchFamily="34" charset="0"/>
                  <a:buChar char="•"/>
                </a:pPr>
                <a:r>
                  <a:rPr lang="en-GB" altLang="sv-SE" sz="1800" b="1" dirty="0">
                    <a:solidFill>
                      <a:srgbClr val="C00000"/>
                    </a:solidFill>
                    <a:latin typeface="Arial" pitchFamily="34" charset="0"/>
                  </a:rPr>
                  <a:t>Note: </a:t>
                </a:r>
                <a:r>
                  <a:rPr lang="en-GB" altLang="sv-SE" sz="1800" dirty="0">
                    <a:latin typeface="Arial" pitchFamily="34" charset="0"/>
                  </a:rPr>
                  <a:t>if </a:t>
                </a:r>
                <a14:m>
                  <m:oMath xmlns:m="http://schemas.openxmlformats.org/officeDocument/2006/math">
                    <m:r>
                      <a:rPr lang="sv-SE" altLang="sv-SE" sz="1800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sv-SE" altLang="sv-SE" sz="1800" b="0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sv-SE" altLang="sv-SE" sz="18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GB" altLang="sv-SE" sz="1800" dirty="0">
                    <a:solidFill>
                      <a:srgbClr val="C00000"/>
                    </a:solidFill>
                    <a:latin typeface="Arial" pitchFamily="34" charset="0"/>
                  </a:rPr>
                  <a:t> </a:t>
                </a:r>
                <a:r>
                  <a:rPr lang="en-GB" altLang="sv-SE" sz="1800" dirty="0">
                    <a:latin typeface="Arial" pitchFamily="34" charset="0"/>
                  </a:rPr>
                  <a:t>then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sv-SE" sz="18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sv-SE" sz="18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p>
                        <m:r>
                          <a:rPr lang="sv-SE" sz="18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𝑻</m:t>
                        </m:r>
                      </m:sup>
                    </m:sSup>
                    <m:r>
                      <a:rPr lang="sv-SE" sz="1800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𝑿</m:t>
                    </m:r>
                  </m:oMath>
                </a14:m>
                <a:r>
                  <a:rPr lang="en-GB" altLang="sv-SE" sz="1800" dirty="0">
                    <a:latin typeface="Arial" pitchFamily="34" charset="0"/>
                  </a:rPr>
                  <a:t> </a:t>
                </a:r>
                <a:r>
                  <a:rPr lang="en-GB" altLang="sv-SE" sz="1800" b="1" dirty="0">
                    <a:latin typeface="Arial" pitchFamily="34" charset="0"/>
                  </a:rPr>
                  <a:t>is</a:t>
                </a:r>
                <a:r>
                  <a:rPr lang="en-GB" altLang="sv-SE" sz="1800" dirty="0">
                    <a:latin typeface="Arial" pitchFamily="34" charset="0"/>
                  </a:rPr>
                  <a:t> invertible for large enough </a:t>
                </a:r>
                <a14:m>
                  <m:oMath xmlns:m="http://schemas.openxmlformats.org/officeDocument/2006/math">
                    <m:r>
                      <a:rPr lang="sv-SE" altLang="sv-SE" sz="1800" b="0" i="1" smtClean="0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endParaRPr lang="en-GB" altLang="sv-SE" sz="1800" dirty="0">
                  <a:latin typeface="Arial" pitchFamily="34" charset="0"/>
                </a:endParaRPr>
              </a:p>
            </p:txBody>
          </p:sp>
        </mc:Choice>
        <mc:Fallback xmlns="">
          <p:sp>
            <p:nvSpPr>
              <p:cNvPr id="17" name="textruta 16">
                <a:extLst>
                  <a:ext uri="{FF2B5EF4-FFF2-40B4-BE49-F238E27FC236}">
                    <a16:creationId xmlns:a16="http://schemas.microsoft.com/office/drawing/2014/main" id="{7838768E-C62C-4730-B398-CFE7E95C66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8808" y="5800326"/>
                <a:ext cx="5971383" cy="374270"/>
              </a:xfrm>
              <a:prstGeom prst="rect">
                <a:avLst/>
              </a:prstGeom>
              <a:blipFill>
                <a:blip r:embed="rId6"/>
                <a:stretch>
                  <a:fillRect l="-715" t="-6452" b="-24194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108080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Classification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6779096" cy="4525963"/>
              </a:xfrm>
            </p:spPr>
            <p:txBody>
              <a:bodyPr>
                <a:normAutofit/>
              </a:bodyPr>
              <a:lstStyle/>
              <a:p>
                <a:r>
                  <a:rPr lang="en-US" sz="2000" dirty="0"/>
                  <a:t>Given data 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/>
                      </a:rPr>
                      <m:t>𝐷</m:t>
                    </m:r>
                    <m:r>
                      <a:rPr lang="en-US" sz="2000" b="0" i="1" smtClean="0">
                        <a:latin typeface="Cambria Math"/>
                      </a:rPr>
                      <m:t>=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sv-SE" sz="2000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sz="2000" b="0" i="1" smtClean="0">
                                    <a:latin typeface="Cambria Math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sz="2000" b="0" i="1" smtClean="0">
                                <a:latin typeface="Cambria Math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sv-SE" sz="20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sz="2000" b="0" i="1" smtClean="0">
                                    <a:latin typeface="Cambria Math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  <m:r>
                          <a:rPr lang="en-US" sz="2000" b="0" i="1" smtClean="0">
                            <a:latin typeface="Cambria Math"/>
                          </a:rPr>
                          <m:t>, </m:t>
                        </m:r>
                        <m:r>
                          <a:rPr lang="en-US" sz="2000" b="0" i="1" smtClean="0">
                            <a:latin typeface="Cambria Math"/>
                          </a:rPr>
                          <m:t>𝑖</m:t>
                        </m:r>
                        <m:r>
                          <a:rPr lang="en-US" sz="2000" b="0" i="1" smtClean="0">
                            <a:latin typeface="Cambria Math"/>
                          </a:rPr>
                          <m:t>=1…</m:t>
                        </m:r>
                        <m:r>
                          <a:rPr lang="sv-SE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endParaRPr lang="sv-SE" sz="2000" b="0" dirty="0">
                  <a:ea typeface="Cambria Math"/>
                </a:endParaRP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sv-SE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sv-SE" sz="18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sv-SE" sz="1800" i="1">
                            <a:latin typeface="Cambria Math"/>
                          </a:rPr>
                          <m:t>𝑖</m:t>
                        </m:r>
                      </m:sub>
                    </m:sSub>
                    <m:r>
                      <a:rPr lang="sv-SE" sz="1800" i="1">
                        <a:latin typeface="Cambria Math"/>
                      </a:rPr>
                      <m:t>=</m:t>
                    </m:r>
                    <m:r>
                      <a:rPr lang="sv-SE" sz="18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sv-SE" sz="1800" i="1">
                        <a:latin typeface="Cambria Math"/>
                      </a:rPr>
                      <m:t>(</m:t>
                    </m:r>
                    <m:sSub>
                      <m:sSubPr>
                        <m:ctrlPr>
                          <a:rPr lang="sv-SE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sv-SE" sz="1800" i="1">
                            <a:latin typeface="Cambria Math"/>
                          </a:rPr>
                          <m:t>𝑋</m:t>
                        </m:r>
                      </m:e>
                      <m:sub>
                        <m:r>
                          <a:rPr lang="sv-SE" sz="1800" i="1">
                            <a:latin typeface="Cambria Math"/>
                          </a:rPr>
                          <m:t>𝑖</m:t>
                        </m:r>
                      </m:sub>
                    </m:sSub>
                    <m:r>
                      <a:rPr lang="sv-SE" sz="1800" i="1">
                        <a:latin typeface="Cambria Math"/>
                      </a:rPr>
                      <m:t>)=</m:t>
                    </m:r>
                    <m:sSub>
                      <m:sSubPr>
                        <m:ctrlPr>
                          <a:rPr lang="sv-SE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sv-SE" sz="18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sv-SE" sz="18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sz="1800" i="1">
                        <a:latin typeface="Cambria Math"/>
                        <a:ea typeface="Cambria Math"/>
                      </a:rPr>
                      <m:t>∈</m:t>
                    </m:r>
                    <m:r>
                      <a:rPr lang="sv-SE" sz="1800" b="1" i="1">
                        <a:latin typeface="Cambria Math"/>
                        <a:ea typeface="Cambria Math"/>
                      </a:rPr>
                      <m:t>𝑪</m:t>
                    </m:r>
                  </m:oMath>
                </a14:m>
                <a:endParaRPr lang="en-US" sz="1800" b="0" dirty="0"/>
              </a:p>
              <a:p>
                <a:pPr lvl="1"/>
                <a:r>
                  <a:rPr lang="en-US" sz="1800" dirty="0"/>
                  <a:t>Class set </a:t>
                </a:r>
                <a14:m>
                  <m:oMath xmlns:m="http://schemas.openxmlformats.org/officeDocument/2006/math">
                    <m:r>
                      <a:rPr lang="sv-SE" sz="1800" b="1" i="1" smtClean="0">
                        <a:latin typeface="Cambria Math" panose="02040503050406030204" pitchFamily="18" charset="0"/>
                      </a:rPr>
                      <m:t>𝑪</m:t>
                    </m:r>
                    <m:r>
                      <a:rPr lang="sv-SE" sz="1800" b="0" i="1" smtClean="0">
                        <a:latin typeface="Cambria Math" panose="02040503050406030204" pitchFamily="18" charset="0"/>
                      </a:rPr>
                      <m:t>={</m:t>
                    </m:r>
                    <m:sSub>
                      <m:sSubPr>
                        <m:ctrlPr>
                          <a:rPr lang="sv-SE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sv-SE" sz="18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sv-SE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sv-SE" sz="1800" b="0" i="1" smtClean="0">
                        <a:latin typeface="Cambria Math" panose="02040503050406030204" pitchFamily="18" charset="0"/>
                      </a:rPr>
                      <m:t>,…</m:t>
                    </m:r>
                    <m:sSub>
                      <m:sSubPr>
                        <m:ctrlPr>
                          <a:rPr lang="sv-SE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sv-SE" sz="18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sv-SE" sz="18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sv-SE" sz="1800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sub>
                    </m:sSub>
                    <m:r>
                      <a:rPr lang="sv-SE" sz="1800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sz="1800" i="1" dirty="0"/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00B050"/>
                    </a:solidFill>
                  </a:rPr>
                  <a:t>Classification problem:</a:t>
                </a:r>
              </a:p>
              <a:p>
                <a:r>
                  <a:rPr lang="en-US" sz="2000" dirty="0"/>
                  <a:t>Decide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sv-SE" sz="20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sv-SE" sz="20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d>
                      <m:dPr>
                        <m:ctrlPr>
                          <a:rPr lang="sv-SE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sv-SE" sz="2000" b="1" i="1" smtClean="0">
                            <a:latin typeface="Cambria Math"/>
                          </a:rPr>
                          <m:t>𝒙</m:t>
                        </m:r>
                      </m:e>
                    </m:d>
                    <m:r>
                      <a:rPr lang="sv-SE" sz="2000" b="0" i="1" smtClean="0">
                        <a:latin typeface="Cambria Math"/>
                      </a:rPr>
                      <m:t> </m:t>
                    </m:r>
                  </m:oMath>
                </a14:m>
                <a:r>
                  <a:rPr lang="sv-SE" sz="2000" dirty="0" err="1"/>
                  <a:t>that</a:t>
                </a:r>
                <a:r>
                  <a:rPr lang="sv-SE" sz="2000" dirty="0"/>
                  <a:t> </a:t>
                </a:r>
                <a:r>
                  <a:rPr lang="sv-SE" sz="2000" dirty="0" err="1"/>
                  <a:t>maps</a:t>
                </a:r>
                <a:r>
                  <a:rPr lang="sv-SE" sz="2000" dirty="0"/>
                  <a:t> </a:t>
                </a:r>
                <a:r>
                  <a:rPr lang="sv-SE" sz="2000" b="1" dirty="0" err="1"/>
                  <a:t>any</a:t>
                </a:r>
                <a:r>
                  <a:rPr lang="sv-SE" sz="2000" b="1" dirty="0"/>
                  <a:t> </a:t>
                </a:r>
                <a14:m>
                  <m:oMath xmlns:m="http://schemas.openxmlformats.org/officeDocument/2006/math">
                    <m:r>
                      <a:rPr lang="sv-SE" sz="2000" b="1" i="1" smtClean="0">
                        <a:latin typeface="Cambria Math"/>
                      </a:rPr>
                      <m:t>𝒙</m:t>
                    </m:r>
                  </m:oMath>
                </a14:m>
                <a:r>
                  <a:rPr lang="sv-SE" sz="2000" dirty="0"/>
                  <a:t> </a:t>
                </a:r>
                <a:r>
                  <a:rPr lang="sv-SE" sz="2000" dirty="0" err="1"/>
                  <a:t>into</a:t>
                </a:r>
                <a:r>
                  <a:rPr lang="sv-SE" sz="2000" dirty="0"/>
                  <a:t> </a:t>
                </a:r>
                <a:r>
                  <a:rPr lang="sv-SE" sz="2000" dirty="0" err="1"/>
                  <a:t>some</a:t>
                </a:r>
                <a:r>
                  <a:rPr lang="sv-SE" sz="2000" dirty="0"/>
                  <a:t> </a:t>
                </a:r>
                <a:r>
                  <a:rPr lang="sv-SE" sz="2000" dirty="0" err="1"/>
                  <a:t>class</a:t>
                </a:r>
                <a:r>
                  <a:rPr lang="sv-SE" sz="2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sv-SE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sv-SE" sz="2000"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sv-SE" sz="2000" b="0" i="0" smtClean="0">
                            <a:latin typeface="Cambria Math" panose="02040503050406030204" pitchFamily="18" charset="0"/>
                          </a:rPr>
                          <m:t>j</m:t>
                        </m:r>
                      </m:sub>
                    </m:sSub>
                    <m:r>
                      <a:rPr lang="sv-SE" sz="2000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sv-SE" sz="2000" b="1" i="1" smtClean="0">
                        <a:latin typeface="Cambria Math" panose="02040503050406030204" pitchFamily="18" charset="0"/>
                      </a:rPr>
                      <m:t>𝑪</m:t>
                    </m:r>
                  </m:oMath>
                </a14:m>
                <a:endParaRPr lang="en-US" sz="2000" b="1" i="1" dirty="0">
                  <a:latin typeface="Cambria Math"/>
                </a:endParaRPr>
              </a:p>
              <a:p>
                <a:pPr lvl="1"/>
                <a:r>
                  <a:rPr lang="en-US" sz="1600" dirty="0">
                    <a:latin typeface="Cambria Math"/>
                  </a:rPr>
                  <a:t>Decision boundary</a:t>
                </a:r>
                <a:endParaRPr lang="en-US" sz="1600" b="0" dirty="0">
                  <a:latin typeface="Cambria Math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6779096" cy="4525963"/>
              </a:xfrm>
              <a:blipFill>
                <a:blip r:embed="rId3"/>
                <a:stretch>
                  <a:fillRect l="-899" t="-270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Object 3"/>
          <p:cNvGraphicFramePr>
            <a:graphicFrameLocks noGrp="1" noChangeAspect="1"/>
          </p:cNvGraphicFramePr>
          <p:nvPr/>
        </p:nvGraphicFramePr>
        <p:xfrm>
          <a:off x="2195513" y="4005263"/>
          <a:ext cx="3375025" cy="2122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4" imgW="3977654" imgH="2499360" progId="Excel.Sheet.8">
                  <p:embed/>
                </p:oleObj>
              </mc:Choice>
              <mc:Fallback>
                <p:oleObj name="Worksheet" r:id="rId4" imgW="3977654" imgH="2499360" progId="Excel.Sheet.8">
                  <p:embed/>
                  <p:pic>
                    <p:nvPicPr>
                      <p:cNvPr id="4" name="Object 3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5513" y="4005263"/>
                        <a:ext cx="3375025" cy="2122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732A99/TDDE01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7B2DAB0-3E44-4037-BFD8-EC40824E78A2}" type="slidenum">
              <a:rPr lang="sv-SE" smtClean="0"/>
              <a:pPr>
                <a:defRPr/>
              </a:pPr>
              <a:t>23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79158396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 err="1"/>
              <a:t>Classifiers</a:t>
            </a:r>
            <a:endParaRPr lang="sv-S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sv-SE" sz="2400" b="1" dirty="0">
                    <a:solidFill>
                      <a:srgbClr val="0070C0"/>
                    </a:solidFill>
                  </a:rPr>
                  <a:t>Deterministic</a:t>
                </a:r>
                <a:r>
                  <a:rPr lang="sv-SE" sz="2400" dirty="0"/>
                  <a:t>: </a:t>
                </a:r>
                <a:r>
                  <a:rPr lang="sv-SE" sz="2400" dirty="0" err="1"/>
                  <a:t>decide</a:t>
                </a:r>
                <a:r>
                  <a:rPr lang="sv-SE" sz="2400" dirty="0"/>
                  <a:t> a </a:t>
                </a:r>
                <a:r>
                  <a:rPr lang="sv-SE" sz="2400" dirty="0" err="1"/>
                  <a:t>rule</a:t>
                </a:r>
                <a:r>
                  <a:rPr lang="sv-SE" sz="2400" dirty="0"/>
                  <a:t> </a:t>
                </a:r>
                <a:r>
                  <a:rPr lang="sv-SE" sz="2400" dirty="0" err="1"/>
                  <a:t>that</a:t>
                </a:r>
                <a:r>
                  <a:rPr lang="sv-SE" sz="2400" dirty="0"/>
                  <a:t> </a:t>
                </a:r>
                <a:r>
                  <a:rPr lang="sv-SE" sz="2400" dirty="0" err="1"/>
                  <a:t>directly</a:t>
                </a:r>
                <a:r>
                  <a:rPr lang="sv-SE" sz="2400" dirty="0"/>
                  <a:t> </a:t>
                </a:r>
                <a:r>
                  <a:rPr lang="sv-SE" sz="2400" dirty="0" err="1"/>
                  <a:t>maps</a:t>
                </a:r>
                <a:r>
                  <a:rPr lang="sv-SE" sz="2400" dirty="0"/>
                  <a:t> </a:t>
                </a:r>
                <a14:m>
                  <m:oMath xmlns:m="http://schemas.openxmlformats.org/officeDocument/2006/math">
                    <m:r>
                      <a:rPr lang="sv-SE" sz="2400" b="1" i="1" dirty="0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sv-SE" sz="2400" i="1" dirty="0" smtClean="0">
                        <a:latin typeface="Cambria Math"/>
                      </a:rPr>
                      <m:t> </m:t>
                    </m:r>
                  </m:oMath>
                </a14:m>
                <a:r>
                  <a:rPr lang="sv-SE" sz="2400" dirty="0"/>
                  <a:t>into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sv-SE" sz="24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sv-SE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</m:oMath>
                </a14:m>
                <a:endParaRPr lang="sv-SE" sz="2400" dirty="0"/>
              </a:p>
              <a:p>
                <a:pPr marL="400050"/>
                <a:endParaRPr lang="sv-SE" sz="2400" dirty="0"/>
              </a:p>
              <a:p>
                <a:pPr marL="400050"/>
                <a:r>
                  <a:rPr lang="sv-SE" sz="2400" b="1" dirty="0" err="1">
                    <a:solidFill>
                      <a:srgbClr val="0070C0"/>
                    </a:solidFill>
                  </a:rPr>
                  <a:t>Probabilistic</a:t>
                </a:r>
                <a:r>
                  <a:rPr lang="sv-SE" sz="2400" b="1" dirty="0">
                    <a:solidFill>
                      <a:srgbClr val="0070C0"/>
                    </a:solidFill>
                  </a:rPr>
                  <a:t>: </a:t>
                </a:r>
                <a:r>
                  <a:rPr lang="sv-SE" sz="2400" dirty="0" err="1"/>
                  <a:t>define</a:t>
                </a:r>
                <a:r>
                  <a:rPr lang="sv-SE" sz="2400" dirty="0"/>
                  <a:t> a </a:t>
                </a:r>
                <a:r>
                  <a:rPr lang="sv-SE" sz="2400" dirty="0" err="1"/>
                  <a:t>model</a:t>
                </a:r>
                <a:r>
                  <a:rPr lang="sv-SE" sz="2400" dirty="0"/>
                  <a:t> for </a:t>
                </a:r>
                <a14:m>
                  <m:oMath xmlns:m="http://schemas.openxmlformats.org/officeDocument/2006/math">
                    <m:r>
                      <a:rPr lang="sv-SE" sz="2400" b="0" i="1" smtClean="0">
                        <a:latin typeface="Cambria Math"/>
                      </a:rPr>
                      <m:t>𝑃</m:t>
                    </m:r>
                    <m:d>
                      <m:dPr>
                        <m:ctrlPr>
                          <a:rPr lang="sv-SE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sv-SE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sv-SE" sz="2400" b="0" i="1" smtClean="0">
                            <a:latin typeface="Cambria Math"/>
                          </a:rPr>
                          <m:t>=</m:t>
                        </m:r>
                        <m:sSub>
                          <m:sSubPr>
                            <m:ctrlPr>
                              <a:rPr lang="sv-SE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sv-SE" sz="2400" b="0" i="1" smtClean="0">
                                <a:latin typeface="Cambria Math"/>
                              </a:rPr>
                              <m:t>𝐶</m:t>
                            </m:r>
                          </m:e>
                          <m:sub>
                            <m:r>
                              <a:rPr lang="sv-SE" sz="24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  <m:e>
                        <m:r>
                          <a:rPr lang="sv-SE" sz="24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sv-SE" sz="2400" b="0" i="1" smtClean="0">
                        <a:latin typeface="Cambria Math"/>
                      </a:rPr>
                      <m:t>, </m:t>
                    </m:r>
                    <m:r>
                      <a:rPr lang="sv-SE" sz="2400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sv-SE" sz="2400" b="0" i="1" smtClean="0">
                        <a:latin typeface="Cambria Math"/>
                      </a:rPr>
                      <m:t>=1…</m:t>
                    </m:r>
                    <m:r>
                      <a:rPr lang="sv-SE" sz="2400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endParaRPr lang="sv-SE" sz="2400" b="0" dirty="0"/>
              </a:p>
              <a:p>
                <a:pPr marL="400050"/>
                <a:endParaRPr lang="sv-SE" sz="2400" dirty="0"/>
              </a:p>
              <a:p>
                <a:pPr marL="57150" indent="0">
                  <a:buNone/>
                </a:pPr>
                <a:r>
                  <a:rPr lang="sv-SE" sz="2400" b="1" dirty="0" err="1"/>
                  <a:t>Disanvantages</a:t>
                </a:r>
                <a:r>
                  <a:rPr lang="sv-SE" sz="2400" b="1" dirty="0"/>
                  <a:t> </a:t>
                </a:r>
                <a:r>
                  <a:rPr lang="sv-SE" sz="2400" b="1" dirty="0" err="1"/>
                  <a:t>of</a:t>
                </a:r>
                <a:r>
                  <a:rPr lang="sv-SE" sz="2400" b="1" dirty="0"/>
                  <a:t> </a:t>
                </a:r>
                <a:r>
                  <a:rPr lang="sv-SE" sz="2400" b="1" dirty="0" err="1"/>
                  <a:t>deterministic</a:t>
                </a:r>
                <a:r>
                  <a:rPr lang="sv-SE" sz="2400" b="1" dirty="0"/>
                  <a:t> </a:t>
                </a:r>
                <a:r>
                  <a:rPr lang="sv-SE" sz="2400" b="1" dirty="0" err="1"/>
                  <a:t>classifiers</a:t>
                </a:r>
                <a:r>
                  <a:rPr lang="sv-SE" sz="2400" dirty="0"/>
                  <a:t>:</a:t>
                </a:r>
              </a:p>
              <a:p>
                <a:pPr lvl="1"/>
                <a:r>
                  <a:rPr lang="sv-SE" sz="2200" dirty="0" err="1"/>
                  <a:t>Sometimes</a:t>
                </a:r>
                <a:r>
                  <a:rPr lang="sv-SE" sz="2200" dirty="0"/>
                  <a:t> simple </a:t>
                </a:r>
                <a:r>
                  <a:rPr lang="sv-SE" sz="2200" dirty="0" err="1"/>
                  <a:t>mapping</a:t>
                </a:r>
                <a:r>
                  <a:rPr lang="sv-SE" sz="2200" dirty="0"/>
                  <a:t> is not </a:t>
                </a:r>
                <a:r>
                  <a:rPr lang="sv-SE" sz="2200" dirty="0" err="1"/>
                  <a:t>enough</a:t>
                </a:r>
                <a:r>
                  <a:rPr lang="sv-SE" sz="2200" dirty="0"/>
                  <a:t> (risk </a:t>
                </a:r>
                <a:r>
                  <a:rPr lang="sv-SE" sz="2200" dirty="0" err="1"/>
                  <a:t>of</a:t>
                </a:r>
                <a:r>
                  <a:rPr lang="sv-SE" sz="2200" dirty="0"/>
                  <a:t> cancer)</a:t>
                </a:r>
              </a:p>
              <a:p>
                <a:pPr lvl="1"/>
                <a:r>
                  <a:rPr lang="sv-SE" sz="2200" dirty="0" err="1"/>
                  <a:t>Difficult</a:t>
                </a:r>
                <a:r>
                  <a:rPr lang="sv-SE" sz="2200" dirty="0"/>
                  <a:t> </a:t>
                </a:r>
                <a:r>
                  <a:rPr lang="sv-SE" sz="2200" dirty="0" err="1"/>
                  <a:t>to</a:t>
                </a:r>
                <a:r>
                  <a:rPr lang="sv-SE" sz="2200" dirty="0"/>
                  <a:t> </a:t>
                </a:r>
                <a:r>
                  <a:rPr lang="sv-SE" sz="2200" dirty="0" err="1"/>
                  <a:t>embed</a:t>
                </a:r>
                <a:r>
                  <a:rPr lang="sv-SE" sz="2200" dirty="0"/>
                  <a:t> loss-&gt; </a:t>
                </a:r>
                <a:r>
                  <a:rPr lang="sv-SE" sz="2200" dirty="0" err="1"/>
                  <a:t>rerun</a:t>
                </a:r>
                <a:r>
                  <a:rPr lang="sv-SE" sz="2200" dirty="0"/>
                  <a:t> </a:t>
                </a:r>
                <a:r>
                  <a:rPr lang="sv-SE" sz="2200" dirty="0" err="1"/>
                  <a:t>of</a:t>
                </a:r>
                <a:r>
                  <a:rPr lang="sv-SE" sz="2200" dirty="0"/>
                  <a:t> </a:t>
                </a:r>
                <a:r>
                  <a:rPr lang="sv-SE" sz="2200" dirty="0" err="1"/>
                  <a:t>optimizer</a:t>
                </a:r>
                <a:r>
                  <a:rPr lang="sv-SE" sz="2200" dirty="0"/>
                  <a:t> is </a:t>
                </a:r>
                <a:r>
                  <a:rPr lang="sv-SE" sz="2200" dirty="0" err="1"/>
                  <a:t>often</a:t>
                </a:r>
                <a:r>
                  <a:rPr lang="sv-SE" sz="2200" dirty="0"/>
                  <a:t> </a:t>
                </a:r>
                <a:r>
                  <a:rPr lang="sv-SE" sz="2200" dirty="0" err="1"/>
                  <a:t>needed</a:t>
                </a:r>
                <a:endParaRPr lang="sv-SE" sz="2200" dirty="0"/>
              </a:p>
              <a:p>
                <a:pPr lvl="1"/>
                <a:r>
                  <a:rPr lang="sv-SE" sz="2200" dirty="0" err="1"/>
                  <a:t>Combining</a:t>
                </a:r>
                <a:r>
                  <a:rPr lang="sv-SE" sz="2200" dirty="0"/>
                  <a:t> </a:t>
                </a:r>
                <a:r>
                  <a:rPr lang="sv-SE" sz="2200" dirty="0" err="1"/>
                  <a:t>several</a:t>
                </a:r>
                <a:r>
                  <a:rPr lang="sv-SE" sz="2200" dirty="0"/>
                  <a:t> </a:t>
                </a:r>
                <a:r>
                  <a:rPr lang="sv-SE" sz="2200" dirty="0" err="1"/>
                  <a:t>classifiers</a:t>
                </a:r>
                <a:r>
                  <a:rPr lang="sv-SE" sz="2200" dirty="0"/>
                  <a:t> </a:t>
                </a:r>
                <a:r>
                  <a:rPr lang="sv-SE" sz="2200" dirty="0" err="1"/>
                  <a:t>into</a:t>
                </a:r>
                <a:r>
                  <a:rPr lang="sv-SE" sz="2200" dirty="0"/>
                  <a:t> </a:t>
                </a:r>
                <a:r>
                  <a:rPr lang="sv-SE" sz="2200" dirty="0" err="1"/>
                  <a:t>one</a:t>
                </a:r>
                <a:r>
                  <a:rPr lang="sv-SE" sz="2200" dirty="0"/>
                  <a:t> is </a:t>
                </a:r>
                <a:r>
                  <a:rPr lang="sv-SE" sz="2200" dirty="0" err="1"/>
                  <a:t>more</a:t>
                </a:r>
                <a:r>
                  <a:rPr lang="sv-SE" sz="2200" dirty="0"/>
                  <a:t> </a:t>
                </a:r>
                <a:r>
                  <a:rPr lang="sv-SE" sz="2200" dirty="0" err="1"/>
                  <a:t>problematic</a:t>
                </a:r>
                <a:r>
                  <a:rPr lang="sv-SE" sz="2200" dirty="0"/>
                  <a:t> </a:t>
                </a:r>
              </a:p>
              <a:p>
                <a:pPr lvl="2"/>
                <a:r>
                  <a:rPr lang="sv-SE" sz="1800" dirty="0" err="1"/>
                  <a:t>Algorithm</a:t>
                </a:r>
                <a:r>
                  <a:rPr lang="sv-SE" sz="1800" dirty="0"/>
                  <a:t> A </a:t>
                </a:r>
                <a:r>
                  <a:rPr lang="sv-SE" sz="1800" dirty="0" err="1"/>
                  <a:t>classifies</a:t>
                </a:r>
                <a:r>
                  <a:rPr lang="sv-SE" sz="1800" dirty="0"/>
                  <a:t> as spam, </a:t>
                </a:r>
                <a:r>
                  <a:rPr lang="sv-SE" sz="1800" dirty="0" err="1"/>
                  <a:t>Algorithm</a:t>
                </a:r>
                <a:r>
                  <a:rPr lang="sv-SE" sz="1800" dirty="0"/>
                  <a:t> B </a:t>
                </a:r>
                <a:r>
                  <a:rPr lang="sv-SE" sz="1800" dirty="0" err="1"/>
                  <a:t>classifies</a:t>
                </a:r>
                <a:r>
                  <a:rPr lang="sv-SE" sz="1800" dirty="0"/>
                  <a:t> as not spam </a:t>
                </a:r>
                <a:r>
                  <a:rPr lang="sv-SE" sz="1800" dirty="0">
                    <a:sym typeface="Wingdings" panose="05000000000000000000" pitchFamily="2" charset="2"/>
                  </a:rPr>
                  <a:t></a:t>
                </a:r>
                <a:r>
                  <a:rPr lang="sv-SE" sz="1800" dirty="0"/>
                  <a:t> ???</a:t>
                </a:r>
              </a:p>
              <a:p>
                <a:pPr lvl="2"/>
                <a:r>
                  <a:rPr lang="sv-SE" sz="1800" dirty="0"/>
                  <a:t>P(</a:t>
                </a:r>
                <a:r>
                  <a:rPr lang="sv-SE" sz="1800" dirty="0" err="1"/>
                  <a:t>Spam|A</a:t>
                </a:r>
                <a:r>
                  <a:rPr lang="sv-SE" sz="1800" dirty="0"/>
                  <a:t>)=0.99, P(</a:t>
                </a:r>
                <a:r>
                  <a:rPr lang="sv-SE" sz="1800" dirty="0" err="1"/>
                  <a:t>Spam|B</a:t>
                </a:r>
                <a:r>
                  <a:rPr lang="sv-SE" sz="1800" dirty="0"/>
                  <a:t>)=0.45 </a:t>
                </a:r>
                <a:r>
                  <a:rPr lang="sv-SE" sz="1800" dirty="0">
                    <a:sym typeface="Wingdings" panose="05000000000000000000" pitchFamily="2" charset="2"/>
                  </a:rPr>
                  <a:t> </a:t>
                </a:r>
                <a:r>
                  <a:rPr lang="sv-SE" sz="1800" dirty="0" err="1">
                    <a:sym typeface="Wingdings" panose="05000000000000000000" pitchFamily="2" charset="2"/>
                  </a:rPr>
                  <a:t>better</a:t>
                </a:r>
                <a:r>
                  <a:rPr lang="sv-SE" sz="1800" dirty="0">
                    <a:sym typeface="Wingdings" panose="05000000000000000000" pitchFamily="2" charset="2"/>
                  </a:rPr>
                  <a:t> decision </a:t>
                </a:r>
                <a:r>
                  <a:rPr lang="sv-SE" sz="1800" dirty="0" err="1">
                    <a:sym typeface="Wingdings" panose="05000000000000000000" pitchFamily="2" charset="2"/>
                  </a:rPr>
                  <a:t>can</a:t>
                </a:r>
                <a:r>
                  <a:rPr lang="sv-SE" sz="1800" dirty="0">
                    <a:sym typeface="Wingdings" panose="05000000000000000000" pitchFamily="2" charset="2"/>
                  </a:rPr>
                  <a:t> be </a:t>
                </a:r>
                <a:r>
                  <a:rPr lang="sv-SE" sz="1800" dirty="0" err="1">
                    <a:sym typeface="Wingdings" panose="05000000000000000000" pitchFamily="2" charset="2"/>
                  </a:rPr>
                  <a:t>made</a:t>
                </a:r>
                <a:endParaRPr lang="sv-SE" sz="1800" dirty="0"/>
              </a:p>
              <a:p>
                <a:pPr marL="0" indent="0">
                  <a:buNone/>
                </a:pPr>
                <a:endParaRPr lang="sv-SE" sz="24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63" t="-1078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732A99/TDDE01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7B2DAB0-3E44-4037-BFD8-EC40824E78A2}" type="slidenum">
              <a:rPr lang="sv-SE" smtClean="0"/>
              <a:pPr>
                <a:defRPr/>
              </a:pPr>
              <a:t>24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64677947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Logistic regression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5266928" cy="4525963"/>
              </a:xfrm>
            </p:spPr>
            <p:txBody>
              <a:bodyPr/>
              <a:lstStyle/>
              <a:p>
                <a:r>
                  <a:rPr lang="sv-SE" sz="2000" dirty="0"/>
                  <a:t>Discriminative </a:t>
                </a:r>
                <a:r>
                  <a:rPr lang="sv-SE" sz="2000" dirty="0" err="1"/>
                  <a:t>model</a:t>
                </a:r>
                <a:endParaRPr lang="sv-SE" sz="2000" dirty="0"/>
              </a:p>
              <a:p>
                <a:r>
                  <a:rPr lang="sv-SE" sz="2000" dirty="0" err="1"/>
                  <a:t>Model</a:t>
                </a:r>
                <a:r>
                  <a:rPr lang="sv-SE" sz="2000" dirty="0"/>
                  <a:t> for </a:t>
                </a:r>
                <a:r>
                  <a:rPr lang="sv-SE" sz="2000" dirty="0" err="1"/>
                  <a:t>binary</a:t>
                </a:r>
                <a:r>
                  <a:rPr lang="sv-SE" sz="2000" dirty="0"/>
                  <a:t> output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sv-SE" sz="1600" b="0" i="1" smtClean="0">
                        <a:latin typeface="Cambria Math"/>
                      </a:rPr>
                      <m:t>𝐶</m:t>
                    </m:r>
                    <m:r>
                      <a:rPr lang="sv-SE" sz="1600" b="0" i="1" smtClean="0">
                        <a:latin typeface="Cambria Math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sv-SE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sv-SE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sv-SE" sz="1600" b="0" i="1" smtClean="0">
                                <a:latin typeface="Cambria Math"/>
                              </a:rPr>
                              <m:t>𝐶</m:t>
                            </m:r>
                          </m:e>
                          <m:sub>
                            <m:r>
                              <a:rPr lang="sv-SE" sz="1600" b="0" i="1" smtClean="0">
                                <a:latin typeface="Cambria Math"/>
                              </a:rPr>
                              <m:t>1</m:t>
                            </m:r>
                          </m:sub>
                        </m:sSub>
                        <m:r>
                          <a:rPr lang="sv-SE" sz="1600" b="0" i="1" smtClean="0">
                            <a:latin typeface="Cambria Math"/>
                          </a:rPr>
                          <m:t>=</m:t>
                        </m:r>
                        <m:r>
                          <a:rPr lang="sv-SE" sz="16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sv-SE" sz="1600" b="0" i="1" smtClean="0">
                            <a:latin typeface="Cambria Math"/>
                          </a:rPr>
                          <m:t>1,</m:t>
                        </m:r>
                        <m:sSub>
                          <m:sSubPr>
                            <m:ctrlPr>
                              <a:rPr lang="sv-SE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sv-SE" sz="1600" b="0" i="1" smtClean="0">
                                <a:latin typeface="Cambria Math"/>
                              </a:rPr>
                              <m:t>𝐶</m:t>
                            </m:r>
                          </m:e>
                          <m:sub>
                            <m:r>
                              <a:rPr lang="sv-SE" sz="1600" b="0" i="1" smtClean="0">
                                <a:latin typeface="Cambria Math"/>
                              </a:rPr>
                              <m:t>2</m:t>
                            </m:r>
                          </m:sub>
                        </m:sSub>
                        <m:r>
                          <a:rPr lang="sv-SE" sz="1600" b="0" i="1" smtClean="0">
                            <a:latin typeface="Cambria Math"/>
                          </a:rPr>
                          <m:t>=</m:t>
                        </m:r>
                        <m:r>
                          <a:rPr lang="sv-SE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endParaRPr lang="sv-SE" sz="2000" dirty="0"/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sv-SE" sz="1600" b="0" i="1" smtClean="0">
                          <a:latin typeface="Cambria Math"/>
                        </a:rPr>
                        <m:t>𝑝</m:t>
                      </m:r>
                      <m:d>
                        <m:dPr>
                          <m:ctrlPr>
                            <a:rPr lang="sv-SE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sv-SE" sz="16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sv-SE" sz="1600" b="0" i="1" smtClean="0">
                              <a:latin typeface="Cambria Math"/>
                            </a:rPr>
                            <m:t>=</m:t>
                          </m:r>
                          <m:sSub>
                            <m:sSubPr>
                              <m:ctrlPr>
                                <a:rPr lang="sv-SE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sv-SE" sz="1600" b="0" i="1" smtClean="0">
                                  <a:latin typeface="Cambria Math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sv-SE" sz="1600" b="0" i="1" smtClean="0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e>
                        <m:e>
                          <m:r>
                            <a:rPr lang="sv-SE" sz="16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sv-SE" sz="1600" b="0" i="1" smtClean="0">
                          <a:latin typeface="Cambria Math"/>
                        </a:rPr>
                        <m:t>=</m:t>
                      </m:r>
                      <m:r>
                        <a:rPr lang="sv-SE" sz="1600" b="0" i="1" smtClean="0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sv-SE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sv-SE" sz="16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sv-SE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sv-SE" sz="1600" b="0" i="1" smtClean="0">
                          <a:latin typeface="Cambria Math"/>
                        </a:rPr>
                        <m:t>𝑠𝑖𝑔𝑚</m:t>
                      </m:r>
                      <m:d>
                        <m:dPr>
                          <m:ctrlPr>
                            <a:rPr lang="sv-SE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sv-SE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sv-SE" sz="1600" b="1" i="1" smtClean="0">
                                  <a:latin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p>
                              <m:r>
                                <a:rPr lang="sv-SE" sz="1600" b="0" i="1" smtClean="0">
                                  <a:latin typeface="Cambria Math"/>
                                </a:rPr>
                                <m:t>𝑇</m:t>
                              </m:r>
                            </m:sup>
                          </m:sSup>
                          <m:r>
                            <a:rPr lang="sv-SE" sz="1600" b="1" i="1" smtClean="0">
                              <a:latin typeface="Cambria Math"/>
                            </a:rPr>
                            <m:t>𝒙</m:t>
                          </m:r>
                        </m:e>
                      </m:d>
                    </m:oMath>
                  </m:oMathPara>
                </a14:m>
                <a:endParaRPr lang="sv-SE" sz="1600" b="1" dirty="0"/>
              </a:p>
              <a:p>
                <a:pPr marL="457200" lvl="1" indent="0">
                  <a:buNone/>
                </a:pPr>
                <a:endParaRPr lang="sv-SE" sz="1600" b="1" dirty="0"/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sv-SE" sz="1600" i="1">
                          <a:latin typeface="Cambria Math"/>
                        </a:rPr>
                        <m:t>𝑠𝑖𝑔𝑚</m:t>
                      </m:r>
                      <m:d>
                        <m:dPr>
                          <m:ctrlPr>
                            <a:rPr lang="sv-SE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sv-SE" sz="1600" i="1">
                              <a:latin typeface="Cambria Math"/>
                            </a:rPr>
                            <m:t>𝑎</m:t>
                          </m:r>
                        </m:e>
                      </m:d>
                      <m:r>
                        <a:rPr lang="sv-SE" sz="1600" i="1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sv-SE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sv-SE" sz="1600" i="1"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sv-SE" sz="1600" i="1">
                              <a:latin typeface="Cambria Math"/>
                            </a:rPr>
                            <m:t>1+</m:t>
                          </m:r>
                          <m:sSup>
                            <m:sSupPr>
                              <m:ctrlPr>
                                <a:rPr lang="sv-SE" sz="16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sv-SE" sz="1600" i="1">
                                  <a:latin typeface="Cambria Math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sv-SE" sz="1600" i="1">
                                  <a:latin typeface="Cambria Math"/>
                                </a:rPr>
                                <m:t>−</m:t>
                              </m:r>
                              <m:r>
                                <a:rPr lang="sv-SE" sz="1600" i="1">
                                  <a:latin typeface="Cambria Math"/>
                                </a:rPr>
                                <m:t>𝑎</m:t>
                              </m:r>
                            </m:sup>
                          </m:sSup>
                          <m:r>
                            <a:rPr lang="sv-SE" sz="1600" i="1">
                              <a:latin typeface="Cambria Math"/>
                            </a:rPr>
                            <m:t> </m:t>
                          </m:r>
                        </m:den>
                      </m:f>
                    </m:oMath>
                  </m:oMathPara>
                </a14:m>
                <a:endParaRPr lang="sv-SE" sz="1600" dirty="0"/>
              </a:p>
              <a:p>
                <a:endParaRPr lang="sv-SE" sz="2000" dirty="0"/>
              </a:p>
              <a:p>
                <a:r>
                  <a:rPr lang="sv-SE" sz="2000" dirty="0" err="1"/>
                  <a:t>Alternatively</a:t>
                </a:r>
                <a:endParaRPr lang="sv-SE" sz="20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sv-SE" sz="20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sv-SE" sz="2000" b="0" i="1" smtClean="0">
                          <a:latin typeface="Cambria Math"/>
                        </a:rPr>
                        <m:t>~</m:t>
                      </m:r>
                      <m:r>
                        <a:rPr lang="sv-SE" sz="2000" b="0" i="1" smtClean="0">
                          <a:latin typeface="Cambria Math"/>
                        </a:rPr>
                        <m:t>𝐵𝑒𝑟𝑛𝑜𝑢𝑙𝑙𝑖</m:t>
                      </m:r>
                      <m:r>
                        <a:rPr lang="sv-SE" sz="2000" b="1" i="1" smtClean="0">
                          <a:latin typeface="Cambria Math"/>
                        </a:rPr>
                        <m:t>(</m:t>
                      </m:r>
                      <m:r>
                        <a:rPr lang="sv-SE" sz="2000" i="1">
                          <a:latin typeface="Cambria Math"/>
                        </a:rPr>
                        <m:t>𝑠𝑖𝑔𝑚</m:t>
                      </m:r>
                      <m:d>
                        <m:dPr>
                          <m:ctrlPr>
                            <a:rPr lang="sv-SE" sz="20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sv-SE" sz="2000" b="0" i="1" smtClean="0">
                              <a:latin typeface="Cambria Math"/>
                            </a:rPr>
                            <m:t>𝑎</m:t>
                          </m:r>
                        </m:e>
                      </m:d>
                      <m:r>
                        <a:rPr lang="sv-SE" sz="2000" b="1" i="1" smtClean="0">
                          <a:latin typeface="Cambria Math"/>
                        </a:rPr>
                        <m:t>), </m:t>
                      </m:r>
                      <m:r>
                        <a:rPr lang="sv-SE" sz="2000" b="0" i="1" smtClean="0">
                          <a:latin typeface="Cambria Math"/>
                        </a:rPr>
                        <m:t>𝑎</m:t>
                      </m:r>
                      <m:r>
                        <a:rPr lang="sv-SE" sz="2000" b="1" i="1" smtClean="0"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lang="sv-SE" sz="20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sv-SE" sz="2000" b="1" i="1" smtClean="0"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  <m:sup>
                          <m:r>
                            <a:rPr lang="sv-SE" sz="2000" b="1" i="1" smtClean="0">
                              <a:latin typeface="Cambria Math"/>
                            </a:rPr>
                            <m:t>𝑻</m:t>
                          </m:r>
                        </m:sup>
                      </m:sSup>
                      <m:r>
                        <a:rPr lang="sv-SE" sz="2000" b="1" i="1" smtClean="0">
                          <a:latin typeface="Cambria Math"/>
                        </a:rPr>
                        <m:t>𝒙</m:t>
                      </m:r>
                    </m:oMath>
                  </m:oMathPara>
                </a14:m>
                <a:endParaRPr lang="sv-SE" sz="2000" b="1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sv-SE" sz="2000" b="0" i="1" smtClean="0">
                          <a:latin typeface="Cambria Math"/>
                        </a:rPr>
                        <m:t>𝑠𝑖𝑔𝑚</m:t>
                      </m:r>
                      <m:d>
                        <m:dPr>
                          <m:ctrlPr>
                            <a:rPr lang="sv-SE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sv-SE" sz="2000" b="0" i="1" smtClean="0">
                              <a:latin typeface="Cambria Math"/>
                            </a:rPr>
                            <m:t>𝑎</m:t>
                          </m:r>
                        </m:e>
                      </m:d>
                      <m:r>
                        <a:rPr lang="sv-SE" sz="2000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sv-SE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sv-SE" sz="2000" b="0" i="1" smtClean="0"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sv-SE" sz="2000" b="0" i="1" smtClean="0">
                              <a:latin typeface="Cambria Math"/>
                            </a:rPr>
                            <m:t>1+</m:t>
                          </m:r>
                          <m:sSup>
                            <m:sSupPr>
                              <m:ctrlPr>
                                <a:rPr lang="sv-SE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sv-SE" sz="2000" b="0" i="1" smtClean="0">
                                  <a:latin typeface="Cambria Math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sv-SE" sz="2000" b="0" i="1" smtClean="0">
                                  <a:latin typeface="Cambria Math"/>
                                </a:rPr>
                                <m:t>−</m:t>
                              </m:r>
                              <m:r>
                                <a:rPr lang="sv-SE" sz="2000" b="0" i="1" smtClean="0">
                                  <a:latin typeface="Cambria Math"/>
                                </a:rPr>
                                <m:t>𝑎</m:t>
                              </m:r>
                            </m:sup>
                          </m:sSup>
                          <m:r>
                            <a:rPr lang="sv-SE" sz="2000" b="0" i="1" smtClean="0">
                              <a:latin typeface="Cambria Math"/>
                            </a:rPr>
                            <m:t> </m:t>
                          </m:r>
                        </m:den>
                      </m:f>
                    </m:oMath>
                  </m:oMathPara>
                </a14:m>
                <a:endParaRPr lang="sv-SE" sz="2400" b="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5266928" cy="4525963"/>
              </a:xfrm>
              <a:blipFill>
                <a:blip r:embed="rId2"/>
                <a:stretch>
                  <a:fillRect l="-1042" t="-809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732A99/TDDE01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7B2DAB0-3E44-4037-BFD8-EC40824E78A2}" type="slidenum">
              <a:rPr lang="sv-SE" smtClean="0"/>
              <a:pPr>
                <a:defRPr/>
              </a:pPr>
              <a:t>25</a:t>
            </a:fld>
            <a:endParaRPr lang="sv-SE"/>
          </a:p>
        </p:txBody>
      </p:sp>
      <p:pic>
        <p:nvPicPr>
          <p:cNvPr id="28674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09389" y="3356991"/>
            <a:ext cx="3240828" cy="25580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6156176" y="2795796"/>
                <a:ext cx="2097113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sv-SE" sz="1600" dirty="0">
                    <a:solidFill>
                      <a:srgbClr val="7030A0"/>
                    </a:solidFill>
                  </a:rPr>
                  <a:t>What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sv-SE" sz="1600" b="0" i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p</m:t>
                    </m:r>
                    <m:r>
                      <a:rPr lang="sv-SE" sz="1600" b="0" i="1" smtClean="0">
                        <a:solidFill>
                          <a:srgbClr val="7030A0"/>
                        </a:solidFill>
                        <a:latin typeface="Cambria Math"/>
                      </a:rPr>
                      <m:t>(</m:t>
                    </m:r>
                    <m:sSub>
                      <m:sSubPr>
                        <m:ctrlPr>
                          <a:rPr lang="sv-SE" sz="16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sv-SE" sz="16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sv-SE" sz="1600" b="0" i="1" smtClean="0">
                            <a:solidFill>
                              <a:srgbClr val="7030A0"/>
                            </a:solidFill>
                            <a:latin typeface="Cambria Math"/>
                          </a:rPr>
                          <m:t>=</m:t>
                        </m:r>
                        <m:r>
                          <a:rPr lang="sv-SE" sz="1600" b="0" i="1" smtClean="0">
                            <a:solidFill>
                              <a:srgbClr val="7030A0"/>
                            </a:solidFill>
                            <a:latin typeface="Cambria Math"/>
                          </a:rPr>
                          <m:t>𝐶</m:t>
                        </m:r>
                      </m:e>
                      <m:sub>
                        <m:r>
                          <a:rPr lang="sv-SE" sz="1600" b="0" i="1" smtClean="0">
                            <a:solidFill>
                              <a:srgbClr val="7030A0"/>
                            </a:solidFill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sv-SE" sz="1600" b="0" i="1" smtClean="0">
                        <a:solidFill>
                          <a:srgbClr val="7030A0"/>
                        </a:solidFill>
                        <a:latin typeface="Cambria Math"/>
                      </a:rPr>
                      <m:t>|</m:t>
                    </m:r>
                    <m:r>
                      <a:rPr lang="sv-SE" sz="16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sv-SE" sz="1600" b="0" i="1" smtClean="0">
                        <a:solidFill>
                          <a:srgbClr val="7030A0"/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sv-SE" sz="1600" dirty="0">
                    <a:solidFill>
                      <a:srgbClr val="7030A0"/>
                    </a:solidFill>
                  </a:rPr>
                  <a:t>?</a:t>
                </a: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56176" y="2795796"/>
                <a:ext cx="2097113" cy="338554"/>
              </a:xfrm>
              <a:prstGeom prst="rect">
                <a:avLst/>
              </a:prstGeom>
              <a:blipFill>
                <a:blip r:embed="rId4"/>
                <a:stretch>
                  <a:fillRect l="-1744" t="-5455" r="-581" b="-23636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0798948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Logistic regression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sv-SE" sz="2000" dirty="0"/>
                  <a:t>Logistic </a:t>
                </a:r>
                <a:r>
                  <a:rPr lang="sv-SE" sz="2000" dirty="0" err="1"/>
                  <a:t>model</a:t>
                </a:r>
                <a:r>
                  <a:rPr lang="sv-SE" sz="2000" dirty="0"/>
                  <a:t>- </a:t>
                </a:r>
                <a:r>
                  <a:rPr lang="sv-SE" sz="2000" dirty="0" err="1"/>
                  <a:t>yet</a:t>
                </a:r>
                <a:r>
                  <a:rPr lang="sv-SE" sz="2000" dirty="0"/>
                  <a:t> </a:t>
                </a:r>
                <a:r>
                  <a:rPr lang="sv-SE" sz="2000" dirty="0" err="1"/>
                  <a:t>another</a:t>
                </a:r>
                <a:r>
                  <a:rPr lang="sv-SE" sz="2000" dirty="0"/>
                  <a:t> form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sv-SE" sz="1600" b="0" i="1" smtClean="0">
                          <a:solidFill>
                            <a:schemeClr val="tx1"/>
                          </a:solidFill>
                          <a:latin typeface="Cambria Math"/>
                        </a:rPr>
                        <m:t>𝑙𝑛</m:t>
                      </m:r>
                      <m:f>
                        <m:fPr>
                          <m:ctrlPr>
                            <a:rPr lang="sv-SE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sv-SE" sz="16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𝑝</m:t>
                          </m:r>
                          <m:r>
                            <a:rPr lang="sv-SE" sz="16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(</m:t>
                          </m:r>
                          <m:r>
                            <a:rPr lang="sv-SE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sv-SE" sz="16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=1|</m:t>
                          </m:r>
                          <m:r>
                            <a:rPr lang="sv-SE" sz="1600" b="1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𝒙</m:t>
                          </m:r>
                          <m:r>
                            <a:rPr lang="sv-SE" sz="16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)</m:t>
                          </m:r>
                        </m:num>
                        <m:den>
                          <m:r>
                            <a:rPr lang="sv-SE" sz="16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𝑃</m:t>
                          </m:r>
                          <m:r>
                            <a:rPr lang="sv-SE" sz="16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(</m:t>
                          </m:r>
                          <m:r>
                            <a:rPr lang="sv-SE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sv-SE" sz="16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=</m:t>
                          </m:r>
                          <m:r>
                            <a:rPr lang="sv-SE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  <m:r>
                            <a:rPr lang="sv-SE" sz="16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|</m:t>
                          </m:r>
                          <m:r>
                            <a:rPr lang="sv-SE" sz="1600" b="1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𝒙</m:t>
                          </m:r>
                          <m:r>
                            <a:rPr lang="sv-SE" sz="16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)</m:t>
                          </m:r>
                        </m:den>
                      </m:f>
                      <m:r>
                        <a:rPr lang="sv-SE" sz="1600" i="1">
                          <a:latin typeface="Cambria Math"/>
                        </a:rPr>
                        <m:t>=</m:t>
                      </m:r>
                      <m:r>
                        <a:rPr lang="sv-SE" sz="1600" b="0" i="1" smtClean="0">
                          <a:latin typeface="Cambria Math"/>
                        </a:rPr>
                        <m:t>𝑙𝑛</m:t>
                      </m:r>
                      <m:f>
                        <m:fPr>
                          <m:ctrlPr>
                            <a:rPr lang="sv-SE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sv-SE" sz="1600" i="1">
                              <a:latin typeface="Cambria Math"/>
                            </a:rPr>
                            <m:t>𝑝</m:t>
                          </m:r>
                          <m:r>
                            <a:rPr lang="sv-SE" sz="1600" i="1">
                              <a:latin typeface="Cambria Math"/>
                            </a:rPr>
                            <m:t>(</m:t>
                          </m:r>
                          <m:r>
                            <a:rPr lang="sv-SE" sz="16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sv-SE" sz="1600" i="1">
                              <a:latin typeface="Cambria Math"/>
                            </a:rPr>
                            <m:t>=1|</m:t>
                          </m:r>
                          <m:r>
                            <a:rPr lang="sv-SE" sz="1600" b="1" i="1">
                              <a:latin typeface="Cambria Math"/>
                            </a:rPr>
                            <m:t>𝒙</m:t>
                          </m:r>
                          <m:r>
                            <a:rPr lang="sv-SE" sz="1600" i="1">
                              <a:latin typeface="Cambria Math"/>
                            </a:rPr>
                            <m:t>)</m:t>
                          </m:r>
                        </m:num>
                        <m:den>
                          <m:r>
                            <a:rPr lang="sv-SE" sz="1600" b="0" i="1" smtClean="0">
                              <a:latin typeface="Cambria Math"/>
                            </a:rPr>
                            <m:t>1−</m:t>
                          </m:r>
                          <m:r>
                            <a:rPr lang="sv-SE" sz="16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sv-SE" sz="1600" i="1">
                              <a:latin typeface="Cambria Math"/>
                            </a:rPr>
                            <m:t>(</m:t>
                          </m:r>
                          <m:r>
                            <a:rPr lang="sv-SE" sz="16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sv-SE" sz="1600" i="1">
                              <a:latin typeface="Cambria Math"/>
                            </a:rPr>
                            <m:t>=1|</m:t>
                          </m:r>
                          <m:r>
                            <a:rPr lang="sv-SE" sz="1600" b="1" i="1">
                              <a:latin typeface="Cambria Math"/>
                            </a:rPr>
                            <m:t>𝒙</m:t>
                          </m:r>
                          <m:r>
                            <a:rPr lang="sv-SE" sz="1600" i="1">
                              <a:latin typeface="Cambria Math"/>
                            </a:rPr>
                            <m:t>)</m:t>
                          </m:r>
                        </m:den>
                      </m:f>
                      <m:r>
                        <a:rPr lang="sv-SE" sz="1600" b="0" i="1" smtClean="0">
                          <a:latin typeface="Cambria Math"/>
                        </a:rPr>
                        <m:t>=</m:t>
                      </m:r>
                      <m:r>
                        <a:rPr lang="sv-SE" sz="1600" b="0" i="1" smtClean="0">
                          <a:latin typeface="Cambria Math"/>
                        </a:rPr>
                        <m:t>𝑙𝑜𝑔𝑖𝑡</m:t>
                      </m:r>
                      <m:r>
                        <a:rPr lang="sv-SE" sz="1600" b="0" i="1" smtClean="0">
                          <a:latin typeface="Cambria Math"/>
                        </a:rPr>
                        <m:t>(</m:t>
                      </m:r>
                      <m:r>
                        <a:rPr lang="sv-SE" sz="1600" i="1">
                          <a:latin typeface="Cambria Math"/>
                        </a:rPr>
                        <m:t>𝑝</m:t>
                      </m:r>
                      <m:d>
                        <m:dPr>
                          <m:ctrlPr>
                            <a:rPr lang="sv-SE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sv-SE" sz="16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sv-SE" sz="1600" i="1">
                              <a:latin typeface="Cambria Math"/>
                            </a:rPr>
                            <m:t>=1</m:t>
                          </m:r>
                        </m:e>
                        <m:e>
                          <m:r>
                            <a:rPr lang="sv-SE" sz="16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sv-SE" sz="1600" b="0" i="1" smtClean="0">
                          <a:latin typeface="Cambria Math"/>
                        </a:rPr>
                        <m:t>)=</m:t>
                      </m:r>
                      <m:sSup>
                        <m:sSupPr>
                          <m:ctrlPr>
                            <a:rPr lang="sv-SE" sz="1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sv-SE" sz="1600" b="1" i="1" smtClean="0"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  <m:sup>
                          <m:r>
                            <a:rPr lang="sv-SE" sz="1600" b="1" i="1" smtClean="0">
                              <a:latin typeface="Cambria Math"/>
                            </a:rPr>
                            <m:t>𝑻</m:t>
                          </m:r>
                        </m:sup>
                      </m:sSup>
                      <m:r>
                        <a:rPr lang="sv-SE" sz="1600" b="1" i="1" smtClean="0">
                          <a:latin typeface="Cambria Math"/>
                        </a:rPr>
                        <m:t>𝒙</m:t>
                      </m:r>
                    </m:oMath>
                  </m:oMathPara>
                </a14:m>
                <a:endParaRPr lang="sv-SE" sz="1600" dirty="0">
                  <a:solidFill>
                    <a:srgbClr val="00B050"/>
                  </a:solidFill>
                </a:endParaRPr>
              </a:p>
              <a:p>
                <a:endParaRPr lang="sv-SE" sz="2000" dirty="0">
                  <a:solidFill>
                    <a:srgbClr val="00B050"/>
                  </a:solidFill>
                </a:endParaRPr>
              </a:p>
              <a:p>
                <a:r>
                  <a:rPr lang="sv-SE" sz="2000" dirty="0" err="1"/>
                  <a:t>Here</a:t>
                </a:r>
                <a:r>
                  <a:rPr lang="sv-SE" sz="2000" dirty="0"/>
                  <a:t> </a:t>
                </a:r>
                <a14:m>
                  <m:oMath xmlns:m="http://schemas.openxmlformats.org/officeDocument/2006/math">
                    <m:r>
                      <a:rPr lang="sv-SE" sz="2000" b="0" i="1" smtClean="0">
                        <a:latin typeface="Cambria Math"/>
                      </a:rPr>
                      <m:t>𝑙𝑜𝑔𝑖𝑡</m:t>
                    </m:r>
                    <m:d>
                      <m:dPr>
                        <m:ctrlPr>
                          <a:rPr lang="sv-SE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sv-SE" sz="2000" b="0" i="1" smtClean="0">
                            <a:latin typeface="Cambria Math"/>
                          </a:rPr>
                          <m:t>𝑡</m:t>
                        </m:r>
                      </m:e>
                    </m:d>
                    <m:r>
                      <a:rPr lang="sv-SE" sz="2000" b="0" i="1" smtClean="0">
                        <a:latin typeface="Cambria Math"/>
                      </a:rPr>
                      <m:t>=</m:t>
                    </m:r>
                    <m:func>
                      <m:funcPr>
                        <m:ctrlPr>
                          <a:rPr lang="sv-SE" sz="20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sv-SE" sz="2000" b="0" i="0" smtClean="0">
                            <a:latin typeface="Cambria Math"/>
                          </a:rPr>
                          <m:t>ln</m:t>
                        </m:r>
                      </m:fName>
                      <m:e>
                        <m:d>
                          <m:dPr>
                            <m:ctrlPr>
                              <a:rPr lang="sv-SE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sv-SE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sv-SE" sz="2000" b="0" i="1" smtClean="0">
                                    <a:latin typeface="Cambria Math"/>
                                  </a:rPr>
                                  <m:t>𝑡</m:t>
                                </m:r>
                              </m:num>
                              <m:den>
                                <m:r>
                                  <a:rPr lang="sv-SE" sz="2000" b="0" i="1" smtClean="0">
                                    <a:latin typeface="Cambria Math"/>
                                  </a:rPr>
                                  <m:t>1−</m:t>
                                </m:r>
                                <m:r>
                                  <a:rPr lang="sv-SE" sz="2000" b="0" i="1" smtClean="0">
                                    <a:latin typeface="Cambria Math"/>
                                  </a:rPr>
                                  <m:t>𝑡</m:t>
                                </m:r>
                              </m:den>
                            </m:f>
                          </m:e>
                        </m:d>
                      </m:e>
                    </m:func>
                  </m:oMath>
                </a14:m>
                <a:endParaRPr lang="sv-SE" sz="2000" dirty="0"/>
              </a:p>
              <a:p>
                <a:r>
                  <a:rPr lang="sv-SE" sz="2000" dirty="0"/>
                  <a:t>Note </a:t>
                </a:r>
                <a14:m>
                  <m:oMath xmlns:m="http://schemas.openxmlformats.org/officeDocument/2006/math">
                    <m:r>
                      <a:rPr lang="sv-SE" sz="2000" b="0" i="1" smtClean="0">
                        <a:latin typeface="Cambria Math"/>
                      </a:rPr>
                      <m:t>𝑝</m:t>
                    </m:r>
                    <m:r>
                      <a:rPr lang="sv-SE" sz="2000" b="0" i="1" smtClean="0">
                        <a:latin typeface="Cambria Math"/>
                      </a:rPr>
                      <m:t>(</m:t>
                    </m:r>
                    <m:r>
                      <a:rPr lang="sv-SE" sz="20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sv-SE" sz="2000" b="0" i="1" smtClean="0">
                        <a:latin typeface="Cambria Math"/>
                      </a:rPr>
                      <m:t>|</m:t>
                    </m:r>
                    <m:r>
                      <a:rPr lang="sv-SE" sz="20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sv-SE" sz="2000" b="0" i="1" smtClean="0">
                        <a:latin typeface="Cambria Math"/>
                      </a:rPr>
                      <m:t>)</m:t>
                    </m:r>
                  </m:oMath>
                </a14:m>
                <a:r>
                  <a:rPr lang="sv-SE" sz="2000" dirty="0"/>
                  <a:t> is </a:t>
                </a:r>
                <a:r>
                  <a:rPr lang="sv-SE" sz="2000" dirty="0" err="1"/>
                  <a:t>connected</a:t>
                </a:r>
                <a:r>
                  <a:rPr lang="sv-SE" sz="2000" dirty="0"/>
                  <a:t> </a:t>
                </a:r>
                <a:r>
                  <a:rPr lang="sv-SE" sz="2000" dirty="0" err="1"/>
                  <a:t>to</a:t>
                </a:r>
                <a:r>
                  <a:rPr lang="sv-SE" sz="20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sv-SE" sz="20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sv-SE" sz="2000" b="1" i="1" smtClean="0">
                            <a:latin typeface="Cambria Math" panose="02040503050406030204" pitchFamily="18" charset="0"/>
                          </a:rPr>
                          <m:t>𝜽</m:t>
                        </m:r>
                      </m:e>
                      <m:sup>
                        <m:r>
                          <a:rPr lang="sv-SE" sz="2000" b="1" i="1">
                            <a:latin typeface="Cambria Math"/>
                          </a:rPr>
                          <m:t>𝑻</m:t>
                        </m:r>
                      </m:sup>
                    </m:sSup>
                    <m:r>
                      <a:rPr lang="sv-SE" sz="2000" b="1" i="1">
                        <a:latin typeface="Cambria Math"/>
                      </a:rPr>
                      <m:t>𝒙</m:t>
                    </m:r>
                  </m:oMath>
                </a14:m>
                <a:r>
                  <a:rPr lang="sv-SE" sz="2000" dirty="0">
                    <a:solidFill>
                      <a:srgbClr val="00B050"/>
                    </a:solidFill>
                  </a:rPr>
                  <a:t> </a:t>
                </a:r>
                <a:r>
                  <a:rPr lang="sv-SE" sz="2000" dirty="0"/>
                  <a:t>via logit </a:t>
                </a:r>
                <a:r>
                  <a:rPr lang="sv-SE" sz="2000" dirty="0" err="1"/>
                  <a:t>link</a:t>
                </a:r>
                <a:endParaRPr lang="sv-SE" sz="2000" dirty="0"/>
              </a:p>
              <a:p>
                <a:endParaRPr lang="sv-SE" sz="2000" dirty="0"/>
              </a:p>
              <a:p>
                <a:endParaRPr lang="sv-SE" sz="20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67" t="-809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 Box 6"/>
          <p:cNvSpPr txBox="1">
            <a:spLocks noChangeArrowheads="1"/>
          </p:cNvSpPr>
          <p:nvPr/>
        </p:nvSpPr>
        <p:spPr bwMode="auto">
          <a:xfrm>
            <a:off x="5982244" y="2492896"/>
            <a:ext cx="2520950" cy="64135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sz="1800" b="1" dirty="0">
                <a:latin typeface="Arial" charset="0"/>
              </a:rPr>
              <a:t>The log of the odds is linear in </a:t>
            </a:r>
            <a:r>
              <a:rPr lang="en-GB" sz="1800" b="1" i="1" dirty="0"/>
              <a:t>x</a:t>
            </a:r>
          </a:p>
        </p:txBody>
      </p:sp>
      <p:pic>
        <p:nvPicPr>
          <p:cNvPr id="6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427984" y="4005063"/>
            <a:ext cx="4075210" cy="23431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TextBox 7"/>
          <p:cNvSpPr txBox="1"/>
          <p:nvPr/>
        </p:nvSpPr>
        <p:spPr>
          <a:xfrm>
            <a:off x="971600" y="4437963"/>
            <a:ext cx="288032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1600" dirty="0" err="1">
                <a:solidFill>
                  <a:srgbClr val="C00000"/>
                </a:solidFill>
              </a:rPr>
              <a:t>Example</a:t>
            </a:r>
            <a:r>
              <a:rPr lang="sv-SE" sz="1600" dirty="0"/>
              <a:t>: </a:t>
            </a:r>
            <a:r>
              <a:rPr lang="sv-SE" sz="1600" dirty="0" err="1"/>
              <a:t>Probability</a:t>
            </a:r>
            <a:r>
              <a:rPr lang="sv-SE" sz="1600" dirty="0"/>
              <a:t> </a:t>
            </a:r>
            <a:r>
              <a:rPr lang="sv-SE" sz="1600" dirty="0" err="1"/>
              <a:t>to</a:t>
            </a:r>
            <a:r>
              <a:rPr lang="sv-SE" sz="1600" dirty="0"/>
              <a:t> </a:t>
            </a:r>
            <a:r>
              <a:rPr lang="sv-SE" sz="1600" dirty="0" err="1"/>
              <a:t>buy</a:t>
            </a:r>
            <a:r>
              <a:rPr lang="sv-SE" sz="1600" dirty="0"/>
              <a:t> </a:t>
            </a:r>
            <a:r>
              <a:rPr lang="sv-SE" sz="1600" dirty="0" err="1"/>
              <a:t>more</a:t>
            </a:r>
            <a:r>
              <a:rPr lang="sv-SE" sz="1600" dirty="0"/>
              <a:t> </a:t>
            </a:r>
            <a:r>
              <a:rPr lang="sv-SE" sz="1600" dirty="0" err="1"/>
              <a:t>than</a:t>
            </a:r>
            <a:r>
              <a:rPr lang="sv-SE" sz="1600" dirty="0"/>
              <a:t> </a:t>
            </a:r>
            <a:r>
              <a:rPr lang="sv-SE" sz="1600" dirty="0" err="1"/>
              <a:t>once</a:t>
            </a:r>
            <a:r>
              <a:rPr lang="sv-SE" sz="1600" dirty="0"/>
              <a:t> as </a:t>
            </a:r>
            <a:r>
              <a:rPr lang="sv-SE" sz="1600" dirty="0" err="1"/>
              <a:t>function</a:t>
            </a:r>
            <a:r>
              <a:rPr lang="sv-SE" sz="1600" dirty="0"/>
              <a:t> </a:t>
            </a:r>
            <a:r>
              <a:rPr lang="sv-SE" sz="1600" dirty="0" err="1"/>
              <a:t>of</a:t>
            </a:r>
            <a:r>
              <a:rPr lang="sv-SE" sz="1600" dirty="0"/>
              <a:t> </a:t>
            </a:r>
            <a:r>
              <a:rPr lang="sv-SE" sz="1600" dirty="0" err="1"/>
              <a:t>First</a:t>
            </a:r>
            <a:r>
              <a:rPr lang="sv-SE" sz="1600" dirty="0"/>
              <a:t> </a:t>
            </a:r>
            <a:r>
              <a:rPr lang="sv-SE" sz="1600" dirty="0" err="1"/>
              <a:t>Amount</a:t>
            </a:r>
            <a:r>
              <a:rPr lang="sv-SE" sz="1600" dirty="0"/>
              <a:t> </a:t>
            </a:r>
            <a:r>
              <a:rPr lang="sv-SE" sz="1600" dirty="0" err="1"/>
              <a:t>Spend</a:t>
            </a:r>
            <a:endParaRPr lang="sv-SE" sz="1600" dirty="0"/>
          </a:p>
          <a:p>
            <a:endParaRPr lang="sv-SE" sz="16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732A99/TDDE01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7B2DAB0-3E44-4037-BFD8-EC40824E78A2}" type="slidenum">
              <a:rPr lang="sv-SE" smtClean="0"/>
              <a:pPr>
                <a:defRPr/>
              </a:pPr>
              <a:t>26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91775705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38CC5654-934B-46F6-89BA-0EC229D084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 err="1"/>
              <a:t>Logistic</a:t>
            </a:r>
            <a:r>
              <a:rPr lang="sv-SE" dirty="0"/>
              <a:t> regression: </a:t>
            </a:r>
            <a:r>
              <a:rPr lang="sv-SE" dirty="0" err="1"/>
              <a:t>learning</a:t>
            </a:r>
            <a:endParaRPr lang="sv-S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latshållare för innehåll 2">
                <a:extLst>
                  <a:ext uri="{FF2B5EF4-FFF2-40B4-BE49-F238E27FC236}">
                    <a16:creationId xmlns:a16="http://schemas.microsoft.com/office/drawing/2014/main" id="{609F03FD-2C6B-4A93-BD32-E922C7237CD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sv-SE" sz="2400" dirty="0"/>
                  <a:t>Likelihood </a:t>
                </a:r>
                <a:r>
                  <a:rPr lang="sv-SE" sz="2400" dirty="0" err="1"/>
                  <a:t>maximization</a:t>
                </a:r>
                <a:endParaRPr lang="sv-SE" sz="2400" dirty="0"/>
              </a:p>
              <a:p>
                <a:endParaRPr lang="sv-SE" sz="2400" dirty="0"/>
              </a:p>
              <a:p>
                <a:endParaRPr lang="sv-SE" sz="2400" dirty="0"/>
              </a:p>
              <a:p>
                <a:r>
                  <a:rPr lang="sv-SE" sz="2400" dirty="0" err="1"/>
                  <a:t>Equivalent</a:t>
                </a:r>
                <a:r>
                  <a:rPr lang="sv-SE" sz="2400" dirty="0"/>
                  <a:t> to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sv-SE" sz="2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sv-SE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sv-SE" sz="2400" b="0" i="0" smtClean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sv-SE" sz="2400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sv-SE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sv-SE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sv-SE" sz="24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  <m:nary>
                            <m:naryPr>
                              <m:chr m:val="∑"/>
                              <m:ctrlPr>
                                <a:rPr lang="sv-SE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sv-SE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sv-SE" sz="2400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sv-SE" sz="24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r>
                                <m:rPr>
                                  <m:sty m:val="p"/>
                                </m:rPr>
                                <a:rPr lang="sv-SE" sz="2400" b="0" i="0" smtClean="0">
                                  <a:latin typeface="Cambria Math" panose="02040503050406030204" pitchFamily="18" charset="0"/>
                                </a:rPr>
                                <m:t>ln</m:t>
                              </m:r>
                              <m:r>
                                <a:rPr lang="sv-SE" sz="2400" b="0" i="1" smtClean="0">
                                  <a:latin typeface="Cambria Math" panose="02040503050406030204" pitchFamily="18" charset="0"/>
                                </a:rPr>
                                <m:t>⁡(1+</m:t>
                              </m:r>
                              <m:sSup>
                                <m:sSupPr>
                                  <m:ctrlPr>
                                    <a:rPr lang="sv-SE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sv-SE" sz="2400" b="0" i="1" smtClean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sv-SE" sz="24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sv-SE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sv-SE" sz="2400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sv-SE" sz="2400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sSup>
                                    <m:sSupPr>
                                      <m:ctrlPr>
                                        <a:rPr lang="sv-SE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sv-SE" sz="2400" b="1" i="1" smtClean="0">
                                          <a:latin typeface="Cambria Math" panose="02040503050406030204" pitchFamily="18" charset="0"/>
                                        </a:rPr>
                                        <m:t>𝜽</m:t>
                                      </m:r>
                                    </m:e>
                                    <m:sup>
                                      <m:r>
                                        <a:rPr lang="sv-SE" sz="2400" b="0" i="1" smtClean="0"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sup>
                                  </m:sSup>
                                  <m:sSub>
                                    <m:sSubPr>
                                      <m:ctrlPr>
                                        <a:rPr lang="sv-SE" sz="2400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sv-SE" sz="2400" b="1" i="1" smtClean="0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b>
                                      <m:r>
                                        <a:rPr lang="sv-SE" sz="2400" b="1" i="1" smtClean="0">
                                          <a:latin typeface="Cambria Math" panose="02040503050406030204" pitchFamily="18" charset="0"/>
                                        </a:rPr>
                                        <m:t>𝒊</m:t>
                                      </m:r>
                                    </m:sub>
                                  </m:sSub>
                                </m:sup>
                              </m:sSup>
                              <m:r>
                                <a:rPr lang="sv-SE" sz="24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</m:e>
                      </m:func>
                    </m:oMath>
                  </m:oMathPara>
                </a14:m>
                <a:endParaRPr lang="sv-SE" sz="2400" dirty="0"/>
              </a:p>
              <a:p>
                <a:endParaRPr lang="sv-SE" sz="2400" dirty="0"/>
              </a:p>
              <a:p>
                <a:r>
                  <a:rPr lang="sv-SE" sz="2400" dirty="0"/>
                  <a:t>To </a:t>
                </a:r>
                <a:r>
                  <a:rPr lang="sv-SE" sz="2400" dirty="0" err="1"/>
                  <a:t>maximize</a:t>
                </a:r>
                <a:r>
                  <a:rPr lang="sv-SE" sz="2400" dirty="0"/>
                  <a:t> log-</a:t>
                </a:r>
                <a:r>
                  <a:rPr lang="sv-SE" sz="2400" dirty="0" err="1"/>
                  <a:t>likelihood</a:t>
                </a:r>
                <a:r>
                  <a:rPr lang="sv-SE" sz="2400" dirty="0"/>
                  <a:t>, </a:t>
                </a:r>
                <a:r>
                  <a:rPr lang="sv-SE" sz="2400" dirty="0" err="1"/>
                  <a:t>optimization</a:t>
                </a:r>
                <a:r>
                  <a:rPr lang="sv-SE" sz="2400" dirty="0"/>
                  <a:t> </a:t>
                </a:r>
                <a:r>
                  <a:rPr lang="sv-SE" sz="2400" dirty="0" err="1"/>
                  <a:t>used</a:t>
                </a:r>
                <a:endParaRPr lang="sv-SE" sz="2400" dirty="0"/>
              </a:p>
              <a:p>
                <a:pPr lvl="1"/>
                <a:r>
                  <a:rPr lang="sv-SE" sz="1800" dirty="0" err="1"/>
                  <a:t>Newton’s</a:t>
                </a:r>
                <a:r>
                  <a:rPr lang="sv-SE" sz="1800" dirty="0"/>
                  <a:t> </a:t>
                </a:r>
                <a:r>
                  <a:rPr lang="sv-SE" sz="1800" dirty="0" err="1"/>
                  <a:t>method</a:t>
                </a:r>
                <a:r>
                  <a:rPr lang="sv-SE" sz="1800" dirty="0"/>
                  <a:t> </a:t>
                </a:r>
                <a:r>
                  <a:rPr lang="sv-SE" sz="1800" dirty="0" err="1"/>
                  <a:t>traditionally</a:t>
                </a:r>
                <a:r>
                  <a:rPr lang="sv-SE" sz="1800" dirty="0"/>
                  <a:t> </a:t>
                </a:r>
                <a:r>
                  <a:rPr lang="sv-SE" sz="1800" dirty="0" err="1"/>
                  <a:t>used</a:t>
                </a:r>
                <a:r>
                  <a:rPr lang="sv-SE" sz="1800" dirty="0"/>
                  <a:t> (</a:t>
                </a:r>
                <a:r>
                  <a:rPr lang="sv-SE" sz="1800" dirty="0" err="1"/>
                  <a:t>Iterative</a:t>
                </a:r>
                <a:r>
                  <a:rPr lang="sv-SE" sz="1800" dirty="0"/>
                  <a:t> </a:t>
                </a:r>
                <a:r>
                  <a:rPr lang="sv-SE" sz="1800" dirty="0" err="1"/>
                  <a:t>Reweighted</a:t>
                </a:r>
                <a:r>
                  <a:rPr lang="sv-SE" sz="1800" dirty="0"/>
                  <a:t> </a:t>
                </a:r>
                <a:r>
                  <a:rPr lang="sv-SE" sz="1800" dirty="0" err="1"/>
                  <a:t>Least</a:t>
                </a:r>
                <a:r>
                  <a:rPr lang="sv-SE" sz="1800" dirty="0"/>
                  <a:t> Squares)</a:t>
                </a:r>
              </a:p>
              <a:p>
                <a:pPr lvl="1"/>
                <a:r>
                  <a:rPr lang="sv-SE" sz="1800" dirty="0" err="1"/>
                  <a:t>Steepest</a:t>
                </a:r>
                <a:r>
                  <a:rPr lang="sv-SE" sz="1800" dirty="0"/>
                  <a:t> </a:t>
                </a:r>
                <a:r>
                  <a:rPr lang="sv-SE" sz="1800" dirty="0" err="1"/>
                  <a:t>descent</a:t>
                </a:r>
                <a:r>
                  <a:rPr lang="sv-SE" sz="1800" dirty="0"/>
                  <a:t>, </a:t>
                </a:r>
                <a:r>
                  <a:rPr lang="sv-SE" sz="1800" dirty="0" err="1"/>
                  <a:t>Quasi</a:t>
                </a:r>
                <a:r>
                  <a:rPr lang="sv-SE" sz="1800" dirty="0"/>
                  <a:t>-newton </a:t>
                </a:r>
                <a:r>
                  <a:rPr lang="sv-SE" sz="1800" dirty="0" err="1"/>
                  <a:t>methods</a:t>
                </a:r>
                <a:r>
                  <a:rPr lang="sv-SE" sz="1800" dirty="0"/>
                  <a:t>…</a:t>
                </a:r>
              </a:p>
              <a:p>
                <a:pPr marL="0" indent="0">
                  <a:buNone/>
                </a:pPr>
                <a:endParaRPr lang="sv-SE" sz="2400" dirty="0"/>
              </a:p>
            </p:txBody>
          </p:sp>
        </mc:Choice>
        <mc:Fallback xmlns="">
          <p:sp>
            <p:nvSpPr>
              <p:cNvPr id="3" name="Platshållare för innehåll 2">
                <a:extLst>
                  <a:ext uri="{FF2B5EF4-FFF2-40B4-BE49-F238E27FC236}">
                    <a16:creationId xmlns:a16="http://schemas.microsoft.com/office/drawing/2014/main" id="{609F03FD-2C6B-4A93-BD32-E922C7237CD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63" t="-1078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A4DB4BA4-B9EA-4869-81DC-9AEE5D66B6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732A99/TDDE01</a:t>
            </a:r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325EF90F-303B-4AAA-A4FB-F1A0697D8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7B2DAB0-3E44-4037-BFD8-EC40824E78A2}" type="slidenum">
              <a:rPr lang="sv-SE" smtClean="0"/>
              <a:pPr>
                <a:defRPr/>
              </a:pPr>
              <a:t>27</a:t>
            </a:fld>
            <a:endParaRPr lang="sv-SE"/>
          </a:p>
        </p:txBody>
      </p:sp>
      <p:pic>
        <p:nvPicPr>
          <p:cNvPr id="7" name="Bildobjekt 6">
            <a:extLst>
              <a:ext uri="{FF2B5EF4-FFF2-40B4-BE49-F238E27FC236}">
                <a16:creationId xmlns:a16="http://schemas.microsoft.com/office/drawing/2014/main" id="{3E50E5F0-74D7-4E84-BD99-A4ACB7DC41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9832" y="1988840"/>
            <a:ext cx="2699792" cy="767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528430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2A586457-D9A3-488B-9ABA-D1DCD2912F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sz="4000" dirty="0" err="1"/>
              <a:t>Logistic</a:t>
            </a:r>
            <a:r>
              <a:rPr lang="sv-SE" sz="4000" dirty="0"/>
              <a:t> regression: </a:t>
            </a:r>
            <a:r>
              <a:rPr lang="sv-SE" sz="4000" dirty="0" err="1"/>
              <a:t>learning</a:t>
            </a:r>
            <a:r>
              <a:rPr lang="sv-SE" sz="4000" dirty="0"/>
              <a:t> </a:t>
            </a:r>
            <a:r>
              <a:rPr lang="sv-SE" sz="4000" dirty="0" err="1"/>
              <a:t>algorithm</a:t>
            </a:r>
            <a:endParaRPr lang="sv-SE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latshållare för innehåll 2">
                <a:extLst>
                  <a:ext uri="{FF2B5EF4-FFF2-40B4-BE49-F238E27FC236}">
                    <a16:creationId xmlns:a16="http://schemas.microsoft.com/office/drawing/2014/main" id="{5897D917-AB90-46F0-988D-3B1DCAB51F4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sv-SE" sz="2400" dirty="0"/>
                  <a:t>Training</a:t>
                </a:r>
              </a:p>
              <a:p>
                <a:pPr marL="971550" lvl="1" indent="-514350">
                  <a:buFont typeface="+mj-lt"/>
                  <a:buAutoNum type="arabicPeriod"/>
                </a:pPr>
                <a:r>
                  <a:rPr lang="sv-SE" sz="2000" dirty="0" err="1"/>
                  <a:t>Construct</a:t>
                </a:r>
                <a:r>
                  <a:rPr lang="sv-SE" sz="2000" dirty="0"/>
                  <a:t> </a:t>
                </a:r>
                <a14:m>
                  <m:oMath xmlns:m="http://schemas.openxmlformats.org/officeDocument/2006/math">
                    <m:r>
                      <a:rPr lang="sv-SE" sz="2000" b="1" i="1" smtClean="0">
                        <a:latin typeface="Cambria Math" panose="02040503050406030204" pitchFamily="18" charset="0"/>
                      </a:rPr>
                      <m:t>𝑿</m:t>
                    </m:r>
                  </m:oMath>
                </a14:m>
                <a:r>
                  <a:rPr lang="sv-SE" sz="2000" b="1" dirty="0"/>
                  <a:t> </a:t>
                </a:r>
                <a:r>
                  <a:rPr lang="sv-SE" sz="2000" dirty="0"/>
                  <a:t>and </a:t>
                </a:r>
                <a14:m>
                  <m:oMath xmlns:m="http://schemas.openxmlformats.org/officeDocument/2006/math">
                    <m:r>
                      <a:rPr lang="sv-SE" sz="2000" b="1" i="1" smtClean="0">
                        <a:latin typeface="Cambria Math" panose="02040503050406030204" pitchFamily="18" charset="0"/>
                      </a:rPr>
                      <m:t>𝒚</m:t>
                    </m:r>
                  </m:oMath>
                </a14:m>
                <a:endParaRPr lang="sv-SE" sz="2000" b="1" dirty="0"/>
              </a:p>
              <a:p>
                <a:pPr marL="971550" lvl="1" indent="-514350">
                  <a:buFont typeface="+mj-lt"/>
                  <a:buAutoNum type="arabicPeriod"/>
                </a:pPr>
                <a:r>
                  <a:rPr lang="sv-SE" sz="2000" dirty="0" err="1"/>
                  <a:t>Compute</a:t>
                </a:r>
                <a:r>
                  <a:rPr lang="sv-SE" sz="2000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sv-SE" sz="20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sv-SE" sz="20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𝜽</m:t>
                        </m:r>
                      </m:e>
                    </m:acc>
                  </m:oMath>
                </a14:m>
                <a:r>
                  <a:rPr lang="sv-SE" sz="2000" b="1" dirty="0">
                    <a:solidFill>
                      <a:srgbClr val="000000"/>
                    </a:solidFill>
                  </a:rPr>
                  <a:t> </a:t>
                </a:r>
                <a:r>
                  <a:rPr lang="sv-SE" sz="2000" dirty="0">
                    <a:solidFill>
                      <a:srgbClr val="000000"/>
                    </a:solidFill>
                  </a:rPr>
                  <a:t>by </a:t>
                </a:r>
                <a:r>
                  <a:rPr lang="sv-SE" sz="2000" dirty="0" err="1">
                    <a:solidFill>
                      <a:srgbClr val="000000"/>
                    </a:solidFill>
                  </a:rPr>
                  <a:t>computing</a:t>
                </a:r>
                <a:r>
                  <a:rPr lang="sv-SE" sz="2000" dirty="0">
                    <a:solidFill>
                      <a:srgbClr val="000000"/>
                    </a:solidFill>
                  </a:rPr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sv-SE" sz="20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sv-SE" sz="2000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sv-SE" sz="2000">
                                <a:latin typeface="Cambria Math" panose="02040503050406030204" pitchFamily="18" charset="0"/>
                              </a:rPr>
                              <m:t>min</m:t>
                            </m:r>
                          </m:e>
                          <m:lim>
                            <m:r>
                              <a:rPr lang="sv-SE" sz="2000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lim>
                        </m:limLow>
                      </m:fName>
                      <m:e>
                        <m:f>
                          <m:fPr>
                            <m:ctrlPr>
                              <a:rPr lang="sv-SE" sz="2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sv-SE" sz="20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sv-SE" sz="20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  <m:nary>
                          <m:naryPr>
                            <m:chr m:val="∑"/>
                            <m:ctrlPr>
                              <a:rPr lang="sv-SE" sz="2000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sv-SE" sz="2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sv-SE" sz="2000" i="1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sv-SE" sz="20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  <m:e>
                            <m:r>
                              <m:rPr>
                                <m:sty m:val="p"/>
                              </m:rPr>
                              <a:rPr lang="sv-SE" sz="2000">
                                <a:latin typeface="Cambria Math" panose="02040503050406030204" pitchFamily="18" charset="0"/>
                              </a:rPr>
                              <m:t>ln</m:t>
                            </m:r>
                            <m:r>
                              <a:rPr lang="sv-SE" sz="2000" i="1">
                                <a:latin typeface="Cambria Math" panose="02040503050406030204" pitchFamily="18" charset="0"/>
                              </a:rPr>
                              <m:t>⁡(1+</m:t>
                            </m:r>
                            <m:sSup>
                              <m:sSupPr>
                                <m:ctrlPr>
                                  <a:rPr lang="sv-SE" sz="20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sv-SE" sz="2000" i="1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sv-SE" sz="20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sv-SE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sv-SE" sz="2000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sv-SE" sz="20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sSup>
                                  <m:sSupPr>
                                    <m:ctrlPr>
                                      <a:rPr lang="sv-SE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sv-SE" sz="2000" b="1" i="1">
                                        <a:latin typeface="Cambria Math" panose="02040503050406030204" pitchFamily="18" charset="0"/>
                                      </a:rPr>
                                      <m:t>𝜽</m:t>
                                    </m:r>
                                  </m:e>
                                  <m:sup>
                                    <m:r>
                                      <a:rPr lang="sv-SE" sz="2000" i="1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p>
                                </m:sSup>
                                <m:sSub>
                                  <m:sSubPr>
                                    <m:ctrlPr>
                                      <a:rPr lang="sv-SE" sz="20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sv-SE" sz="2000" b="1" i="1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sv-SE" sz="2000" b="1" i="1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sup>
                            </m:sSup>
                            <m:r>
                              <a:rPr lang="sv-SE" sz="2000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nary>
                      </m:e>
                    </m:func>
                  </m:oMath>
                </a14:m>
                <a:r>
                  <a:rPr lang="sv-SE" sz="2000" dirty="0">
                    <a:solidFill>
                      <a:srgbClr val="000000"/>
                    </a:solidFill>
                  </a:rPr>
                  <a:t> numerically</a:t>
                </a:r>
              </a:p>
              <a:p>
                <a:pPr marL="971550" lvl="1" indent="-514350">
                  <a:buFont typeface="+mj-lt"/>
                  <a:buAutoNum type="arabicPeriod"/>
                </a:pPr>
                <a:endParaRPr lang="sv-SE" sz="2000" b="1" dirty="0">
                  <a:solidFill>
                    <a:srgbClr val="000000"/>
                  </a:solidFill>
                </a:endParaRPr>
              </a:p>
              <a:p>
                <a:r>
                  <a:rPr lang="sv-SE" sz="2400" dirty="0" err="1"/>
                  <a:t>Prediction</a:t>
                </a:r>
                <a:endParaRPr lang="sv-SE" sz="2400" dirty="0"/>
              </a:p>
              <a:p>
                <a:pPr lvl="1"/>
                <a14:m>
                  <m:oMath xmlns:m="http://schemas.openxmlformats.org/officeDocument/2006/math">
                    <m:r>
                      <a:rPr lang="sv-SE" sz="2000" b="0" i="1" dirty="0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sv-SE" sz="20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sv-SE" sz="2000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sv-SE" sz="2000" b="1" i="1" dirty="0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sv-SE" sz="20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sv-SE" sz="2000" b="1" i="1" dirty="0" smtClean="0"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sv-SE" sz="2000" b="1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sv-SE" sz="2000" b="1" i="1" dirty="0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sv-SE" sz="2000" b="1" i="1" dirty="0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b>
                        </m:sSub>
                      </m:e>
                    </m:d>
                    <m:r>
                      <a:rPr lang="sv-SE" sz="2000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sv-SE" sz="2000" b="0" i="1" dirty="0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sv-SE" sz="20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sv-SE" sz="20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sv-SE" sz="2000" b="1" i="1" dirty="0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sv-SE" sz="2000" b="0" i="1" dirty="0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b>
                        </m:sSub>
                        <m:r>
                          <a:rPr lang="sv-SE" sz="2000" b="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acc>
                          <m:accPr>
                            <m:chr m:val="̂"/>
                            <m:ctrlPr>
                              <a:rPr lang="sv-SE" sz="2000" b="0" i="1" dirty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sv-SE" sz="2000" b="1" i="1" dirty="0" smtClean="0">
                                <a:latin typeface="Cambria Math" panose="02040503050406030204" pitchFamily="18" charset="0"/>
                              </a:rPr>
                              <m:t>𝜽</m:t>
                            </m:r>
                          </m:e>
                        </m:acc>
                      </m:e>
                    </m:d>
                    <m:r>
                      <a:rPr lang="sv-SE" sz="2000" b="0" i="1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sv-SE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sv-SE" sz="2000" i="1"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sv-SE" sz="2000" i="1">
                            <a:latin typeface="Cambria Math"/>
                          </a:rPr>
                          <m:t>1+</m:t>
                        </m:r>
                        <m:sSup>
                          <m:sSupPr>
                            <m:ctrlPr>
                              <a:rPr lang="sv-SE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sv-SE" sz="2000" i="1">
                                <a:latin typeface="Cambria Math"/>
                              </a:rPr>
                              <m:t>𝑒</m:t>
                            </m:r>
                          </m:e>
                          <m:sup>
                            <m:r>
                              <a:rPr lang="sv-SE" sz="2000" i="1">
                                <a:latin typeface="Cambria Math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sv-SE" sz="20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acc>
                                  <m:accPr>
                                    <m:chr m:val="̂"/>
                                    <m:ctrlPr>
                                      <a:rPr lang="sv-SE" sz="20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sv-SE" sz="2000" b="1" i="1" smtClean="0">
                                        <a:latin typeface="Cambria Math" panose="02040503050406030204" pitchFamily="18" charset="0"/>
                                      </a:rPr>
                                      <m:t>𝜽</m:t>
                                    </m:r>
                                  </m:e>
                                </m:acc>
                              </m:e>
                              <m:sup>
                                <m:r>
                                  <a:rPr lang="sv-SE" sz="2000" b="0" i="1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p>
                            <m:sSub>
                              <m:sSubPr>
                                <m:ctrlPr>
                                  <a:rPr lang="sv-SE" sz="20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sv-SE" sz="2000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sv-SE" sz="2000" b="1" i="1" smtClean="0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b>
                            </m:sSub>
                          </m:sup>
                        </m:sSup>
                        <m:r>
                          <a:rPr lang="sv-SE" sz="2000" i="1">
                            <a:latin typeface="Cambria Math"/>
                          </a:rPr>
                          <m:t> </m:t>
                        </m:r>
                      </m:den>
                    </m:f>
                  </m:oMath>
                </a14:m>
                <a:endParaRPr lang="sv-SE" sz="2000" dirty="0"/>
              </a:p>
              <a:p>
                <a:pPr lvl="1"/>
                <a:r>
                  <a:rPr lang="sv-SE" sz="2000" dirty="0"/>
                  <a:t>Transform </a:t>
                </a:r>
                <a:r>
                  <a:rPr lang="sv-SE" sz="2000" dirty="0" err="1"/>
                  <a:t>into</a:t>
                </a:r>
                <a:r>
                  <a:rPr lang="sv-SE" sz="2000" dirty="0"/>
                  <a:t> decision: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sv-SE" sz="20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sv-SE" sz="20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sv-SE" sz="2400" b="0" i="1" dirty="0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sv-SE" sz="2000" dirty="0"/>
                  <a:t> if </a:t>
                </a:r>
                <a14:m>
                  <m:oMath xmlns:m="http://schemas.openxmlformats.org/officeDocument/2006/math">
                    <m:r>
                      <a:rPr lang="sv-SE" sz="2000" i="1" dirty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sv-SE" sz="2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sv-SE" sz="2000" i="1" dirty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sv-SE" sz="2000" b="1" i="1" dirty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sv-SE" sz="2000" b="0" i="1" dirty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sv-SE" sz="2000" b="1" i="1" dirty="0"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sv-SE" sz="2000" b="1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sv-SE" sz="2000" b="1" i="1" dirty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sv-SE" sz="2000" b="1" i="1" dirty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b>
                        </m:sSub>
                      </m:e>
                    </m:d>
                    <m:r>
                      <a:rPr lang="sv-SE" sz="2000" b="0" i="1" dirty="0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sv-SE" sz="2000" b="0" i="1" dirty="0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sv-SE" sz="2000" dirty="0"/>
                  <a:t> </a:t>
                </a:r>
              </a:p>
              <a:p>
                <a:pPr lvl="1"/>
                <a:r>
                  <a:rPr lang="sv-SE" sz="2000" dirty="0" err="1"/>
                  <a:t>Normally</a:t>
                </a:r>
                <a:r>
                  <a:rPr lang="sv-SE" sz="2000" dirty="0"/>
                  <a:t> </a:t>
                </a:r>
                <a14:m>
                  <m:oMath xmlns:m="http://schemas.openxmlformats.org/officeDocument/2006/math">
                    <m:r>
                      <a:rPr lang="sv-SE" sz="2000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sv-SE" sz="2000" b="0" i="1" smtClean="0">
                        <a:latin typeface="Cambria Math" panose="02040503050406030204" pitchFamily="18" charset="0"/>
                      </a:rPr>
                      <m:t>=0.5</m:t>
                    </m:r>
                  </m:oMath>
                </a14:m>
                <a:endParaRPr lang="sv-SE" sz="2000" dirty="0"/>
              </a:p>
              <a:p>
                <a:endParaRPr lang="sv-SE" dirty="0"/>
              </a:p>
            </p:txBody>
          </p:sp>
        </mc:Choice>
        <mc:Fallback xmlns="">
          <p:sp>
            <p:nvSpPr>
              <p:cNvPr id="3" name="Platshållare för innehåll 2">
                <a:extLst>
                  <a:ext uri="{FF2B5EF4-FFF2-40B4-BE49-F238E27FC236}">
                    <a16:creationId xmlns:a16="http://schemas.microsoft.com/office/drawing/2014/main" id="{5897D917-AB90-46F0-988D-3B1DCAB51F4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63" t="-1078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0937D18B-1414-499E-96E4-98D0AE7304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732A99/TDDE01</a:t>
            </a:r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EA486FC5-AE6F-493D-91CE-C5349C57AD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7B2DAB0-3E44-4037-BFD8-EC40824E78A2}" type="slidenum">
              <a:rPr lang="sv-SE" smtClean="0"/>
              <a:pPr>
                <a:defRPr/>
              </a:pPr>
              <a:t>28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3079845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DD65D2B5-5DA3-4769-861F-284E2D8D70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sz="3600" dirty="0" err="1"/>
              <a:t>Logistic</a:t>
            </a:r>
            <a:r>
              <a:rPr lang="sv-SE" sz="3600" dirty="0"/>
              <a:t> regression: </a:t>
            </a:r>
            <a:r>
              <a:rPr lang="sv-SE" sz="3600" dirty="0" err="1"/>
              <a:t>learning</a:t>
            </a:r>
            <a:r>
              <a:rPr lang="sv-SE" sz="3600" dirty="0"/>
              <a:t> </a:t>
            </a:r>
            <a:r>
              <a:rPr lang="sv-SE" sz="3600" dirty="0" err="1"/>
              <a:t>algorithm</a:t>
            </a:r>
            <a:endParaRPr lang="sv-SE" sz="3600" dirty="0"/>
          </a:p>
        </p:txBody>
      </p:sp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7B2E3664-DD4D-4906-9F1A-7F38303431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732A99/TDDE01</a:t>
            </a:r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24B030D1-BD29-4E4C-8CD5-1C1375D887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7B2DAB0-3E44-4037-BFD8-EC40824E78A2}" type="slidenum">
              <a:rPr lang="sv-SE" smtClean="0"/>
              <a:pPr>
                <a:defRPr/>
              </a:pPr>
              <a:t>29</a:t>
            </a:fld>
            <a:endParaRPr lang="sv-SE"/>
          </a:p>
        </p:txBody>
      </p:sp>
      <p:pic>
        <p:nvPicPr>
          <p:cNvPr id="7" name="Bildobjekt 6">
            <a:extLst>
              <a:ext uri="{FF2B5EF4-FFF2-40B4-BE49-F238E27FC236}">
                <a16:creationId xmlns:a16="http://schemas.microsoft.com/office/drawing/2014/main" id="{CC3899AD-8525-41F6-A4B7-ACAEA3EA18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836" y="1844824"/>
            <a:ext cx="7524328" cy="333919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ruta 7">
                <a:extLst>
                  <a:ext uri="{FF2B5EF4-FFF2-40B4-BE49-F238E27FC236}">
                    <a16:creationId xmlns:a16="http://schemas.microsoft.com/office/drawing/2014/main" id="{CF0C0628-BC3B-4671-8966-3EB84FE73C5A}"/>
                  </a:ext>
                </a:extLst>
              </p:cNvPr>
              <p:cNvSpPr txBox="1"/>
              <p:nvPr/>
            </p:nvSpPr>
            <p:spPr>
              <a:xfrm>
                <a:off x="1115616" y="5661248"/>
                <a:ext cx="5405903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sv-SE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sv-SE" b="0" i="1" smtClean="0">
                        <a:latin typeface="Cambria Math" panose="02040503050406030204" pitchFamily="18" charset="0"/>
                      </a:rPr>
                      <m:t>=0.5</m:t>
                    </m:r>
                  </m:oMath>
                </a14:m>
                <a:r>
                  <a:rPr lang="sv-SE" dirty="0"/>
                  <a:t> is </a:t>
                </a:r>
                <a:r>
                  <a:rPr lang="sv-SE" dirty="0" err="1"/>
                  <a:t>usual</a:t>
                </a:r>
                <a:r>
                  <a:rPr lang="sv-SE" dirty="0"/>
                  <a:t> </a:t>
                </a:r>
                <a:r>
                  <a:rPr lang="sv-SE" dirty="0" err="1"/>
                  <a:t>but</a:t>
                </a:r>
                <a:r>
                  <a:rPr lang="sv-SE" dirty="0"/>
                  <a:t> </a:t>
                </a:r>
                <a:r>
                  <a:rPr lang="sv-SE" dirty="0" err="1"/>
                  <a:t>other</a:t>
                </a:r>
                <a:r>
                  <a:rPr lang="sv-SE" dirty="0"/>
                  <a:t> </a:t>
                </a:r>
                <a:r>
                  <a:rPr lang="sv-SE" dirty="0" err="1"/>
                  <a:t>values</a:t>
                </a:r>
                <a:r>
                  <a:rPr lang="sv-SE" dirty="0"/>
                  <a:t> </a:t>
                </a:r>
                <a:r>
                  <a:rPr lang="sv-SE" dirty="0" err="1"/>
                  <a:t>might</a:t>
                </a:r>
                <a:r>
                  <a:rPr lang="sv-SE" dirty="0"/>
                  <a:t> be </a:t>
                </a:r>
                <a:r>
                  <a:rPr lang="sv-SE" dirty="0" err="1"/>
                  <a:t>preferred</a:t>
                </a:r>
                <a:endParaRPr lang="sv-SE" dirty="0"/>
              </a:p>
              <a:p>
                <a:r>
                  <a:rPr lang="sv-SE" dirty="0" err="1">
                    <a:solidFill>
                      <a:srgbClr val="C00000"/>
                    </a:solidFill>
                  </a:rPr>
                  <a:t>Example</a:t>
                </a:r>
                <a:r>
                  <a:rPr lang="sv-SE" dirty="0"/>
                  <a:t>: </a:t>
                </a:r>
                <a:r>
                  <a:rPr lang="sv-SE" dirty="0" err="1"/>
                  <a:t>healthy</a:t>
                </a:r>
                <a:r>
                  <a:rPr lang="sv-SE" dirty="0"/>
                  <a:t> vs sick</a:t>
                </a:r>
              </a:p>
            </p:txBody>
          </p:sp>
        </mc:Choice>
        <mc:Fallback xmlns="">
          <p:sp>
            <p:nvSpPr>
              <p:cNvPr id="8" name="textruta 7">
                <a:extLst>
                  <a:ext uri="{FF2B5EF4-FFF2-40B4-BE49-F238E27FC236}">
                    <a16:creationId xmlns:a16="http://schemas.microsoft.com/office/drawing/2014/main" id="{CF0C0628-BC3B-4671-8966-3EB84FE73C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5616" y="5661248"/>
                <a:ext cx="5405903" cy="646331"/>
              </a:xfrm>
              <a:prstGeom prst="rect">
                <a:avLst/>
              </a:prstGeom>
              <a:blipFill>
                <a:blip r:embed="rId3"/>
                <a:stretch>
                  <a:fillRect l="-902" t="-5660" b="-14151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5778683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Logistic regression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229600" cy="4781128"/>
              </a:xfrm>
            </p:spPr>
            <p:txBody>
              <a:bodyPr/>
              <a:lstStyle/>
              <a:p>
                <a:r>
                  <a:rPr lang="sv-SE" sz="2000" dirty="0"/>
                  <a:t>When </a:t>
                </a:r>
                <a14:m>
                  <m:oMath xmlns:m="http://schemas.openxmlformats.org/officeDocument/2006/math">
                    <m:r>
                      <a:rPr lang="sv-SE" sz="2000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sv-SE" sz="2000" dirty="0"/>
                  <a:t> is </a:t>
                </a:r>
                <a:r>
                  <a:rPr lang="sv-SE" sz="2000" dirty="0" err="1"/>
                  <a:t>categorical</a:t>
                </a:r>
                <a:r>
                  <a:rPr lang="sv-SE" sz="2000" dirty="0"/>
                  <a:t>, set </a:t>
                </a:r>
                <a:r>
                  <a:rPr lang="sv-SE" sz="2000" b="1" dirty="0" err="1">
                    <a:solidFill>
                      <a:srgbClr val="C00000"/>
                    </a:solidFill>
                  </a:rPr>
                  <a:t>one</a:t>
                </a:r>
                <a:r>
                  <a:rPr lang="sv-SE" sz="2000" dirty="0"/>
                  <a:t> parameter </a:t>
                </a:r>
                <a:r>
                  <a:rPr lang="sv-SE" sz="2000" dirty="0" err="1"/>
                  <a:t>vector</a:t>
                </a:r>
                <a:r>
                  <a:rPr lang="sv-SE" sz="2000" dirty="0"/>
                  <a:t> </a:t>
                </a:r>
                <a14:m>
                  <m:oMath xmlns:m="http://schemas.openxmlformats.org/officeDocument/2006/math">
                    <m:r>
                      <a:rPr lang="sv-SE" sz="2000" b="0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sv-SE" sz="20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sv-SE" sz="2000" b="1" i="1" smtClean="0">
                            <a:latin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sv-SE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sv-SE" sz="2000" b="1" dirty="0"/>
                  <a:t> </a:t>
                </a:r>
                <a:r>
                  <a:rPr lang="sv-SE" sz="2000" dirty="0"/>
                  <a:t>per </a:t>
                </a:r>
                <a:r>
                  <a:rPr lang="sv-SE" sz="2000" dirty="0" err="1"/>
                  <a:t>class</a:t>
                </a:r>
                <a:r>
                  <a:rPr lang="sv-SE" sz="2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sv-SE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sv-SE" sz="20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sv-SE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sv-SE" sz="2000" b="1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sv-SE" sz="2000" b="0" i="1" smtClean="0">
                          <a:latin typeface="Cambria Math"/>
                        </a:rPr>
                        <m:t>𝑝</m:t>
                      </m:r>
                      <m:d>
                        <m:dPr>
                          <m:ctrlPr>
                            <a:rPr lang="sv-SE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sv-SE" sz="2000" b="0" i="1" smtClean="0">
                              <a:latin typeface="Cambria Math"/>
                            </a:rPr>
                            <m:t>𝑌</m:t>
                          </m:r>
                          <m:r>
                            <a:rPr lang="sv-SE" sz="2000" b="0" i="1" smtClean="0">
                              <a:latin typeface="Cambria Math"/>
                            </a:rPr>
                            <m:t>=</m:t>
                          </m:r>
                          <m:sSub>
                            <m:sSubPr>
                              <m:ctrlPr>
                                <a:rPr lang="sv-SE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sv-SE" sz="2000" b="0" i="1" smtClean="0">
                                  <a:latin typeface="Cambria Math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sv-SE" sz="2000" b="0" i="1" smtClean="0">
                                  <a:latin typeface="Cambria Math"/>
                                </a:rPr>
                                <m:t>𝑖</m:t>
                              </m:r>
                            </m:sub>
                          </m:sSub>
                        </m:e>
                        <m:e>
                          <m:r>
                            <a:rPr lang="sv-SE" sz="2000" b="0" i="1" smtClean="0">
                              <a:latin typeface="Cambria Math"/>
                            </a:rPr>
                            <m:t>𝑥</m:t>
                          </m:r>
                        </m:e>
                      </m:d>
                      <m:r>
                        <a:rPr lang="sv-SE" sz="2000" b="0" i="1" smtClean="0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sv-SE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sv-SE" sz="20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sv-SE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sv-SE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sv-SE" sz="20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sv-SE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sv-SE" sz="2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sv-SE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sv-SE" sz="2000" i="1">
                                  <a:latin typeface="Cambria Math"/>
                                </a:rPr>
                                <m:t>𝑒</m:t>
                              </m:r>
                            </m:e>
                            <m:sup>
                              <m:sSubSup>
                                <m:sSubSupPr>
                                  <m:ctrlPr>
                                    <a:rPr lang="sv-SE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sv-SE" sz="2000" b="1" i="1" smtClean="0">
                                      <a:latin typeface="Cambria Math" panose="02040503050406030204" pitchFamily="18" charset="0"/>
                                    </a:rPr>
                                    <m:t>𝜽</m:t>
                                  </m:r>
                                </m:e>
                                <m:sub>
                                  <m:r>
                                    <a:rPr lang="sv-SE" sz="2000" i="1">
                                      <a:latin typeface="Cambria Math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sv-SE" sz="2000" i="1">
                                      <a:latin typeface="Cambria Math"/>
                                    </a:rPr>
                                    <m:t>𝑇</m:t>
                                  </m:r>
                                </m:sup>
                              </m:sSubSup>
                              <m:r>
                                <a:rPr lang="sv-SE" sz="2000" b="1" i="1">
                                  <a:latin typeface="Cambria Math"/>
                                </a:rPr>
                                <m:t>𝒙</m:t>
                              </m:r>
                            </m:sup>
                          </m:sSup>
                        </m:num>
                        <m:den>
                          <m:nary>
                            <m:naryPr>
                              <m:chr m:val="∑"/>
                              <m:ctrlPr>
                                <a:rPr lang="sv-SE" sz="200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sv-SE" sz="2000" b="0" i="1" smtClean="0">
                                  <a:latin typeface="Cambria Math"/>
                                </a:rPr>
                                <m:t>𝑗</m:t>
                              </m:r>
                              <m:r>
                                <a:rPr lang="sv-SE" sz="2000" b="0" i="1" smtClean="0">
                                  <a:latin typeface="Cambria Math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sv-SE" sz="2000" b="0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sv-SE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sv-SE" sz="2000" i="1">
                                      <a:latin typeface="Cambria Math"/>
                                    </a:rPr>
                                    <m:t>𝑒</m:t>
                                  </m:r>
                                </m:e>
                                <m:sup>
                                  <m:sSubSup>
                                    <m:sSubSupPr>
                                      <m:ctrlPr>
                                        <a:rPr lang="sv-SE" sz="20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sv-SE" sz="2000" b="1" i="1" smtClean="0">
                                          <a:latin typeface="Cambria Math" panose="02040503050406030204" pitchFamily="18" charset="0"/>
                                        </a:rPr>
                                        <m:t>𝜽</m:t>
                                      </m:r>
                                    </m:e>
                                    <m:sub>
                                      <m:r>
                                        <a:rPr lang="sv-SE" sz="2000" b="0" i="1" smtClean="0">
                                          <a:latin typeface="Cambria Math"/>
                                        </a:rPr>
                                        <m:t>𝑗</m:t>
                                      </m:r>
                                    </m:sub>
                                    <m:sup>
                                      <m:r>
                                        <a:rPr lang="sv-SE" sz="2000" i="1">
                                          <a:latin typeface="Cambria Math"/>
                                        </a:rPr>
                                        <m:t>𝑇</m:t>
                                      </m:r>
                                    </m:sup>
                                  </m:sSubSup>
                                  <m:r>
                                    <a:rPr lang="sv-SE" sz="2000" b="1" i="1">
                                      <a:latin typeface="Cambria Math"/>
                                    </a:rPr>
                                    <m:t>𝒙</m:t>
                                  </m:r>
                                </m:sup>
                              </m:sSup>
                            </m:e>
                          </m:nary>
                        </m:den>
                      </m:f>
                    </m:oMath>
                  </m:oMathPara>
                </a14:m>
                <a:endParaRPr lang="sv-SE" sz="20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sv-SE" sz="2000" b="0" i="1" smtClean="0">
                          <a:latin typeface="Cambria Math" panose="02040503050406030204" pitchFamily="18" charset="0"/>
                        </a:rPr>
                        <m:t>𝑠𝑜𝑓𝑡𝑚𝑎𝑥</m:t>
                      </m:r>
                      <m:d>
                        <m:dPr>
                          <m:ctrlPr>
                            <a:rPr lang="sv-SE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sv-SE" sz="2000" b="1" i="1" smtClean="0"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</m:d>
                      <m:r>
                        <a:rPr lang="sv-SE" sz="2000" b="0" i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sv-SE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sv-SE" sz="2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sv-SE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sv-SE" sz="2000">
                                      <a:latin typeface="Cambria Math" panose="02040503050406030204" pitchFamily="18" charset="0"/>
                                    </a:rPr>
                                    <m:t>e</m:t>
                                  </m:r>
                                </m:e>
                                <m:sup>
                                  <m:sSub>
                                    <m:sSubPr>
                                      <m:ctrlPr>
                                        <a:rPr lang="sv-SE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sv-SE" sz="2000">
                                          <a:latin typeface="Cambria Math" panose="02040503050406030204" pitchFamily="18" charset="0"/>
                                        </a:rPr>
                                        <m:t>z</m:t>
                                      </m:r>
                                    </m:e>
                                    <m:sub>
                                      <m:r>
                                        <a:rPr lang="sv-SE" sz="200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sup>
                              </m:sSup>
                            </m:num>
                            <m:den>
                              <m:r>
                                <a:rPr lang="sv-SE" sz="2000" i="1">
                                  <a:latin typeface="Cambria Math" panose="02040503050406030204" pitchFamily="18" charset="0"/>
                                </a:rPr>
                                <m:t>∑</m:t>
                              </m:r>
                              <m:sSup>
                                <m:sSupPr>
                                  <m:ctrlPr>
                                    <a:rPr lang="sv-SE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sv-SE" sz="2000" b="0" i="1" smtClean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sSub>
                                    <m:sSubPr>
                                      <m:ctrlPr>
                                        <a:rPr lang="sv-SE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sv-SE" sz="2000" b="0" i="1" smtClean="0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sub>
                                      <m:r>
                                        <a:rPr lang="sv-SE" sz="2000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sup>
                              </m:sSup>
                              <m:r>
                                <a:rPr lang="sv-SE" sz="20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den>
                          </m:f>
                          <m:r>
                            <a:rPr lang="sv-SE" sz="2000" b="0" i="0" smtClean="0">
                              <a:latin typeface="Cambria Math" panose="02040503050406030204" pitchFamily="18" charset="0"/>
                            </a:rPr>
                            <m:t>,…</m:t>
                          </m:r>
                          <m:f>
                            <m:fPr>
                              <m:ctrlPr>
                                <a:rPr lang="sv-SE" sz="2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sv-SE" sz="20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sv-SE" sz="2000">
                                      <a:latin typeface="Cambria Math" panose="02040503050406030204" pitchFamily="18" charset="0"/>
                                    </a:rPr>
                                    <m:t>e</m:t>
                                  </m:r>
                                </m:e>
                                <m:sup>
                                  <m:sSub>
                                    <m:sSubPr>
                                      <m:ctrlPr>
                                        <a:rPr lang="sv-SE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sv-SE" sz="2000">
                                          <a:latin typeface="Cambria Math" panose="02040503050406030204" pitchFamily="18" charset="0"/>
                                        </a:rPr>
                                        <m:t>z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sv-SE" sz="2000" b="0" i="0" smtClean="0">
                                          <a:latin typeface="Cambria Math" panose="02040503050406030204" pitchFamily="18" charset="0"/>
                                        </a:rPr>
                                        <m:t>M</m:t>
                                      </m:r>
                                    </m:sub>
                                  </m:sSub>
                                </m:sup>
                              </m:sSup>
                            </m:num>
                            <m:den>
                              <m:r>
                                <a:rPr lang="sv-SE" sz="2000" i="1">
                                  <a:latin typeface="Cambria Math" panose="02040503050406030204" pitchFamily="18" charset="0"/>
                                </a:rPr>
                                <m:t>∑</m:t>
                              </m:r>
                              <m:sSup>
                                <m:sSupPr>
                                  <m:ctrlPr>
                                    <a:rPr lang="sv-SE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sv-SE" sz="2000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sSub>
                                    <m:sSubPr>
                                      <m:ctrlPr>
                                        <a:rPr lang="sv-SE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sv-SE" sz="2000" i="1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sub>
                                      <m:r>
                                        <a:rPr lang="sv-SE" sz="20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sup>
                              </m:sSup>
                            </m:den>
                          </m:f>
                        </m:e>
                      </m:d>
                    </m:oMath>
                  </m:oMathPara>
                </a14:m>
                <a:endParaRPr lang="sv-SE" sz="2000" dirty="0"/>
              </a:p>
              <a:p>
                <a:r>
                  <a:rPr lang="sv-SE" sz="2000" dirty="0" err="1"/>
                  <a:t>Alternatively</a:t>
                </a:r>
                <a:endParaRPr lang="sv-SE" sz="20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sv-SE" sz="2000" b="0" i="1" smtClean="0">
                          <a:latin typeface="Cambria Math"/>
                        </a:rPr>
                        <m:t>𝑌</m:t>
                      </m:r>
                      <m:r>
                        <a:rPr lang="sv-SE" sz="2000" b="0" i="1" smtClean="0">
                          <a:latin typeface="Cambria Math"/>
                        </a:rPr>
                        <m:t>~</m:t>
                      </m:r>
                      <m:r>
                        <a:rPr lang="sv-SE" sz="2000" b="0" i="1" smtClean="0">
                          <a:latin typeface="Cambria Math"/>
                        </a:rPr>
                        <m:t>𝑀𝑢𝑙𝑡𝑖𝑛𝑜𝑚𝑖𝑎𝑙</m:t>
                      </m:r>
                      <m:d>
                        <m:dPr>
                          <m:ctrlPr>
                            <a:rPr lang="sv-SE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sv-SE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sv-SE" sz="2000" b="0" i="1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sv-SE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d>
                            <m:dPr>
                              <m:ctrlPr>
                                <a:rPr lang="sv-SE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sv-SE" sz="2000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d>
                          <m:r>
                            <a:rPr lang="sv-SE" sz="2000" b="1" i="1" smtClean="0">
                              <a:latin typeface="Cambria Math"/>
                            </a:rPr>
                            <m:t>, …</m:t>
                          </m:r>
                          <m:sSub>
                            <m:sSubPr>
                              <m:ctrlPr>
                                <a:rPr lang="sv-SE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sv-SE" sz="2000" i="1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sv-SE" sz="2000" b="0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sub>
                          </m:sSub>
                          <m:d>
                            <m:dPr>
                              <m:ctrlPr>
                                <a:rPr lang="sv-SE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sv-SE" sz="200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sv-SE" sz="20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229600" cy="4781128"/>
              </a:xfrm>
              <a:blipFill>
                <a:blip r:embed="rId2"/>
                <a:stretch>
                  <a:fillRect l="-667" t="-765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732A99/TDDE01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7B2DAB0-3E44-4037-BFD8-EC40824E78A2}" type="slidenum">
              <a:rPr lang="sv-SE" smtClean="0"/>
              <a:pPr>
                <a:defRPr/>
              </a:pPr>
              <a:t>30</a:t>
            </a:fld>
            <a:endParaRPr lang="sv-SE"/>
          </a:p>
        </p:txBody>
      </p:sp>
      <p:pic>
        <p:nvPicPr>
          <p:cNvPr id="6" name="Picture 6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331640" y="4476709"/>
            <a:ext cx="3110707" cy="17883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ruta 6">
            <a:extLst>
              <a:ext uri="{FF2B5EF4-FFF2-40B4-BE49-F238E27FC236}">
                <a16:creationId xmlns:a16="http://schemas.microsoft.com/office/drawing/2014/main" id="{92101532-300E-457D-9E0D-05D9029BEFC0}"/>
              </a:ext>
            </a:extLst>
          </p:cNvPr>
          <p:cNvSpPr txBox="1"/>
          <p:nvPr/>
        </p:nvSpPr>
        <p:spPr>
          <a:xfrm>
            <a:off x="5148064" y="4869160"/>
            <a:ext cx="324036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b="1" dirty="0">
                <a:solidFill>
                  <a:srgbClr val="C00000"/>
                </a:solidFill>
              </a:rPr>
              <a:t>Decision </a:t>
            </a:r>
            <a:r>
              <a:rPr lang="sv-SE" b="1" dirty="0" err="1">
                <a:solidFill>
                  <a:srgbClr val="C00000"/>
                </a:solidFill>
              </a:rPr>
              <a:t>boundaries</a:t>
            </a:r>
            <a:r>
              <a:rPr lang="sv-SE" b="1" dirty="0">
                <a:solidFill>
                  <a:srgbClr val="C00000"/>
                </a:solidFill>
              </a:rPr>
              <a:t> in </a:t>
            </a:r>
            <a:r>
              <a:rPr lang="sv-SE" b="1" dirty="0" err="1">
                <a:solidFill>
                  <a:srgbClr val="C00000"/>
                </a:solidFill>
              </a:rPr>
              <a:t>logistic</a:t>
            </a:r>
            <a:r>
              <a:rPr lang="sv-SE" b="1" dirty="0">
                <a:solidFill>
                  <a:srgbClr val="C00000"/>
                </a:solidFill>
              </a:rPr>
              <a:t> regression </a:t>
            </a:r>
            <a:r>
              <a:rPr lang="sv-SE" b="1" dirty="0" err="1">
                <a:solidFill>
                  <a:srgbClr val="C00000"/>
                </a:solidFill>
              </a:rPr>
              <a:t>are</a:t>
            </a:r>
            <a:r>
              <a:rPr lang="sv-SE" b="1" dirty="0">
                <a:solidFill>
                  <a:srgbClr val="C00000"/>
                </a:solidFill>
              </a:rPr>
              <a:t> </a:t>
            </a:r>
            <a:r>
              <a:rPr lang="sv-SE" b="1" dirty="0" err="1">
                <a:solidFill>
                  <a:srgbClr val="C00000"/>
                </a:solidFill>
              </a:rPr>
              <a:t>linear</a:t>
            </a:r>
            <a:r>
              <a:rPr lang="sv-SE" dirty="0"/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374860286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B9684182-4E06-4E6C-B3F4-103DA6455E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 err="1"/>
              <a:t>Logistic</a:t>
            </a:r>
            <a:r>
              <a:rPr lang="sv-SE" dirty="0"/>
              <a:t> regression: </a:t>
            </a:r>
            <a:r>
              <a:rPr lang="sv-SE" dirty="0" err="1"/>
              <a:t>learning</a:t>
            </a:r>
            <a:endParaRPr lang="sv-S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latshållare för innehåll 2">
                <a:extLst>
                  <a:ext uri="{FF2B5EF4-FFF2-40B4-BE49-F238E27FC236}">
                    <a16:creationId xmlns:a16="http://schemas.microsoft.com/office/drawing/2014/main" id="{DAB0664A-B08D-4BAF-87D1-42FE8152AAD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sv-SE" dirty="0"/>
                  <a:t>Maximum </a:t>
                </a:r>
                <a:r>
                  <a:rPr lang="sv-SE" dirty="0" err="1"/>
                  <a:t>likelihood</a:t>
                </a:r>
                <a:endParaRPr lang="sv-SE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sv-SE" sz="2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sv-SE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sv-SE" sz="2400" b="0" i="0" smtClean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sv-SE" sz="2400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sv-SE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sv-SE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sv-SE" sz="24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  <m:nary>
                            <m:naryPr>
                              <m:chr m:val="∑"/>
                              <m:ctrlPr>
                                <a:rPr lang="sv-SE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sv-SE" sz="2400" b="0" i="1" smtClean="0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  <m:r>
                                <a:rPr lang="sv-SE" sz="2400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sv-SE" sz="24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r>
                                <a:rPr lang="sv-SE" sz="24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Sup>
                                <m:sSubSupPr>
                                  <m:ctrlPr>
                                    <a:rPr lang="sv-SE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sv-SE" sz="2400" b="1" i="1" smtClean="0">
                                      <a:latin typeface="Cambria Math" panose="02040503050406030204" pitchFamily="18" charset="0"/>
                                    </a:rPr>
                                    <m:t>𝜽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sv-SE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sv-SE" sz="2400" b="0" i="1" smtClean="0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  <m:r>
                                        <a:rPr lang="sv-SE" sz="2400" b="0" i="1" smtClean="0">
                                          <a:latin typeface="Cambria Math" panose="02040503050406030204" pitchFamily="18" charset="0"/>
                                        </a:rPr>
                                        <m:t>:</m:t>
                                      </m:r>
                                      <m:sSub>
                                        <m:sSubPr>
                                          <m:ctrlPr>
                                            <a:rPr lang="sv-SE" sz="2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sv-SE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sv-SE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sv-SE" sz="2400" b="0" i="1" smtClean="0">
                                          <a:latin typeface="Cambria Math" panose="02040503050406030204" pitchFamily="18" charset="0"/>
                                        </a:rPr>
                                        <m:t>=</m:t>
                                      </m:r>
                                      <m:r>
                                        <a:rPr lang="sv-SE" sz="2400" b="0" i="1" smtClean="0"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e>
                                    <m:sub>
                                      <m:r>
                                        <a:rPr lang="sv-SE" sz="2400" b="0" i="1" smtClean="0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</m:sub>
                                <m:sup>
                                  <m:r>
                                    <a:rPr lang="sv-SE" sz="2400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bSup>
                            </m:e>
                          </m:nary>
                          <m:sSub>
                            <m:sSubPr>
                              <m:ctrlPr>
                                <a:rPr lang="sv-SE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sv-SE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sv-SE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sv-SE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sv-SE" sz="2400" b="0" i="0" smtClean="0">
                              <a:latin typeface="Cambria Math" panose="02040503050406030204" pitchFamily="18" charset="0"/>
                            </a:rPr>
                            <m:t>ln</m:t>
                          </m:r>
                          <m:r>
                            <a:rPr lang="sv-SE" sz="2400" b="0" i="1" smtClean="0">
                              <a:latin typeface="Cambria Math" panose="02040503050406030204" pitchFamily="18" charset="0"/>
                            </a:rPr>
                            <m:t>⁡</m:t>
                          </m:r>
                          <m:nary>
                            <m:naryPr>
                              <m:chr m:val="∑"/>
                              <m:ctrlPr>
                                <a:rPr lang="sv-SE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sv-SE" sz="24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sv-SE" sz="2400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sv-SE" sz="2400" b="0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sv-SE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sv-SE" sz="2400" b="0" i="1" smtClean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sSubSup>
                                    <m:sSubSupPr>
                                      <m:ctrlPr>
                                        <a:rPr lang="sv-SE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sv-SE" sz="2400" b="1" i="1" smtClean="0">
                                          <a:latin typeface="Cambria Math" panose="02040503050406030204" pitchFamily="18" charset="0"/>
                                        </a:rPr>
                                        <m:t>𝜽</m:t>
                                      </m:r>
                                    </m:e>
                                    <m:sub>
                                      <m:r>
                                        <a:rPr lang="sv-SE" sz="2400" b="0" i="1" smtClean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  <m:sup>
                                      <m:r>
                                        <a:rPr lang="sv-SE" sz="2400" b="0" i="1" smtClean="0"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sup>
                                  </m:sSubSup>
                                  <m:sSub>
                                    <m:sSubPr>
                                      <m:ctrlPr>
                                        <a:rPr lang="sv-SE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sv-SE" sz="2400" b="1" i="1" smtClean="0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b>
                                      <m:r>
                                        <a:rPr lang="sv-SE" sz="2400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sup>
                              </m:sSup>
                            </m:e>
                          </m:nary>
                        </m:e>
                      </m:func>
                    </m:oMath>
                  </m:oMathPara>
                </a14:m>
                <a:endParaRPr lang="sv-SE" dirty="0"/>
              </a:p>
            </p:txBody>
          </p:sp>
        </mc:Choice>
        <mc:Fallback xmlns="">
          <p:sp>
            <p:nvSpPr>
              <p:cNvPr id="3" name="Platshållare för innehåll 2">
                <a:extLst>
                  <a:ext uri="{FF2B5EF4-FFF2-40B4-BE49-F238E27FC236}">
                    <a16:creationId xmlns:a16="http://schemas.microsoft.com/office/drawing/2014/main" id="{DAB0664A-B08D-4BAF-87D1-42FE8152AAD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704" t="-1752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BC01DE8F-7E59-4D48-A421-DD04A2D574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732A99/TDDE01</a:t>
            </a:r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FB61E4CB-083A-45B9-965B-D2F41BE736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7B2DAB0-3E44-4037-BFD8-EC40824E78A2}" type="slidenum">
              <a:rPr lang="sv-SE" smtClean="0"/>
              <a:pPr>
                <a:defRPr/>
              </a:pPr>
              <a:t>31</a:t>
            </a:fld>
            <a:endParaRPr lang="sv-SE"/>
          </a:p>
        </p:txBody>
      </p:sp>
      <p:pic>
        <p:nvPicPr>
          <p:cNvPr id="7" name="Bildobjekt 6">
            <a:extLst>
              <a:ext uri="{FF2B5EF4-FFF2-40B4-BE49-F238E27FC236}">
                <a16:creationId xmlns:a16="http://schemas.microsoft.com/office/drawing/2014/main" id="{A165BFCD-90BB-4513-9A0C-53CB94A34D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584" y="3933056"/>
            <a:ext cx="1171201" cy="2270696"/>
          </a:xfrm>
          <a:prstGeom prst="rect">
            <a:avLst/>
          </a:prstGeom>
        </p:spPr>
      </p:pic>
      <p:pic>
        <p:nvPicPr>
          <p:cNvPr id="9" name="Bildobjekt 8">
            <a:extLst>
              <a:ext uri="{FF2B5EF4-FFF2-40B4-BE49-F238E27FC236}">
                <a16:creationId xmlns:a16="http://schemas.microsoft.com/office/drawing/2014/main" id="{E3DBE9DA-ADF8-41F1-A6AB-D2F424C15E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74409" y="3429000"/>
            <a:ext cx="5336767" cy="3073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541716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BDEE73A0-A3F8-4DC2-9274-A376D25C87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 err="1"/>
              <a:t>Logistic</a:t>
            </a:r>
            <a:r>
              <a:rPr lang="sv-SE" dirty="0"/>
              <a:t> regression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latshållare för innehåll 2">
                <a:extLst>
                  <a:ext uri="{FF2B5EF4-FFF2-40B4-BE49-F238E27FC236}">
                    <a16:creationId xmlns:a16="http://schemas.microsoft.com/office/drawing/2014/main" id="{C17AB807-A26C-4059-8E48-55B32931851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sv-SE" sz="2800" dirty="0"/>
                  <a:t>Regularization </a:t>
                </a:r>
                <a:r>
                  <a:rPr lang="sv-SE" sz="2800" dirty="0" err="1"/>
                  <a:t>can</a:t>
                </a:r>
                <a:r>
                  <a:rPr lang="sv-SE" sz="2800" dirty="0"/>
                  <a:t> </a:t>
                </a:r>
                <a:r>
                  <a:rPr lang="sv-SE" sz="2800" dirty="0" err="1"/>
                  <a:t>also</a:t>
                </a:r>
                <a:r>
                  <a:rPr lang="sv-SE" sz="2800" dirty="0"/>
                  <a:t> be </a:t>
                </a:r>
                <a:r>
                  <a:rPr lang="sv-SE" sz="2800" dirty="0" err="1"/>
                  <a:t>done</a:t>
                </a:r>
                <a:endParaRPr lang="sv-SE" sz="2800" dirty="0"/>
              </a:p>
              <a:p>
                <a:endParaRPr lang="sv-SE" dirty="0"/>
              </a:p>
              <a:p>
                <a:endParaRPr lang="sv-SE" dirty="0"/>
              </a:p>
              <a:p>
                <a:endParaRPr lang="sv-SE" sz="2800" dirty="0"/>
              </a:p>
              <a:p>
                <a:r>
                  <a:rPr lang="sv-SE" sz="2800" dirty="0" err="1"/>
                  <a:t>Similar</a:t>
                </a:r>
                <a:r>
                  <a:rPr lang="sv-SE" sz="2800" dirty="0"/>
                  <a:t> </a:t>
                </a:r>
                <a:r>
                  <a:rPr lang="sv-SE" sz="2800" dirty="0" err="1"/>
                  <a:t>model</a:t>
                </a:r>
                <a:r>
                  <a:rPr lang="sv-SE" sz="2800" dirty="0"/>
                  <a:t> to </a:t>
                </a:r>
                <a:r>
                  <a:rPr lang="sv-SE" sz="2800" dirty="0" err="1"/>
                  <a:t>Logistic</a:t>
                </a:r>
                <a:r>
                  <a:rPr lang="sv-SE" sz="2800" dirty="0"/>
                  <a:t> :</a:t>
                </a:r>
                <a:r>
                  <a:rPr lang="sv-SE" sz="2800" b="1" dirty="0" err="1"/>
                  <a:t>Linear</a:t>
                </a:r>
                <a:r>
                  <a:rPr lang="sv-SE" sz="2800" b="1" dirty="0"/>
                  <a:t> </a:t>
                </a:r>
                <a:r>
                  <a:rPr lang="sv-SE" sz="2800" b="1" dirty="0" err="1"/>
                  <a:t>Discriminant</a:t>
                </a:r>
                <a:r>
                  <a:rPr lang="sv-SE" sz="2800" b="1" dirty="0"/>
                  <a:t> </a:t>
                </a:r>
                <a:r>
                  <a:rPr lang="sv-SE" sz="2800" b="1" dirty="0" err="1"/>
                  <a:t>Analysis</a:t>
                </a:r>
                <a:r>
                  <a:rPr lang="sv-SE" sz="2800" b="1" dirty="0"/>
                  <a:t> (LDA):</a:t>
                </a:r>
              </a:p>
              <a:p>
                <a:pPr lvl="1"/>
                <a:r>
                  <a:rPr lang="sv-SE" sz="2400" dirty="0"/>
                  <a:t>Same expression for </a:t>
                </a:r>
                <a14:m>
                  <m:oMath xmlns:m="http://schemas.openxmlformats.org/officeDocument/2006/math">
                    <m:r>
                      <a:rPr lang="sv-SE" sz="2400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sv-SE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sv-SE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e>
                        <m:r>
                          <a:rPr lang="sv-SE" sz="24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sv-SE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sv-SE" sz="2400" b="1" i="1" smtClean="0">
                            <a:latin typeface="Cambria Math" panose="02040503050406030204" pitchFamily="18" charset="0"/>
                          </a:rPr>
                          <m:t>𝜽</m:t>
                        </m:r>
                      </m:e>
                    </m:d>
                  </m:oMath>
                </a14:m>
                <a:endParaRPr lang="sv-SE" sz="2400" b="0" dirty="0"/>
              </a:p>
              <a:p>
                <a:pPr lvl="1"/>
                <a:r>
                  <a:rPr lang="sv-SE" sz="2400" dirty="0"/>
                  <a:t>Parameters </a:t>
                </a:r>
                <a:r>
                  <a:rPr lang="sv-SE" sz="2400" dirty="0" err="1"/>
                  <a:t>optimized</a:t>
                </a:r>
                <a:r>
                  <a:rPr lang="sv-SE" sz="2400" dirty="0"/>
                  <a:t> </a:t>
                </a:r>
                <a:r>
                  <a:rPr lang="sv-SE" sz="2400" dirty="0" err="1"/>
                  <a:t>differently</a:t>
                </a:r>
                <a:endParaRPr lang="sv-SE" sz="2400" dirty="0">
                  <a:sym typeface="Wingdings" panose="05000000000000000000" pitchFamily="2" charset="2"/>
                </a:endParaRPr>
              </a:p>
              <a:p>
                <a:pPr lvl="1"/>
                <a:r>
                  <a:rPr lang="sv-SE" sz="2400" dirty="0" err="1">
                    <a:sym typeface="Wingdings" panose="05000000000000000000" pitchFamily="2" charset="2"/>
                  </a:rPr>
                  <a:t>Advantage</a:t>
                </a:r>
                <a:r>
                  <a:rPr lang="sv-SE" sz="2400" dirty="0">
                    <a:sym typeface="Wingdings" panose="05000000000000000000" pitchFamily="2" charset="2"/>
                  </a:rPr>
                  <a:t>: faster to </a:t>
                </a:r>
                <a:r>
                  <a:rPr lang="sv-SE" sz="2400" dirty="0" err="1">
                    <a:sym typeface="Wingdings" panose="05000000000000000000" pitchFamily="2" charset="2"/>
                  </a:rPr>
                  <a:t>compute</a:t>
                </a:r>
                <a:endParaRPr lang="sv-SE" sz="2400" dirty="0">
                  <a:sym typeface="Wingdings" panose="05000000000000000000" pitchFamily="2" charset="2"/>
                </a:endParaRPr>
              </a:p>
              <a:p>
                <a:pPr lvl="1"/>
                <a:r>
                  <a:rPr lang="sv-SE" sz="2400" dirty="0" err="1">
                    <a:sym typeface="Wingdings" panose="05000000000000000000" pitchFamily="2" charset="2"/>
                  </a:rPr>
                  <a:t>Disadvantage</a:t>
                </a:r>
                <a:r>
                  <a:rPr lang="sv-SE" sz="2400" dirty="0">
                    <a:sym typeface="Wingdings" panose="05000000000000000000" pitchFamily="2" charset="2"/>
                  </a:rPr>
                  <a:t>: </a:t>
                </a:r>
                <a:r>
                  <a:rPr lang="sv-SE" sz="2400" dirty="0" err="1">
                    <a:sym typeface="Wingdings" panose="05000000000000000000" pitchFamily="2" charset="2"/>
                  </a:rPr>
                  <a:t>stronger</a:t>
                </a:r>
                <a:r>
                  <a:rPr lang="sv-SE" sz="2400" dirty="0">
                    <a:sym typeface="Wingdings" panose="05000000000000000000" pitchFamily="2" charset="2"/>
                  </a:rPr>
                  <a:t> </a:t>
                </a:r>
                <a:r>
                  <a:rPr lang="sv-SE" sz="2400" dirty="0" err="1">
                    <a:sym typeface="Wingdings" panose="05000000000000000000" pitchFamily="2" charset="2"/>
                  </a:rPr>
                  <a:t>assumptions</a:t>
                </a:r>
                <a:r>
                  <a:rPr lang="sv-SE" sz="2400" dirty="0">
                    <a:sym typeface="Wingdings" panose="05000000000000000000" pitchFamily="2" charset="2"/>
                  </a:rPr>
                  <a:t> on data.</a:t>
                </a:r>
                <a:endParaRPr lang="sv-SE" sz="2400" dirty="0"/>
              </a:p>
              <a:p>
                <a:pPr lvl="1"/>
                <a:endParaRPr lang="sv-SE" dirty="0"/>
              </a:p>
            </p:txBody>
          </p:sp>
        </mc:Choice>
        <mc:Fallback xmlns="">
          <p:sp>
            <p:nvSpPr>
              <p:cNvPr id="3" name="Platshållare för innehåll 2">
                <a:extLst>
                  <a:ext uri="{FF2B5EF4-FFF2-40B4-BE49-F238E27FC236}">
                    <a16:creationId xmlns:a16="http://schemas.microsoft.com/office/drawing/2014/main" id="{C17AB807-A26C-4059-8E48-55B32931851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33" t="-2291" b="-2022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D0327668-E872-4DB5-BC66-9344EC3998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732A99/TDDE01</a:t>
            </a:r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EB8E641B-9F10-410F-8288-668BBE244D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7B2DAB0-3E44-4037-BFD8-EC40824E78A2}" type="slidenum">
              <a:rPr lang="sv-SE" smtClean="0"/>
              <a:pPr>
                <a:defRPr/>
              </a:pPr>
              <a:t>32</a:t>
            </a:fld>
            <a:endParaRPr lang="sv-SE"/>
          </a:p>
        </p:txBody>
      </p:sp>
      <p:pic>
        <p:nvPicPr>
          <p:cNvPr id="7" name="Bildobjekt 6">
            <a:extLst>
              <a:ext uri="{FF2B5EF4-FFF2-40B4-BE49-F238E27FC236}">
                <a16:creationId xmlns:a16="http://schemas.microsoft.com/office/drawing/2014/main" id="{07708616-368F-4396-B1BB-90CAE7D853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3688" y="2286698"/>
            <a:ext cx="5508104" cy="987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525194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Logistic regression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v-SE" sz="2000" dirty="0"/>
              <a:t>In R, </a:t>
            </a:r>
            <a:r>
              <a:rPr lang="sv-SE" sz="2000" dirty="0" err="1"/>
              <a:t>use</a:t>
            </a:r>
            <a:r>
              <a:rPr lang="sv-SE" sz="2000" dirty="0"/>
              <a:t> </a:t>
            </a:r>
            <a:r>
              <a:rPr lang="sv-SE" sz="2000" dirty="0" err="1"/>
              <a:t>glm</a:t>
            </a:r>
            <a:r>
              <a:rPr lang="sv-SE" sz="2000" dirty="0"/>
              <a:t>() </a:t>
            </a:r>
            <a:r>
              <a:rPr lang="sv-SE" sz="2000" dirty="0" err="1"/>
              <a:t>with</a:t>
            </a:r>
            <a:r>
              <a:rPr lang="sv-SE" sz="2000" dirty="0"/>
              <a:t> </a:t>
            </a:r>
            <a:r>
              <a:rPr lang="sv-SE" sz="2000" dirty="0" err="1"/>
              <a:t>family</a:t>
            </a:r>
            <a:r>
              <a:rPr lang="sv-SE" sz="2000" dirty="0"/>
              <a:t>=”</a:t>
            </a:r>
            <a:r>
              <a:rPr lang="sv-SE" sz="2000" dirty="0" err="1"/>
              <a:t>binomial</a:t>
            </a:r>
            <a:r>
              <a:rPr lang="sv-SE" sz="2000" dirty="0"/>
              <a:t>” for </a:t>
            </a:r>
            <a:r>
              <a:rPr lang="sv-SE" sz="2000" dirty="0" err="1"/>
              <a:t>two</a:t>
            </a:r>
            <a:r>
              <a:rPr lang="sv-SE" sz="2000" dirty="0"/>
              <a:t> </a:t>
            </a:r>
            <a:r>
              <a:rPr lang="sv-SE" sz="2000" dirty="0" err="1"/>
              <a:t>classes</a:t>
            </a:r>
            <a:endParaRPr lang="sv-SE" sz="2000" dirty="0"/>
          </a:p>
          <a:p>
            <a:pPr lvl="1"/>
            <a:r>
              <a:rPr lang="sv-SE" sz="1600" dirty="0" err="1"/>
              <a:t>predict</a:t>
            </a:r>
            <a:r>
              <a:rPr lang="sv-SE" sz="1600" dirty="0"/>
              <a:t>(</a:t>
            </a:r>
            <a:r>
              <a:rPr lang="sv-SE" sz="1600" dirty="0" err="1"/>
              <a:t>glmobj</a:t>
            </a:r>
            <a:r>
              <a:rPr lang="sv-SE" sz="1600" dirty="0"/>
              <a:t>, </a:t>
            </a:r>
            <a:r>
              <a:rPr lang="sv-SE" sz="1600" dirty="0" err="1"/>
              <a:t>type</a:t>
            </a:r>
            <a:r>
              <a:rPr lang="sv-SE" sz="1600" dirty="0"/>
              <a:t>). </a:t>
            </a:r>
            <a:r>
              <a:rPr lang="sv-SE" sz="1600" dirty="0" err="1"/>
              <a:t>Choose</a:t>
            </a:r>
            <a:r>
              <a:rPr lang="sv-SE" sz="1600" dirty="0"/>
              <a:t> </a:t>
            </a:r>
            <a:r>
              <a:rPr lang="sv-SE" sz="1600" dirty="0" err="1"/>
              <a:t>type</a:t>
            </a:r>
            <a:r>
              <a:rPr lang="sv-SE" sz="1600" dirty="0"/>
              <a:t> ”</a:t>
            </a:r>
            <a:r>
              <a:rPr lang="sv-SE" sz="1600" dirty="0" err="1"/>
              <a:t>response</a:t>
            </a:r>
            <a:r>
              <a:rPr lang="sv-SE" sz="1600" dirty="0"/>
              <a:t>” for </a:t>
            </a:r>
            <a:r>
              <a:rPr lang="sv-SE" sz="1600" dirty="0" err="1"/>
              <a:t>probabilities</a:t>
            </a:r>
            <a:endParaRPr lang="sv-SE" sz="1600" dirty="0"/>
          </a:p>
          <a:p>
            <a:r>
              <a:rPr lang="sv-SE" sz="2000" dirty="0"/>
              <a:t>In R, </a:t>
            </a:r>
            <a:r>
              <a:rPr lang="sv-SE" sz="2000" dirty="0" err="1"/>
              <a:t>use</a:t>
            </a:r>
            <a:r>
              <a:rPr lang="sv-SE" sz="2000" dirty="0"/>
              <a:t> </a:t>
            </a:r>
            <a:r>
              <a:rPr lang="sv-SE" sz="2000" dirty="0" err="1"/>
              <a:t>multinom</a:t>
            </a:r>
            <a:r>
              <a:rPr lang="sv-SE" sz="2000" dirty="0"/>
              <a:t> () from </a:t>
            </a:r>
            <a:r>
              <a:rPr lang="sv-SE" sz="2000" b="1" dirty="0" err="1"/>
              <a:t>nnet</a:t>
            </a:r>
            <a:r>
              <a:rPr lang="sv-SE" sz="2000" dirty="0"/>
              <a:t> </a:t>
            </a:r>
            <a:r>
              <a:rPr lang="sv-SE" sz="2000" dirty="0" err="1"/>
              <a:t>package</a:t>
            </a:r>
            <a:r>
              <a:rPr lang="sv-SE" sz="2000" dirty="0"/>
              <a:t> for </a:t>
            </a:r>
            <a:r>
              <a:rPr lang="sv-SE" sz="2000" dirty="0" err="1"/>
              <a:t>more</a:t>
            </a:r>
            <a:r>
              <a:rPr lang="sv-SE" sz="2000" dirty="0"/>
              <a:t> </a:t>
            </a:r>
            <a:r>
              <a:rPr lang="sv-SE" sz="2000" dirty="0" err="1"/>
              <a:t>than</a:t>
            </a:r>
            <a:r>
              <a:rPr lang="sv-SE" sz="2000" dirty="0"/>
              <a:t> </a:t>
            </a:r>
            <a:r>
              <a:rPr lang="sv-SE" sz="2000" dirty="0" err="1"/>
              <a:t>two</a:t>
            </a:r>
            <a:r>
              <a:rPr lang="sv-SE" sz="2000" dirty="0"/>
              <a:t> </a:t>
            </a:r>
            <a:r>
              <a:rPr lang="sv-SE" sz="2000" dirty="0" err="1"/>
              <a:t>classes</a:t>
            </a:r>
            <a:endParaRPr lang="sv-SE" sz="20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732A99/TDDE01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7B2DAB0-3E44-4037-BFD8-EC40824E78A2}" type="slidenum">
              <a:rPr lang="sv-SE" smtClean="0"/>
              <a:pPr>
                <a:defRPr/>
              </a:pPr>
              <a:t>33</a:t>
            </a:fld>
            <a:endParaRPr lang="sv-SE"/>
          </a:p>
        </p:txBody>
      </p:sp>
      <p:sp>
        <p:nvSpPr>
          <p:cNvPr id="6" name="TextBox 5"/>
          <p:cNvSpPr txBox="1"/>
          <p:nvPr/>
        </p:nvSpPr>
        <p:spPr>
          <a:xfrm>
            <a:off x="1282572" y="3088577"/>
            <a:ext cx="29523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b="1" dirty="0"/>
              <a:t>Original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52120" y="3088577"/>
            <a:ext cx="2664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b="1" dirty="0" err="1"/>
              <a:t>Classified</a:t>
            </a:r>
            <a:r>
              <a:rPr lang="sv-SE" b="1" dirty="0"/>
              <a:t>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8016" y="2815115"/>
            <a:ext cx="43303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dirty="0" err="1">
                <a:solidFill>
                  <a:srgbClr val="C00000"/>
                </a:solidFill>
              </a:rPr>
              <a:t>Example</a:t>
            </a:r>
            <a:r>
              <a:rPr lang="sv-SE" dirty="0">
                <a:solidFill>
                  <a:srgbClr val="C00000"/>
                </a:solidFill>
              </a:rPr>
              <a:t> </a:t>
            </a:r>
            <a:r>
              <a:rPr lang="sv-SE" dirty="0"/>
              <a:t>Equipment=f(</a:t>
            </a:r>
            <a:r>
              <a:rPr lang="sv-SE" dirty="0" err="1"/>
              <a:t>Year</a:t>
            </a:r>
            <a:r>
              <a:rPr lang="sv-SE" dirty="0"/>
              <a:t>, </a:t>
            </a:r>
            <a:r>
              <a:rPr lang="sv-SE" dirty="0" err="1"/>
              <a:t>mileage</a:t>
            </a:r>
            <a:r>
              <a:rPr lang="sv-SE" dirty="0"/>
              <a:t>)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2572" y="3717032"/>
            <a:ext cx="3153841" cy="26989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6056" y="3467475"/>
            <a:ext cx="3240360" cy="27729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325299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AB6785C0-391C-4CFD-A3C7-D90A76BC08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 err="1"/>
              <a:t>Optimization</a:t>
            </a:r>
            <a:endParaRPr lang="sv-S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latshållare för innehåll 2">
                <a:extLst>
                  <a:ext uri="{FF2B5EF4-FFF2-40B4-BE49-F238E27FC236}">
                    <a16:creationId xmlns:a16="http://schemas.microsoft.com/office/drawing/2014/main" id="{6789B79C-3260-4D3B-935B-A9629AC80F0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sv-SE" sz="2800" dirty="0"/>
                  <a:t>How to </a:t>
                </a:r>
                <a:r>
                  <a:rPr lang="sv-SE" sz="2800" dirty="0" err="1"/>
                  <a:t>optimize</a:t>
                </a:r>
                <a:r>
                  <a:rPr lang="sv-SE" sz="2800" dirty="0"/>
                  <a:t> a given log-</a:t>
                </a:r>
                <a:r>
                  <a:rPr lang="sv-SE" sz="2800" dirty="0" err="1"/>
                  <a:t>likelihood</a:t>
                </a:r>
                <a:r>
                  <a:rPr lang="sv-SE" sz="2800" dirty="0"/>
                  <a:t>?</a:t>
                </a:r>
              </a:p>
              <a:p>
                <a:pPr lvl="1"/>
                <a:r>
                  <a:rPr lang="sv-SE" sz="2400" dirty="0"/>
                  <a:t>In R, </a:t>
                </a:r>
                <a:r>
                  <a:rPr lang="sv-SE" sz="2400" dirty="0" err="1"/>
                  <a:t>use</a:t>
                </a:r>
                <a:r>
                  <a:rPr lang="sv-SE" sz="2400" dirty="0"/>
                  <a:t> </a:t>
                </a:r>
                <a:r>
                  <a:rPr lang="sv-SE" sz="2400" dirty="0" err="1"/>
                  <a:t>optim</a:t>
                </a:r>
                <a:r>
                  <a:rPr lang="sv-SE" sz="2400" dirty="0"/>
                  <a:t>(</a:t>
                </a:r>
                <a:r>
                  <a:rPr lang="sv-SE" sz="2400" dirty="0" err="1"/>
                  <a:t>start_point</a:t>
                </a:r>
                <a:r>
                  <a:rPr lang="sv-SE" sz="2400" dirty="0"/>
                  <a:t>, </a:t>
                </a:r>
                <a:r>
                  <a:rPr lang="sv-SE" sz="2400" dirty="0" err="1"/>
                  <a:t>function</a:t>
                </a:r>
                <a:r>
                  <a:rPr lang="sv-SE" sz="2400" dirty="0"/>
                  <a:t>, </a:t>
                </a:r>
                <a:r>
                  <a:rPr lang="sv-SE" sz="2400" dirty="0" err="1"/>
                  <a:t>method</a:t>
                </a:r>
                <a:r>
                  <a:rPr lang="sv-SE" sz="2400" dirty="0"/>
                  <a:t>)</a:t>
                </a:r>
              </a:p>
              <a:p>
                <a:pPr lvl="1"/>
                <a:endParaRPr lang="sv-SE" sz="2400" dirty="0"/>
              </a:p>
              <a:p>
                <a:r>
                  <a:rPr lang="sv-SE" sz="2400" b="1" dirty="0" err="1">
                    <a:solidFill>
                      <a:srgbClr val="C00000"/>
                    </a:solidFill>
                  </a:rPr>
                  <a:t>Example</a:t>
                </a:r>
                <a:r>
                  <a:rPr lang="sv-SE" sz="2400" dirty="0"/>
                  <a:t>: </a:t>
                </a:r>
                <a:r>
                  <a:rPr lang="sv-SE" sz="2400" dirty="0" err="1"/>
                  <a:t>minimizing</a:t>
                </a:r>
                <a:r>
                  <a:rPr lang="sv-SE" sz="24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sv-SE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sv-SE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sv-SE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sv-SE" sz="2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sv-SE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sv-SE" sz="24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</m:e>
                      <m:sup>
                        <m:r>
                          <a:rPr lang="sv-SE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sv-SE" sz="2400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sv-SE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sv-SE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sv-SE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sv-SE" sz="2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sv-SE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sv-SE" sz="2400" b="0" i="1" smtClean="0">
                                <a:latin typeface="Cambria Math" panose="02040503050406030204" pitchFamily="18" charset="0"/>
                              </a:rPr>
                              <m:t>−2</m:t>
                            </m:r>
                          </m:e>
                        </m:d>
                      </m:e>
                      <m:sup>
                        <m:r>
                          <a:rPr lang="sv-SE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sv-SE" sz="2400" dirty="0"/>
              </a:p>
            </p:txBody>
          </p:sp>
        </mc:Choice>
        <mc:Fallback xmlns="">
          <p:sp>
            <p:nvSpPr>
              <p:cNvPr id="3" name="Platshållare för innehåll 2">
                <a:extLst>
                  <a:ext uri="{FF2B5EF4-FFF2-40B4-BE49-F238E27FC236}">
                    <a16:creationId xmlns:a16="http://schemas.microsoft.com/office/drawing/2014/main" id="{6789B79C-3260-4D3B-935B-A9629AC80F0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33" t="-1348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8D058629-3B0B-4B04-B2D1-59979F02FD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732A99/TDDE01</a:t>
            </a:r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0FDBE1B4-9FEE-4740-8989-CB46ADE744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7B2DAB0-3E44-4037-BFD8-EC40824E78A2}" type="slidenum">
              <a:rPr lang="sv-SE" smtClean="0"/>
              <a:pPr>
                <a:defRPr/>
              </a:pPr>
              <a:t>34</a:t>
            </a:fld>
            <a:endParaRPr lang="sv-SE"/>
          </a:p>
        </p:txBody>
      </p:sp>
      <p:sp>
        <p:nvSpPr>
          <p:cNvPr id="7" name="textruta 6">
            <a:extLst>
              <a:ext uri="{FF2B5EF4-FFF2-40B4-BE49-F238E27FC236}">
                <a16:creationId xmlns:a16="http://schemas.microsoft.com/office/drawing/2014/main" id="{20233117-0F3A-4671-BB9A-451389FD3DDC}"/>
              </a:ext>
            </a:extLst>
          </p:cNvPr>
          <p:cNvSpPr txBox="1"/>
          <p:nvPr/>
        </p:nvSpPr>
        <p:spPr>
          <a:xfrm>
            <a:off x="395536" y="3863181"/>
            <a:ext cx="501487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v-SE" sz="1400" dirty="0" err="1">
                <a:latin typeface="Consolas" panose="020B0609020204030204" pitchFamily="49" charset="0"/>
              </a:rPr>
              <a:t>df</a:t>
            </a:r>
            <a:r>
              <a:rPr lang="sv-SE" sz="1400" dirty="0">
                <a:latin typeface="Consolas" panose="020B0609020204030204" pitchFamily="49" charset="0"/>
              </a:rPr>
              <a:t>=</a:t>
            </a:r>
            <a:r>
              <a:rPr lang="sv-SE" sz="1400" dirty="0" err="1">
                <a:latin typeface="Consolas" panose="020B0609020204030204" pitchFamily="49" charset="0"/>
              </a:rPr>
              <a:t>data.frame</a:t>
            </a:r>
            <a:r>
              <a:rPr lang="sv-SE" sz="1400" dirty="0">
                <a:latin typeface="Consolas" panose="020B0609020204030204" pitchFamily="49" charset="0"/>
              </a:rPr>
              <a:t>(x1=1,x2=2)</a:t>
            </a:r>
          </a:p>
          <a:p>
            <a:r>
              <a:rPr lang="sv-SE" sz="1400" dirty="0" err="1">
                <a:latin typeface="Consolas" panose="020B0609020204030204" pitchFamily="49" charset="0"/>
              </a:rPr>
              <a:t>mylikelihood</a:t>
            </a:r>
            <a:r>
              <a:rPr lang="sv-SE" sz="1400" dirty="0">
                <a:latin typeface="Consolas" panose="020B0609020204030204" pitchFamily="49" charset="0"/>
              </a:rPr>
              <a:t>&lt;-</a:t>
            </a:r>
            <a:r>
              <a:rPr lang="sv-SE" sz="1400" dirty="0" err="1">
                <a:latin typeface="Consolas" panose="020B0609020204030204" pitchFamily="49" charset="0"/>
              </a:rPr>
              <a:t>function</a:t>
            </a:r>
            <a:r>
              <a:rPr lang="sv-SE" sz="1400" dirty="0">
                <a:latin typeface="Consolas" panose="020B0609020204030204" pitchFamily="49" charset="0"/>
              </a:rPr>
              <a:t>(x){</a:t>
            </a:r>
          </a:p>
          <a:p>
            <a:r>
              <a:rPr lang="sv-SE" sz="1400" dirty="0">
                <a:latin typeface="Consolas" panose="020B0609020204030204" pitchFamily="49" charset="0"/>
              </a:rPr>
              <a:t>  x1=x[1]</a:t>
            </a:r>
          </a:p>
          <a:p>
            <a:r>
              <a:rPr lang="sv-SE" sz="1400" dirty="0">
                <a:latin typeface="Consolas" panose="020B0609020204030204" pitchFamily="49" charset="0"/>
              </a:rPr>
              <a:t>  x2=x[2]</a:t>
            </a:r>
          </a:p>
          <a:p>
            <a:r>
              <a:rPr lang="sv-SE" sz="1400" dirty="0">
                <a:latin typeface="Consolas" panose="020B0609020204030204" pitchFamily="49" charset="0"/>
              </a:rPr>
              <a:t>  </a:t>
            </a:r>
            <a:r>
              <a:rPr lang="sv-SE" sz="1400" dirty="0" err="1">
                <a:latin typeface="Consolas" panose="020B0609020204030204" pitchFamily="49" charset="0"/>
              </a:rPr>
              <a:t>return</a:t>
            </a:r>
            <a:r>
              <a:rPr lang="sv-SE" sz="1400" dirty="0">
                <a:latin typeface="Consolas" panose="020B0609020204030204" pitchFamily="49" charset="0"/>
              </a:rPr>
              <a:t>((x1-df$x1)^2+(x2-df$x2)^2)</a:t>
            </a:r>
          </a:p>
          <a:p>
            <a:r>
              <a:rPr lang="sv-SE" sz="1400" dirty="0">
                <a:latin typeface="Consolas" panose="020B0609020204030204" pitchFamily="49" charset="0"/>
              </a:rPr>
              <a:t>}</a:t>
            </a:r>
          </a:p>
          <a:p>
            <a:endParaRPr lang="sv-SE" sz="1400" dirty="0">
              <a:latin typeface="Consolas" panose="020B0609020204030204" pitchFamily="49" charset="0"/>
            </a:endParaRPr>
          </a:p>
          <a:p>
            <a:r>
              <a:rPr lang="sv-SE" sz="1400" dirty="0" err="1">
                <a:latin typeface="Consolas" panose="020B0609020204030204" pitchFamily="49" charset="0"/>
              </a:rPr>
              <a:t>optim</a:t>
            </a:r>
            <a:r>
              <a:rPr lang="sv-SE" sz="1400" dirty="0">
                <a:latin typeface="Consolas" panose="020B0609020204030204" pitchFamily="49" charset="0"/>
              </a:rPr>
              <a:t>(c(0,0), </a:t>
            </a:r>
            <a:r>
              <a:rPr lang="sv-SE" sz="1400" dirty="0" err="1">
                <a:latin typeface="Consolas" panose="020B0609020204030204" pitchFamily="49" charset="0"/>
              </a:rPr>
              <a:t>fn</a:t>
            </a:r>
            <a:r>
              <a:rPr lang="sv-SE" sz="1400" dirty="0">
                <a:latin typeface="Consolas" panose="020B0609020204030204" pitchFamily="49" charset="0"/>
              </a:rPr>
              <a:t>=</a:t>
            </a:r>
            <a:r>
              <a:rPr lang="sv-SE" sz="1400" dirty="0" err="1">
                <a:latin typeface="Consolas" panose="020B0609020204030204" pitchFamily="49" charset="0"/>
              </a:rPr>
              <a:t>mylikelihood</a:t>
            </a:r>
            <a:r>
              <a:rPr lang="sv-SE" sz="1400" dirty="0">
                <a:latin typeface="Consolas" panose="020B0609020204030204" pitchFamily="49" charset="0"/>
              </a:rPr>
              <a:t>, </a:t>
            </a:r>
            <a:r>
              <a:rPr lang="sv-SE" sz="1400" dirty="0" err="1">
                <a:latin typeface="Consolas" panose="020B0609020204030204" pitchFamily="49" charset="0"/>
              </a:rPr>
              <a:t>method</a:t>
            </a:r>
            <a:r>
              <a:rPr lang="sv-SE" sz="1400" dirty="0">
                <a:latin typeface="Consolas" panose="020B0609020204030204" pitchFamily="49" charset="0"/>
              </a:rPr>
              <a:t>="BFGS")</a:t>
            </a:r>
          </a:p>
        </p:txBody>
      </p:sp>
      <p:pic>
        <p:nvPicPr>
          <p:cNvPr id="9" name="Bildobjekt 8">
            <a:extLst>
              <a:ext uri="{FF2B5EF4-FFF2-40B4-BE49-F238E27FC236}">
                <a16:creationId xmlns:a16="http://schemas.microsoft.com/office/drawing/2014/main" id="{B5B75224-D7FD-49B1-BDEF-E722F44481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0112" y="3863180"/>
            <a:ext cx="3504336" cy="1815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2142384"/>
      </p:ext>
    </p:extLst>
  </p:cSld>
  <p:clrMapOvr>
    <a:masterClrMapping/>
  </p:clrMapOvr>
</p:sld>
</file>

<file path=ppt/theme/theme1.xml><?xml version="1.0" encoding="utf-8"?>
<a:theme xmlns:a="http://schemas.openxmlformats.org/drawingml/2006/main" name="my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98B838B1D395C46B230F564133917A4" ma:contentTypeVersion="5" ma:contentTypeDescription="Create a new document." ma:contentTypeScope="" ma:versionID="70e298e78836510adb340f9f68a263a1">
  <xsd:schema xmlns:xsd="http://www.w3.org/2001/XMLSchema" xmlns:xs="http://www.w3.org/2001/XMLSchema" xmlns:p="http://schemas.microsoft.com/office/2006/metadata/properties" xmlns:ns2="e27f7632-7914-4153-b43e-44baa0afba72" xmlns:ns3="e5d37322-26cc-4af7-8808-99666bb9997d" targetNamespace="http://schemas.microsoft.com/office/2006/metadata/properties" ma:root="true" ma:fieldsID="7d3cba0f520645fa006f4f5a2497c43c" ns2:_="" ns3:_="">
    <xsd:import namespace="e27f7632-7914-4153-b43e-44baa0afba72"/>
    <xsd:import namespace="e5d37322-26cc-4af7-8808-99666bb9997d"/>
    <xsd:element name="properties">
      <xsd:complexType>
        <xsd:sequence>
          <xsd:element name="documentManagement">
            <xsd:complexType>
              <xsd:all>
                <xsd:element ref="ns2:_lisam_Description" minOccurs="0"/>
                <xsd:element ref="ns3:_lisam_PublishedVersion" minOccurs="0"/>
                <xsd:element ref="ns3:MediaServiceMetadata" minOccurs="0"/>
                <xsd:element ref="ns3:MediaServiceFastMetadata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27f7632-7914-4153-b43e-44baa0afba72" elementFormDefault="qualified">
    <xsd:import namespace="http://schemas.microsoft.com/office/2006/documentManagement/types"/>
    <xsd:import namespace="http://schemas.microsoft.com/office/infopath/2007/PartnerControls"/>
    <xsd:element name="_lisam_Description" ma:index="8" nillable="true" ma:displayName="Description" ma:internalName="_lisam_Description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5d37322-26cc-4af7-8808-99666bb9997d" elementFormDefault="qualified">
    <xsd:import namespace="http://schemas.microsoft.com/office/2006/documentManagement/types"/>
    <xsd:import namespace="http://schemas.microsoft.com/office/infopath/2007/PartnerControls"/>
    <xsd:element name="_lisam_PublishedVersion" ma:index="9" nillable="true" ma:displayName="Published Version" ma:internalName="_lisam_PublishedVersion">
      <xsd:simpleType>
        <xsd:restriction base="dms:Text"/>
      </xsd:simple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lisam_Description xmlns="e27f7632-7914-4153-b43e-44baa0afba72" xsi:nil="true"/>
    <_lisam_PublishedVersion xmlns="e5d37322-26cc-4af7-8808-99666bb9997d" xsi:nil="true"/>
  </documentManagement>
</p:properties>
</file>

<file path=customXml/itemProps1.xml><?xml version="1.0" encoding="utf-8"?>
<ds:datastoreItem xmlns:ds="http://schemas.openxmlformats.org/officeDocument/2006/customXml" ds:itemID="{DB2D0874-920B-4E23-BA7C-59D7D6707540}"/>
</file>

<file path=customXml/itemProps2.xml><?xml version="1.0" encoding="utf-8"?>
<ds:datastoreItem xmlns:ds="http://schemas.openxmlformats.org/officeDocument/2006/customXml" ds:itemID="{463E57BB-40F3-4831-B1EC-7982F03F1E30}"/>
</file>

<file path=customXml/itemProps3.xml><?xml version="1.0" encoding="utf-8"?>
<ds:datastoreItem xmlns:ds="http://schemas.openxmlformats.org/officeDocument/2006/customXml" ds:itemID="{E0C66D24-479D-4C0B-B3C1-5AD607863DC5}"/>
</file>

<file path=docProps/app.xml><?xml version="1.0" encoding="utf-8"?>
<Properties xmlns="http://schemas.openxmlformats.org/officeDocument/2006/extended-properties" xmlns:vt="http://schemas.openxmlformats.org/officeDocument/2006/docPropsVTypes">
  <Template>mytheme</Template>
  <TotalTime>43249</TotalTime>
  <Words>1864</Words>
  <Application>Microsoft Office PowerPoint</Application>
  <PresentationFormat>Bildspel på skärmen (4:3)</PresentationFormat>
  <Paragraphs>409</Paragraphs>
  <Slides>34</Slides>
  <Notes>14</Notes>
  <HiddenSlides>0</HiddenSlides>
  <MMClips>0</MMClips>
  <ScaleCrop>false</ScaleCrop>
  <HeadingPairs>
    <vt:vector size="8" baseType="variant">
      <vt:variant>
        <vt:lpstr>Använt teckensnitt</vt:lpstr>
      </vt:variant>
      <vt:variant>
        <vt:i4>4</vt:i4>
      </vt:variant>
      <vt:variant>
        <vt:lpstr>Tema</vt:lpstr>
      </vt:variant>
      <vt:variant>
        <vt:i4>1</vt:i4>
      </vt:variant>
      <vt:variant>
        <vt:lpstr>Serverprogram för OLE-inbäddning</vt:lpstr>
      </vt:variant>
      <vt:variant>
        <vt:i4>3</vt:i4>
      </vt:variant>
      <vt:variant>
        <vt:lpstr>Bildrubriker</vt:lpstr>
      </vt:variant>
      <vt:variant>
        <vt:i4>34</vt:i4>
      </vt:variant>
    </vt:vector>
  </HeadingPairs>
  <TitlesOfParts>
    <vt:vector size="42" baseType="lpstr">
      <vt:lpstr>Arial</vt:lpstr>
      <vt:lpstr>Calibri</vt:lpstr>
      <vt:lpstr>Cambria Math</vt:lpstr>
      <vt:lpstr>Consolas</vt:lpstr>
      <vt:lpstr>mytheme</vt:lpstr>
      <vt:lpstr>Equation</vt:lpstr>
      <vt:lpstr>Ekvation</vt:lpstr>
      <vt:lpstr>Worksheet</vt:lpstr>
      <vt:lpstr>Regression, classification and regularization  </vt:lpstr>
      <vt:lpstr>Overview</vt:lpstr>
      <vt:lpstr>Simple linear regression</vt:lpstr>
      <vt:lpstr>Linear regression</vt:lpstr>
      <vt:lpstr>Linear regression</vt:lpstr>
      <vt:lpstr>Linear model: learning</vt:lpstr>
      <vt:lpstr>Linear model: learning</vt:lpstr>
      <vt:lpstr>Linear model: learning</vt:lpstr>
      <vt:lpstr>Linear regression: learning algorithm</vt:lpstr>
      <vt:lpstr>Linear model learning</vt:lpstr>
      <vt:lpstr>Linear regression in R</vt:lpstr>
      <vt:lpstr>An example of ordinary least squares regression</vt:lpstr>
      <vt:lpstr>An example of ordinary least squares regression</vt:lpstr>
      <vt:lpstr>An example of ordinary least squares regression</vt:lpstr>
      <vt:lpstr>Data scaling</vt:lpstr>
      <vt:lpstr>Data scaling</vt:lpstr>
      <vt:lpstr>Degrees of freedom</vt:lpstr>
      <vt:lpstr>Different  types of features</vt:lpstr>
      <vt:lpstr>Basis function expansion</vt:lpstr>
      <vt:lpstr>Polynomial regression</vt:lpstr>
      <vt:lpstr>Regularization</vt:lpstr>
      <vt:lpstr>Regularization</vt:lpstr>
      <vt:lpstr>Classification</vt:lpstr>
      <vt:lpstr>Classifiers</vt:lpstr>
      <vt:lpstr>Logistic regression</vt:lpstr>
      <vt:lpstr>Logistic regression</vt:lpstr>
      <vt:lpstr>Logistic regression: learning</vt:lpstr>
      <vt:lpstr>Logistic regression: learning algorithm</vt:lpstr>
      <vt:lpstr>Logistic regression: learning algorithm</vt:lpstr>
      <vt:lpstr>Logistic regression</vt:lpstr>
      <vt:lpstr>Logistic regression: learning</vt:lpstr>
      <vt:lpstr>Logistic regression</vt:lpstr>
      <vt:lpstr>Logistic regression</vt:lpstr>
      <vt:lpstr>Optimization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Oleg</dc:creator>
  <cp:lastModifiedBy>Oleg Sysoev</cp:lastModifiedBy>
  <cp:revision>610</cp:revision>
  <dcterms:created xsi:type="dcterms:W3CDTF">2008-10-17T08:20:23Z</dcterms:created>
  <dcterms:modified xsi:type="dcterms:W3CDTF">2022-11-07T14:04:07Z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0x010100298B838B1D395C46B230F564133917A4</vt:lpwstr>
  </property>
</Properties>
</file>